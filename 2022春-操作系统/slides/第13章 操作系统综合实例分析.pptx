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70"/>
  </p:notesMasterIdLst>
  <p:sldIdLst>
    <p:sldId id="804" r:id="rId2"/>
    <p:sldId id="659" r:id="rId3"/>
    <p:sldId id="706" r:id="rId4"/>
    <p:sldId id="713" r:id="rId5"/>
    <p:sldId id="805" r:id="rId6"/>
    <p:sldId id="711" r:id="rId7"/>
    <p:sldId id="712" r:id="rId8"/>
    <p:sldId id="715" r:id="rId9"/>
    <p:sldId id="714" r:id="rId10"/>
    <p:sldId id="716" r:id="rId11"/>
    <p:sldId id="717" r:id="rId12"/>
    <p:sldId id="720" r:id="rId13"/>
    <p:sldId id="743" r:id="rId14"/>
    <p:sldId id="721" r:id="rId15"/>
    <p:sldId id="723" r:id="rId16"/>
    <p:sldId id="790" r:id="rId17"/>
    <p:sldId id="744" r:id="rId18"/>
    <p:sldId id="747" r:id="rId19"/>
    <p:sldId id="750" r:id="rId20"/>
    <p:sldId id="748" r:id="rId21"/>
    <p:sldId id="749" r:id="rId22"/>
    <p:sldId id="751" r:id="rId23"/>
    <p:sldId id="754" r:id="rId24"/>
    <p:sldId id="772" r:id="rId25"/>
    <p:sldId id="775" r:id="rId26"/>
    <p:sldId id="773" r:id="rId27"/>
    <p:sldId id="776" r:id="rId28"/>
    <p:sldId id="758" r:id="rId29"/>
    <p:sldId id="759" r:id="rId30"/>
    <p:sldId id="760" r:id="rId31"/>
    <p:sldId id="761" r:id="rId32"/>
    <p:sldId id="762" r:id="rId33"/>
    <p:sldId id="763" r:id="rId34"/>
    <p:sldId id="765" r:id="rId35"/>
    <p:sldId id="766" r:id="rId36"/>
    <p:sldId id="767" r:id="rId37"/>
    <p:sldId id="768" r:id="rId38"/>
    <p:sldId id="777" r:id="rId39"/>
    <p:sldId id="778" r:id="rId40"/>
    <p:sldId id="779" r:id="rId41"/>
    <p:sldId id="780" r:id="rId42"/>
    <p:sldId id="783" r:id="rId43"/>
    <p:sldId id="791" r:id="rId44"/>
    <p:sldId id="792" r:id="rId45"/>
    <p:sldId id="781" r:id="rId46"/>
    <p:sldId id="789" r:id="rId47"/>
    <p:sldId id="788" r:id="rId48"/>
    <p:sldId id="786" r:id="rId49"/>
    <p:sldId id="787" r:id="rId50"/>
    <p:sldId id="798" r:id="rId51"/>
    <p:sldId id="752" r:id="rId52"/>
    <p:sldId id="724" r:id="rId53"/>
    <p:sldId id="727" r:id="rId54"/>
    <p:sldId id="726" r:id="rId55"/>
    <p:sldId id="794" r:id="rId56"/>
    <p:sldId id="728" r:id="rId57"/>
    <p:sldId id="725" r:id="rId58"/>
    <p:sldId id="795" r:id="rId59"/>
    <p:sldId id="799" r:id="rId60"/>
    <p:sldId id="800" r:id="rId61"/>
    <p:sldId id="732" r:id="rId62"/>
    <p:sldId id="797" r:id="rId63"/>
    <p:sldId id="733" r:id="rId64"/>
    <p:sldId id="796" r:id="rId65"/>
    <p:sldId id="734" r:id="rId66"/>
    <p:sldId id="801" r:id="rId67"/>
    <p:sldId id="803" r:id="rId68"/>
    <p:sldId id="806" r:id="rId6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6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6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33CC33"/>
    <a:srgbClr val="F7FBFF"/>
    <a:srgbClr val="0000CC"/>
    <a:srgbClr val="C0C0C0"/>
    <a:srgbClr val="CC0000"/>
    <a:srgbClr val="EAEAEA"/>
    <a:srgbClr val="EFF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52" autoAdjust="0"/>
    <p:restoredTop sz="90682" autoAdjust="0"/>
  </p:normalViewPr>
  <p:slideViewPr>
    <p:cSldViewPr>
      <p:cViewPr varScale="1">
        <p:scale>
          <a:sx n="62" d="100"/>
          <a:sy n="62" d="100"/>
        </p:scale>
        <p:origin x="13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5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/>
            </a:lvl1pPr>
          </a:lstStyle>
          <a:p>
            <a:pPr>
              <a:defRPr/>
            </a:pPr>
            <a:fld id="{2C98F3DE-8B79-4645-BF08-7A85FE79A2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78341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 </a:t>
            </a:r>
            <a:r>
              <a:rPr lang="en-US" altLang="zh-CN" dirty="0" err="1" smtClean="0"/>
              <a:t>TSS</a:t>
            </a:r>
            <a:r>
              <a:rPr lang="en-US" altLang="zh-CN" dirty="0" smtClean="0"/>
              <a:t> </a:t>
            </a:r>
            <a:r>
              <a:rPr lang="zh-CN" altLang="en-US" dirty="0" smtClean="0"/>
              <a:t>全称为</a:t>
            </a:r>
            <a:r>
              <a:rPr lang="en-US" altLang="zh-CN" dirty="0" smtClean="0"/>
              <a:t>task state segment</a:t>
            </a:r>
            <a:r>
              <a:rPr lang="zh-CN" altLang="en-US" dirty="0" smtClean="0"/>
              <a:t>，是指在操作系统进程管理的过程中，进程切换时的任务现场信息。</a:t>
            </a:r>
            <a:endParaRPr lang="en-US" altLang="zh-CN" dirty="0" smtClean="0"/>
          </a:p>
          <a:p>
            <a:r>
              <a:rPr lang="en-US" altLang="zh-CN" dirty="0" err="1" smtClean="0"/>
              <a:t>X86</a:t>
            </a:r>
            <a:r>
              <a:rPr lang="zh-CN" altLang="en-US" dirty="0" smtClean="0"/>
              <a:t>体系从硬件上支持任务间的切换。为此目的，它增设了一个新段：任务状态段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TSS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，它和数据段、代码段一样也是一种段，记录了任务的状态信息。　　      与其它段一样，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也有描述它的结构：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描述符表，它记录了一个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的信息，同时还有一个</a:t>
            </a:r>
            <a:r>
              <a:rPr lang="en-US" altLang="zh-CN" dirty="0" err="1" smtClean="0"/>
              <a:t>TR</a:t>
            </a:r>
            <a:r>
              <a:rPr lang="zh-CN" altLang="en-US" dirty="0" smtClean="0"/>
              <a:t>寄存器，它指向当前任务的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。任务切换的时候，</a:t>
            </a:r>
            <a:r>
              <a:rPr lang="en-US" altLang="zh-CN" dirty="0" smtClean="0"/>
              <a:t>CPU</a:t>
            </a:r>
            <a:r>
              <a:rPr lang="zh-CN" altLang="en-US" dirty="0" smtClean="0"/>
              <a:t>会将原寄存器的内容写出到相应的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，同时将新</a:t>
            </a:r>
            <a:r>
              <a:rPr lang="en-US" altLang="zh-CN" dirty="0" err="1" smtClean="0"/>
              <a:t>TSS</a:t>
            </a:r>
            <a:r>
              <a:rPr lang="zh-CN" altLang="en-US" dirty="0" smtClean="0"/>
              <a:t>的内容填到寄存器中，这样就实现了任务的切换。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CR2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和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CR3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用于分页机制。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CR3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含有存放页目录表页面的物理地址，因此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CR3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也被称为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PDBR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。因为页目录表页面是页对齐的，所以该寄存器只有高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20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位是有效的。而低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位保留供更高级处理器使用，因此在往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CR3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中加载一个新值时低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12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位必须设置为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0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。</a:t>
            </a:r>
            <a:endParaRPr lang="en-US" altLang="zh-CN" sz="1200" b="0" i="0" u="none" strike="noStrike" kern="1200" dirty="0" smtClean="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+mn-cs"/>
            </a:endParaRPr>
          </a:p>
          <a:p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CR2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用于出现页异常时报告出错信息。在报告页异常时，处理器会把引起异常的线性地址存放在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CR2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中。因此操作系统中的页异常处理程序可以通过检查</a:t>
            </a:r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CR2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的内容来确定线性地址空间中哪一个页面引发了异常。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7354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文件句柄是每个进程在</a:t>
            </a:r>
            <a:r>
              <a:rPr lang="en-US" altLang="zh-CN" dirty="0" smtClean="0"/>
              <a:t>20</a:t>
            </a:r>
            <a:r>
              <a:rPr lang="zh-CN" altLang="en-US" dirty="0" smtClean="0"/>
              <a:t>个项中搜索。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9874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59481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53002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5783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4010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第一个冒号是输出，第二个冒号后边</a:t>
            </a:r>
            <a:r>
              <a:rPr lang="en-US" altLang="zh-CN" dirty="0" smtClean="0"/>
              <a:t>0</a:t>
            </a:r>
            <a:r>
              <a:rPr lang="zh-CN" altLang="en-US" dirty="0" smtClean="0"/>
              <a:t>代表上边出现的第一个额寄存器</a:t>
            </a:r>
            <a:r>
              <a:rPr lang="en-US" altLang="zh-CN" dirty="0" err="1" smtClean="0"/>
              <a:t>eax</a:t>
            </a:r>
            <a:r>
              <a:rPr lang="zh-CN" altLang="en-US" dirty="0" smtClean="0"/>
              <a:t>，系统调用号存入</a:t>
            </a:r>
            <a:r>
              <a:rPr lang="en-US" altLang="zh-CN" dirty="0" err="1" smtClean="0"/>
              <a:t>eax</a:t>
            </a:r>
            <a:r>
              <a:rPr lang="zh-CN" altLang="en-US" dirty="0" smtClean="0"/>
              <a:t>，第一个参数存入</a:t>
            </a:r>
            <a:r>
              <a:rPr lang="en-US" altLang="zh-CN" dirty="0" err="1" smtClean="0"/>
              <a:t>ebx</a:t>
            </a:r>
            <a:r>
              <a:rPr lang="zh-CN" altLang="en-US" dirty="0" smtClean="0"/>
              <a:t>，第二个</a:t>
            </a:r>
            <a:r>
              <a:rPr lang="en-US" altLang="zh-CN" dirty="0" err="1" smtClean="0"/>
              <a:t>ecx</a:t>
            </a:r>
            <a:r>
              <a:rPr lang="zh-CN" altLang="en-US" dirty="0" smtClean="0"/>
              <a:t>，第三个</a:t>
            </a:r>
            <a:r>
              <a:rPr lang="en-US" altLang="zh-CN" dirty="0" err="1" smtClean="0"/>
              <a:t>edx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限制性</a:t>
            </a:r>
            <a:r>
              <a:rPr lang="en-US" altLang="zh-CN" dirty="0" smtClean="0"/>
              <a:t>0</a:t>
            </a:r>
            <a:r>
              <a:rPr lang="zh-CN" altLang="en-US" dirty="0" smtClean="0"/>
              <a:t>这一行。</a:t>
            </a:r>
            <a:endParaRPr lang="en-US" altLang="zh-CN" dirty="0" smtClean="0"/>
          </a:p>
          <a:p>
            <a:r>
              <a:rPr lang="zh-CN" altLang="en-US" dirty="0" smtClean="0"/>
              <a:t>然后产生中断，硬件自动保存</a:t>
            </a:r>
            <a:r>
              <a:rPr lang="en-US" altLang="zh-CN" dirty="0" err="1" smtClean="0"/>
              <a:t>ss,esp,eflags,cs,eip</a:t>
            </a:r>
            <a:r>
              <a:rPr lang="zh-CN" altLang="en-US" dirty="0" smtClean="0"/>
              <a:t>栈中。</a:t>
            </a:r>
            <a:endParaRPr lang="en-US" altLang="zh-CN" dirty="0" smtClean="0"/>
          </a:p>
          <a:p>
            <a:r>
              <a:rPr lang="en-US" altLang="zh-CN" dirty="0" smtClean="0"/>
              <a:t>0x80</a:t>
            </a:r>
            <a:r>
              <a:rPr lang="zh-CN" altLang="en-US" dirty="0" smtClean="0"/>
              <a:t>为系统调用，根据</a:t>
            </a:r>
            <a:r>
              <a:rPr lang="en-US" altLang="zh-CN" dirty="0" err="1" smtClean="0"/>
              <a:t>eax</a:t>
            </a:r>
            <a:r>
              <a:rPr lang="zh-CN" altLang="en-US" dirty="0" smtClean="0"/>
              <a:t>系统调用号找到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6476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第一个冒号是输出，第二个冒号后边</a:t>
            </a:r>
            <a:r>
              <a:rPr lang="en-US" altLang="zh-CN" dirty="0" smtClean="0"/>
              <a:t>0</a:t>
            </a:r>
            <a:r>
              <a:rPr lang="zh-CN" altLang="en-US" dirty="0" smtClean="0"/>
              <a:t>代表上边出现的第一个额寄存器</a:t>
            </a:r>
            <a:r>
              <a:rPr lang="en-US" altLang="zh-CN" dirty="0" err="1" smtClean="0"/>
              <a:t>eax</a:t>
            </a:r>
            <a:r>
              <a:rPr lang="zh-CN" altLang="en-US" dirty="0" smtClean="0"/>
              <a:t>，系统调用号存入</a:t>
            </a:r>
            <a:r>
              <a:rPr lang="en-US" altLang="zh-CN" dirty="0" err="1" smtClean="0"/>
              <a:t>eax</a:t>
            </a:r>
            <a:r>
              <a:rPr lang="zh-CN" altLang="en-US" dirty="0" smtClean="0"/>
              <a:t>，第一个参数存入</a:t>
            </a:r>
            <a:r>
              <a:rPr lang="en-US" altLang="zh-CN" dirty="0" err="1" smtClean="0"/>
              <a:t>ebx</a:t>
            </a:r>
            <a:r>
              <a:rPr lang="zh-CN" altLang="en-US" dirty="0" smtClean="0"/>
              <a:t>，第二个</a:t>
            </a:r>
            <a:r>
              <a:rPr lang="en-US" altLang="zh-CN" dirty="0" err="1" smtClean="0"/>
              <a:t>ecx</a:t>
            </a:r>
            <a:r>
              <a:rPr lang="zh-CN" altLang="en-US" dirty="0" smtClean="0"/>
              <a:t>，第三个</a:t>
            </a:r>
            <a:r>
              <a:rPr lang="en-US" altLang="zh-CN" dirty="0" err="1" smtClean="0"/>
              <a:t>edx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限制性</a:t>
            </a:r>
            <a:r>
              <a:rPr lang="en-US" altLang="zh-CN" dirty="0" smtClean="0"/>
              <a:t>0</a:t>
            </a:r>
            <a:r>
              <a:rPr lang="zh-CN" altLang="en-US" dirty="0" smtClean="0"/>
              <a:t>这一行。</a:t>
            </a:r>
            <a:endParaRPr lang="en-US" altLang="zh-CN" dirty="0" smtClean="0"/>
          </a:p>
          <a:p>
            <a:r>
              <a:rPr lang="zh-CN" altLang="en-US" dirty="0" smtClean="0"/>
              <a:t>然后产生中断，硬件自动保存</a:t>
            </a:r>
            <a:r>
              <a:rPr lang="en-US" altLang="zh-CN" dirty="0" err="1" smtClean="0"/>
              <a:t>ss,esp,eflags,cs,eip</a:t>
            </a:r>
            <a:r>
              <a:rPr lang="zh-CN" altLang="en-US" dirty="0" smtClean="0"/>
              <a:t>栈中。</a:t>
            </a:r>
            <a:endParaRPr lang="en-US" altLang="zh-CN" dirty="0" smtClean="0"/>
          </a:p>
          <a:p>
            <a:r>
              <a:rPr lang="en-US" altLang="zh-CN" dirty="0" smtClean="0"/>
              <a:t>0x80</a:t>
            </a:r>
            <a:r>
              <a:rPr lang="zh-CN" altLang="en-US" dirty="0" smtClean="0"/>
              <a:t>为系统调用，根据</a:t>
            </a:r>
            <a:r>
              <a:rPr lang="en-US" altLang="zh-CN" dirty="0" err="1" smtClean="0"/>
              <a:t>eax</a:t>
            </a:r>
            <a:r>
              <a:rPr lang="zh-CN" altLang="en-US" dirty="0" smtClean="0"/>
              <a:t>系统调用号找到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6476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Syscall.s</a:t>
            </a:r>
            <a:endParaRPr lang="en-US" altLang="zh-CN" dirty="0" smtClean="0"/>
          </a:p>
          <a:p>
            <a:r>
              <a:rPr lang="zh-CN" altLang="en-US" dirty="0" smtClean="0"/>
              <a:t>入栈顺序：</a:t>
            </a:r>
            <a:r>
              <a:rPr lang="en-US" altLang="zh-CN" dirty="0" err="1" smtClean="0"/>
              <a:t>ds,es,fs,edx,ecx,ebx,call</a:t>
            </a:r>
            <a:r>
              <a:rPr lang="zh-CN" altLang="en-US" dirty="0" smtClean="0"/>
              <a:t>返回地址</a:t>
            </a:r>
            <a:r>
              <a:rPr lang="en-US" altLang="zh-CN" dirty="0" smtClean="0"/>
              <a:t>,</a:t>
            </a:r>
            <a:r>
              <a:rPr lang="en-US" altLang="zh-CN" dirty="0" err="1" smtClean="0"/>
              <a:t>eax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Call </a:t>
            </a:r>
            <a:r>
              <a:rPr lang="zh-CN" altLang="en-US" dirty="0" smtClean="0"/>
              <a:t>语句又压入一条指令到栈中。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1647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Syscall.s</a:t>
            </a:r>
            <a:endParaRPr lang="en-US" altLang="zh-CN" dirty="0" smtClean="0"/>
          </a:p>
          <a:p>
            <a:r>
              <a:rPr lang="zh-CN" altLang="en-US" dirty="0" smtClean="0"/>
              <a:t>入栈顺序：</a:t>
            </a:r>
            <a:r>
              <a:rPr lang="en-US" altLang="zh-CN" dirty="0" err="1" smtClean="0"/>
              <a:t>ds,es,fs,edx,ecx,ebx,call</a:t>
            </a:r>
            <a:r>
              <a:rPr lang="zh-CN" altLang="en-US" dirty="0" smtClean="0"/>
              <a:t>返回地址</a:t>
            </a:r>
            <a:r>
              <a:rPr lang="en-US" altLang="zh-CN" dirty="0" smtClean="0"/>
              <a:t>,</a:t>
            </a:r>
            <a:r>
              <a:rPr lang="en-US" altLang="zh-CN" dirty="0" err="1" smtClean="0"/>
              <a:t>eax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Call </a:t>
            </a:r>
            <a:r>
              <a:rPr lang="zh-CN" altLang="en-US" dirty="0" smtClean="0"/>
              <a:t>语句又压入一条指令到栈中。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lea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取变量的地址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2164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Fork</a:t>
            </a:r>
            <a:r>
              <a:rPr lang="zh-CN" altLang="en-US" dirty="0" smtClean="0"/>
              <a:t>直接创建一个与父进程公用相同内存的页表，写时复制。执行</a:t>
            </a:r>
            <a:r>
              <a:rPr lang="en-US" altLang="zh-CN" b="0" dirty="0" err="1" smtClean="0"/>
              <a:t>do_execve</a:t>
            </a:r>
            <a:r>
              <a:rPr lang="zh-CN" altLang="en-US" b="0" dirty="0" smtClean="0"/>
              <a:t>后，页表需要独立指向新物理内存。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9674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2973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3077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1671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7788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延迟写，直接写（缓存和磁盘都写）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27628-D2D8-49FF-81F7-576E04D8F445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1222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3166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9691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latin typeface="Arial" pitchFamily="34" charset="0"/>
              </a:rPr>
              <a:t>C[i+1]&lt;X&lt;c[i],</a:t>
            </a:r>
            <a:r>
              <a:rPr lang="zh-CN" altLang="en-US" smtClean="0">
                <a:latin typeface="Arial" pitchFamily="34" charset="0"/>
              </a:rPr>
              <a:t>或者</a:t>
            </a:r>
            <a:r>
              <a:rPr lang="en-US" altLang="zh-CN" smtClean="0">
                <a:latin typeface="Arial" pitchFamily="34" charset="0"/>
              </a:rPr>
              <a:t>X&gt;C[i+1]&gt;c[i]</a:t>
            </a:r>
            <a:endParaRPr lang="zh-CN" altLang="en-US" smtClean="0">
              <a:latin typeface="Arial" pitchFamily="34" charset="0"/>
            </a:endParaRPr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fld id="{B5109634-E609-4D96-8D00-9C6562060C1E}" type="slidenum">
              <a:rPr lang="en-US" altLang="zh-CN" sz="1200" b="0" smtClean="0"/>
              <a:pPr/>
              <a:t>62</a:t>
            </a:fld>
            <a:endParaRPr lang="en-US" altLang="zh-CN" sz="1200" b="0" smtClean="0"/>
          </a:p>
        </p:txBody>
      </p:sp>
    </p:spTree>
    <p:extLst>
      <p:ext uri="{BB962C8B-B14F-4D97-AF65-F5344CB8AC3E}">
        <p14:creationId xmlns:p14="http://schemas.microsoft.com/office/powerpoint/2010/main" val="27351723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逻辑与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&amp;&amp;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优先级高于逻辑或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  <a:cs typeface="+mn-cs"/>
              </a:rPr>
              <a:t>||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77410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由于任务</a:t>
            </a:r>
            <a:r>
              <a:rPr lang="en-US" altLang="zh-CN" dirty="0" smtClean="0"/>
              <a:t>A</a:t>
            </a:r>
            <a:r>
              <a:rPr lang="zh-CN" altLang="en-US" dirty="0" smtClean="0"/>
              <a:t>是第一个请求，因此，在插入队列后，直接执行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dev</a:t>
            </a:r>
            <a:r>
              <a:rPr lang="en-US" altLang="zh-CN" dirty="0" smtClean="0"/>
              <a:t>-&gt;</a:t>
            </a:r>
            <a:r>
              <a:rPr lang="en-US" altLang="zh-CN" dirty="0" err="1" smtClean="0"/>
              <a:t>current_request_fn</a:t>
            </a:r>
            <a:r>
              <a:rPr lang="en-US" altLang="zh-CN" dirty="0" smtClean="0"/>
              <a:t>)()</a:t>
            </a:r>
            <a:r>
              <a:rPr lang="zh-CN" altLang="en-US" dirty="0" smtClean="0"/>
              <a:t>，也就是</a:t>
            </a:r>
            <a:r>
              <a:rPr lang="en-US" altLang="zh-CN" dirty="0" err="1" smtClean="0"/>
              <a:t>do_hd_request</a:t>
            </a:r>
            <a:r>
              <a:rPr lang="en-US" altLang="zh-CN" dirty="0" smtClean="0"/>
              <a:t>()</a:t>
            </a:r>
            <a:r>
              <a:rPr lang="zh-CN" altLang="en-US" dirty="0" smtClean="0"/>
              <a:t>。</a:t>
            </a:r>
            <a:r>
              <a:rPr lang="en-US" altLang="zh-CN" dirty="0" err="1" smtClean="0"/>
              <a:t>do_hd_request</a:t>
            </a:r>
            <a:r>
              <a:rPr lang="en-US" altLang="zh-CN" dirty="0" smtClean="0"/>
              <a:t>()</a:t>
            </a:r>
            <a:r>
              <a:rPr lang="zh-CN" altLang="en-US" dirty="0" smtClean="0"/>
              <a:t>会先计算出要从硬盘中读取的位置，磁头号、柱面号和扇区号，然后调用</a:t>
            </a:r>
            <a:r>
              <a:rPr lang="en-US" altLang="zh-CN" dirty="0" err="1" smtClean="0"/>
              <a:t>hd_out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98F3DE-8B79-4645-BF08-7A85FE79A2AC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3427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636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7848600" cy="67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2775" y="1268413"/>
            <a:ext cx="7921625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Text Box 9"/>
          <p:cNvSpPr txBox="1">
            <a:spLocks noChangeArrowheads="1"/>
          </p:cNvSpPr>
          <p:nvPr userDrawn="1"/>
        </p:nvSpPr>
        <p:spPr bwMode="auto">
          <a:xfrm>
            <a:off x="4114800" y="6521450"/>
            <a:ext cx="914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zh-CN" sz="1600" smtClean="0">
                <a:ea typeface="华文琥珀" panose="02010800040101010101" pitchFamily="2" charset="-122"/>
              </a:rPr>
              <a:t>- </a:t>
            </a:r>
            <a:fld id="{2C33C0EA-9A67-48D5-BD7F-1FD205C00F09}" type="slidenum">
              <a:rPr lang="en-US" altLang="zh-CN" sz="1600" smtClean="0">
                <a:ea typeface="华文琥珀" panose="02010800040101010101" pitchFamily="2" charset="-122"/>
              </a:rPr>
              <a:pPr algn="ctr">
                <a:spcBef>
                  <a:spcPct val="50000"/>
                </a:spcBef>
                <a:defRPr/>
              </a:pPr>
              <a:t>‹#›</a:t>
            </a:fld>
            <a:r>
              <a:rPr lang="en-US" altLang="zh-CN" sz="1600" smtClean="0">
                <a:ea typeface="华文琥珀" panose="02010800040101010101" pitchFamily="2" charset="-122"/>
              </a:rPr>
              <a:t> -</a:t>
            </a:r>
          </a:p>
        </p:txBody>
      </p:sp>
      <p:sp>
        <p:nvSpPr>
          <p:cNvPr id="1029" name="Line 32"/>
          <p:cNvSpPr>
            <a:spLocks noChangeShapeType="1"/>
          </p:cNvSpPr>
          <p:nvPr userDrawn="1"/>
        </p:nvSpPr>
        <p:spPr bwMode="auto">
          <a:xfrm>
            <a:off x="0" y="1066800"/>
            <a:ext cx="8024813" cy="0"/>
          </a:xfrm>
          <a:prstGeom prst="line">
            <a:avLst/>
          </a:prstGeom>
          <a:noFill/>
          <a:ln w="50800">
            <a:solidFill>
              <a:srgbClr val="C1C43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42" name="Text Box 10"/>
          <p:cNvSpPr txBox="1">
            <a:spLocks noChangeArrowheads="1"/>
          </p:cNvSpPr>
          <p:nvPr userDrawn="1"/>
        </p:nvSpPr>
        <p:spPr bwMode="auto">
          <a:xfrm>
            <a:off x="7543800" y="6553200"/>
            <a:ext cx="15049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1000" dirty="0" smtClean="0">
                <a:solidFill>
                  <a:srgbClr val="006699"/>
                </a:solidFill>
                <a:latin typeface="Helvetica" pitchFamily="34" charset="0"/>
                <a:ea typeface="ＭＳ Ｐゴシック" pitchFamily="34" charset="-128"/>
              </a:rPr>
              <a:t>智能软件工程中心</a:t>
            </a:r>
            <a:endParaRPr lang="zh-CN" altLang="en-US" sz="1000" dirty="0" smtClean="0">
              <a:solidFill>
                <a:srgbClr val="006699"/>
              </a:solidFill>
              <a:latin typeface="Helvetica" pitchFamily="34" charset="0"/>
              <a:ea typeface="ＭＳ Ｐゴシック" pitchFamily="34" charset="-128"/>
            </a:endParaRPr>
          </a:p>
        </p:txBody>
      </p:sp>
      <p:sp>
        <p:nvSpPr>
          <p:cNvPr id="146443" name="Text Box 11"/>
          <p:cNvSpPr txBox="1">
            <a:spLocks noChangeArrowheads="1"/>
          </p:cNvSpPr>
          <p:nvPr userDrawn="1"/>
        </p:nvSpPr>
        <p:spPr bwMode="auto">
          <a:xfrm>
            <a:off x="76200" y="6602413"/>
            <a:ext cx="133882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sz="1000" dirty="0" smtClean="0">
                <a:solidFill>
                  <a:srgbClr val="006699"/>
                </a:solidFill>
                <a:latin typeface="Helvetica" pitchFamily="34" charset="0"/>
                <a:ea typeface="ＭＳ Ｐゴシック" pitchFamily="34" charset="-128"/>
              </a:rPr>
              <a:t>操作系统设计与实现</a:t>
            </a:r>
            <a:endParaRPr lang="zh-CN" altLang="en-US" sz="1000" dirty="0" smtClean="0">
              <a:solidFill>
                <a:srgbClr val="006699"/>
              </a:solidFill>
              <a:latin typeface="Helvetica" pitchFamily="34" charset="0"/>
              <a:ea typeface="ＭＳ Ｐゴシック" pitchFamily="3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3300"/>
        </a:buClr>
        <a:buSzPct val="9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6600"/>
        </a:buClr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75000"/>
        <a:buFont typeface="Times New Roman" panose="02020603050405020304" pitchFamily="18" charset="0"/>
        <a:buChar char="–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0066"/>
        </a:buClr>
        <a:buSzPct val="75000"/>
        <a:buFont typeface="Times New Roman" panose="02020603050405020304" pitchFamily="18" charset="0"/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Times New Roman" pitchFamily="18" charset="0"/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Times New Roman" pitchFamily="18" charset="0"/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Times New Roman" pitchFamily="18" charset="0"/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Times New Roman" pitchFamily="18" charset="0"/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&#31532;13&#31456;%20&#25805;&#20316;&#31995;&#32479;&#32508;&#21512;&#23454;&#20363;&#20998;&#26512;.ppt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&#31532;&#20843;&#31456;-linux%200.11&#27573;&#39029;&#32467;&#21512;&#30340;&#23454;&#38469;&#20869;&#23384;&#31649;&#29702;.ppt" TargetMode="External"/><Relationship Id="rId4" Type="http://schemas.openxmlformats.org/officeDocument/2006/relationships/hyperlink" Target="&#31532;8&#31456;-&#20195;&#30721;&#20998;&#26512;%20linux%200.11&#27573;&#39029;&#32467;&#21512;&#30340;&#23454;&#38469;&#20869;&#23384;&#31649;&#29702;.pptx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jpe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5"/>
          <p:cNvSpPr>
            <a:spLocks noChangeArrowheads="1"/>
          </p:cNvSpPr>
          <p:nvPr/>
        </p:nvSpPr>
        <p:spPr bwMode="auto">
          <a:xfrm>
            <a:off x="457200" y="152400"/>
            <a:ext cx="7696200" cy="84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None/>
              <a:defRPr/>
            </a:pPr>
            <a:r>
              <a:rPr lang="zh-CN" altLang="en-US" sz="4400" dirty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第</a:t>
            </a:r>
            <a:r>
              <a:rPr lang="en-US" altLang="zh-CN" sz="4400" dirty="0" smtClean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13</a:t>
            </a:r>
            <a:r>
              <a:rPr lang="zh-CN" altLang="en-US" sz="4400" dirty="0" smtClean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章 </a:t>
            </a:r>
            <a:r>
              <a:rPr lang="zh-CN" altLang="en-US" sz="4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操作系统实例分析</a:t>
            </a:r>
            <a:endParaRPr lang="zh-CN" altLang="en-US" sz="4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304800" y="1828800"/>
            <a:ext cx="8305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kern="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主讲教师：曲明成</a:t>
            </a:r>
            <a:endParaRPr lang="zh-CN" altLang="en-US" sz="2000" kern="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sz="2400" kern="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电   话：</a:t>
            </a:r>
            <a:r>
              <a:rPr lang="zh-CN" altLang="en-US" sz="2400" kern="0" dirty="0" smtClean="0">
                <a:solidFill>
                  <a:srgbClr val="A5002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0" dirty="0" smtClean="0">
                <a:solidFill>
                  <a:srgbClr val="A5002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15645102418</a:t>
            </a: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400" kern="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E-mail</a:t>
            </a:r>
            <a:r>
              <a:rPr lang="zh-CN" altLang="en-US" sz="2400" kern="0" dirty="0" smtClean="0">
                <a:latin typeface="宋体" panose="02010600030101010101" pitchFamily="2" charset="-122"/>
                <a:cs typeface="Times New Roman" panose="02020603050405020304" pitchFamily="18" charset="0"/>
              </a:rPr>
              <a:t>： </a:t>
            </a:r>
            <a:r>
              <a:rPr lang="en-US" altLang="zh-CN" sz="2400" kern="0" dirty="0" err="1" smtClean="0">
                <a:latin typeface="宋体" panose="02010600030101010101" pitchFamily="2" charset="-122"/>
                <a:cs typeface="Times New Roman" panose="02020603050405020304" pitchFamily="18" charset="0"/>
              </a:rPr>
              <a:t>qumingcheng@126.com</a:t>
            </a:r>
            <a:endParaRPr lang="en-US" altLang="zh-CN" sz="2400" kern="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endParaRPr lang="en-US" altLang="zh-CN" sz="2400" kern="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r>
              <a:rPr lang="zh-CN" altLang="en-US" kern="0" dirty="0" smtClean="0">
                <a:solidFill>
                  <a:srgbClr val="9933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哈工大计算学部</a:t>
            </a:r>
            <a:r>
              <a:rPr lang="en-US" altLang="zh-CN" kern="0" dirty="0" smtClean="0">
                <a:solidFill>
                  <a:srgbClr val="9933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kern="0" dirty="0" smtClean="0">
                <a:solidFill>
                  <a:srgbClr val="9933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智能软件中心</a:t>
            </a:r>
            <a:endParaRPr lang="zh-CN" altLang="en-US" sz="2000" kern="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  <a:defRPr/>
            </a:pPr>
            <a:endParaRPr lang="en-US" altLang="zh-CN" kern="0" dirty="0" smtClean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54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第</a:t>
            </a:r>
            <a:r>
              <a:rPr lang="en-US" altLang="zh-CN" dirty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13</a:t>
            </a:r>
            <a:r>
              <a:rPr lang="zh-CN" altLang="en-US" dirty="0">
                <a:solidFill>
                  <a:srgbClr val="FF0000"/>
                </a:solidFill>
                <a:latin typeface="Arial Black" panose="020B0A04020102020204" pitchFamily="34" charset="0"/>
                <a:ea typeface="黑体" panose="02010609060101010101" pitchFamily="49" charset="-122"/>
              </a:rPr>
              <a:t>章 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操作系统实例</a:t>
            </a: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分析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endParaRPr lang="en-US" altLang="zh-CN" sz="32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zh-CN" altLang="en-US" sz="32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进程</a:t>
            </a:r>
            <a:r>
              <a:rPr lang="en-US" altLang="zh-CN" sz="32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32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内存</a:t>
            </a:r>
            <a:r>
              <a:rPr lang="en-US" altLang="zh-CN" sz="32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32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文件系统</a:t>
            </a:r>
            <a:r>
              <a:rPr lang="en-US" altLang="zh-CN" sz="32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-IO</a:t>
            </a:r>
            <a:r>
              <a:rPr lang="zh-CN" altLang="en-US" sz="32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系统</a:t>
            </a:r>
          </a:p>
          <a:p>
            <a:pPr>
              <a:defRPr/>
            </a:pPr>
            <a:endParaRPr lang="en-US" altLang="zh-CN" dirty="0"/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基于</a:t>
            </a:r>
            <a:r>
              <a:rPr lang="en-US" altLang="zh-CN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linux0.11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分析操作系统核心模块间交互和结构设计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000" y="4953000"/>
            <a:ext cx="70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rgbClr val="0070C0"/>
                </a:solidFill>
              </a:rPr>
              <a:t>纸上得来终觉</a:t>
            </a:r>
            <a:r>
              <a:rPr lang="zh-CN" altLang="en-US" sz="3600" dirty="0" smtClean="0">
                <a:solidFill>
                  <a:srgbClr val="0070C0"/>
                </a:solidFill>
              </a:rPr>
              <a:t>浅，绝</a:t>
            </a:r>
            <a:r>
              <a:rPr lang="zh-CN" altLang="en-US" sz="3600" dirty="0">
                <a:solidFill>
                  <a:srgbClr val="0070C0"/>
                </a:solidFill>
              </a:rPr>
              <a:t>知此事要躬行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思考几个小问题</a:t>
            </a:r>
          </a:p>
        </p:txBody>
      </p:sp>
      <p:sp>
        <p:nvSpPr>
          <p:cNvPr id="583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使用</a:t>
            </a:r>
            <a:r>
              <a:rPr lang="en-US" altLang="zh-CN" dirty="0" smtClean="0"/>
              <a:t>fork</a:t>
            </a:r>
            <a:r>
              <a:rPr lang="zh-CN" altLang="en-US" dirty="0" smtClean="0"/>
              <a:t>创建一个进程的过程？</a:t>
            </a:r>
            <a:endParaRPr lang="en-US" altLang="zh-CN" dirty="0" smtClean="0"/>
          </a:p>
          <a:p>
            <a:r>
              <a:rPr lang="zh-CN" altLang="en-US" dirty="0" smtClean="0"/>
              <a:t>如何将一个可执行文件变成进程？</a:t>
            </a:r>
            <a:endParaRPr lang="en-US" altLang="zh-CN" dirty="0" smtClean="0"/>
          </a:p>
          <a:p>
            <a:r>
              <a:rPr lang="zh-CN" altLang="en-US" dirty="0" smtClean="0"/>
              <a:t>基于虚拟内存部分加载、按需调页？</a:t>
            </a:r>
            <a:endParaRPr lang="en-US" altLang="zh-CN" dirty="0" smtClean="0"/>
          </a:p>
          <a:p>
            <a:r>
              <a:rPr lang="zh-CN" altLang="en-US" dirty="0" smtClean="0"/>
              <a:t>进程如何操作文件？</a:t>
            </a:r>
            <a:endParaRPr lang="en-US" altLang="zh-CN" dirty="0" smtClean="0"/>
          </a:p>
          <a:p>
            <a:r>
              <a:rPr lang="zh-CN" altLang="en-US" dirty="0" smtClean="0"/>
              <a:t>磁盘操作很慢，</a:t>
            </a:r>
            <a:r>
              <a:rPr lang="en-US" altLang="zh-CN" dirty="0" smtClean="0"/>
              <a:t>IO</a:t>
            </a:r>
            <a:r>
              <a:rPr lang="zh-CN" altLang="en-US" dirty="0" smtClean="0"/>
              <a:t>子系统如何解决？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进程控制</a:t>
            </a:r>
            <a:r>
              <a:rPr lang="zh-CN" altLang="en-US" dirty="0" smtClean="0"/>
              <a:t>块结构分析</a:t>
            </a:r>
            <a:endParaRPr lang="en-US" altLang="zh-CN" dirty="0" smtClean="0"/>
          </a:p>
          <a:p>
            <a:r>
              <a:rPr lang="zh-CN" altLang="en-US" dirty="0"/>
              <a:t>父</a:t>
            </a:r>
            <a:r>
              <a:rPr lang="zh-CN" altLang="en-US" dirty="0" smtClean="0"/>
              <a:t>进程创建子进程的过程（</a:t>
            </a:r>
            <a:r>
              <a:rPr lang="en-US" altLang="zh-CN" dirty="0" smtClean="0"/>
              <a:t>fork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进程与文件的连接</a:t>
            </a:r>
            <a:endParaRPr lang="en-US" altLang="zh-CN" dirty="0" smtClean="0"/>
          </a:p>
          <a:p>
            <a:r>
              <a:rPr lang="zh-CN" altLang="en-US" dirty="0"/>
              <a:t>进程操作文件时内存中数据结构</a:t>
            </a:r>
            <a:endParaRPr lang="en-US" altLang="zh-CN" dirty="0"/>
          </a:p>
          <a:p>
            <a:r>
              <a:rPr lang="zh-CN" altLang="en-US" dirty="0"/>
              <a:t>文件的操作的核心</a:t>
            </a:r>
            <a:r>
              <a:rPr lang="zh-CN" altLang="en-US" dirty="0" smtClean="0"/>
              <a:t>过程</a:t>
            </a:r>
            <a:endParaRPr lang="en-US" altLang="zh-CN" dirty="0" smtClean="0"/>
          </a:p>
          <a:p>
            <a:r>
              <a:rPr lang="en-US" altLang="zh-CN" dirty="0" err="1" smtClean="0"/>
              <a:t>a.out</a:t>
            </a:r>
            <a:r>
              <a:rPr lang="zh-CN" altLang="en-US" dirty="0" smtClean="0"/>
              <a:t>可执行文件头</a:t>
            </a:r>
            <a:endParaRPr lang="en-US" altLang="zh-CN" dirty="0" smtClean="0"/>
          </a:p>
          <a:p>
            <a:r>
              <a:rPr lang="zh-CN" altLang="en-US" dirty="0" smtClean="0"/>
              <a:t>创建一个与父进程不同的子进程</a:t>
            </a:r>
            <a:endParaRPr lang="en-US" altLang="zh-CN" dirty="0" smtClean="0"/>
          </a:p>
          <a:p>
            <a:r>
              <a:rPr lang="zh-CN" altLang="en-US" dirty="0" smtClean="0"/>
              <a:t>虚拟内存的缺页调页过程</a:t>
            </a:r>
            <a:endParaRPr lang="en-US" altLang="zh-CN" dirty="0" smtClean="0"/>
          </a:p>
          <a:p>
            <a:r>
              <a:rPr lang="zh-CN" altLang="en-US" dirty="0"/>
              <a:t>基于缓冲区的磁盘</a:t>
            </a:r>
            <a:r>
              <a:rPr lang="zh-CN" altLang="en-US" dirty="0" smtClean="0"/>
              <a:t>访问（</a:t>
            </a:r>
            <a:r>
              <a:rPr lang="en-US" altLang="zh-CN" dirty="0" smtClean="0"/>
              <a:t>IO</a:t>
            </a:r>
            <a:r>
              <a:rPr lang="zh-CN" altLang="en-US" dirty="0" smtClean="0"/>
              <a:t>缓冲区和调度）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175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PCB</a:t>
            </a:r>
            <a:r>
              <a:rPr lang="zh-CN" altLang="en-US" dirty="0" smtClean="0"/>
              <a:t>中的关键元素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操作系统感知和管理</a:t>
            </a:r>
            <a:r>
              <a:rPr lang="zh-CN" altLang="en-US" dirty="0" smtClean="0">
                <a:solidFill>
                  <a:srgbClr val="FF0000"/>
                </a:solidFill>
              </a:rPr>
              <a:t>进程</a:t>
            </a:r>
            <a:r>
              <a:rPr lang="zh-CN" altLang="en-US" dirty="0" smtClean="0"/>
              <a:t>通过</a:t>
            </a:r>
            <a:r>
              <a:rPr lang="en-US" altLang="zh-CN" dirty="0" smtClean="0">
                <a:solidFill>
                  <a:srgbClr val="FF0000"/>
                </a:solidFill>
              </a:rPr>
              <a:t>PCB</a:t>
            </a:r>
          </a:p>
          <a:p>
            <a:r>
              <a:rPr lang="zh-CN" altLang="en-US" dirty="0" smtClean="0">
                <a:solidFill>
                  <a:srgbClr val="FF0000"/>
                </a:solidFill>
              </a:rPr>
              <a:t>进程</a:t>
            </a:r>
            <a:r>
              <a:rPr lang="zh-CN" altLang="en-US" dirty="0" smtClean="0"/>
              <a:t>运行在</a:t>
            </a:r>
            <a:r>
              <a:rPr lang="zh-CN" altLang="en-US" dirty="0" smtClean="0">
                <a:solidFill>
                  <a:srgbClr val="FF0000"/>
                </a:solidFill>
              </a:rPr>
              <a:t>内存</a:t>
            </a:r>
            <a:r>
              <a:rPr lang="zh-CN" altLang="en-US" dirty="0" smtClean="0"/>
              <a:t>中，是直接关系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进程</a:t>
            </a:r>
            <a:r>
              <a:rPr lang="zh-CN" altLang="en-US" dirty="0" smtClean="0"/>
              <a:t>与</a:t>
            </a:r>
            <a:r>
              <a:rPr lang="zh-CN" altLang="en-US" dirty="0" smtClean="0">
                <a:solidFill>
                  <a:srgbClr val="FF0000"/>
                </a:solidFill>
              </a:rPr>
              <a:t>文件系统</a:t>
            </a:r>
            <a:r>
              <a:rPr lang="zh-CN" altLang="en-US" dirty="0" smtClean="0"/>
              <a:t>的关系如何建立？</a:t>
            </a:r>
            <a:endParaRPr lang="en-US" altLang="zh-CN" dirty="0" smtClean="0"/>
          </a:p>
          <a:p>
            <a:r>
              <a:rPr lang="en-US" altLang="zh-CN" sz="2000" dirty="0" smtClean="0"/>
              <a:t>——</a:t>
            </a:r>
            <a:r>
              <a:rPr lang="zh-CN" altLang="en-US" sz="2000" dirty="0" smtClean="0"/>
              <a:t>进程的可执行映像是文件；</a:t>
            </a:r>
            <a:endParaRPr lang="en-US" altLang="zh-CN" sz="2000" dirty="0" smtClean="0"/>
          </a:p>
          <a:p>
            <a:r>
              <a:rPr lang="en-US" altLang="zh-CN" sz="2000" dirty="0" smtClean="0"/>
              <a:t>——</a:t>
            </a:r>
            <a:r>
              <a:rPr lang="zh-CN" altLang="en-US" sz="2000" dirty="0" smtClean="0"/>
              <a:t>进程对辅存读写也主要基于文件</a:t>
            </a:r>
            <a:endParaRPr lang="en-US" altLang="zh-CN" sz="2000" dirty="0" smtClean="0"/>
          </a:p>
          <a:p>
            <a:r>
              <a:rPr lang="zh-CN" altLang="en-US" dirty="0" smtClean="0"/>
              <a:t>内存与辅存间交换信息需要建立</a:t>
            </a:r>
            <a:r>
              <a:rPr lang="zh-CN" altLang="en-US" dirty="0" smtClean="0">
                <a:solidFill>
                  <a:srgbClr val="FF0000"/>
                </a:solidFill>
              </a:rPr>
              <a:t>内存缓冲区（</a:t>
            </a:r>
            <a:r>
              <a:rPr lang="en-US" altLang="zh-CN" dirty="0" smtClean="0">
                <a:solidFill>
                  <a:srgbClr val="FF0000"/>
                </a:solidFill>
              </a:rPr>
              <a:t>IO</a:t>
            </a:r>
            <a:r>
              <a:rPr lang="zh-CN" altLang="en-US" dirty="0" smtClean="0">
                <a:solidFill>
                  <a:srgbClr val="FF0000"/>
                </a:solidFill>
              </a:rPr>
              <a:t>内核子系统）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zh-CN" altLang="en-US" sz="3200" dirty="0">
                <a:solidFill>
                  <a:srgbClr val="FF0000"/>
                </a:solidFill>
              </a:rPr>
              <a:t>几</a:t>
            </a:r>
            <a:r>
              <a:rPr lang="zh-CN" altLang="en-US" sz="3200" dirty="0" smtClean="0">
                <a:solidFill>
                  <a:srgbClr val="FF0000"/>
                </a:solidFill>
              </a:rPr>
              <a:t>大核心模块能够有机的建立联系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4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重新分析进程控制块</a:t>
            </a:r>
            <a:r>
              <a:rPr lang="en-US" altLang="zh-CN" dirty="0" smtClean="0"/>
              <a:t>PCB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66800"/>
            <a:ext cx="8686800" cy="57912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381000" y="3581400"/>
            <a:ext cx="7848600" cy="1524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dirty="0" smtClean="0">
              <a:latin typeface="Arial" charset="0"/>
            </a:endParaRPr>
          </a:p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" charset="0"/>
              </a:rPr>
              <a:t>创建进程时设置</a:t>
            </a:r>
            <a:endParaRPr kumimoji="0" lang="zh-CN" altLang="en-US" sz="2600" b="1" i="0" u="none" strike="noStrike" cap="none" normalizeH="0" baseline="0" dirty="0" smtClean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81000" y="5334000"/>
            <a:ext cx="7848600" cy="12954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78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重新分析进程控制块</a:t>
            </a:r>
            <a:r>
              <a:rPr lang="en-US" altLang="zh-CN" dirty="0" smtClean="0"/>
              <a:t>PCB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1255713"/>
            <a:ext cx="7689850" cy="554253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609600" y="3962400"/>
            <a:ext cx="7467600" cy="1143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609600" y="4508500"/>
            <a:ext cx="7467600" cy="2921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76600" y="4067850"/>
            <a:ext cx="5487987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 err="1"/>
              <a:t>TSS</a:t>
            </a:r>
            <a:r>
              <a:rPr lang="en-US" altLang="zh-CN" sz="1800" dirty="0"/>
              <a:t> </a:t>
            </a:r>
            <a:r>
              <a:rPr lang="zh-CN" altLang="en-US" sz="1800" dirty="0"/>
              <a:t>全称为</a:t>
            </a:r>
            <a:r>
              <a:rPr lang="en-US" altLang="zh-CN" sz="1800" dirty="0"/>
              <a:t>task state </a:t>
            </a:r>
            <a:r>
              <a:rPr lang="en-US" altLang="zh-CN" sz="1800" dirty="0" smtClean="0"/>
              <a:t>segment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 err="1"/>
              <a:t>X86</a:t>
            </a:r>
            <a:r>
              <a:rPr lang="zh-CN" altLang="en-US" sz="1800" dirty="0"/>
              <a:t>体系从硬件上支持任务间的切换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/>
              <a:t>任务状态段</a:t>
            </a:r>
            <a:r>
              <a:rPr lang="en-US" altLang="zh-CN" sz="1800" dirty="0"/>
              <a:t>(</a:t>
            </a:r>
            <a:r>
              <a:rPr lang="en-US" altLang="zh-CN" sz="1800" dirty="0" err="1"/>
              <a:t>TSS</a:t>
            </a:r>
            <a:r>
              <a:rPr lang="en-US" altLang="zh-CN" sz="1800" dirty="0"/>
              <a:t>)</a:t>
            </a:r>
            <a:r>
              <a:rPr lang="zh-CN" altLang="en-US" sz="1800" dirty="0"/>
              <a:t>，它和数据段、代码段一样也是一种</a:t>
            </a:r>
            <a:r>
              <a:rPr lang="zh-CN" altLang="en-US" sz="1800" dirty="0" smtClean="0"/>
              <a:t>段。</a:t>
            </a:r>
            <a:endParaRPr lang="en-US" altLang="zh-CN" sz="18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 dirty="0"/>
              <a:t>任务切换的时候，</a:t>
            </a:r>
            <a:r>
              <a:rPr lang="en-US" altLang="zh-CN" sz="1800" dirty="0"/>
              <a:t>CPU</a:t>
            </a:r>
            <a:r>
              <a:rPr lang="zh-CN" altLang="en-US" sz="1800" dirty="0"/>
              <a:t>会将原寄存器的内容写出到相应的</a:t>
            </a:r>
            <a:r>
              <a:rPr lang="en-US" altLang="zh-CN" sz="1800" dirty="0" err="1"/>
              <a:t>TSS</a:t>
            </a:r>
            <a:r>
              <a:rPr lang="zh-CN" altLang="en-US" sz="1800" dirty="0"/>
              <a:t>，同时将新</a:t>
            </a:r>
            <a:r>
              <a:rPr lang="en-US" altLang="zh-CN" sz="1800" dirty="0" err="1"/>
              <a:t>TSS</a:t>
            </a:r>
            <a:r>
              <a:rPr lang="zh-CN" altLang="en-US" sz="1800" dirty="0"/>
              <a:t>的内容填到寄存器中，这样就实现了任务的切换</a:t>
            </a:r>
            <a:r>
              <a:rPr lang="zh-CN" altLang="en-US" sz="1800" dirty="0" smtClean="0"/>
              <a:t>。</a:t>
            </a:r>
            <a:endParaRPr lang="zh-CN" altLang="en-US" sz="1800" dirty="0"/>
          </a:p>
        </p:txBody>
      </p:sp>
      <p:sp>
        <p:nvSpPr>
          <p:cNvPr id="9" name="矩形 8"/>
          <p:cNvSpPr/>
          <p:nvPr/>
        </p:nvSpPr>
        <p:spPr bwMode="auto">
          <a:xfrm>
            <a:off x="613611" y="5807075"/>
            <a:ext cx="7467600" cy="2921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609600" y="6286454"/>
            <a:ext cx="7467600" cy="2921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658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4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重新分析进程控制块</a:t>
            </a:r>
            <a:r>
              <a:rPr lang="en-US" altLang="zh-CN" dirty="0" smtClean="0"/>
              <a:t>PCB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62000" y="2133600"/>
            <a:ext cx="78486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struct </a:t>
            </a:r>
            <a:r>
              <a:rPr lang="zh-CN" altLang="en-US" dirty="0" smtClean="0">
                <a:solidFill>
                  <a:srgbClr val="00B050"/>
                </a:solidFill>
              </a:rPr>
              <a:t>m_inode </a:t>
            </a:r>
            <a:r>
              <a:rPr lang="zh-CN" altLang="en-US" dirty="0" smtClean="0"/>
              <a:t>* pwd;</a:t>
            </a:r>
            <a:endParaRPr lang="en-US" altLang="zh-CN" dirty="0" smtClean="0"/>
          </a:p>
          <a:p>
            <a:r>
              <a:rPr lang="zh-CN" altLang="en-US" dirty="0" smtClean="0"/>
              <a:t>struct </a:t>
            </a:r>
            <a:r>
              <a:rPr lang="zh-CN" altLang="en-US" dirty="0" smtClean="0">
                <a:solidFill>
                  <a:srgbClr val="00B050"/>
                </a:solidFill>
              </a:rPr>
              <a:t>m_inode </a:t>
            </a:r>
            <a:r>
              <a:rPr lang="zh-CN" altLang="en-US" dirty="0" smtClean="0"/>
              <a:t>* root;	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C00000"/>
                </a:solidFill>
              </a:rPr>
              <a:t>struct</a:t>
            </a:r>
            <a:r>
              <a:rPr lang="zh-CN" altLang="en-US" dirty="0">
                <a:solidFill>
                  <a:srgbClr val="00B050"/>
                </a:solidFill>
              </a:rPr>
              <a:t> m_inode </a:t>
            </a:r>
            <a:r>
              <a:rPr lang="zh-CN" altLang="en-US" dirty="0" smtClean="0">
                <a:solidFill>
                  <a:srgbClr val="C00000"/>
                </a:solidFill>
              </a:rPr>
              <a:t>* executable;	</a:t>
            </a:r>
            <a:r>
              <a:rPr lang="en-US" altLang="zh-CN" dirty="0" smtClean="0">
                <a:solidFill>
                  <a:srgbClr val="C00000"/>
                </a:solidFill>
              </a:rPr>
              <a:t>//</a:t>
            </a:r>
            <a:r>
              <a:rPr lang="zh-CN" altLang="en-US" dirty="0" smtClean="0">
                <a:solidFill>
                  <a:srgbClr val="C00000"/>
                </a:solidFill>
              </a:rPr>
              <a:t>进程可执行文件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zh-CN" altLang="en-US" dirty="0" smtClean="0">
                <a:solidFill>
                  <a:srgbClr val="C00000"/>
                </a:solidFill>
              </a:rPr>
              <a:t>struct </a:t>
            </a:r>
            <a:r>
              <a:rPr lang="zh-CN" altLang="en-US" dirty="0" smtClean="0">
                <a:solidFill>
                  <a:srgbClr val="00B050"/>
                </a:solidFill>
              </a:rPr>
              <a:t>file</a:t>
            </a:r>
            <a:r>
              <a:rPr lang="zh-CN" altLang="en-US" dirty="0" smtClean="0">
                <a:solidFill>
                  <a:srgbClr val="C00000"/>
                </a:solidFill>
              </a:rPr>
              <a:t> * filp[NR_OPEN]; </a:t>
            </a:r>
            <a:r>
              <a:rPr lang="en-US" altLang="zh-CN" dirty="0" smtClean="0">
                <a:solidFill>
                  <a:srgbClr val="C00000"/>
                </a:solidFill>
              </a:rPr>
              <a:t>//</a:t>
            </a:r>
            <a:r>
              <a:rPr lang="zh-CN" altLang="en-US" dirty="0" smtClean="0">
                <a:solidFill>
                  <a:srgbClr val="C00000"/>
                </a:solidFill>
              </a:rPr>
              <a:t>进程操作的其他文件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m_</a:t>
            </a:r>
            <a:r>
              <a:rPr lang="zh-CN" altLang="en-US" dirty="0" smtClean="0">
                <a:solidFill>
                  <a:srgbClr val="00B050"/>
                </a:solidFill>
              </a:rPr>
              <a:t>inode、file这两个数据结构是关键！</a:t>
            </a:r>
            <a:r>
              <a:rPr lang="zh-CN" altLang="en-US" dirty="0" smtClean="0">
                <a:solidFill>
                  <a:srgbClr val="C00000"/>
                </a:solidFill>
              </a:rPr>
              <a:t> 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1371600"/>
            <a:ext cx="6858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进程与文件连接的关键结构？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18090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fork</a:t>
            </a:r>
            <a:r>
              <a:rPr lang="zh-CN" altLang="en-US" dirty="0" smtClean="0"/>
              <a:t>创建一个进程的过程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fork</a:t>
            </a:r>
            <a:r>
              <a:rPr lang="zh-CN" altLang="en-US" dirty="0"/>
              <a:t>创建一个子进程核心过程包括：创建进程控制</a:t>
            </a:r>
            <a:r>
              <a:rPr lang="zh-CN" altLang="en-US" dirty="0" smtClean="0"/>
              <a:t>块、分配内存、</a:t>
            </a:r>
            <a:r>
              <a:rPr lang="en-US" altLang="zh-CN" dirty="0" smtClean="0"/>
              <a:t>IO</a:t>
            </a:r>
            <a:r>
              <a:rPr lang="zh-CN" altLang="en-US" dirty="0" smtClean="0"/>
              <a:t>系统、文件访问。</a:t>
            </a:r>
            <a:endParaRPr lang="en-US" altLang="zh-CN" dirty="0">
              <a:hlinkClick r:id="rId3" action="ppaction://hlinkpres?slideindex=1&amp;slidetitle="/>
            </a:endParaRPr>
          </a:p>
          <a:p>
            <a:r>
              <a:rPr lang="zh-CN" altLang="en-US" dirty="0" smtClean="0">
                <a:hlinkClick r:id="rId4" action="ppaction://hlinkpres?slideindex=1&amp;slidetitle="/>
              </a:rPr>
              <a:t>回顾用</a:t>
            </a:r>
            <a:r>
              <a:rPr lang="en-US" altLang="zh-CN" dirty="0" smtClean="0">
                <a:hlinkClick r:id="rId4" action="ppaction://hlinkpres?slideindex=1&amp;slidetitle="/>
              </a:rPr>
              <a:t>fork</a:t>
            </a:r>
            <a:r>
              <a:rPr lang="zh-CN" altLang="en-US" dirty="0" smtClean="0">
                <a:hlinkClick r:id="rId4" action="ppaction://hlinkpres?slideindex=1&amp;slidetitle="/>
              </a:rPr>
              <a:t>创建子进程的情形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sz="32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这个过程没有通过文件系统访问块</a:t>
            </a:r>
            <a:r>
              <a:rPr lang="zh-CN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设备！</a:t>
            </a:r>
            <a:r>
              <a:rPr lang="en-US" altLang="zh-CN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fork</a:t>
            </a:r>
            <a:r>
              <a:rPr lang="zh-CN" altLang="en-US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创造子进程与父进程完全相同</a:t>
            </a:r>
            <a:endParaRPr lang="en-US" altLang="zh-C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r:id="rId5" action="ppaction://hlinkpres?slideindex=1&amp;slidetitle=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3833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04800"/>
            <a:ext cx="8763000" cy="676275"/>
          </a:xfrm>
        </p:spPr>
        <p:txBody>
          <a:bodyPr/>
          <a:lstStyle/>
          <a:p>
            <a:pPr eaLnBrk="1" hangingPunct="1"/>
            <a:r>
              <a:rPr lang="en-US" altLang="zh-CN" dirty="0" err="1" smtClean="0"/>
              <a:t>MINIX</a:t>
            </a:r>
            <a:r>
              <a:rPr lang="zh-CN" altLang="en-US" dirty="0" smtClean="0"/>
              <a:t>文件系统中针对</a:t>
            </a:r>
            <a:r>
              <a:rPr lang="en-US" altLang="zh-CN" dirty="0" err="1" smtClean="0"/>
              <a:t>inode</a:t>
            </a:r>
            <a:r>
              <a:rPr lang="zh-CN" altLang="en-US" dirty="0" smtClean="0"/>
              <a:t>的结构</a:t>
            </a:r>
          </a:p>
        </p:txBody>
      </p:sp>
      <p:pic>
        <p:nvPicPr>
          <p:cNvPr id="43011" name="Picture 27" descr="MINIX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75531"/>
            <a:ext cx="6781800" cy="530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Rectangle 29"/>
          <p:cNvSpPr>
            <a:spLocks noChangeArrowheads="1"/>
          </p:cNvSpPr>
          <p:nvPr/>
        </p:nvSpPr>
        <p:spPr bwMode="auto">
          <a:xfrm>
            <a:off x="2438400" y="6476999"/>
            <a:ext cx="48006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99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err="1"/>
              <a:t>MINIX</a:t>
            </a:r>
            <a:r>
              <a:rPr lang="zh-CN" altLang="en-US" sz="2000" dirty="0"/>
              <a:t>文件系统</a:t>
            </a:r>
            <a:r>
              <a:rPr lang="en-US" altLang="zh-CN" sz="2000" dirty="0"/>
              <a:t>1.0</a:t>
            </a:r>
            <a:r>
              <a:rPr lang="zh-CN" altLang="en-US" sz="2000" dirty="0" smtClean="0"/>
              <a:t>的</a:t>
            </a:r>
            <a:r>
              <a:rPr lang="en-US" altLang="zh-CN" sz="2000" dirty="0" err="1" smtClean="0"/>
              <a:t>m_node</a:t>
            </a:r>
            <a:r>
              <a:rPr lang="zh-CN" altLang="en-US" sz="2000" dirty="0" smtClean="0"/>
              <a:t>数据结构</a:t>
            </a:r>
            <a:endParaRPr lang="zh-CN" altLang="en-US" sz="2000" dirty="0"/>
          </a:p>
        </p:txBody>
      </p:sp>
      <p:grpSp>
        <p:nvGrpSpPr>
          <p:cNvPr id="3" name="组合 2"/>
          <p:cNvGrpSpPr/>
          <p:nvPr/>
        </p:nvGrpSpPr>
        <p:grpSpPr>
          <a:xfrm>
            <a:off x="6172200" y="1075531"/>
            <a:ext cx="2819400" cy="3910631"/>
            <a:chOff x="6477000" y="1814910"/>
            <a:chExt cx="2819400" cy="3910631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7000" y="1981200"/>
              <a:ext cx="2819400" cy="3744341"/>
            </a:xfrm>
            <a:prstGeom prst="rect">
              <a:avLst/>
            </a:prstGeom>
          </p:spPr>
        </p:pic>
        <p:sp>
          <p:nvSpPr>
            <p:cNvPr id="6" name="Rectangle 29"/>
            <p:cNvSpPr>
              <a:spLocks noChangeArrowheads="1"/>
            </p:cNvSpPr>
            <p:nvPr/>
          </p:nvSpPr>
          <p:spPr bwMode="auto">
            <a:xfrm>
              <a:off x="7213600" y="1814910"/>
              <a:ext cx="1600200" cy="7183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 smtClean="0"/>
                <a:t>Linux\</a:t>
              </a:r>
              <a:r>
                <a:rPr lang="en-US" altLang="zh-CN" sz="2000" dirty="0" err="1" smtClean="0"/>
                <a:t>fs.h</a:t>
              </a:r>
              <a:endParaRPr lang="zh-CN" altLang="en-US" sz="2000" dirty="0"/>
            </a:p>
          </p:txBody>
        </p:sp>
      </p:grpSp>
      <p:sp>
        <p:nvSpPr>
          <p:cNvPr id="8" name="矩形 7"/>
          <p:cNvSpPr/>
          <p:nvPr/>
        </p:nvSpPr>
        <p:spPr bwMode="auto">
          <a:xfrm>
            <a:off x="914400" y="1321248"/>
            <a:ext cx="6172200" cy="1040952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917864" y="2633229"/>
            <a:ext cx="6168736" cy="1219808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935182" y="3924721"/>
            <a:ext cx="6168736" cy="199345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935182" y="4683259"/>
            <a:ext cx="6168736" cy="879342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986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Linux0.11</a:t>
            </a:r>
            <a:r>
              <a:rPr lang="zh-CN" altLang="en-US" dirty="0" smtClean="0"/>
              <a:t>进程与文件的连接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3415197"/>
            <a:ext cx="7921625" cy="115680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nn-NO" altLang="zh-CN" sz="1800" kern="1200" dirty="0" smtClean="0">
                <a:latin typeface="+mn-ea"/>
              </a:rPr>
              <a:t>#</a:t>
            </a:r>
            <a:r>
              <a:rPr lang="nn-NO" altLang="zh-CN" sz="1800" kern="1200" dirty="0">
                <a:latin typeface="+mn-ea"/>
              </a:rPr>
              <a:t>define NR_OPEN 20  //</a:t>
            </a:r>
            <a:r>
              <a:rPr lang="zh-CN" altLang="en-US" sz="1800" kern="1200" dirty="0">
                <a:latin typeface="+mn-ea"/>
              </a:rPr>
              <a:t>一个进程可以打开文件的最</a:t>
            </a:r>
            <a:r>
              <a:rPr lang="zh-CN" altLang="en-US" sz="1800" kern="1200" dirty="0" smtClean="0">
                <a:latin typeface="+mn-ea"/>
              </a:rPr>
              <a:t>大数</a:t>
            </a:r>
            <a:r>
              <a:rPr lang="zh-CN" altLang="en-US" sz="1800" kern="1200" dirty="0">
                <a:solidFill>
                  <a:srgbClr val="FF0000"/>
                </a:solidFill>
                <a:latin typeface="+mn-ea"/>
              </a:rPr>
              <a:t>（包括相同的</a:t>
            </a:r>
            <a:r>
              <a:rPr lang="zh-CN" altLang="en-US" sz="1800" kern="1200" dirty="0" smtClean="0">
                <a:solidFill>
                  <a:srgbClr val="FF0000"/>
                </a:solidFill>
                <a:latin typeface="+mn-ea"/>
              </a:rPr>
              <a:t>）</a:t>
            </a:r>
            <a:endParaRPr lang="nn-NO" altLang="zh-CN" sz="1800" kern="1200" dirty="0">
              <a:latin typeface="+mn-ea"/>
            </a:endParaRPr>
          </a:p>
          <a:p>
            <a:pPr marL="0" indent="0">
              <a:buNone/>
              <a:defRPr/>
            </a:pPr>
            <a:r>
              <a:rPr lang="nn-NO" altLang="zh-CN" sz="1800" kern="1200" dirty="0" smtClean="0">
                <a:latin typeface="+mn-ea"/>
              </a:rPr>
              <a:t>#</a:t>
            </a:r>
            <a:r>
              <a:rPr lang="nn-NO" altLang="zh-CN" sz="1800" kern="1200" dirty="0">
                <a:latin typeface="+mn-ea"/>
              </a:rPr>
              <a:t>define NR_FILE 64   //</a:t>
            </a:r>
            <a:r>
              <a:rPr lang="zh-CN" altLang="en-US" sz="1800" kern="1200" dirty="0">
                <a:latin typeface="+mn-ea"/>
              </a:rPr>
              <a:t>操作系统可以打开</a:t>
            </a:r>
            <a:r>
              <a:rPr lang="zh-CN" altLang="en-US" sz="1800" kern="1200" dirty="0">
                <a:solidFill>
                  <a:srgbClr val="FF0000"/>
                </a:solidFill>
                <a:latin typeface="+mn-ea"/>
              </a:rPr>
              <a:t>文件总数（包括相同的</a:t>
            </a:r>
            <a:r>
              <a:rPr lang="zh-CN" altLang="en-US" sz="1800" kern="1200" dirty="0" smtClean="0">
                <a:solidFill>
                  <a:srgbClr val="FF0000"/>
                </a:solidFill>
                <a:latin typeface="+mn-ea"/>
              </a:rPr>
              <a:t>）</a:t>
            </a:r>
            <a:endParaRPr lang="en-US" altLang="zh-CN" sz="1800" kern="1200" dirty="0" smtClean="0">
              <a:solidFill>
                <a:srgbClr val="FF0000"/>
              </a:solidFill>
              <a:latin typeface="+mn-ea"/>
            </a:endParaRPr>
          </a:p>
          <a:p>
            <a:pPr marL="0" indent="0">
              <a:buNone/>
              <a:defRPr/>
            </a:pPr>
            <a:r>
              <a:rPr lang="nn-NO" altLang="zh-CN" sz="1800" kern="1200" dirty="0">
                <a:latin typeface="+mn-ea"/>
              </a:rPr>
              <a:t>#define NR_INODE 32  //</a:t>
            </a:r>
            <a:r>
              <a:rPr lang="zh-CN" altLang="en-US" sz="1800" kern="1200" dirty="0">
                <a:latin typeface="+mn-ea"/>
              </a:rPr>
              <a:t>操作系统中可以打开</a:t>
            </a:r>
            <a:r>
              <a:rPr lang="zh-CN" altLang="en-US" sz="1800" kern="1200" dirty="0">
                <a:solidFill>
                  <a:srgbClr val="FF0000"/>
                </a:solidFill>
                <a:latin typeface="+mn-ea"/>
              </a:rPr>
              <a:t>不同</a:t>
            </a:r>
            <a:r>
              <a:rPr lang="zh-CN" altLang="en-US" sz="1800" kern="1200" dirty="0">
                <a:latin typeface="+mn-ea"/>
              </a:rPr>
              <a:t>文件总数</a:t>
            </a:r>
            <a:endParaRPr lang="nn-NO" altLang="zh-CN" sz="1800" kern="1200" dirty="0">
              <a:latin typeface="+mn-ea"/>
            </a:endParaRPr>
          </a:p>
          <a:p>
            <a:pPr marL="0" indent="0">
              <a:buNone/>
              <a:defRPr/>
            </a:pPr>
            <a:endParaRPr lang="nn-NO" altLang="zh-CN" sz="1800" kern="1200" dirty="0">
              <a:solidFill>
                <a:srgbClr val="FF0000"/>
              </a:solidFill>
              <a:latin typeface="+mn-ea"/>
            </a:endParaRPr>
          </a:p>
          <a:p>
            <a:pPr>
              <a:defRPr/>
            </a:pPr>
            <a:endParaRPr lang="zh-CN" altLang="en-US" sz="1800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2900" y="1222889"/>
            <a:ext cx="8648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Linux/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fs.h</a:t>
            </a:r>
            <a:endParaRPr lang="en-US" altLang="zh-CN" sz="1800" dirty="0" smtClean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zh-CN" altLang="en-US" sz="1800" dirty="0" smtClean="0">
                <a:latin typeface="+mn-ea"/>
                <a:ea typeface="+mn-ea"/>
              </a:rPr>
              <a:t>struct </a:t>
            </a:r>
            <a:r>
              <a:rPr lang="zh-CN" altLang="en-US" sz="1800" dirty="0">
                <a:latin typeface="+mn-ea"/>
                <a:ea typeface="+mn-ea"/>
              </a:rPr>
              <a:t>file {	</a:t>
            </a:r>
            <a:endParaRPr lang="en-US" altLang="zh-CN" sz="1800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zh-CN" altLang="en-US" sz="1800" dirty="0" smtClean="0">
                <a:latin typeface="+mn-ea"/>
                <a:ea typeface="+mn-ea"/>
              </a:rPr>
              <a:t>  unsigned </a:t>
            </a:r>
            <a:r>
              <a:rPr lang="zh-CN" altLang="en-US" sz="1800" dirty="0">
                <a:latin typeface="+mn-ea"/>
                <a:ea typeface="+mn-ea"/>
              </a:rPr>
              <a:t>short f_mode;	</a:t>
            </a:r>
            <a:r>
              <a:rPr lang="en-US" altLang="zh-CN" sz="1800" dirty="0" smtClean="0">
                <a:latin typeface="+mn-ea"/>
                <a:ea typeface="+mn-ea"/>
              </a:rPr>
              <a:t>//</a:t>
            </a:r>
            <a:r>
              <a:rPr lang="zh-CN" altLang="en-US" sz="1800" dirty="0" smtClean="0">
                <a:latin typeface="+mn-ea"/>
                <a:ea typeface="+mn-ea"/>
              </a:rPr>
              <a:t>文件操作模式</a:t>
            </a:r>
            <a:endParaRPr lang="en-US" altLang="zh-CN" sz="1800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zh-CN" altLang="en-US" sz="1800" dirty="0" smtClean="0">
                <a:latin typeface="+mn-ea"/>
                <a:ea typeface="+mn-ea"/>
              </a:rPr>
              <a:t>  unsigned </a:t>
            </a:r>
            <a:r>
              <a:rPr lang="zh-CN" altLang="en-US" sz="1800" dirty="0">
                <a:latin typeface="+mn-ea"/>
                <a:ea typeface="+mn-ea"/>
              </a:rPr>
              <a:t>short f_flags;	</a:t>
            </a:r>
            <a:r>
              <a:rPr lang="en-US" altLang="zh-CN" sz="1800" dirty="0" smtClean="0">
                <a:latin typeface="+mn-ea"/>
                <a:ea typeface="+mn-ea"/>
              </a:rPr>
              <a:t>//</a:t>
            </a:r>
            <a:r>
              <a:rPr lang="zh-CN" altLang="en-US" sz="1800" dirty="0" smtClean="0">
                <a:latin typeface="+mn-ea"/>
                <a:ea typeface="+mn-ea"/>
              </a:rPr>
              <a:t>文件打开控制标志</a:t>
            </a:r>
            <a:endParaRPr lang="en-US" altLang="zh-CN" sz="1800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zh-CN" altLang="en-US" sz="1800" dirty="0" smtClean="0">
                <a:latin typeface="+mn-ea"/>
                <a:ea typeface="+mn-ea"/>
              </a:rPr>
              <a:t>  </a:t>
            </a:r>
            <a:r>
              <a:rPr lang="zh-CN" altLang="en-US" sz="1800" dirty="0" smtClean="0">
                <a:solidFill>
                  <a:srgbClr val="C00000"/>
                </a:solidFill>
                <a:latin typeface="+mn-ea"/>
                <a:ea typeface="+mn-ea"/>
              </a:rPr>
              <a:t>unsigned 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ea typeface="+mn-ea"/>
              </a:rPr>
              <a:t>short f_count</a:t>
            </a:r>
            <a:r>
              <a:rPr lang="zh-CN" altLang="en-US" sz="1800" dirty="0" smtClean="0">
                <a:solidFill>
                  <a:srgbClr val="C00000"/>
                </a:solidFill>
                <a:latin typeface="+mn-ea"/>
                <a:ea typeface="+mn-ea"/>
              </a:rPr>
              <a:t>;     </a:t>
            </a:r>
            <a:r>
              <a:rPr lang="en-US" altLang="zh-CN" sz="1800" dirty="0" smtClean="0">
                <a:solidFill>
                  <a:srgbClr val="C00000"/>
                </a:solidFill>
                <a:latin typeface="+mn-ea"/>
                <a:ea typeface="+mn-ea"/>
              </a:rPr>
              <a:t>//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ea typeface="+mn-ea"/>
              </a:rPr>
              <a:t>当前</a:t>
            </a:r>
            <a:r>
              <a:rPr lang="zh-CN" altLang="en-US" sz="1800" dirty="0" smtClean="0">
                <a:solidFill>
                  <a:srgbClr val="C00000"/>
                </a:solidFill>
                <a:latin typeface="+mn-ea"/>
                <a:ea typeface="+mn-ea"/>
              </a:rPr>
              <a:t>文件打开的次数</a:t>
            </a:r>
            <a:endParaRPr lang="en-US" altLang="zh-CN" sz="1800" dirty="0">
              <a:solidFill>
                <a:srgbClr val="C00000"/>
              </a:solidFill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zh-CN" altLang="en-US" sz="1800" dirty="0" smtClean="0">
                <a:latin typeface="+mn-ea"/>
                <a:ea typeface="+mn-ea"/>
              </a:rPr>
              <a:t>  </a:t>
            </a:r>
            <a:r>
              <a:rPr lang="zh-CN" altLang="en-US" sz="1800" dirty="0" smtClean="0">
                <a:solidFill>
                  <a:srgbClr val="C00000"/>
                </a:solidFill>
                <a:latin typeface="+mn-ea"/>
                <a:ea typeface="+mn-ea"/>
              </a:rPr>
              <a:t>struct 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ea typeface="+mn-ea"/>
              </a:rPr>
              <a:t>m_inode * f_inode</a:t>
            </a:r>
            <a:r>
              <a:rPr lang="zh-CN" altLang="en-US" sz="1800" dirty="0" smtClean="0">
                <a:solidFill>
                  <a:srgbClr val="C00000"/>
                </a:solidFill>
                <a:latin typeface="+mn-ea"/>
                <a:ea typeface="+mn-ea"/>
              </a:rPr>
              <a:t>;   </a:t>
            </a:r>
            <a:r>
              <a:rPr lang="en-US" altLang="zh-CN" sz="1800" dirty="0" smtClean="0">
                <a:solidFill>
                  <a:srgbClr val="C00000"/>
                </a:solidFill>
                <a:latin typeface="+mn-ea"/>
                <a:ea typeface="+mn-ea"/>
              </a:rPr>
              <a:t>//</a:t>
            </a:r>
            <a:r>
              <a:rPr lang="zh-CN" altLang="en-US" sz="1800" dirty="0" smtClean="0">
                <a:solidFill>
                  <a:srgbClr val="C00000"/>
                </a:solidFill>
                <a:latin typeface="+mn-ea"/>
                <a:ea typeface="+mn-ea"/>
              </a:rPr>
              <a:t>指向文件对应的</a:t>
            </a:r>
            <a:r>
              <a:rPr lang="en-US" altLang="zh-CN" sz="1800" dirty="0" err="1" smtClean="0">
                <a:solidFill>
                  <a:srgbClr val="C00000"/>
                </a:solidFill>
                <a:latin typeface="+mn-ea"/>
                <a:ea typeface="+mn-ea"/>
              </a:rPr>
              <a:t>i</a:t>
            </a:r>
            <a:r>
              <a:rPr lang="zh-CN" altLang="en-US" sz="1800" dirty="0" smtClean="0">
                <a:solidFill>
                  <a:srgbClr val="C00000"/>
                </a:solidFill>
                <a:latin typeface="+mn-ea"/>
                <a:ea typeface="+mn-ea"/>
              </a:rPr>
              <a:t>节点</a:t>
            </a:r>
            <a:r>
              <a:rPr lang="en-US" altLang="zh-CN" sz="1800" dirty="0" smtClean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zh-CN" sz="1800" dirty="0" err="1" smtClean="0">
                <a:solidFill>
                  <a:srgbClr val="C00000"/>
                </a:solidFill>
                <a:latin typeface="+mn-ea"/>
              </a:rPr>
              <a:t>inode_table</a:t>
            </a:r>
            <a:r>
              <a:rPr lang="zh-CN" altLang="en-US" sz="1800" dirty="0" smtClean="0">
                <a:solidFill>
                  <a:srgbClr val="C00000"/>
                </a:solidFill>
                <a:latin typeface="+mn-ea"/>
              </a:rPr>
              <a:t>中）</a:t>
            </a:r>
            <a:r>
              <a:rPr lang="zh-CN" altLang="en-US" sz="1800" dirty="0">
                <a:latin typeface="+mn-ea"/>
                <a:ea typeface="+mn-ea"/>
              </a:rPr>
              <a:t>	</a:t>
            </a:r>
            <a:endParaRPr lang="en-US" altLang="zh-CN" sz="1800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zh-CN" altLang="en-US" sz="1800" dirty="0" smtClean="0">
                <a:latin typeface="+mn-ea"/>
                <a:ea typeface="+mn-ea"/>
              </a:rPr>
              <a:t>  off</a:t>
            </a:r>
            <a:r>
              <a:rPr lang="zh-CN" altLang="en-US" sz="1800" dirty="0">
                <a:latin typeface="+mn-ea"/>
                <a:ea typeface="+mn-ea"/>
              </a:rPr>
              <a:t>_t f_pos;    </a:t>
            </a:r>
            <a:r>
              <a:rPr lang="zh-CN" altLang="en-US" sz="1800" dirty="0" smtClean="0">
                <a:latin typeface="+mn-ea"/>
                <a:ea typeface="+mn-ea"/>
              </a:rPr>
              <a:t>            </a:t>
            </a:r>
            <a:r>
              <a:rPr lang="en-US" altLang="zh-CN" sz="1800" dirty="0" smtClean="0">
                <a:latin typeface="+mn-ea"/>
                <a:ea typeface="+mn-ea"/>
              </a:rPr>
              <a:t>//</a:t>
            </a:r>
            <a:r>
              <a:rPr lang="zh-CN" altLang="en-US" sz="1800" dirty="0" smtClean="0">
                <a:latin typeface="+mn-ea"/>
                <a:ea typeface="+mn-ea"/>
              </a:rPr>
              <a:t>文件位置（读写偏移位置）</a:t>
            </a:r>
            <a:endParaRPr lang="en-US" altLang="zh-CN" sz="1800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zh-CN" altLang="en-US" sz="1800" dirty="0">
                <a:latin typeface="+mn-ea"/>
                <a:ea typeface="+mn-ea"/>
              </a:rPr>
              <a:t>}</a:t>
            </a:r>
            <a:r>
              <a:rPr lang="zh-CN" altLang="en-US" sz="1800" dirty="0" smtClean="0">
                <a:latin typeface="+mn-ea"/>
                <a:ea typeface="+mn-ea"/>
              </a:rPr>
              <a:t>;</a:t>
            </a:r>
            <a:endParaRPr lang="en-US" altLang="zh-CN" sz="1800" dirty="0" smtClean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7502" y="5132387"/>
            <a:ext cx="8369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Fs/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file_table.c</a:t>
            </a:r>
            <a:endParaRPr lang="en-US" altLang="zh-CN" sz="1800" dirty="0" smtClean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r>
              <a:rPr lang="zh-CN" altLang="en-US" sz="1800" dirty="0" smtClean="0">
                <a:latin typeface="+mn-ea"/>
                <a:ea typeface="+mn-ea"/>
              </a:rPr>
              <a:t>struct file file_table[NR_FILE];</a:t>
            </a:r>
            <a:r>
              <a:rPr lang="en-US" altLang="zh-CN" sz="1800" dirty="0" smtClean="0">
                <a:latin typeface="+mn-ea"/>
                <a:ea typeface="+mn-ea"/>
              </a:rPr>
              <a:t>//file</a:t>
            </a:r>
            <a:r>
              <a:rPr lang="zh-CN" altLang="en-US" sz="1800" dirty="0" smtClean="0">
                <a:latin typeface="+mn-ea"/>
                <a:ea typeface="+mn-ea"/>
              </a:rPr>
              <a:t>数组，记录操作系统打开文件信息</a:t>
            </a:r>
            <a:endParaRPr lang="zh-CN" altLang="en-US" sz="1800" dirty="0">
              <a:latin typeface="+mn-ea"/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04800" y="4465348"/>
            <a:ext cx="716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Linux/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sched.h</a:t>
            </a:r>
            <a:endParaRPr lang="en-US" altLang="zh-CN" sz="1800" dirty="0" smtClean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lang="en-US" altLang="zh-CN" sz="1800" dirty="0" err="1" smtClean="0">
                <a:latin typeface="+mn-ea"/>
                <a:ea typeface="+mn-ea"/>
              </a:rPr>
              <a:t>struct</a:t>
            </a:r>
            <a:r>
              <a:rPr lang="en-US" altLang="zh-CN" sz="1800" dirty="0" smtClean="0">
                <a:latin typeface="+mn-ea"/>
                <a:ea typeface="+mn-ea"/>
              </a:rPr>
              <a:t> </a:t>
            </a:r>
            <a:r>
              <a:rPr lang="en-US" altLang="zh-CN" sz="1800" dirty="0">
                <a:latin typeface="+mn-ea"/>
                <a:ea typeface="+mn-ea"/>
              </a:rPr>
              <a:t>file * </a:t>
            </a:r>
            <a:r>
              <a:rPr lang="en-US" altLang="zh-CN" sz="1800" dirty="0" err="1">
                <a:latin typeface="+mn-ea"/>
                <a:ea typeface="+mn-ea"/>
              </a:rPr>
              <a:t>filp</a:t>
            </a:r>
            <a:r>
              <a:rPr lang="en-US" altLang="zh-CN" sz="1800" dirty="0">
                <a:latin typeface="+mn-ea"/>
                <a:ea typeface="+mn-ea"/>
              </a:rPr>
              <a:t>[</a:t>
            </a:r>
            <a:r>
              <a:rPr lang="en-US" altLang="zh-CN" sz="1800" dirty="0" err="1">
                <a:latin typeface="+mn-ea"/>
                <a:ea typeface="+mn-ea"/>
              </a:rPr>
              <a:t>NR_OPEN</a:t>
            </a:r>
            <a:r>
              <a:rPr lang="en-US" altLang="zh-CN" sz="1800" dirty="0" smtClean="0">
                <a:latin typeface="+mn-ea"/>
                <a:ea typeface="+mn-ea"/>
              </a:rPr>
              <a:t>];  //</a:t>
            </a:r>
            <a:r>
              <a:rPr lang="zh-CN" altLang="en-US" sz="1800" dirty="0" smtClean="0">
                <a:latin typeface="+mn-ea"/>
                <a:ea typeface="+mn-ea"/>
              </a:rPr>
              <a:t>管理进程使用文件的指针数组</a:t>
            </a:r>
            <a:endParaRPr lang="en-US" altLang="zh-CN" sz="1800" dirty="0">
              <a:latin typeface="+mn-ea"/>
              <a:ea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4801" y="5781456"/>
            <a:ext cx="64769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fs/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  <a:latin typeface="+mn-ea"/>
              </a:rPr>
              <a:t>inode.c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 eaLnBrk="1" hangingPunct="1">
              <a:defRPr/>
            </a:pPr>
            <a:r>
              <a:rPr lang="en-US" altLang="zh-CN" sz="1800" dirty="0" err="1" smtClean="0">
                <a:latin typeface="+mn-ea"/>
                <a:ea typeface="+mn-ea"/>
              </a:rPr>
              <a:t>struct</a:t>
            </a:r>
            <a:r>
              <a:rPr lang="en-US" altLang="zh-CN" sz="1800" dirty="0" smtClean="0">
                <a:latin typeface="+mn-ea"/>
                <a:ea typeface="+mn-ea"/>
              </a:rPr>
              <a:t> </a:t>
            </a:r>
            <a:r>
              <a:rPr lang="en-US" altLang="zh-CN" sz="1800" dirty="0" err="1">
                <a:latin typeface="+mn-ea"/>
                <a:ea typeface="+mn-ea"/>
              </a:rPr>
              <a:t>m_inode</a:t>
            </a:r>
            <a:r>
              <a:rPr lang="en-US" altLang="zh-CN" sz="1800" dirty="0">
                <a:latin typeface="+mn-ea"/>
                <a:ea typeface="+mn-ea"/>
              </a:rPr>
              <a:t> </a:t>
            </a:r>
            <a:r>
              <a:rPr lang="en-US" altLang="zh-CN" sz="1800" dirty="0" err="1">
                <a:latin typeface="+mn-ea"/>
                <a:ea typeface="+mn-ea"/>
              </a:rPr>
              <a:t>inode_table</a:t>
            </a:r>
            <a:r>
              <a:rPr lang="en-US" altLang="zh-CN" sz="1800" dirty="0">
                <a:latin typeface="+mn-ea"/>
                <a:ea typeface="+mn-ea"/>
              </a:rPr>
              <a:t>[</a:t>
            </a:r>
            <a:r>
              <a:rPr lang="en-US" altLang="zh-CN" sz="1800" dirty="0" err="1">
                <a:latin typeface="+mn-ea"/>
                <a:ea typeface="+mn-ea"/>
              </a:rPr>
              <a:t>NR_INODE</a:t>
            </a:r>
            <a:r>
              <a:rPr lang="en-US" altLang="zh-CN" sz="1800" dirty="0">
                <a:latin typeface="+mn-ea"/>
                <a:ea typeface="+mn-ea"/>
              </a:rPr>
              <a:t>]={{0,},};</a:t>
            </a:r>
          </a:p>
        </p:txBody>
      </p:sp>
      <p:sp>
        <p:nvSpPr>
          <p:cNvPr id="6" name="下箭头 5"/>
          <p:cNvSpPr/>
          <p:nvPr/>
        </p:nvSpPr>
        <p:spPr bwMode="auto">
          <a:xfrm>
            <a:off x="8501384" y="4788513"/>
            <a:ext cx="198119" cy="16002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 bwMode="auto">
          <a:xfrm>
            <a:off x="381000" y="4465348"/>
            <a:ext cx="821944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矩形 10"/>
          <p:cNvSpPr/>
          <p:nvPr/>
        </p:nvSpPr>
        <p:spPr>
          <a:xfrm>
            <a:off x="7043416" y="5937926"/>
            <a:ext cx="17195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zh-CN" altLang="en-US" sz="1800" dirty="0" smtClean="0">
                <a:solidFill>
                  <a:srgbClr val="FF0000"/>
                </a:solidFill>
                <a:latin typeface="+mn-ea"/>
                <a:ea typeface="+mn-ea"/>
              </a:rPr>
              <a:t>思考一下这个顺序的含义？</a:t>
            </a:r>
            <a:endParaRPr lang="en-US" altLang="zh-CN" sz="1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/>
          <a:srcRect l="5945" t="35621" r="22709" b="31384"/>
          <a:stretch/>
        </p:blipFill>
        <p:spPr>
          <a:xfrm>
            <a:off x="3796145" y="0"/>
            <a:ext cx="5347855" cy="1782618"/>
          </a:xfrm>
          <a:prstGeom prst="rect">
            <a:avLst/>
          </a:prstGeom>
          <a:ln>
            <a:solidFill>
              <a:srgbClr val="0033CC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48355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2" grpId="0"/>
      <p:bldP spid="4" grpId="0"/>
      <p:bldP spid="7" grpId="0"/>
      <p:bldP spid="6" grpId="0" animBg="1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进程打开文件时数据结构的建立</a:t>
            </a:r>
          </a:p>
        </p:txBody>
      </p:sp>
      <p:sp>
        <p:nvSpPr>
          <p:cNvPr id="107523" name="内容占位符 2"/>
          <p:cNvSpPr>
            <a:spLocks noGrp="1"/>
          </p:cNvSpPr>
          <p:nvPr>
            <p:ph idx="1"/>
          </p:nvPr>
        </p:nvSpPr>
        <p:spPr>
          <a:xfrm>
            <a:off x="0" y="1268413"/>
            <a:ext cx="9144000" cy="4525962"/>
          </a:xfrm>
        </p:spPr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latin typeface="+mn-ea"/>
              </a:rPr>
              <a:t>打开</a:t>
            </a:r>
            <a:r>
              <a:rPr lang="zh-CN" altLang="en-US" dirty="0" smtClean="0">
                <a:solidFill>
                  <a:srgbClr val="FF0000"/>
                </a:solidFill>
                <a:latin typeface="+mn-ea"/>
              </a:rPr>
              <a:t>文件核心过程</a:t>
            </a:r>
            <a:endParaRPr lang="zh-CN" altLang="en-US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2400" dirty="0" smtClean="0">
                <a:latin typeface="+mn-ea"/>
              </a:rPr>
              <a:t>1</a:t>
            </a:r>
            <a:r>
              <a:rPr lang="zh-CN" altLang="en-US" sz="2400" dirty="0" smtClean="0">
                <a:latin typeface="+mn-ea"/>
              </a:rPr>
              <a:t>）将用户进程打开的文件（句柄</a:t>
            </a:r>
            <a:r>
              <a:rPr lang="en-US" altLang="zh-CN" sz="2400" dirty="0" err="1" smtClean="0">
                <a:latin typeface="+mn-ea"/>
              </a:rPr>
              <a:t>fd</a:t>
            </a:r>
            <a:r>
              <a:rPr lang="zh-CN" altLang="en-US" sz="2400" dirty="0" smtClean="0">
                <a:latin typeface="+mn-ea"/>
              </a:rPr>
              <a:t>）在</a:t>
            </a:r>
            <a:r>
              <a:rPr lang="en-US" altLang="zh-CN" sz="2400" dirty="0" err="1" smtClean="0">
                <a:latin typeface="+mn-ea"/>
              </a:rPr>
              <a:t>filp</a:t>
            </a:r>
            <a:r>
              <a:rPr lang="en-US" altLang="zh-CN" sz="2400" dirty="0" smtClean="0">
                <a:latin typeface="+mn-ea"/>
              </a:rPr>
              <a:t>[20]</a:t>
            </a:r>
            <a:r>
              <a:rPr lang="zh-CN" altLang="en-US" sz="2400" dirty="0" smtClean="0">
                <a:latin typeface="+mn-ea"/>
              </a:rPr>
              <a:t>中进行登记</a:t>
            </a:r>
            <a:endParaRPr lang="en-US" altLang="zh-CN" sz="2400" dirty="0" smtClean="0">
              <a:latin typeface="+mn-ea"/>
            </a:endParaRPr>
          </a:p>
          <a:p>
            <a:r>
              <a:rPr lang="en-US" altLang="zh-CN" sz="2400" dirty="0" smtClean="0">
                <a:latin typeface="+mn-ea"/>
              </a:rPr>
              <a:t>2</a:t>
            </a:r>
            <a:r>
              <a:rPr lang="zh-CN" altLang="en-US" sz="2400" dirty="0" smtClean="0">
                <a:latin typeface="+mn-ea"/>
              </a:rPr>
              <a:t>）建立</a:t>
            </a:r>
            <a:r>
              <a:rPr lang="en-US" altLang="zh-CN" sz="2400" dirty="0" err="1" smtClean="0">
                <a:latin typeface="+mn-ea"/>
              </a:rPr>
              <a:t>filp</a:t>
            </a:r>
            <a:r>
              <a:rPr lang="en-US" altLang="zh-CN" sz="2400" dirty="0" smtClean="0">
                <a:latin typeface="+mn-ea"/>
              </a:rPr>
              <a:t>[</a:t>
            </a:r>
            <a:r>
              <a:rPr lang="en-US" altLang="zh-CN" sz="2400" dirty="0" err="1" smtClean="0">
                <a:latin typeface="+mn-ea"/>
              </a:rPr>
              <a:t>fd</a:t>
            </a:r>
            <a:r>
              <a:rPr lang="en-US" altLang="zh-CN" sz="2400" dirty="0" smtClean="0">
                <a:latin typeface="+mn-ea"/>
              </a:rPr>
              <a:t>]</a:t>
            </a:r>
            <a:r>
              <a:rPr lang="zh-CN" altLang="en-US" sz="2400" dirty="0" smtClean="0">
                <a:latin typeface="+mn-ea"/>
              </a:rPr>
              <a:t>与内核中的</a:t>
            </a:r>
            <a:r>
              <a:rPr lang="en-US" altLang="zh-CN" sz="2400" dirty="0" err="1" smtClean="0">
                <a:latin typeface="+mn-ea"/>
              </a:rPr>
              <a:t>file_table</a:t>
            </a:r>
            <a:r>
              <a:rPr lang="en-US" altLang="zh-CN" sz="2400" dirty="0" smtClean="0">
                <a:latin typeface="+mn-ea"/>
              </a:rPr>
              <a:t>[64]</a:t>
            </a:r>
            <a:r>
              <a:rPr lang="zh-CN" altLang="en-US" sz="2400" dirty="0" smtClean="0">
                <a:latin typeface="+mn-ea"/>
              </a:rPr>
              <a:t>进行连接</a:t>
            </a:r>
          </a:p>
          <a:p>
            <a:r>
              <a:rPr lang="en-US" altLang="zh-CN" sz="2400" dirty="0">
                <a:latin typeface="+mn-ea"/>
              </a:rPr>
              <a:t>3</a:t>
            </a:r>
            <a:r>
              <a:rPr lang="zh-CN" altLang="en-US" sz="2400" dirty="0" smtClean="0">
                <a:latin typeface="+mn-ea"/>
              </a:rPr>
              <a:t>）将要打开文件的</a:t>
            </a:r>
            <a:r>
              <a:rPr lang="en-US" altLang="zh-CN" sz="2400" dirty="0" err="1" smtClean="0">
                <a:latin typeface="+mn-ea"/>
              </a:rPr>
              <a:t>i</a:t>
            </a:r>
            <a:r>
              <a:rPr lang="zh-CN" altLang="en-US" sz="2400" dirty="0" smtClean="0">
                <a:latin typeface="+mn-ea"/>
              </a:rPr>
              <a:t>节点在</a:t>
            </a:r>
            <a:r>
              <a:rPr lang="en-US" altLang="zh-CN" sz="2400" dirty="0" err="1" smtClean="0">
                <a:latin typeface="+mn-ea"/>
              </a:rPr>
              <a:t>file_table</a:t>
            </a:r>
            <a:r>
              <a:rPr lang="en-US" altLang="zh-CN" sz="2400" dirty="0" smtClean="0">
                <a:latin typeface="+mn-ea"/>
              </a:rPr>
              <a:t>[64]</a:t>
            </a:r>
            <a:r>
              <a:rPr lang="zh-CN" altLang="en-US" sz="2400" dirty="0" smtClean="0">
                <a:latin typeface="+mn-ea"/>
              </a:rPr>
              <a:t>中进行登记</a:t>
            </a:r>
            <a:endParaRPr lang="en-US" altLang="zh-CN" sz="2400" dirty="0" smtClean="0">
              <a:latin typeface="+mn-ea"/>
            </a:endParaRPr>
          </a:p>
          <a:p>
            <a:r>
              <a:rPr lang="en-US" altLang="zh-CN" sz="2400" dirty="0">
                <a:latin typeface="+mn-ea"/>
              </a:rPr>
              <a:t>4</a:t>
            </a:r>
            <a:r>
              <a:rPr lang="zh-CN" altLang="en-US" sz="2400" dirty="0" smtClean="0">
                <a:latin typeface="+mn-ea"/>
              </a:rPr>
              <a:t>）将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新</a:t>
            </a:r>
            <a:r>
              <a:rPr lang="zh-CN" altLang="en-US" sz="2400" dirty="0" smtClean="0">
                <a:latin typeface="+mn-ea"/>
              </a:rPr>
              <a:t>打开的</a:t>
            </a:r>
            <a:r>
              <a:rPr lang="en-US" altLang="zh-CN" sz="2400" dirty="0" err="1" smtClean="0">
                <a:latin typeface="+mn-ea"/>
              </a:rPr>
              <a:t>i</a:t>
            </a:r>
            <a:r>
              <a:rPr lang="zh-CN" altLang="en-US" sz="2400" dirty="0" smtClean="0">
                <a:latin typeface="+mn-ea"/>
              </a:rPr>
              <a:t>节点登记到</a:t>
            </a:r>
            <a:r>
              <a:rPr lang="en-US" altLang="zh-CN" sz="2400" dirty="0" err="1" smtClean="0">
                <a:latin typeface="+mn-ea"/>
              </a:rPr>
              <a:t>inode_table</a:t>
            </a:r>
            <a:r>
              <a:rPr lang="en-US" altLang="zh-CN" sz="2400" dirty="0" smtClean="0">
                <a:latin typeface="+mn-ea"/>
              </a:rPr>
              <a:t>[32]</a:t>
            </a:r>
          </a:p>
          <a:p>
            <a:endParaRPr lang="zh-CN" altLang="en-US" sz="2400" b="0" dirty="0" smtClean="0">
              <a:latin typeface="+mn-ea"/>
            </a:endParaRPr>
          </a:p>
          <a:p>
            <a:r>
              <a:rPr lang="zh-CN" altLang="en-US" sz="2400" dirty="0" smtClean="0">
                <a:latin typeface="+mn-ea"/>
              </a:rPr>
              <a:t>通过</a:t>
            </a:r>
            <a:r>
              <a:rPr lang="en-US" altLang="zh-CN" sz="2400" dirty="0" err="1" smtClean="0">
                <a:latin typeface="+mn-ea"/>
              </a:rPr>
              <a:t>inode_table</a:t>
            </a:r>
            <a:r>
              <a:rPr lang="en-US" altLang="zh-CN" sz="2400" dirty="0" smtClean="0">
                <a:latin typeface="+mn-ea"/>
              </a:rPr>
              <a:t>[32]</a:t>
            </a:r>
            <a:r>
              <a:rPr lang="zh-CN" altLang="en-US" sz="2400" dirty="0" smtClean="0">
                <a:latin typeface="+mn-ea"/>
              </a:rPr>
              <a:t>掌控正在使用的文件</a:t>
            </a:r>
            <a:r>
              <a:rPr lang="en-US" altLang="zh-CN" sz="2400" dirty="0" err="1" smtClean="0">
                <a:latin typeface="+mn-ea"/>
              </a:rPr>
              <a:t>i</a:t>
            </a:r>
            <a:r>
              <a:rPr lang="zh-CN" altLang="en-US" sz="2400" dirty="0" smtClean="0">
                <a:latin typeface="+mn-ea"/>
              </a:rPr>
              <a:t>节点数</a:t>
            </a:r>
          </a:p>
          <a:p>
            <a:r>
              <a:rPr lang="zh-CN" altLang="en-US" sz="2400" dirty="0" smtClean="0">
                <a:latin typeface="+mn-ea"/>
              </a:rPr>
              <a:t>打开文件的本质就是要建立*</a:t>
            </a:r>
            <a:r>
              <a:rPr lang="en-US" altLang="zh-CN" sz="2400" dirty="0" err="1" smtClean="0">
                <a:latin typeface="+mn-ea"/>
              </a:rPr>
              <a:t>filp</a:t>
            </a:r>
            <a:r>
              <a:rPr lang="en-US" altLang="zh-CN" sz="2400" dirty="0" smtClean="0">
                <a:latin typeface="+mn-ea"/>
              </a:rPr>
              <a:t>[20]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err="1" smtClean="0">
                <a:latin typeface="+mn-ea"/>
              </a:rPr>
              <a:t>file_table</a:t>
            </a:r>
            <a:r>
              <a:rPr lang="en-US" altLang="zh-CN" sz="2400" dirty="0" smtClean="0">
                <a:latin typeface="+mn-ea"/>
              </a:rPr>
              <a:t>[64]</a:t>
            </a:r>
            <a:r>
              <a:rPr lang="zh-CN" altLang="en-US" sz="2400" dirty="0" smtClean="0">
                <a:latin typeface="+mn-ea"/>
              </a:rPr>
              <a:t>、</a:t>
            </a:r>
            <a:r>
              <a:rPr lang="en-US" altLang="zh-CN" sz="2400" dirty="0" err="1" smtClean="0">
                <a:latin typeface="+mn-ea"/>
              </a:rPr>
              <a:t>inode_table</a:t>
            </a:r>
            <a:r>
              <a:rPr lang="en-US" altLang="zh-CN" sz="2400" dirty="0" smtClean="0">
                <a:latin typeface="+mn-ea"/>
              </a:rPr>
              <a:t>[32]</a:t>
            </a:r>
            <a:r>
              <a:rPr lang="zh-CN" altLang="en-US" sz="2400" dirty="0" smtClean="0">
                <a:latin typeface="+mn-ea"/>
              </a:rPr>
              <a:t>三者之间的关系</a:t>
            </a:r>
            <a:endParaRPr lang="zh-CN" altLang="en-US" sz="2400" b="0" dirty="0" smtClean="0">
              <a:latin typeface="+mn-ea"/>
            </a:endParaRPr>
          </a:p>
          <a:p>
            <a:pPr marL="0" indent="0">
              <a:buNone/>
            </a:pPr>
            <a:endParaRPr lang="zh-CN" altLang="en-US" sz="24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972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7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5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7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74985" y="1136972"/>
            <a:ext cx="4648200" cy="5525442"/>
            <a:chOff x="5757256" y="144734"/>
            <a:chExt cx="4648200" cy="5525442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57256" y="144734"/>
              <a:ext cx="4648200" cy="5525442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8686800" y="1716333"/>
              <a:ext cx="1447800" cy="3077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400" b="0" dirty="0" err="1" smtClean="0"/>
                <a:t>inode_table</a:t>
              </a:r>
              <a:r>
                <a:rPr lang="en-US" altLang="zh-CN" sz="1400" b="0" dirty="0" smtClean="0"/>
                <a:t>[32]</a:t>
              </a:r>
              <a:endParaRPr lang="zh-CN" altLang="en-US" sz="1400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进程打开文件时数据结构的建立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04800" y="1361281"/>
            <a:ext cx="3425825" cy="2753519"/>
          </a:xfrm>
        </p:spPr>
        <p:txBody>
          <a:bodyPr/>
          <a:lstStyle/>
          <a:p>
            <a:r>
              <a:rPr lang="zh-CN" altLang="en-US" dirty="0" smtClean="0">
                <a:latin typeface="+mn-ea"/>
              </a:rPr>
              <a:t>打开</a:t>
            </a:r>
            <a:r>
              <a:rPr lang="zh-CN" altLang="en-US" dirty="0">
                <a:latin typeface="+mn-ea"/>
              </a:rPr>
              <a:t>文件的本质就是要</a:t>
            </a:r>
            <a:r>
              <a:rPr lang="zh-CN" altLang="en-US" dirty="0" smtClean="0">
                <a:latin typeface="+mn-ea"/>
              </a:rPr>
              <a:t>建立：</a:t>
            </a:r>
            <a:r>
              <a:rPr lang="en-US" altLang="zh-CN" dirty="0" err="1" smtClean="0">
                <a:solidFill>
                  <a:srgbClr val="00B050"/>
                </a:solidFill>
                <a:latin typeface="+mn-ea"/>
              </a:rPr>
              <a:t>filp</a:t>
            </a:r>
            <a:r>
              <a:rPr lang="en-US" altLang="zh-CN" dirty="0" smtClean="0">
                <a:solidFill>
                  <a:srgbClr val="00B050"/>
                </a:solidFill>
                <a:latin typeface="+mn-ea"/>
              </a:rPr>
              <a:t>[20</a:t>
            </a:r>
            <a:r>
              <a:rPr lang="en-US" altLang="zh-CN" dirty="0">
                <a:solidFill>
                  <a:srgbClr val="00B050"/>
                </a:solidFill>
                <a:latin typeface="+mn-ea"/>
              </a:rPr>
              <a:t>]</a:t>
            </a:r>
            <a:r>
              <a:rPr lang="zh-CN" altLang="en-US" dirty="0">
                <a:solidFill>
                  <a:srgbClr val="00B050"/>
                </a:solidFill>
                <a:latin typeface="+mn-ea"/>
              </a:rPr>
              <a:t>、</a:t>
            </a:r>
            <a:r>
              <a:rPr lang="en-US" altLang="zh-CN" dirty="0" err="1">
                <a:solidFill>
                  <a:srgbClr val="00B050"/>
                </a:solidFill>
                <a:latin typeface="+mn-ea"/>
              </a:rPr>
              <a:t>file_table</a:t>
            </a:r>
            <a:r>
              <a:rPr lang="en-US" altLang="zh-CN" dirty="0">
                <a:solidFill>
                  <a:srgbClr val="00B050"/>
                </a:solidFill>
                <a:latin typeface="+mn-ea"/>
              </a:rPr>
              <a:t>[64]</a:t>
            </a:r>
            <a:r>
              <a:rPr lang="zh-CN" altLang="en-US" dirty="0">
                <a:solidFill>
                  <a:srgbClr val="00B050"/>
                </a:solidFill>
                <a:latin typeface="+mn-ea"/>
              </a:rPr>
              <a:t>、</a:t>
            </a:r>
            <a:r>
              <a:rPr lang="en-US" altLang="zh-CN" dirty="0" err="1">
                <a:solidFill>
                  <a:srgbClr val="00B050"/>
                </a:solidFill>
                <a:latin typeface="+mn-ea"/>
              </a:rPr>
              <a:t>inode_table</a:t>
            </a:r>
            <a:r>
              <a:rPr lang="en-US" altLang="zh-CN" dirty="0">
                <a:solidFill>
                  <a:srgbClr val="00B050"/>
                </a:solidFill>
                <a:latin typeface="+mn-ea"/>
              </a:rPr>
              <a:t>[32]</a:t>
            </a:r>
            <a:r>
              <a:rPr lang="zh-CN" altLang="en-US" dirty="0">
                <a:latin typeface="+mn-ea"/>
              </a:rPr>
              <a:t>三者之间的关系</a:t>
            </a:r>
            <a:endParaRPr lang="zh-CN" altLang="en-US" b="0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6" name="圆角矩形标注 5"/>
          <p:cNvSpPr/>
          <p:nvPr/>
        </p:nvSpPr>
        <p:spPr bwMode="auto">
          <a:xfrm>
            <a:off x="2057400" y="5048845"/>
            <a:ext cx="1676400" cy="891291"/>
          </a:xfrm>
          <a:prstGeom prst="wedgeRoundRectCallout">
            <a:avLst>
              <a:gd name="adj1" fmla="val 114783"/>
              <a:gd name="adj2" fmla="val 10406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Process1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dirty="0" err="1" smtClean="0">
                <a:latin typeface="Arial" charset="0"/>
              </a:rPr>
              <a:t>task_struct</a:t>
            </a: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圆角矩形标注 9"/>
          <p:cNvSpPr/>
          <p:nvPr/>
        </p:nvSpPr>
        <p:spPr bwMode="auto">
          <a:xfrm>
            <a:off x="7275022" y="4637240"/>
            <a:ext cx="1668087" cy="823209"/>
          </a:xfrm>
          <a:prstGeom prst="wedgeRoundRectCallout">
            <a:avLst>
              <a:gd name="adj1" fmla="val -85284"/>
              <a:gd name="adj2" fmla="val 174392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Process2</a:t>
            </a:r>
          </a:p>
          <a:p>
            <a:pPr eaLnBrk="1" hangingPunct="1"/>
            <a:r>
              <a:rPr lang="en-US" altLang="zh-CN" sz="2000" dirty="0" err="1">
                <a:latin typeface="Arial" charset="0"/>
              </a:rPr>
              <a:t>task_struct</a:t>
            </a:r>
            <a:endParaRPr lang="zh-CN" altLang="en-US" sz="2000" dirty="0">
              <a:latin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8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1" t="36346" r="26665" b="14983"/>
          <a:stretch>
            <a:fillRect/>
          </a:stretch>
        </p:blipFill>
        <p:spPr bwMode="auto">
          <a:xfrm>
            <a:off x="381000" y="990600"/>
            <a:ext cx="8382000" cy="520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组合 10"/>
          <p:cNvGrpSpPr/>
          <p:nvPr/>
        </p:nvGrpSpPr>
        <p:grpSpPr>
          <a:xfrm>
            <a:off x="2514106" y="2165588"/>
            <a:ext cx="2819400" cy="4398489"/>
            <a:chOff x="6495473" y="1342024"/>
            <a:chExt cx="2819400" cy="4398489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95473" y="1996172"/>
              <a:ext cx="2819400" cy="3744341"/>
            </a:xfrm>
            <a:prstGeom prst="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</p:spPr>
        </p:pic>
        <p:sp>
          <p:nvSpPr>
            <p:cNvPr id="13" name="Rectangle 29"/>
            <p:cNvSpPr>
              <a:spLocks noChangeArrowheads="1"/>
            </p:cNvSpPr>
            <p:nvPr/>
          </p:nvSpPr>
          <p:spPr bwMode="auto">
            <a:xfrm>
              <a:off x="6667500" y="1342024"/>
              <a:ext cx="2628900" cy="53533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p3d prstMaterial="metal">
              <a:bevelT w="88900" h="88900"/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dirty="0" smtClean="0"/>
                <a:t>Linux\</a:t>
              </a:r>
              <a:r>
                <a:rPr lang="en-US" altLang="zh-CN" sz="1600" dirty="0" err="1" smtClean="0"/>
                <a:t>fs.h</a:t>
              </a:r>
              <a:r>
                <a:rPr lang="zh-CN" altLang="en-US" sz="1600" dirty="0" smtClean="0"/>
                <a:t>，建立</a:t>
              </a:r>
              <a:r>
                <a:rPr lang="en-US" altLang="zh-CN" sz="1600" dirty="0" err="1" smtClean="0"/>
                <a:t>inode_table</a:t>
              </a:r>
              <a:r>
                <a:rPr lang="en-US" altLang="zh-CN" sz="1600" dirty="0" smtClean="0"/>
                <a:t>[NR-</a:t>
              </a:r>
              <a:r>
                <a:rPr lang="en-US" altLang="zh-CN" sz="1600" dirty="0" err="1" smtClean="0"/>
                <a:t>INODE</a:t>
              </a:r>
              <a:r>
                <a:rPr lang="en-US" altLang="zh-CN" sz="1600" dirty="0" smtClean="0"/>
                <a:t>]</a:t>
              </a:r>
              <a:endParaRPr lang="zh-CN" altLang="en-US" sz="1600" dirty="0"/>
            </a:p>
          </p:txBody>
        </p:sp>
      </p:grpSp>
      <p:sp>
        <p:nvSpPr>
          <p:cNvPr id="9" name="矩形 8"/>
          <p:cNvSpPr/>
          <p:nvPr/>
        </p:nvSpPr>
        <p:spPr>
          <a:xfrm>
            <a:off x="2252475" y="1828800"/>
            <a:ext cx="6431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链接</a:t>
            </a:r>
            <a:r>
              <a:rPr lang="en-US" altLang="zh-CN" sz="14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zh-CN" sz="14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38475" y="1828800"/>
            <a:ext cx="6431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链接</a:t>
            </a:r>
            <a:r>
              <a:rPr lang="en-US" altLang="zh-CN" sz="1400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zh-CN" altLang="zh-CN" sz="1400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94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9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336036"/>
            <a:ext cx="7848600" cy="676275"/>
          </a:xfrm>
        </p:spPr>
        <p:txBody>
          <a:bodyPr/>
          <a:lstStyle/>
          <a:p>
            <a:r>
              <a:rPr lang="zh-CN" altLang="en-US" dirty="0"/>
              <a:t>进程打开文件时数据结构的建立</a:t>
            </a:r>
          </a:p>
        </p:txBody>
      </p:sp>
      <p:sp>
        <p:nvSpPr>
          <p:cNvPr id="5" name="矩形 4"/>
          <p:cNvSpPr/>
          <p:nvPr/>
        </p:nvSpPr>
        <p:spPr>
          <a:xfrm>
            <a:off x="177800" y="1143000"/>
            <a:ext cx="8661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sys_open</a:t>
            </a:r>
            <a:r>
              <a:rPr lang="en-US" altLang="zh-CN" sz="1800" dirty="0"/>
              <a:t>(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char * </a:t>
            </a:r>
            <a:r>
              <a:rPr lang="en-US" altLang="zh-CN" sz="1800" dirty="0" err="1"/>
              <a:t>filename,int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flag,int</a:t>
            </a:r>
            <a:r>
              <a:rPr lang="en-US" altLang="zh-CN" sz="1800" dirty="0"/>
              <a:t> mode)</a:t>
            </a:r>
            <a:endParaRPr lang="zh-CN" altLang="zh-CN" sz="1800" dirty="0"/>
          </a:p>
          <a:p>
            <a:r>
              <a:rPr lang="en-US" altLang="zh-CN" sz="1800" dirty="0"/>
              <a:t>{</a:t>
            </a:r>
            <a:endParaRPr lang="zh-CN" altLang="zh-CN" sz="1800" dirty="0"/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m_inode</a:t>
            </a:r>
            <a:r>
              <a:rPr lang="en-US" altLang="zh-CN" sz="1800" dirty="0"/>
              <a:t> * </a:t>
            </a:r>
            <a:r>
              <a:rPr lang="en-US" altLang="zh-CN" sz="1800" dirty="0" err="1"/>
              <a:t>inode</a:t>
            </a:r>
            <a:r>
              <a:rPr lang="en-US" altLang="zh-CN" sz="1800" dirty="0" smtClean="0"/>
              <a:t>; </a:t>
            </a:r>
            <a:r>
              <a:rPr lang="en-US" altLang="zh-CN" sz="1800" dirty="0" smtClean="0">
                <a:solidFill>
                  <a:srgbClr val="FF0000"/>
                </a:solidFill>
              </a:rPr>
              <a:t>//</a:t>
            </a:r>
            <a:r>
              <a:rPr lang="en-US" altLang="zh-CN" sz="1800" dirty="0"/>
              <a:t> </a:t>
            </a:r>
            <a:r>
              <a:rPr lang="en-US" altLang="zh-CN" sz="1800" dirty="0" err="1">
                <a:solidFill>
                  <a:srgbClr val="FF0000"/>
                </a:solidFill>
              </a:rPr>
              <a:t>inode</a:t>
            </a:r>
            <a:r>
              <a:rPr lang="en-US" altLang="zh-CN" sz="1800" dirty="0">
                <a:solidFill>
                  <a:srgbClr val="FF0000"/>
                </a:solidFill>
              </a:rPr>
              <a:t> </a:t>
            </a:r>
            <a:r>
              <a:rPr lang="zh-CN" altLang="en-US" sz="1800" dirty="0" smtClean="0">
                <a:solidFill>
                  <a:srgbClr val="FF0000"/>
                </a:solidFill>
              </a:rPr>
              <a:t>？</a:t>
            </a:r>
            <a:endParaRPr lang="zh-CN" altLang="zh-CN" sz="1800" dirty="0"/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file * f</a:t>
            </a:r>
            <a:r>
              <a:rPr lang="en-US" altLang="zh-CN" sz="1800" dirty="0" smtClean="0"/>
              <a:t>;  </a:t>
            </a:r>
            <a:r>
              <a:rPr lang="en-US" altLang="zh-CN" sz="1800" dirty="0">
                <a:solidFill>
                  <a:srgbClr val="FF0000"/>
                </a:solidFill>
              </a:rPr>
              <a:t>//</a:t>
            </a:r>
            <a:r>
              <a:rPr lang="en-US" altLang="zh-CN" sz="1800" dirty="0" smtClean="0">
                <a:solidFill>
                  <a:srgbClr val="FF0000"/>
                </a:solidFill>
              </a:rPr>
              <a:t>f</a:t>
            </a:r>
            <a:r>
              <a:rPr lang="zh-CN" altLang="en-US" sz="1800" dirty="0" smtClean="0">
                <a:solidFill>
                  <a:srgbClr val="FF0000"/>
                </a:solidFill>
              </a:rPr>
              <a:t>是</a:t>
            </a:r>
            <a:r>
              <a:rPr lang="zh-CN" altLang="en-US" sz="1800" dirty="0">
                <a:solidFill>
                  <a:srgbClr val="FF0000"/>
                </a:solidFill>
              </a:rPr>
              <a:t>什么</a:t>
            </a:r>
            <a:r>
              <a:rPr lang="zh-CN" altLang="en-US" sz="1800" dirty="0" smtClean="0">
                <a:solidFill>
                  <a:srgbClr val="FF0000"/>
                </a:solidFill>
              </a:rPr>
              <a:t>？</a:t>
            </a:r>
            <a:endParaRPr lang="zh-CN" altLang="zh-CN" sz="1800" dirty="0"/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i,fd</a:t>
            </a:r>
            <a:r>
              <a:rPr lang="en-US" altLang="zh-CN" sz="1800" dirty="0" smtClean="0"/>
              <a:t>;  </a:t>
            </a:r>
            <a:r>
              <a:rPr lang="en-US" altLang="zh-CN" sz="1800" dirty="0" smtClean="0">
                <a:solidFill>
                  <a:srgbClr val="FF0000"/>
                </a:solidFill>
              </a:rPr>
              <a:t>//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fd</a:t>
            </a:r>
            <a:r>
              <a:rPr lang="zh-CN" altLang="en-US" sz="1800" dirty="0" smtClean="0">
                <a:solidFill>
                  <a:srgbClr val="FF0000"/>
                </a:solidFill>
              </a:rPr>
              <a:t>是什么？</a:t>
            </a:r>
            <a:endParaRPr lang="zh-CN" altLang="zh-CN" sz="1800" dirty="0">
              <a:solidFill>
                <a:srgbClr val="FF0000"/>
              </a:solidFill>
            </a:endParaRPr>
          </a:p>
          <a:p>
            <a:r>
              <a:rPr lang="en-US" altLang="zh-CN" sz="1800" dirty="0"/>
              <a:t>……</a:t>
            </a:r>
            <a:endParaRPr lang="zh-CN" altLang="zh-CN" sz="1800" dirty="0"/>
          </a:p>
          <a:p>
            <a:r>
              <a:rPr lang="en-US" altLang="zh-CN" sz="1800" dirty="0"/>
              <a:t>	for(</a:t>
            </a:r>
            <a:r>
              <a:rPr lang="en-US" altLang="zh-CN" sz="1800" dirty="0" err="1">
                <a:solidFill>
                  <a:srgbClr val="FF0000"/>
                </a:solidFill>
              </a:rPr>
              <a:t>fd</a:t>
            </a:r>
            <a:r>
              <a:rPr lang="en-US" altLang="zh-CN" sz="1800" dirty="0"/>
              <a:t>=0 ; </a:t>
            </a:r>
            <a:r>
              <a:rPr lang="en-US" altLang="zh-CN" sz="1800" dirty="0" err="1"/>
              <a:t>fd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NR_OPEN</a:t>
            </a:r>
            <a:r>
              <a:rPr lang="en-US" altLang="zh-CN" sz="1800" dirty="0"/>
              <a:t> ; </a:t>
            </a:r>
            <a:r>
              <a:rPr lang="en-US" altLang="zh-CN" sz="1800" dirty="0" err="1"/>
              <a:t>fd</a:t>
            </a:r>
            <a:r>
              <a:rPr lang="en-US" altLang="zh-CN" sz="1800" dirty="0"/>
              <a:t>++)   </a:t>
            </a:r>
            <a:r>
              <a:rPr lang="en-US" altLang="zh-CN" sz="1800" dirty="0" smtClean="0"/>
              <a:t>//</a:t>
            </a:r>
            <a:r>
              <a:rPr lang="en-US" altLang="zh-CN" sz="1800" dirty="0" err="1">
                <a:solidFill>
                  <a:srgbClr val="FF0000"/>
                </a:solidFill>
              </a:rPr>
              <a:t>fd</a:t>
            </a:r>
            <a:r>
              <a:rPr lang="zh-CN" altLang="zh-CN" sz="1800" dirty="0" smtClean="0"/>
              <a:t>从</a:t>
            </a:r>
            <a:r>
              <a:rPr lang="zh-CN" altLang="zh-CN" sz="1800" dirty="0"/>
              <a:t>当前进程</a:t>
            </a:r>
            <a:r>
              <a:rPr lang="en-US" altLang="zh-CN" sz="1800" dirty="0"/>
              <a:t>flip[20]</a:t>
            </a:r>
            <a:r>
              <a:rPr lang="zh-CN" altLang="zh-CN" sz="1800" dirty="0"/>
              <a:t>中寻找空闲项</a:t>
            </a:r>
          </a:p>
          <a:p>
            <a:r>
              <a:rPr lang="en-US" altLang="zh-CN" sz="1800" dirty="0"/>
              <a:t>		</a:t>
            </a:r>
            <a:r>
              <a:rPr lang="en-US" altLang="zh-CN" sz="1800" dirty="0">
                <a:solidFill>
                  <a:srgbClr val="C00000"/>
                </a:solidFill>
              </a:rPr>
              <a:t>if (!current-&gt;</a:t>
            </a:r>
            <a:r>
              <a:rPr lang="en-US" altLang="zh-CN" sz="1800" dirty="0" err="1">
                <a:solidFill>
                  <a:srgbClr val="C00000"/>
                </a:solidFill>
              </a:rPr>
              <a:t>filp</a:t>
            </a:r>
            <a:r>
              <a:rPr lang="en-US" altLang="zh-CN" sz="1800" dirty="0">
                <a:solidFill>
                  <a:srgbClr val="C00000"/>
                </a:solidFill>
              </a:rPr>
              <a:t>[</a:t>
            </a:r>
            <a:r>
              <a:rPr lang="en-US" altLang="zh-CN" sz="1800" dirty="0" err="1">
                <a:solidFill>
                  <a:srgbClr val="C00000"/>
                </a:solidFill>
              </a:rPr>
              <a:t>fd</a:t>
            </a:r>
            <a:r>
              <a:rPr lang="en-US" altLang="zh-CN" sz="1800" dirty="0">
                <a:solidFill>
                  <a:srgbClr val="C00000"/>
                </a:solidFill>
              </a:rPr>
              <a:t>])</a:t>
            </a:r>
            <a:endParaRPr lang="zh-CN" altLang="zh-CN" sz="1800" dirty="0">
              <a:solidFill>
                <a:srgbClr val="C00000"/>
              </a:solidFill>
            </a:endParaRPr>
          </a:p>
          <a:p>
            <a:r>
              <a:rPr lang="en-US" altLang="zh-CN" sz="1800" dirty="0"/>
              <a:t>			break;</a:t>
            </a:r>
            <a:endParaRPr lang="zh-CN" altLang="zh-CN" sz="1800" dirty="0"/>
          </a:p>
          <a:p>
            <a:r>
              <a:rPr lang="en-US" altLang="zh-CN" sz="1800" dirty="0"/>
              <a:t>……</a:t>
            </a:r>
            <a:endParaRPr lang="zh-CN" altLang="zh-CN" sz="1800" dirty="0"/>
          </a:p>
          <a:p>
            <a:r>
              <a:rPr lang="en-US" altLang="zh-CN" sz="1800" dirty="0"/>
              <a:t>	f=</a:t>
            </a:r>
            <a:r>
              <a:rPr lang="en-US" altLang="zh-CN" sz="1800" dirty="0" err="1"/>
              <a:t>0+file_table</a:t>
            </a:r>
            <a:r>
              <a:rPr lang="en-US" altLang="zh-CN" sz="1800" dirty="0"/>
              <a:t>;   //f</a:t>
            </a:r>
            <a:r>
              <a:rPr lang="zh-CN" altLang="zh-CN" sz="1800" dirty="0"/>
              <a:t>为文件指针，其指向了</a:t>
            </a:r>
            <a:r>
              <a:rPr lang="en-US" altLang="zh-CN" sz="1800" dirty="0" err="1"/>
              <a:t>filetable</a:t>
            </a:r>
            <a:r>
              <a:rPr lang="zh-CN" altLang="zh-CN" sz="1800" dirty="0"/>
              <a:t>文件数组起始地址</a:t>
            </a:r>
          </a:p>
          <a:p>
            <a:r>
              <a:rPr lang="en-US" altLang="zh-CN" sz="1800" dirty="0"/>
              <a:t>	for 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 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&lt;</a:t>
            </a:r>
            <a:r>
              <a:rPr lang="en-US" altLang="zh-CN" sz="1800" dirty="0" err="1"/>
              <a:t>NR_FILE</a:t>
            </a:r>
            <a:r>
              <a:rPr lang="en-US" altLang="zh-CN" sz="1800" dirty="0"/>
              <a:t> ;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++,f++)     //</a:t>
            </a:r>
            <a:r>
              <a:rPr lang="zh-CN" altLang="zh-CN" sz="1800" dirty="0"/>
              <a:t>从</a:t>
            </a:r>
            <a:r>
              <a:rPr lang="en-US" altLang="zh-CN" sz="1800" dirty="0" err="1"/>
              <a:t>file_table</a:t>
            </a:r>
            <a:r>
              <a:rPr lang="en-US" altLang="zh-CN" sz="1800" dirty="0"/>
              <a:t>[64]</a:t>
            </a:r>
            <a:r>
              <a:rPr lang="zh-CN" altLang="zh-CN" sz="1800" dirty="0"/>
              <a:t>中寻找空闲项</a:t>
            </a:r>
          </a:p>
          <a:p>
            <a:r>
              <a:rPr lang="en-US" altLang="zh-CN" sz="1800" dirty="0"/>
              <a:t>		if (!f-&gt;</a:t>
            </a:r>
            <a:r>
              <a:rPr lang="en-US" altLang="zh-CN" sz="1800" dirty="0" err="1"/>
              <a:t>f_count</a:t>
            </a:r>
            <a:r>
              <a:rPr lang="en-US" altLang="zh-CN" sz="1800" dirty="0"/>
              <a:t>) break;    // </a:t>
            </a:r>
            <a:r>
              <a:rPr lang="en-US" altLang="zh-CN" sz="1800" dirty="0" err="1" smtClean="0"/>
              <a:t>f_count</a:t>
            </a:r>
            <a:r>
              <a:rPr lang="zh-CN" altLang="en-US" sz="1800" dirty="0" smtClean="0"/>
              <a:t>等于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时找到</a:t>
            </a:r>
            <a:endParaRPr lang="zh-CN" altLang="zh-CN" sz="1800" dirty="0"/>
          </a:p>
          <a:p>
            <a:r>
              <a:rPr lang="en-US" altLang="zh-CN" sz="1800" dirty="0" smtClean="0"/>
              <a:t>……</a:t>
            </a:r>
          </a:p>
          <a:p>
            <a:r>
              <a:rPr lang="en-US" altLang="zh-CN" sz="1800" dirty="0" smtClean="0"/>
              <a:t>	</a:t>
            </a:r>
            <a:r>
              <a:rPr lang="en-US" altLang="zh-CN" sz="18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</a:t>
            </a:r>
            <a:r>
              <a:rPr lang="zh-CN" altLang="zh-CN" sz="18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将进程</a:t>
            </a:r>
            <a:r>
              <a:rPr lang="en-US" altLang="zh-CN" sz="1800" i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filp</a:t>
            </a:r>
            <a:r>
              <a:rPr lang="zh-CN" altLang="zh-CN" sz="18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</a:t>
            </a:r>
            <a:r>
              <a:rPr lang="en-US" altLang="zh-CN" sz="1800" i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file_table</a:t>
            </a:r>
            <a:r>
              <a:rPr lang="zh-CN" altLang="zh-CN" sz="18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对应项挂接，增加文件句柄</a:t>
            </a:r>
            <a:r>
              <a:rPr lang="zh-CN" altLang="zh-CN" sz="18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计数</a:t>
            </a:r>
            <a:r>
              <a:rPr lang="zh-CN" altLang="en-US" sz="18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（链接</a:t>
            </a:r>
            <a:r>
              <a:rPr lang="en-US" altLang="zh-CN" sz="18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18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zh-CN" altLang="zh-CN" sz="1800" i="1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800" dirty="0"/>
              <a:t> </a:t>
            </a:r>
            <a:r>
              <a:rPr lang="en-US" altLang="zh-CN" sz="1800" dirty="0" smtClean="0"/>
              <a:t>              (</a:t>
            </a:r>
            <a:r>
              <a:rPr lang="en-US" altLang="zh-CN" sz="1800" dirty="0"/>
              <a:t>current-&gt;</a:t>
            </a:r>
            <a:r>
              <a:rPr lang="en-US" altLang="zh-CN" sz="1800" dirty="0" err="1"/>
              <a:t>filp</a:t>
            </a:r>
            <a:r>
              <a:rPr lang="en-US" altLang="zh-CN" sz="1800" dirty="0"/>
              <a:t>[</a:t>
            </a:r>
            <a:r>
              <a:rPr lang="en-US" altLang="zh-CN" sz="1800" dirty="0" err="1"/>
              <a:t>fd</a:t>
            </a:r>
            <a:r>
              <a:rPr lang="en-US" altLang="zh-CN" sz="1800" dirty="0"/>
              <a:t>]=f)-&gt;</a:t>
            </a:r>
            <a:r>
              <a:rPr lang="en-US" altLang="zh-CN" sz="1800" dirty="0" err="1"/>
              <a:t>f_count</a:t>
            </a:r>
            <a:r>
              <a:rPr lang="en-US" altLang="zh-CN" sz="1800" dirty="0"/>
              <a:t>++;  </a:t>
            </a:r>
            <a:endParaRPr lang="en-US" altLang="zh-CN" sz="1800" dirty="0" smtClean="0"/>
          </a:p>
          <a:p>
            <a:r>
              <a:rPr lang="en-US" altLang="zh-CN" sz="1800" dirty="0" smtClean="0"/>
              <a:t>… …</a:t>
            </a:r>
          </a:p>
          <a:p>
            <a:r>
              <a:rPr lang="en-US" altLang="zh-CN" sz="1800" dirty="0" smtClean="0"/>
              <a:t>}</a:t>
            </a:r>
          </a:p>
          <a:p>
            <a:endParaRPr lang="zh-CN" altLang="zh-CN" sz="1800" dirty="0"/>
          </a:p>
          <a:p>
            <a:r>
              <a:rPr lang="en-US" altLang="zh-CN" sz="1800" dirty="0"/>
              <a:t>	</a:t>
            </a:r>
            <a:endParaRPr lang="zh-CN" altLang="zh-CN" sz="1800" dirty="0"/>
          </a:p>
        </p:txBody>
      </p:sp>
      <p:sp>
        <p:nvSpPr>
          <p:cNvPr id="3" name="矩形 2"/>
          <p:cNvSpPr/>
          <p:nvPr/>
        </p:nvSpPr>
        <p:spPr bwMode="auto">
          <a:xfrm>
            <a:off x="152400" y="2819400"/>
            <a:ext cx="8763000" cy="8382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52400" y="3918977"/>
            <a:ext cx="8763000" cy="881623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77800" y="4953000"/>
            <a:ext cx="8763000" cy="881623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52400" y="1752600"/>
            <a:ext cx="8763000" cy="8382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066" y="21602"/>
            <a:ext cx="2419934" cy="272062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426911"/>
            <a:ext cx="4195795" cy="140017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B05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2984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352425"/>
            <a:ext cx="7848600" cy="676275"/>
          </a:xfrm>
        </p:spPr>
        <p:txBody>
          <a:bodyPr/>
          <a:lstStyle/>
          <a:p>
            <a:r>
              <a:rPr lang="zh-CN" altLang="en-US" dirty="0"/>
              <a:t>进程打开文件时数据结构的建立</a:t>
            </a:r>
          </a:p>
        </p:txBody>
      </p:sp>
      <p:sp>
        <p:nvSpPr>
          <p:cNvPr id="5" name="矩形 4"/>
          <p:cNvSpPr/>
          <p:nvPr/>
        </p:nvSpPr>
        <p:spPr>
          <a:xfrm>
            <a:off x="330200" y="1143000"/>
            <a:ext cx="89662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sys_open</a:t>
            </a:r>
            <a:r>
              <a:rPr lang="en-US" altLang="zh-CN" sz="1800" dirty="0"/>
              <a:t>(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char * </a:t>
            </a:r>
            <a:r>
              <a:rPr lang="en-US" altLang="zh-CN" sz="1800" dirty="0" err="1">
                <a:solidFill>
                  <a:srgbClr val="C00000"/>
                </a:solidFill>
              </a:rPr>
              <a:t>filename</a:t>
            </a:r>
            <a:r>
              <a:rPr lang="en-US" altLang="zh-CN" sz="1800" dirty="0" err="1"/>
              <a:t>,int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flag,int</a:t>
            </a:r>
            <a:r>
              <a:rPr lang="en-US" altLang="zh-CN" sz="1800" dirty="0"/>
              <a:t> mode)</a:t>
            </a:r>
            <a:endParaRPr lang="zh-CN" altLang="zh-CN" sz="1800" dirty="0"/>
          </a:p>
          <a:p>
            <a:r>
              <a:rPr lang="en-US" altLang="zh-CN" sz="1800" dirty="0"/>
              <a:t>{</a:t>
            </a:r>
            <a:endParaRPr lang="zh-CN" altLang="zh-CN" sz="1800" dirty="0"/>
          </a:p>
          <a:p>
            <a:r>
              <a:rPr lang="en-US" altLang="zh-CN" sz="1800" dirty="0" smtClean="0"/>
              <a:t>……</a:t>
            </a:r>
            <a:r>
              <a:rPr lang="en-US" altLang="zh-CN" sz="1800" dirty="0"/>
              <a:t> </a:t>
            </a:r>
            <a:endParaRPr lang="zh-CN" altLang="zh-CN" sz="1800" dirty="0"/>
          </a:p>
          <a:p>
            <a:r>
              <a:rPr lang="en-US" altLang="zh-CN" sz="1800" dirty="0"/>
              <a:t>	</a:t>
            </a:r>
            <a:r>
              <a:rPr lang="en-US" altLang="zh-CN" sz="1800" dirty="0" smtClean="0"/>
              <a:t>//</a:t>
            </a:r>
            <a:r>
              <a:rPr lang="zh-CN" altLang="en-US" sz="1800" dirty="0" smtClean="0"/>
              <a:t>循环路径解析，找到</a:t>
            </a:r>
            <a:r>
              <a:rPr lang="en-US" altLang="zh-CN" sz="1800" dirty="0" err="1" smtClean="0"/>
              <a:t>i</a:t>
            </a:r>
            <a:r>
              <a:rPr lang="zh-CN" altLang="en-US" sz="1800" dirty="0" smtClean="0"/>
              <a:t>节点，存储到</a:t>
            </a:r>
            <a:r>
              <a:rPr lang="en-US" altLang="zh-CN" sz="1800" dirty="0" err="1" smtClean="0"/>
              <a:t>inode_table</a:t>
            </a:r>
            <a:r>
              <a:rPr lang="zh-CN" altLang="en-US" sz="1800" dirty="0" smtClean="0"/>
              <a:t>中</a:t>
            </a:r>
            <a:endParaRPr lang="en-US" altLang="zh-CN" sz="1800" dirty="0" smtClean="0"/>
          </a:p>
          <a:p>
            <a:r>
              <a:rPr lang="en-US" altLang="zh-CN" sz="1800" dirty="0"/>
              <a:t>	</a:t>
            </a:r>
            <a:r>
              <a:rPr lang="en-US" altLang="zh-CN" sz="1800" dirty="0" smtClean="0"/>
              <a:t>if </a:t>
            </a:r>
            <a:r>
              <a:rPr lang="en-US" altLang="zh-CN" sz="1800" dirty="0"/>
              <a:t>((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</a:t>
            </a:r>
            <a:r>
              <a:rPr lang="en-US" altLang="zh-CN" sz="1800" dirty="0" err="1"/>
              <a:t>open_namei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C00000"/>
                </a:solidFill>
              </a:rPr>
              <a:t>filename</a:t>
            </a:r>
            <a:r>
              <a:rPr lang="en-US" altLang="zh-CN" sz="1800" dirty="0"/>
              <a:t>,flag,mode</a:t>
            </a:r>
            <a:r>
              <a:rPr lang="en-US" altLang="zh-CN" sz="1800" dirty="0">
                <a:solidFill>
                  <a:srgbClr val="C00000"/>
                </a:solidFill>
              </a:rPr>
              <a:t>,&amp;</a:t>
            </a:r>
            <a:r>
              <a:rPr lang="en-US" altLang="zh-CN" sz="1800" dirty="0" err="1">
                <a:solidFill>
                  <a:srgbClr val="C00000"/>
                </a:solidFill>
              </a:rPr>
              <a:t>inode</a:t>
            </a:r>
            <a:r>
              <a:rPr lang="en-US" altLang="zh-CN" sz="1800" dirty="0"/>
              <a:t>))&lt;0) {</a:t>
            </a:r>
            <a:endParaRPr lang="zh-CN" altLang="zh-CN" sz="1800" dirty="0"/>
          </a:p>
          <a:p>
            <a:r>
              <a:rPr lang="en-US" altLang="zh-CN" sz="1800" dirty="0"/>
              <a:t>		current-&gt;</a:t>
            </a:r>
            <a:r>
              <a:rPr lang="en-US" altLang="zh-CN" sz="1800" dirty="0" err="1"/>
              <a:t>filp</a:t>
            </a:r>
            <a:r>
              <a:rPr lang="en-US" altLang="zh-CN" sz="1800" dirty="0"/>
              <a:t>[</a:t>
            </a:r>
            <a:r>
              <a:rPr lang="en-US" altLang="zh-CN" sz="1800" dirty="0" err="1"/>
              <a:t>fd</a:t>
            </a:r>
            <a:r>
              <a:rPr lang="en-US" altLang="zh-CN" sz="1800" dirty="0"/>
              <a:t>]=NULL;</a:t>
            </a:r>
            <a:endParaRPr lang="zh-CN" altLang="zh-CN" sz="1800" dirty="0"/>
          </a:p>
          <a:p>
            <a:r>
              <a:rPr lang="en-US" altLang="zh-CN" sz="1800" dirty="0"/>
              <a:t>		f-&gt;</a:t>
            </a:r>
            <a:r>
              <a:rPr lang="en-US" altLang="zh-CN" sz="1800" dirty="0" err="1"/>
              <a:t>f_count</a:t>
            </a:r>
            <a:r>
              <a:rPr lang="en-US" altLang="zh-CN" sz="1800" dirty="0"/>
              <a:t>=0;</a:t>
            </a:r>
            <a:endParaRPr lang="zh-CN" altLang="zh-CN" sz="1800" dirty="0"/>
          </a:p>
          <a:p>
            <a:r>
              <a:rPr lang="en-US" altLang="zh-CN" sz="1800" dirty="0"/>
              <a:t>		return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</a:t>
            </a:r>
            <a:endParaRPr lang="zh-CN" altLang="zh-CN" sz="1800" dirty="0"/>
          </a:p>
          <a:p>
            <a:r>
              <a:rPr lang="en-US" altLang="zh-CN" sz="1800" dirty="0"/>
              <a:t>	}</a:t>
            </a:r>
            <a:endParaRPr lang="zh-CN" altLang="zh-CN" sz="1800" dirty="0"/>
          </a:p>
          <a:p>
            <a:r>
              <a:rPr lang="en-US" altLang="zh-CN" sz="1800" dirty="0"/>
              <a:t>……</a:t>
            </a:r>
            <a:endParaRPr lang="zh-CN" altLang="zh-CN" sz="1800" dirty="0"/>
          </a:p>
          <a:p>
            <a:r>
              <a:rPr lang="en-US" altLang="zh-CN" sz="1800" dirty="0"/>
              <a:t>	f-&gt;</a:t>
            </a:r>
            <a:r>
              <a:rPr lang="en-US" altLang="zh-CN" sz="1800" dirty="0" err="1"/>
              <a:t>f_mode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inode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i_mode</a:t>
            </a:r>
            <a:r>
              <a:rPr lang="en-US" altLang="zh-CN" sz="1800" dirty="0"/>
              <a:t>;  //</a:t>
            </a:r>
            <a:r>
              <a:rPr lang="zh-CN" altLang="zh-CN" sz="1800" dirty="0"/>
              <a:t>用</a:t>
            </a:r>
            <a:r>
              <a:rPr lang="en-US" altLang="zh-CN" sz="1800" dirty="0" err="1"/>
              <a:t>i</a:t>
            </a:r>
            <a:r>
              <a:rPr lang="zh-CN" altLang="zh-CN" sz="1800" dirty="0"/>
              <a:t>节点属性设置文件属性</a:t>
            </a:r>
          </a:p>
          <a:p>
            <a:r>
              <a:rPr lang="en-US" altLang="zh-CN" sz="1800" dirty="0"/>
              <a:t>	f-&gt;</a:t>
            </a:r>
            <a:r>
              <a:rPr lang="en-US" altLang="zh-CN" sz="1800" dirty="0" err="1"/>
              <a:t>f_flags</a:t>
            </a:r>
            <a:r>
              <a:rPr lang="en-US" altLang="zh-CN" sz="1800" dirty="0"/>
              <a:t> = flag;   //</a:t>
            </a:r>
            <a:r>
              <a:rPr lang="zh-CN" altLang="zh-CN" sz="1800" dirty="0"/>
              <a:t>设置文件操作方式</a:t>
            </a:r>
          </a:p>
          <a:p>
            <a:r>
              <a:rPr lang="en-US" altLang="zh-CN" sz="1800" dirty="0"/>
              <a:t>	f-&gt;</a:t>
            </a:r>
            <a:r>
              <a:rPr lang="en-US" altLang="zh-CN" sz="1800" dirty="0" err="1"/>
              <a:t>f_count</a:t>
            </a:r>
            <a:r>
              <a:rPr lang="en-US" altLang="zh-CN" sz="1800" dirty="0"/>
              <a:t> = 1;    //</a:t>
            </a:r>
            <a:r>
              <a:rPr lang="zh-CN" altLang="zh-CN" sz="1800" dirty="0"/>
              <a:t>将文件引用计数加</a:t>
            </a:r>
            <a:r>
              <a:rPr lang="en-US" altLang="zh-CN" sz="1800" dirty="0"/>
              <a:t>1</a:t>
            </a:r>
            <a:endParaRPr lang="zh-CN" altLang="zh-CN" sz="1800" dirty="0"/>
          </a:p>
          <a:p>
            <a:r>
              <a:rPr lang="en-US" altLang="zh-CN" sz="1800" dirty="0"/>
              <a:t>	</a:t>
            </a:r>
            <a:r>
              <a:rPr lang="en-US" altLang="zh-CN" sz="18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f-&gt;</a:t>
            </a:r>
            <a:r>
              <a:rPr lang="en-US" altLang="zh-CN" sz="1800" i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f_inode</a:t>
            </a:r>
            <a:r>
              <a:rPr lang="en-US" altLang="zh-CN" sz="18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US" altLang="zh-CN" sz="1800" i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inode</a:t>
            </a:r>
            <a:r>
              <a:rPr lang="en-US" altLang="zh-CN" sz="18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  //</a:t>
            </a:r>
            <a:r>
              <a:rPr lang="zh-CN" altLang="zh-CN" sz="18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将文件</a:t>
            </a:r>
            <a:r>
              <a:rPr lang="zh-CN" altLang="zh-CN" sz="18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</a:t>
            </a:r>
            <a:r>
              <a:rPr lang="en-US" altLang="zh-CN" sz="1800" i="1" dirty="0" err="1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inode_table</a:t>
            </a:r>
            <a:r>
              <a:rPr lang="en-US" altLang="zh-CN" sz="18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18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</a:t>
            </a:r>
            <a:r>
              <a:rPr lang="en-US" altLang="zh-CN" sz="1800" i="1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zh-CN" altLang="zh-CN" sz="1800" i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节点建立</a:t>
            </a:r>
            <a:r>
              <a:rPr lang="zh-CN" altLang="zh-CN" sz="18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关系</a:t>
            </a:r>
            <a:r>
              <a:rPr lang="zh-CN" altLang="en-US" sz="18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（链接</a:t>
            </a:r>
            <a:r>
              <a:rPr lang="en-US" altLang="zh-CN" sz="18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sz="1800" i="1" dirty="0" smtClean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endParaRPr lang="zh-CN" altLang="zh-CN" sz="1800" i="1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1800" dirty="0"/>
              <a:t>	f-&gt;</a:t>
            </a:r>
            <a:r>
              <a:rPr lang="en-US" altLang="zh-CN" sz="1800" dirty="0" err="1"/>
              <a:t>f_pos</a:t>
            </a:r>
            <a:r>
              <a:rPr lang="en-US" altLang="zh-CN" sz="1800" dirty="0"/>
              <a:t> = 0;      //</a:t>
            </a:r>
            <a:r>
              <a:rPr lang="zh-CN" altLang="zh-CN" sz="1800" dirty="0"/>
              <a:t>将文件读写指针设为</a:t>
            </a:r>
            <a:r>
              <a:rPr lang="en-US" altLang="zh-CN" sz="1800" dirty="0"/>
              <a:t>0</a:t>
            </a:r>
            <a:endParaRPr lang="zh-CN" altLang="zh-CN" sz="1800" dirty="0"/>
          </a:p>
          <a:p>
            <a:r>
              <a:rPr lang="en-US" altLang="zh-CN" sz="1800" dirty="0"/>
              <a:t>	return (</a:t>
            </a:r>
            <a:r>
              <a:rPr lang="en-US" altLang="zh-CN" sz="1800" dirty="0" err="1"/>
              <a:t>fd</a:t>
            </a:r>
            <a:r>
              <a:rPr lang="en-US" altLang="zh-CN" sz="1800" dirty="0"/>
              <a:t>);      //</a:t>
            </a:r>
            <a:r>
              <a:rPr lang="zh-CN" altLang="zh-CN" sz="1800" dirty="0"/>
              <a:t>把文件句柄返回用户空间</a:t>
            </a:r>
          </a:p>
          <a:p>
            <a:r>
              <a:rPr lang="en-US" altLang="zh-CN" sz="1800" dirty="0"/>
              <a:t>}</a:t>
            </a:r>
            <a:endParaRPr lang="zh-CN" altLang="zh-CN" sz="1800" dirty="0"/>
          </a:p>
        </p:txBody>
      </p:sp>
      <p:sp>
        <p:nvSpPr>
          <p:cNvPr id="4" name="矩形 3"/>
          <p:cNvSpPr/>
          <p:nvPr/>
        </p:nvSpPr>
        <p:spPr bwMode="auto">
          <a:xfrm>
            <a:off x="152400" y="1905000"/>
            <a:ext cx="8763000" cy="17526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52400" y="3886200"/>
            <a:ext cx="8763000" cy="1905000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9" name="圆角矩形标注 8"/>
          <p:cNvSpPr/>
          <p:nvPr/>
        </p:nvSpPr>
        <p:spPr bwMode="auto">
          <a:xfrm>
            <a:off x="609600" y="87672"/>
            <a:ext cx="3429000" cy="1047928"/>
          </a:xfrm>
          <a:prstGeom prst="wedgeRoundRectCallout">
            <a:avLst>
              <a:gd name="adj1" fmla="val 41282"/>
              <a:gd name="adj2" fmla="val 164132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400" dirty="0" smtClean="0">
                <a:latin typeface="Arial" charset="0"/>
              </a:rPr>
              <a:t>文件存储的绝对</a:t>
            </a:r>
            <a:r>
              <a:rPr lang="zh-CN" altLang="en-US" sz="2400" dirty="0">
                <a:latin typeface="Arial" charset="0"/>
              </a:rPr>
              <a:t>路径</a:t>
            </a:r>
            <a:endParaRPr lang="en-US" altLang="zh-CN" sz="2400" dirty="0">
              <a:latin typeface="Arial" charset="0"/>
            </a:endParaRPr>
          </a:p>
          <a:p>
            <a:pPr eaLnBrk="1" hangingPunct="1"/>
            <a:r>
              <a:rPr lang="en-US" altLang="zh-CN" sz="2400" dirty="0">
                <a:latin typeface="Arial" charset="0"/>
              </a:rPr>
              <a:t>/</a:t>
            </a:r>
            <a:r>
              <a:rPr lang="en-US" altLang="zh-CN" sz="2400" dirty="0" err="1">
                <a:latin typeface="Arial" charset="0"/>
              </a:rPr>
              <a:t>mnt</a:t>
            </a:r>
            <a:r>
              <a:rPr lang="en-US" altLang="zh-CN" sz="2400" dirty="0">
                <a:latin typeface="Arial" charset="0"/>
              </a:rPr>
              <a:t>/test/</a:t>
            </a:r>
            <a:r>
              <a:rPr lang="en-US" altLang="zh-CN" sz="2400" dirty="0" err="1">
                <a:latin typeface="Arial" charset="0"/>
              </a:rPr>
              <a:t>my.c</a:t>
            </a:r>
            <a:endParaRPr lang="zh-CN" altLang="en-US" sz="2400" dirty="0">
              <a:latin typeface="Arial" charset="0"/>
            </a:endParaRPr>
          </a:p>
        </p:txBody>
      </p:sp>
      <p:sp>
        <p:nvSpPr>
          <p:cNvPr id="10" name="圆角矩形标注 9"/>
          <p:cNvSpPr/>
          <p:nvPr/>
        </p:nvSpPr>
        <p:spPr bwMode="auto">
          <a:xfrm>
            <a:off x="5334000" y="3133636"/>
            <a:ext cx="3810000" cy="1285964"/>
          </a:xfrm>
          <a:prstGeom prst="wedgeRoundRectCallout">
            <a:avLst>
              <a:gd name="adj1" fmla="val -35864"/>
              <a:gd name="adj2" fmla="val -95764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2400" dirty="0">
                <a:latin typeface="Arial" charset="0"/>
              </a:rPr>
              <a:t>传地址，找到后</a:t>
            </a:r>
            <a:r>
              <a:rPr lang="en-US" altLang="zh-CN" sz="2400" dirty="0" err="1">
                <a:latin typeface="Arial" charset="0"/>
              </a:rPr>
              <a:t>inode</a:t>
            </a:r>
            <a:r>
              <a:rPr lang="zh-CN" altLang="en-US" sz="2400" dirty="0" smtClean="0">
                <a:latin typeface="Arial" charset="0"/>
              </a:rPr>
              <a:t>就变成</a:t>
            </a:r>
            <a:r>
              <a:rPr lang="en-US" altLang="zh-CN" sz="2400" dirty="0" err="1" smtClean="0"/>
              <a:t>inode_table</a:t>
            </a:r>
            <a:r>
              <a:rPr lang="zh-CN" altLang="en-US" sz="2400" dirty="0"/>
              <a:t>中的项</a:t>
            </a:r>
            <a:endParaRPr lang="zh-CN" altLang="en-US" sz="2400" dirty="0">
              <a:latin typeface="Arial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066" y="21602"/>
            <a:ext cx="2419934" cy="2720628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405" y="5575430"/>
            <a:ext cx="4195795" cy="128257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B050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extLst>
      <p:ext uri="{BB962C8B-B14F-4D97-AF65-F5344CB8AC3E}">
        <p14:creationId xmlns:p14="http://schemas.microsoft.com/office/powerpoint/2010/main" val="1130950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9" grpId="1" animBg="1"/>
      <p:bldP spid="10" grpId="0" animBg="1"/>
      <p:bldP spid="10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进程打开文件时数据结构的建立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1255713"/>
            <a:ext cx="7689850" cy="554253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 bwMode="auto">
          <a:xfrm>
            <a:off x="609600" y="4508500"/>
            <a:ext cx="7467600" cy="5969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6130925" y="3048000"/>
            <a:ext cx="2060575" cy="1019508"/>
          </a:xfrm>
          <a:prstGeom prst="wedgeRoundRectCallout">
            <a:avLst>
              <a:gd name="adj1" fmla="val -49708"/>
              <a:gd name="adj2" fmla="val 108726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均要查找和使用</a:t>
            </a:r>
            <a:r>
              <a:rPr kumimoji="0" lang="en-US" altLang="zh-CN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i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节点。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宋体" pitchFamily="2" charset="-122"/>
              </a:rPr>
              <a:t>建立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宋体" pitchFamily="2" charset="-122"/>
              </a:rPr>
              <a:t>过程是否一样？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790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a.out</a:t>
            </a:r>
            <a:r>
              <a:rPr lang="zh-CN" altLang="en-US" dirty="0" smtClean="0"/>
              <a:t>可执行文件及文件头分析</a:t>
            </a:r>
          </a:p>
        </p:txBody>
      </p:sp>
      <p:sp>
        <p:nvSpPr>
          <p:cNvPr id="75779" name="内容占位符 2"/>
          <p:cNvSpPr>
            <a:spLocks noGrp="1"/>
          </p:cNvSpPr>
          <p:nvPr>
            <p:ph idx="1"/>
          </p:nvPr>
        </p:nvSpPr>
        <p:spPr>
          <a:xfrm>
            <a:off x="152400" y="1341438"/>
            <a:ext cx="8610600" cy="4525962"/>
          </a:xfrm>
        </p:spPr>
        <p:txBody>
          <a:bodyPr/>
          <a:lstStyle/>
          <a:p>
            <a:r>
              <a:rPr lang="en-US" altLang="zh-CN" sz="2400" dirty="0">
                <a:solidFill>
                  <a:srgbClr val="C00000"/>
                </a:solidFill>
              </a:rPr>
              <a:t> UNIX/LINUX</a:t>
            </a:r>
            <a:r>
              <a:rPr lang="zh-CN" altLang="en-US" sz="2400" dirty="0">
                <a:solidFill>
                  <a:srgbClr val="C00000"/>
                </a:solidFill>
              </a:rPr>
              <a:t>平台下三种主要的可执行文件格式</a:t>
            </a:r>
            <a:r>
              <a:rPr lang="zh-CN" altLang="en-US" sz="2400" dirty="0" smtClean="0">
                <a:solidFill>
                  <a:srgbClr val="C00000"/>
                </a:solidFill>
              </a:rPr>
              <a:t>：</a:t>
            </a:r>
            <a:endParaRPr lang="en-US" altLang="zh-CN" sz="2400" dirty="0" smtClean="0">
              <a:solidFill>
                <a:srgbClr val="C00000"/>
              </a:solidFill>
            </a:endParaRPr>
          </a:p>
          <a:p>
            <a:r>
              <a:rPr lang="en-US" altLang="zh-CN" sz="2400" dirty="0" err="1" smtClean="0"/>
              <a:t>a.out</a:t>
            </a:r>
            <a:r>
              <a:rPr lang="zh-CN" altLang="en-US" sz="2400" b="0" dirty="0"/>
              <a:t>（</a:t>
            </a:r>
            <a:r>
              <a:rPr lang="en-US" altLang="zh-CN" sz="2400" b="0" dirty="0"/>
              <a:t>assembler and link editor output</a:t>
            </a:r>
            <a:r>
              <a:rPr lang="zh-CN" altLang="en-US" sz="2400" b="0" dirty="0"/>
              <a:t>汇编器和链接编辑器的输出</a:t>
            </a:r>
            <a:r>
              <a:rPr lang="zh-CN" altLang="en-US" sz="2400" b="0" dirty="0" smtClean="0"/>
              <a:t>）：</a:t>
            </a:r>
            <a:r>
              <a:rPr lang="en-US" altLang="zh-CN" sz="2400" dirty="0" smtClean="0"/>
              <a:t>linux0.11</a:t>
            </a:r>
            <a:r>
              <a:rPr lang="zh-CN" altLang="en-US" sz="2400" dirty="0" smtClean="0"/>
              <a:t>支持的</a:t>
            </a:r>
            <a:endParaRPr lang="en-US" altLang="zh-CN" sz="2400" dirty="0" smtClean="0"/>
          </a:p>
          <a:p>
            <a:r>
              <a:rPr lang="en-US" altLang="zh-CN" sz="2400" b="0" dirty="0" smtClean="0"/>
              <a:t>COFF</a:t>
            </a:r>
            <a:r>
              <a:rPr lang="zh-CN" altLang="en-US" sz="2400" b="0" dirty="0"/>
              <a:t>（</a:t>
            </a:r>
            <a:r>
              <a:rPr lang="en-US" altLang="zh-CN" sz="2400" b="0" dirty="0"/>
              <a:t>Common Object File Format </a:t>
            </a:r>
            <a:r>
              <a:rPr lang="zh-CN" altLang="en-US" sz="2400" b="0" dirty="0"/>
              <a:t>通用对象文件格式</a:t>
            </a:r>
            <a:r>
              <a:rPr lang="zh-CN" altLang="en-US" sz="2400" b="0" dirty="0" smtClean="0"/>
              <a:t>）</a:t>
            </a:r>
            <a:endParaRPr lang="en-US" altLang="zh-CN" sz="2400" b="0" dirty="0" smtClean="0"/>
          </a:p>
          <a:p>
            <a:r>
              <a:rPr lang="en-US" altLang="zh-CN" sz="2400" b="0" dirty="0" smtClean="0"/>
              <a:t>ELF</a:t>
            </a:r>
            <a:r>
              <a:rPr lang="zh-CN" altLang="en-US" sz="2400" b="0" dirty="0"/>
              <a:t>（</a:t>
            </a:r>
            <a:r>
              <a:rPr lang="en-US" altLang="zh-CN" sz="2400" b="0" dirty="0" err="1"/>
              <a:t>Executableand</a:t>
            </a:r>
            <a:r>
              <a:rPr lang="en-US" altLang="zh-CN" sz="2400" b="0" dirty="0"/>
              <a:t> Linking Format </a:t>
            </a:r>
            <a:r>
              <a:rPr lang="zh-CN" altLang="en-US" sz="2400" b="0" dirty="0"/>
              <a:t>可执行和链接格式</a:t>
            </a:r>
            <a:r>
              <a:rPr lang="zh-CN" altLang="en-US" sz="2400" b="0" dirty="0" smtClean="0"/>
              <a:t>）</a:t>
            </a:r>
            <a:endParaRPr lang="zh-CN" altLang="en-US" sz="24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447800"/>
            <a:ext cx="2743200" cy="504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6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153400" cy="676275"/>
          </a:xfrm>
        </p:spPr>
        <p:txBody>
          <a:bodyPr/>
          <a:lstStyle/>
          <a:p>
            <a:r>
              <a:rPr lang="en-US" altLang="zh-CN" sz="2800" dirty="0" err="1" smtClean="0"/>
              <a:t>Linux0.11</a:t>
            </a:r>
            <a:r>
              <a:rPr lang="zh-CN" altLang="en-US" sz="2800" dirty="0" smtClean="0"/>
              <a:t>中</a:t>
            </a:r>
            <a:r>
              <a:rPr lang="en-US" altLang="zh-CN" sz="2800" dirty="0" err="1" smtClean="0"/>
              <a:t>a.out</a:t>
            </a:r>
            <a:r>
              <a:rPr lang="zh-CN" altLang="en-US" sz="2800" dirty="0"/>
              <a:t>可执行文件及文件头分析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112838"/>
            <a:ext cx="7921625" cy="4525962"/>
          </a:xfrm>
        </p:spPr>
        <p:txBody>
          <a:bodyPr/>
          <a:lstStyle/>
          <a:p>
            <a:r>
              <a:rPr lang="en-US" altLang="zh-CN" b="0" dirty="0" err="1"/>
              <a:t>a.out</a:t>
            </a:r>
            <a:r>
              <a:rPr lang="en-US" altLang="zh-CN" b="0" dirty="0"/>
              <a:t> </a:t>
            </a:r>
            <a:r>
              <a:rPr lang="zh-CN" altLang="en-US" b="0" dirty="0"/>
              <a:t>文件包含 </a:t>
            </a:r>
            <a:r>
              <a:rPr lang="en-US" altLang="zh-CN" b="0" dirty="0"/>
              <a:t>7 </a:t>
            </a:r>
            <a:r>
              <a:rPr lang="zh-CN" altLang="en-US" b="0" dirty="0"/>
              <a:t>个 </a:t>
            </a:r>
            <a:r>
              <a:rPr lang="en-US" altLang="zh-CN" b="0" dirty="0"/>
              <a:t>section</a:t>
            </a:r>
            <a:r>
              <a:rPr lang="zh-CN" altLang="en-US" b="0" dirty="0"/>
              <a:t>，格式如下</a:t>
            </a:r>
            <a:r>
              <a:rPr lang="zh-CN" altLang="en-US" b="0" dirty="0" smtClean="0"/>
              <a:t>：</a:t>
            </a:r>
            <a:endParaRPr lang="en-US" altLang="zh-CN" b="0" dirty="0" smtClean="0"/>
          </a:p>
          <a:p>
            <a:r>
              <a:rPr lang="en-US" altLang="zh-CN" dirty="0" smtClean="0">
                <a:solidFill>
                  <a:srgbClr val="C00000"/>
                </a:solidFill>
              </a:rPr>
              <a:t>exec </a:t>
            </a:r>
            <a:r>
              <a:rPr lang="en-US" altLang="zh-CN" dirty="0">
                <a:solidFill>
                  <a:srgbClr val="C00000"/>
                </a:solidFill>
              </a:rPr>
              <a:t>header</a:t>
            </a:r>
            <a:r>
              <a:rPr lang="zh-CN" altLang="en-US" dirty="0" smtClean="0">
                <a:solidFill>
                  <a:srgbClr val="C00000"/>
                </a:solidFill>
              </a:rPr>
              <a:t>（文件</a:t>
            </a:r>
            <a:r>
              <a:rPr lang="zh-CN" altLang="en-US" dirty="0">
                <a:solidFill>
                  <a:srgbClr val="C00000"/>
                </a:solidFill>
              </a:rPr>
              <a:t>头部</a:t>
            </a:r>
            <a:r>
              <a:rPr lang="zh-CN" altLang="en-US" dirty="0" smtClean="0">
                <a:solidFill>
                  <a:srgbClr val="C00000"/>
                </a:solidFill>
              </a:rPr>
              <a:t>）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en-US" altLang="zh-CN" b="0" dirty="0" smtClean="0"/>
              <a:t>text </a:t>
            </a:r>
            <a:r>
              <a:rPr lang="en-US" altLang="zh-CN" b="0" dirty="0"/>
              <a:t>segment</a:t>
            </a:r>
            <a:r>
              <a:rPr lang="zh-CN" altLang="en-US" b="0" dirty="0"/>
              <a:t>（文本段）</a:t>
            </a:r>
            <a:br>
              <a:rPr lang="zh-CN" altLang="en-US" b="0" dirty="0"/>
            </a:br>
            <a:r>
              <a:rPr lang="en-US" altLang="zh-CN" b="0" dirty="0"/>
              <a:t>data segment(</a:t>
            </a:r>
            <a:r>
              <a:rPr lang="zh-CN" altLang="en-US" b="0" dirty="0"/>
              <a:t>数据段</a:t>
            </a:r>
            <a:r>
              <a:rPr lang="en-US" altLang="zh-CN" b="0" dirty="0" smtClean="0"/>
              <a:t>)</a:t>
            </a:r>
          </a:p>
          <a:p>
            <a:r>
              <a:rPr lang="en-US" altLang="zh-CN" b="0" dirty="0" smtClean="0">
                <a:solidFill>
                  <a:srgbClr val="92D050"/>
                </a:solidFill>
              </a:rPr>
              <a:t>text </a:t>
            </a:r>
            <a:r>
              <a:rPr lang="en-US" altLang="zh-CN" b="0" dirty="0">
                <a:solidFill>
                  <a:srgbClr val="92D050"/>
                </a:solidFill>
              </a:rPr>
              <a:t>relocations(</a:t>
            </a:r>
            <a:r>
              <a:rPr lang="zh-CN" altLang="en-US" b="0" dirty="0">
                <a:solidFill>
                  <a:srgbClr val="92D050"/>
                </a:solidFill>
              </a:rPr>
              <a:t>文本重定位</a:t>
            </a:r>
            <a:r>
              <a:rPr lang="zh-CN" altLang="en-US" b="0" dirty="0" smtClean="0">
                <a:solidFill>
                  <a:srgbClr val="92D050"/>
                </a:solidFill>
              </a:rPr>
              <a:t>段（表）</a:t>
            </a:r>
            <a:r>
              <a:rPr lang="en-US" altLang="zh-CN" b="0" dirty="0" smtClean="0">
                <a:solidFill>
                  <a:srgbClr val="92D050"/>
                </a:solidFill>
              </a:rPr>
              <a:t>)</a:t>
            </a:r>
            <a:r>
              <a:rPr lang="en-US" altLang="zh-CN" b="0" dirty="0">
                <a:solidFill>
                  <a:srgbClr val="92D050"/>
                </a:solidFill>
              </a:rPr>
              <a:t/>
            </a:r>
            <a:br>
              <a:rPr lang="en-US" altLang="zh-CN" b="0" dirty="0">
                <a:solidFill>
                  <a:srgbClr val="92D050"/>
                </a:solidFill>
              </a:rPr>
            </a:br>
            <a:r>
              <a:rPr lang="en-US" altLang="zh-CN" b="0" dirty="0">
                <a:solidFill>
                  <a:srgbClr val="92D050"/>
                </a:solidFill>
              </a:rPr>
              <a:t>data relocations</a:t>
            </a:r>
            <a:r>
              <a:rPr lang="zh-CN" altLang="en-US" b="0" dirty="0">
                <a:solidFill>
                  <a:srgbClr val="92D050"/>
                </a:solidFill>
              </a:rPr>
              <a:t>（数据重定位</a:t>
            </a:r>
            <a:r>
              <a:rPr lang="zh-CN" altLang="en-US" b="0" dirty="0" smtClean="0">
                <a:solidFill>
                  <a:srgbClr val="92D050"/>
                </a:solidFill>
              </a:rPr>
              <a:t>段（表））</a:t>
            </a:r>
            <a:r>
              <a:rPr lang="zh-CN" altLang="en-US" b="0" dirty="0">
                <a:solidFill>
                  <a:srgbClr val="92D050"/>
                </a:solidFill>
              </a:rPr>
              <a:t/>
            </a:r>
            <a:br>
              <a:rPr lang="zh-CN" altLang="en-US" b="0" dirty="0">
                <a:solidFill>
                  <a:srgbClr val="92D050"/>
                </a:solidFill>
              </a:rPr>
            </a:br>
            <a:r>
              <a:rPr lang="en-US" altLang="zh-CN" b="0" dirty="0">
                <a:solidFill>
                  <a:srgbClr val="92D050"/>
                </a:solidFill>
              </a:rPr>
              <a:t>symbol table</a:t>
            </a:r>
            <a:r>
              <a:rPr lang="zh-CN" altLang="en-US" b="0" dirty="0">
                <a:solidFill>
                  <a:srgbClr val="92D050"/>
                </a:solidFill>
              </a:rPr>
              <a:t>（符号表</a:t>
            </a:r>
            <a:r>
              <a:rPr lang="zh-CN" altLang="en-US" b="0" dirty="0" smtClean="0">
                <a:solidFill>
                  <a:srgbClr val="92D050"/>
                </a:solidFill>
              </a:rPr>
              <a:t>）</a:t>
            </a:r>
            <a:endParaRPr lang="en-US" altLang="zh-CN" b="0" dirty="0" smtClean="0">
              <a:solidFill>
                <a:srgbClr val="92D050"/>
              </a:solidFill>
            </a:endParaRPr>
          </a:p>
          <a:p>
            <a:r>
              <a:rPr lang="en-US" altLang="zh-CN" b="0" dirty="0" smtClean="0"/>
              <a:t>string </a:t>
            </a:r>
            <a:r>
              <a:rPr lang="en-US" altLang="zh-CN" b="0" dirty="0"/>
              <a:t>table</a:t>
            </a:r>
            <a:r>
              <a:rPr lang="zh-CN" altLang="en-US" b="0" dirty="0"/>
              <a:t>（字符串表）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2286000"/>
            <a:ext cx="541972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a.out</a:t>
            </a:r>
            <a:r>
              <a:rPr lang="zh-CN" altLang="en-US" dirty="0"/>
              <a:t>可执行文件及文件头分析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a.out</a:t>
            </a:r>
            <a:r>
              <a:rPr lang="en-US" altLang="zh-CN" dirty="0"/>
              <a:t> </a:t>
            </a:r>
            <a:r>
              <a:rPr lang="zh-CN" altLang="en-US" dirty="0"/>
              <a:t>文件中包含</a:t>
            </a:r>
            <a:r>
              <a:rPr lang="zh-CN" altLang="en-US" dirty="0">
                <a:solidFill>
                  <a:srgbClr val="C00000"/>
                </a:solidFill>
              </a:rPr>
              <a:t>符号表和两个</a:t>
            </a:r>
            <a:r>
              <a:rPr lang="zh-CN" altLang="en-US" dirty="0" smtClean="0">
                <a:solidFill>
                  <a:srgbClr val="C00000"/>
                </a:solidFill>
              </a:rPr>
              <a:t>重定位表</a:t>
            </a:r>
            <a:r>
              <a:rPr lang="zh-CN" altLang="en-US" dirty="0" smtClean="0"/>
              <a:t>，</a:t>
            </a:r>
            <a:r>
              <a:rPr lang="zh-CN" altLang="en-US" dirty="0"/>
              <a:t>这</a:t>
            </a:r>
            <a:r>
              <a:rPr lang="zh-CN" altLang="en-US" dirty="0" smtClean="0"/>
              <a:t>三部分的</a:t>
            </a:r>
            <a:r>
              <a:rPr lang="zh-CN" altLang="en-US" dirty="0"/>
              <a:t>内容在连接目标文件以生成可执行文件时</a:t>
            </a:r>
            <a:r>
              <a:rPr lang="zh-CN" altLang="en-US" dirty="0" smtClean="0"/>
              <a:t>起作用</a:t>
            </a:r>
            <a:endParaRPr lang="en-US" altLang="zh-CN" dirty="0" smtClean="0"/>
          </a:p>
          <a:p>
            <a:r>
              <a:rPr lang="zh-CN" altLang="en-US" dirty="0" smtClean="0"/>
              <a:t>最终</a:t>
            </a:r>
            <a:r>
              <a:rPr lang="zh-CN" altLang="en-US" dirty="0"/>
              <a:t>可执行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a.out</a:t>
            </a:r>
            <a:r>
              <a:rPr lang="zh-CN" altLang="en-US" dirty="0" smtClean="0"/>
              <a:t>文件</a:t>
            </a:r>
            <a:r>
              <a:rPr lang="zh-CN" altLang="en-US" dirty="0"/>
              <a:t>中，这三</a:t>
            </a:r>
            <a:r>
              <a:rPr lang="zh-CN" altLang="en-US" dirty="0" smtClean="0"/>
              <a:t>个</a:t>
            </a:r>
            <a:r>
              <a:rPr lang="zh-CN" altLang="en-US" dirty="0"/>
              <a:t>部分</a:t>
            </a:r>
            <a:r>
              <a:rPr lang="zh-CN" altLang="en-US" dirty="0" smtClean="0"/>
              <a:t>的</a:t>
            </a:r>
            <a:r>
              <a:rPr lang="zh-CN" altLang="en-US" dirty="0"/>
              <a:t>长度都为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r>
              <a:rPr lang="en-US" altLang="zh-CN" dirty="0" err="1"/>
              <a:t>a.out</a:t>
            </a:r>
            <a:r>
              <a:rPr lang="zh-CN" altLang="en-US" dirty="0"/>
              <a:t>文件在连接时就把所有</a:t>
            </a:r>
            <a:r>
              <a:rPr lang="zh-CN" altLang="en-US" dirty="0">
                <a:solidFill>
                  <a:srgbClr val="C00000"/>
                </a:solidFill>
              </a:rPr>
              <a:t>外部</a:t>
            </a:r>
            <a:r>
              <a:rPr lang="zh-CN" altLang="en-US" dirty="0" smtClean="0">
                <a:solidFill>
                  <a:srgbClr val="C00000"/>
                </a:solidFill>
              </a:rPr>
              <a:t>定义静态链接</a:t>
            </a:r>
            <a:r>
              <a:rPr lang="zh-CN" altLang="en-US" dirty="0" smtClean="0"/>
              <a:t>在</a:t>
            </a:r>
            <a:r>
              <a:rPr lang="zh-CN" altLang="en-US" dirty="0"/>
              <a:t>可</a:t>
            </a:r>
            <a:r>
              <a:rPr lang="zh-CN" altLang="en-US" dirty="0" smtClean="0"/>
              <a:t>执行</a:t>
            </a:r>
            <a:r>
              <a:rPr lang="zh-CN" altLang="en-US" dirty="0"/>
              <a:t>文件</a:t>
            </a:r>
            <a:r>
              <a:rPr lang="zh-CN" altLang="en-US" dirty="0" smtClean="0"/>
              <a:t>中。</a:t>
            </a:r>
            <a:r>
              <a:rPr lang="zh-CN" altLang="en-US" dirty="0" smtClean="0">
                <a:solidFill>
                  <a:srgbClr val="C00000"/>
                </a:solidFill>
              </a:rPr>
              <a:t>不支持动态链接！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98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a.out</a:t>
            </a:r>
            <a:r>
              <a:rPr lang="zh-CN" altLang="en-US" dirty="0"/>
              <a:t>可执行文件及文件头分析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268413"/>
            <a:ext cx="8458199" cy="4525962"/>
          </a:xfrm>
        </p:spPr>
        <p:txBody>
          <a:bodyPr/>
          <a:lstStyle/>
          <a:p>
            <a:r>
              <a:rPr lang="zh-CN" altLang="en-US" sz="2400" b="0" dirty="0" smtClean="0"/>
              <a:t>执行</a:t>
            </a:r>
            <a:r>
              <a:rPr lang="zh-CN" altLang="en-US" sz="2400" b="0" dirty="0"/>
              <a:t>头部的数据结构</a:t>
            </a:r>
            <a:r>
              <a:rPr lang="zh-CN" altLang="en-US" sz="2400" b="0" dirty="0" smtClean="0"/>
              <a:t>：</a:t>
            </a:r>
            <a:r>
              <a:rPr lang="zh-CN" altLang="en-US" sz="2400" b="0" dirty="0"/>
              <a:t/>
            </a:r>
            <a:br>
              <a:rPr lang="zh-CN" altLang="en-US" sz="2400" b="0" dirty="0"/>
            </a:br>
            <a:r>
              <a:rPr lang="en-US" altLang="zh-CN" sz="2400" b="0" dirty="0" err="1"/>
              <a:t>struct</a:t>
            </a:r>
            <a:r>
              <a:rPr lang="en-US" altLang="zh-CN" sz="2400" b="0" dirty="0"/>
              <a:t> exec {</a:t>
            </a:r>
            <a:br>
              <a:rPr lang="en-US" altLang="zh-CN" sz="2400" b="0" dirty="0"/>
            </a:br>
            <a:r>
              <a:rPr lang="en-US" altLang="zh-CN" sz="2400" b="0" dirty="0"/>
              <a:t>        unsigned long   </a:t>
            </a:r>
            <a:r>
              <a:rPr lang="en-US" altLang="zh-CN" sz="2400" b="0" dirty="0" err="1" smtClean="0"/>
              <a:t>a_magic</a:t>
            </a:r>
            <a:r>
              <a:rPr lang="en-US" altLang="zh-CN" sz="2400" b="0" dirty="0" smtClean="0"/>
              <a:t>;</a:t>
            </a:r>
            <a:r>
              <a:rPr lang="en-US" altLang="zh-CN" sz="2400" b="0" dirty="0"/>
              <a:t>    /* </a:t>
            </a:r>
            <a:r>
              <a:rPr lang="zh-CN" altLang="en-US" sz="2400" b="0" dirty="0"/>
              <a:t>魔数和其它信息 *</a:t>
            </a:r>
            <a:r>
              <a:rPr lang="en-US" altLang="zh-CN" sz="2400" b="0" dirty="0"/>
              <a:t>/</a:t>
            </a:r>
            <a:br>
              <a:rPr lang="en-US" altLang="zh-CN" sz="2400" b="0" dirty="0"/>
            </a:br>
            <a:r>
              <a:rPr lang="en-US" altLang="zh-CN" sz="2400" b="0" dirty="0"/>
              <a:t>        </a:t>
            </a:r>
            <a:r>
              <a:rPr lang="en-US" altLang="zh-CN" sz="2400" dirty="0">
                <a:solidFill>
                  <a:srgbClr val="C00000"/>
                </a:solidFill>
              </a:rPr>
              <a:t>unsigned long   </a:t>
            </a:r>
            <a:r>
              <a:rPr lang="en-US" altLang="zh-CN" sz="2400" dirty="0" err="1">
                <a:solidFill>
                  <a:srgbClr val="C00000"/>
                </a:solidFill>
              </a:rPr>
              <a:t>a_text</a:t>
            </a:r>
            <a:r>
              <a:rPr lang="en-US" altLang="zh-CN" sz="2400" dirty="0">
                <a:solidFill>
                  <a:srgbClr val="C00000"/>
                </a:solidFill>
              </a:rPr>
              <a:t>;      /* </a:t>
            </a:r>
            <a:r>
              <a:rPr lang="zh-CN" altLang="en-US" sz="2400" dirty="0">
                <a:solidFill>
                  <a:srgbClr val="C00000"/>
                </a:solidFill>
              </a:rPr>
              <a:t>文本段的长度 *</a:t>
            </a:r>
            <a:r>
              <a:rPr lang="en-US" altLang="zh-CN" sz="2400" dirty="0">
                <a:solidFill>
                  <a:srgbClr val="C00000"/>
                </a:solidFill>
              </a:rPr>
              <a:t>/</a:t>
            </a:r>
            <a:br>
              <a:rPr lang="en-US" altLang="zh-CN" sz="2400" dirty="0">
                <a:solidFill>
                  <a:srgbClr val="C00000"/>
                </a:solidFill>
              </a:rPr>
            </a:br>
            <a:r>
              <a:rPr lang="en-US" altLang="zh-CN" sz="2400" dirty="0">
                <a:solidFill>
                  <a:srgbClr val="C00000"/>
                </a:solidFill>
              </a:rPr>
              <a:t>        unsigned long   </a:t>
            </a:r>
            <a:r>
              <a:rPr lang="en-US" altLang="zh-CN" sz="2400" dirty="0" err="1">
                <a:solidFill>
                  <a:srgbClr val="C00000"/>
                </a:solidFill>
              </a:rPr>
              <a:t>a_data</a:t>
            </a:r>
            <a:r>
              <a:rPr lang="en-US" altLang="zh-CN" sz="2400" dirty="0">
                <a:solidFill>
                  <a:srgbClr val="C00000"/>
                </a:solidFill>
              </a:rPr>
              <a:t>;      /* </a:t>
            </a:r>
            <a:r>
              <a:rPr lang="zh-CN" altLang="en-US" sz="2400" dirty="0">
                <a:solidFill>
                  <a:srgbClr val="C00000"/>
                </a:solidFill>
              </a:rPr>
              <a:t>数据段的长度 *</a:t>
            </a:r>
            <a:r>
              <a:rPr lang="en-US" altLang="zh-CN" sz="2400" dirty="0">
                <a:solidFill>
                  <a:srgbClr val="C00000"/>
                </a:solidFill>
              </a:rPr>
              <a:t>/</a:t>
            </a:r>
            <a:br>
              <a:rPr lang="en-US" altLang="zh-CN" sz="2400" dirty="0">
                <a:solidFill>
                  <a:srgbClr val="C00000"/>
                </a:solidFill>
              </a:rPr>
            </a:br>
            <a:r>
              <a:rPr lang="en-US" altLang="zh-CN" sz="2400" dirty="0">
                <a:solidFill>
                  <a:srgbClr val="C00000"/>
                </a:solidFill>
              </a:rPr>
              <a:t>        unsigned long   </a:t>
            </a:r>
            <a:r>
              <a:rPr lang="en-US" altLang="zh-CN" sz="2400" dirty="0" err="1">
                <a:solidFill>
                  <a:srgbClr val="C00000"/>
                </a:solidFill>
              </a:rPr>
              <a:t>a_bss</a:t>
            </a:r>
            <a:r>
              <a:rPr lang="en-US" altLang="zh-CN" sz="2400" dirty="0">
                <a:solidFill>
                  <a:srgbClr val="C00000"/>
                </a:solidFill>
              </a:rPr>
              <a:t>;       /* BSS</a:t>
            </a:r>
            <a:r>
              <a:rPr lang="zh-CN" altLang="en-US" sz="2400" dirty="0">
                <a:solidFill>
                  <a:srgbClr val="C00000"/>
                </a:solidFill>
              </a:rPr>
              <a:t>段的长度 *</a:t>
            </a:r>
            <a:r>
              <a:rPr lang="en-US" altLang="zh-CN" sz="2400" dirty="0">
                <a:solidFill>
                  <a:srgbClr val="C00000"/>
                </a:solidFill>
              </a:rPr>
              <a:t>/</a:t>
            </a:r>
            <a:r>
              <a:rPr lang="en-US" altLang="zh-CN" sz="2400" b="0" dirty="0"/>
              <a:t/>
            </a:r>
            <a:br>
              <a:rPr lang="en-US" altLang="zh-CN" sz="2400" b="0" dirty="0"/>
            </a:br>
            <a:r>
              <a:rPr lang="en-US" altLang="zh-CN" sz="2400" b="0" dirty="0"/>
              <a:t>        </a:t>
            </a: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</a:rPr>
              <a:t>unsigned long   </a:t>
            </a:r>
            <a:r>
              <a:rPr lang="en-US" altLang="zh-CN" sz="2400" b="0" dirty="0" err="1">
                <a:solidFill>
                  <a:schemeClr val="bg1">
                    <a:lumMod val="50000"/>
                  </a:schemeClr>
                </a:solidFill>
              </a:rPr>
              <a:t>a_syms</a:t>
            </a: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</a:rPr>
              <a:t>;      /* </a:t>
            </a:r>
            <a:r>
              <a:rPr lang="zh-CN" altLang="en-US" sz="2400" b="0" dirty="0">
                <a:solidFill>
                  <a:schemeClr val="bg1">
                    <a:lumMod val="50000"/>
                  </a:schemeClr>
                </a:solidFill>
              </a:rPr>
              <a:t>符号表的长度 *</a:t>
            </a: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altLang="zh-CN" sz="2400" b="0" dirty="0"/>
              <a:t/>
            </a:r>
            <a:br>
              <a:rPr lang="en-US" altLang="zh-CN" sz="2400" b="0" dirty="0"/>
            </a:br>
            <a:r>
              <a:rPr lang="en-US" altLang="zh-CN" sz="2400" b="0" dirty="0"/>
              <a:t>        </a:t>
            </a:r>
            <a:r>
              <a:rPr lang="en-US" altLang="zh-CN" sz="2400" dirty="0">
                <a:solidFill>
                  <a:srgbClr val="C00000"/>
                </a:solidFill>
              </a:rPr>
              <a:t>unsigned long   </a:t>
            </a:r>
            <a:r>
              <a:rPr lang="en-US" altLang="zh-CN" sz="2400" dirty="0" err="1">
                <a:solidFill>
                  <a:srgbClr val="C00000"/>
                </a:solidFill>
              </a:rPr>
              <a:t>a_entry</a:t>
            </a:r>
            <a:r>
              <a:rPr lang="en-US" altLang="zh-CN" sz="2400" dirty="0">
                <a:solidFill>
                  <a:srgbClr val="C00000"/>
                </a:solidFill>
              </a:rPr>
              <a:t>;     /* </a:t>
            </a:r>
            <a:r>
              <a:rPr lang="zh-CN" altLang="en-US" sz="2400" dirty="0">
                <a:solidFill>
                  <a:srgbClr val="C00000"/>
                </a:solidFill>
              </a:rPr>
              <a:t>程序进入点 *</a:t>
            </a:r>
            <a:r>
              <a:rPr lang="en-US" altLang="zh-CN" sz="2400" dirty="0">
                <a:solidFill>
                  <a:srgbClr val="C00000"/>
                </a:solidFill>
              </a:rPr>
              <a:t>/</a:t>
            </a:r>
            <a:r>
              <a:rPr lang="en-US" altLang="zh-CN" sz="2400" b="0" dirty="0"/>
              <a:t/>
            </a:r>
            <a:br>
              <a:rPr lang="en-US" altLang="zh-CN" sz="2400" b="0" dirty="0"/>
            </a:br>
            <a:r>
              <a:rPr lang="en-US" altLang="zh-CN" sz="2400" b="0" dirty="0"/>
              <a:t>        </a:t>
            </a: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</a:rPr>
              <a:t>unsigned long   </a:t>
            </a:r>
            <a:r>
              <a:rPr lang="en-US" altLang="zh-CN" sz="2400" b="0" dirty="0" err="1">
                <a:solidFill>
                  <a:schemeClr val="bg1">
                    <a:lumMod val="50000"/>
                  </a:schemeClr>
                </a:solidFill>
              </a:rPr>
              <a:t>a_trsize</a:t>
            </a: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</a:rPr>
              <a:t>;    /* </a:t>
            </a:r>
            <a:r>
              <a:rPr lang="zh-CN" altLang="en-US" sz="2400" b="0" dirty="0">
                <a:solidFill>
                  <a:schemeClr val="bg1">
                    <a:lumMod val="50000"/>
                  </a:schemeClr>
                </a:solidFill>
              </a:rPr>
              <a:t>文本重定位表的长度 *</a:t>
            </a: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</a:rPr>
              <a:t>/</a:t>
            </a:r>
            <a:br>
              <a:rPr lang="en-US" altLang="zh-CN" sz="2400" b="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</a:rPr>
              <a:t>        unsigned long   </a:t>
            </a:r>
            <a:r>
              <a:rPr lang="en-US" altLang="zh-CN" sz="2400" b="0" dirty="0" err="1">
                <a:solidFill>
                  <a:schemeClr val="bg1">
                    <a:lumMod val="50000"/>
                  </a:schemeClr>
                </a:solidFill>
              </a:rPr>
              <a:t>a_drsize</a:t>
            </a: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</a:rPr>
              <a:t>;    /* </a:t>
            </a:r>
            <a:r>
              <a:rPr lang="zh-CN" altLang="en-US" sz="2400" b="0" dirty="0">
                <a:solidFill>
                  <a:schemeClr val="bg1">
                    <a:lumMod val="50000"/>
                  </a:schemeClr>
                </a:solidFill>
              </a:rPr>
              <a:t>数据重定位表的长度 *</a:t>
            </a:r>
            <a:r>
              <a:rPr lang="en-US" altLang="zh-CN" sz="2400" b="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altLang="zh-CN" sz="2400" b="0" dirty="0"/>
              <a:t/>
            </a:r>
            <a:br>
              <a:rPr lang="en-US" altLang="zh-CN" sz="2400" b="0" dirty="0"/>
            </a:br>
            <a:r>
              <a:rPr lang="en-US" altLang="zh-CN" sz="2400" b="0" dirty="0"/>
              <a:t>};</a:t>
            </a:r>
          </a:p>
          <a:p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 bwMode="auto">
          <a:xfrm>
            <a:off x="914400" y="2438400"/>
            <a:ext cx="7467600" cy="1143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914400" y="3852696"/>
            <a:ext cx="7467600" cy="414504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240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a.out</a:t>
            </a:r>
            <a:r>
              <a:rPr lang="zh-CN" altLang="en-US" dirty="0"/>
              <a:t>可执行文件及文件头分析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413"/>
            <a:ext cx="7921625" cy="4525962"/>
          </a:xfrm>
        </p:spPr>
        <p:txBody>
          <a:bodyPr/>
          <a:lstStyle/>
          <a:p>
            <a:r>
              <a:rPr lang="zh-CN" altLang="en-US" sz="2400" dirty="0" smtClean="0"/>
              <a:t>文件</a:t>
            </a:r>
            <a:r>
              <a:rPr lang="zh-CN" altLang="en-US" sz="2400" dirty="0"/>
              <a:t>头部主要描述了各个 </a:t>
            </a:r>
            <a:r>
              <a:rPr lang="en-US" altLang="zh-CN" sz="2400" dirty="0"/>
              <a:t>section </a:t>
            </a:r>
            <a:r>
              <a:rPr lang="zh-CN" altLang="en-US" sz="2400" dirty="0"/>
              <a:t>的长度</a:t>
            </a:r>
            <a:r>
              <a:rPr lang="zh-CN" altLang="en-US" sz="2400" dirty="0" smtClean="0"/>
              <a:t>，</a:t>
            </a:r>
            <a:r>
              <a:rPr lang="en-US" altLang="zh-CN" sz="2400" dirty="0" err="1" smtClean="0"/>
              <a:t>a_entry</a:t>
            </a:r>
            <a:r>
              <a:rPr lang="zh-CN" altLang="en-US" sz="2400" dirty="0"/>
              <a:t>（程序进入点），代表了系统在加载程序并初试化各种环境后开始执行程序代码的</a:t>
            </a:r>
            <a:r>
              <a:rPr lang="zh-CN" altLang="en-US" sz="2400" dirty="0" smtClean="0"/>
              <a:t>入口</a:t>
            </a:r>
            <a:endParaRPr lang="en-US" altLang="zh-CN" sz="2400" dirty="0" smtClean="0"/>
          </a:p>
          <a:p>
            <a:r>
              <a:rPr lang="zh-CN" altLang="en-US" sz="2400" dirty="0" smtClean="0"/>
              <a:t>由 </a:t>
            </a:r>
            <a:r>
              <a:rPr lang="en-US" altLang="zh-CN" sz="2400" dirty="0" err="1"/>
              <a:t>a.out</a:t>
            </a:r>
            <a:r>
              <a:rPr lang="en-US" altLang="zh-CN" sz="2400" dirty="0"/>
              <a:t> </a:t>
            </a:r>
            <a:r>
              <a:rPr lang="zh-CN" altLang="en-US" sz="2400" dirty="0"/>
              <a:t>格式和头部数据结构我们可以看出，</a:t>
            </a:r>
            <a:r>
              <a:rPr lang="en-US" altLang="zh-CN" sz="2400" dirty="0" err="1"/>
              <a:t>a.out</a:t>
            </a:r>
            <a:r>
              <a:rPr lang="zh-CN" altLang="en-US" sz="2400" dirty="0"/>
              <a:t>的格式非常紧凑，只包含了程序运行所必须的信息（文本、数据、</a:t>
            </a:r>
            <a:r>
              <a:rPr lang="en-US" altLang="zh-CN" sz="2400" dirty="0"/>
              <a:t>BSS</a:t>
            </a:r>
            <a:r>
              <a:rPr lang="zh-CN" altLang="en-US" sz="2400" dirty="0"/>
              <a:t>），而且每个 </a:t>
            </a:r>
            <a:r>
              <a:rPr lang="en-US" altLang="zh-CN" sz="2400" dirty="0"/>
              <a:t>section</a:t>
            </a:r>
            <a:r>
              <a:rPr lang="zh-CN" altLang="en-US" sz="2400" dirty="0"/>
              <a:t>的顺序是固定</a:t>
            </a:r>
            <a:r>
              <a:rPr lang="zh-CN" altLang="en-US" sz="2400" dirty="0" smtClean="0"/>
              <a:t>的</a:t>
            </a:r>
            <a:endParaRPr lang="en-US" altLang="zh-CN" sz="2400" dirty="0" smtClean="0"/>
          </a:p>
          <a:p>
            <a:r>
              <a:rPr lang="zh-CN" altLang="en-US" sz="2400" dirty="0" smtClean="0"/>
              <a:t>这种</a:t>
            </a:r>
            <a:r>
              <a:rPr lang="zh-CN" altLang="en-US" sz="2400" dirty="0"/>
              <a:t>结构缺乏扩展性，如不能包含</a:t>
            </a:r>
            <a:r>
              <a:rPr lang="en-US" altLang="zh-CN" sz="2400" dirty="0"/>
              <a:t>"</a:t>
            </a:r>
            <a:r>
              <a:rPr lang="zh-CN" altLang="en-US" sz="2400" dirty="0"/>
              <a:t>现代</a:t>
            </a:r>
            <a:r>
              <a:rPr lang="en-US" altLang="zh-CN" sz="2400" dirty="0"/>
              <a:t>"</a:t>
            </a:r>
            <a:r>
              <a:rPr lang="zh-CN" altLang="en-US" sz="2400" dirty="0"/>
              <a:t>可执行文件中常见的调试</a:t>
            </a:r>
            <a:r>
              <a:rPr lang="zh-CN" altLang="en-US" sz="2400" dirty="0" smtClean="0"/>
              <a:t>信息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12528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a.out</a:t>
            </a:r>
            <a:r>
              <a:rPr lang="zh-CN" altLang="en-US" dirty="0"/>
              <a:t>可执行文件及文件头分析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413"/>
            <a:ext cx="7921625" cy="4525962"/>
          </a:xfrm>
        </p:spPr>
        <p:txBody>
          <a:bodyPr/>
          <a:lstStyle/>
          <a:p>
            <a:r>
              <a:rPr lang="en-US" altLang="zh-CN" sz="2400" dirty="0" err="1" smtClean="0">
                <a:solidFill>
                  <a:srgbClr val="C00000"/>
                </a:solidFill>
              </a:rPr>
              <a:t>linux0.11</a:t>
            </a:r>
            <a:r>
              <a:rPr lang="zh-CN" altLang="en-US" sz="2400" dirty="0" smtClean="0">
                <a:solidFill>
                  <a:srgbClr val="C00000"/>
                </a:solidFill>
              </a:rPr>
              <a:t>中，</a:t>
            </a:r>
            <a:r>
              <a:rPr lang="en-US" altLang="zh-CN" sz="2400" dirty="0" err="1" smtClean="0">
                <a:solidFill>
                  <a:srgbClr val="C00000"/>
                </a:solidFill>
              </a:rPr>
              <a:t>a.out</a:t>
            </a:r>
            <a:r>
              <a:rPr lang="zh-CN" altLang="en-US" sz="2400" dirty="0" smtClean="0">
                <a:solidFill>
                  <a:srgbClr val="C00000"/>
                </a:solidFill>
              </a:rPr>
              <a:t>的文件头单独存放在一个</a:t>
            </a:r>
            <a:r>
              <a:rPr lang="en-US" altLang="zh-CN" sz="2400" dirty="0" smtClean="0">
                <a:solidFill>
                  <a:srgbClr val="C00000"/>
                </a:solidFill>
              </a:rPr>
              <a:t>block</a:t>
            </a:r>
            <a:r>
              <a:rPr lang="zh-CN" altLang="en-US" sz="2400" dirty="0" smtClean="0">
                <a:solidFill>
                  <a:srgbClr val="C00000"/>
                </a:solidFill>
              </a:rPr>
              <a:t>（盘块）中</a:t>
            </a:r>
            <a:endParaRPr lang="en-US" altLang="zh-CN" sz="2400" dirty="0" smtClean="0">
              <a:solidFill>
                <a:srgbClr val="C00000"/>
              </a:solidFill>
            </a:endParaRPr>
          </a:p>
          <a:p>
            <a:r>
              <a:rPr lang="zh-CN" altLang="en-US" sz="2400" dirty="0" smtClean="0">
                <a:solidFill>
                  <a:srgbClr val="C00000"/>
                </a:solidFill>
              </a:rPr>
              <a:t>因此创建一个进程并执行一个新程序？</a:t>
            </a:r>
            <a:endParaRPr lang="en-US" altLang="zh-CN" sz="2400" dirty="0" smtClean="0">
              <a:solidFill>
                <a:srgbClr val="C00000"/>
              </a:solidFill>
            </a:endParaRPr>
          </a:p>
          <a:p>
            <a:r>
              <a:rPr lang="zh-CN" altLang="en-US" sz="2400" dirty="0" smtClean="0">
                <a:solidFill>
                  <a:srgbClr val="C00000"/>
                </a:solidFill>
              </a:rPr>
              <a:t>首先需要加载可执行文件的</a:t>
            </a:r>
            <a:r>
              <a:rPr lang="en-US" altLang="zh-CN" sz="2400" dirty="0" err="1" smtClean="0">
                <a:solidFill>
                  <a:srgbClr val="C00000"/>
                </a:solidFill>
              </a:rPr>
              <a:t>inode</a:t>
            </a:r>
            <a:r>
              <a:rPr lang="zh-CN" altLang="en-US" sz="2400" dirty="0" smtClean="0">
                <a:solidFill>
                  <a:srgbClr val="C00000"/>
                </a:solidFill>
              </a:rPr>
              <a:t>中的</a:t>
            </a:r>
            <a:r>
              <a:rPr lang="en-US" altLang="zh-CN" sz="2400" dirty="0" err="1" smtClean="0">
                <a:solidFill>
                  <a:srgbClr val="C00000"/>
                </a:solidFill>
              </a:rPr>
              <a:t>i_zone</a:t>
            </a:r>
            <a:r>
              <a:rPr lang="en-US" altLang="zh-CN" sz="2400" dirty="0" smtClean="0">
                <a:solidFill>
                  <a:srgbClr val="C00000"/>
                </a:solidFill>
              </a:rPr>
              <a:t>[0]</a:t>
            </a:r>
            <a:r>
              <a:rPr lang="zh-CN" altLang="en-US" sz="2400" dirty="0" smtClean="0">
                <a:solidFill>
                  <a:srgbClr val="C00000"/>
                </a:solidFill>
              </a:rPr>
              <a:t>指向的盘块中的内容（文件头）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18" y="3337353"/>
            <a:ext cx="8609013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7" descr="MINIX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21"/>
          <a:stretch/>
        </p:blipFill>
        <p:spPr bwMode="auto">
          <a:xfrm>
            <a:off x="759719" y="3337353"/>
            <a:ext cx="7316585" cy="3090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 bwMode="auto">
          <a:xfrm>
            <a:off x="4191692" y="5013753"/>
            <a:ext cx="4190308" cy="2286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239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创建一个与父进程不同的子</a:t>
            </a:r>
            <a:r>
              <a:rPr lang="zh-CN" altLang="en-US" dirty="0" smtClean="0"/>
              <a:t>进程</a:t>
            </a:r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>
          <a:xfrm>
            <a:off x="1" y="1219200"/>
            <a:ext cx="4476750" cy="3810000"/>
          </a:xfrm>
        </p:spPr>
        <p:txBody>
          <a:bodyPr/>
          <a:lstStyle/>
          <a:p>
            <a:r>
              <a:rPr lang="en-US" altLang="zh-CN" sz="1800" b="0" dirty="0" smtClean="0"/>
              <a:t>Fork</a:t>
            </a:r>
            <a:r>
              <a:rPr lang="zh-CN" altLang="en-US" sz="1800" b="0" dirty="0" smtClean="0"/>
              <a:t>创建一</a:t>
            </a:r>
            <a:r>
              <a:rPr lang="zh-CN" altLang="en-US" sz="1800" b="0" dirty="0"/>
              <a:t>个子</a:t>
            </a:r>
            <a:r>
              <a:rPr lang="zh-CN" altLang="en-US" sz="1800" b="0" dirty="0" smtClean="0"/>
              <a:t>进程，返回</a:t>
            </a:r>
            <a:r>
              <a:rPr lang="en-US" altLang="zh-CN" sz="1800" b="0" dirty="0" err="1" smtClean="0"/>
              <a:t>pid</a:t>
            </a:r>
            <a:r>
              <a:rPr lang="en-US" altLang="zh-CN" sz="1800" b="0" dirty="0" smtClean="0"/>
              <a:t>(=0</a:t>
            </a:r>
            <a:r>
              <a:rPr lang="zh-CN" altLang="en-US" sz="1800" b="0" dirty="0" smtClean="0"/>
              <a:t>子进程中）</a:t>
            </a:r>
            <a:endParaRPr lang="en-US" altLang="zh-CN" sz="1800" b="0" dirty="0" smtClean="0"/>
          </a:p>
          <a:p>
            <a:r>
              <a:rPr lang="zh-CN" altLang="en-US" sz="1800" b="0" dirty="0"/>
              <a:t>在子进程中执行</a:t>
            </a:r>
            <a:r>
              <a:rPr lang="en-US" altLang="zh-CN" sz="1800" b="0" dirty="0"/>
              <a:t>shell</a:t>
            </a:r>
            <a:r>
              <a:rPr lang="zh-CN" altLang="en-US" sz="1800" b="0" dirty="0"/>
              <a:t>终端程序</a:t>
            </a:r>
            <a:r>
              <a:rPr lang="en-US" altLang="zh-CN" sz="1800" b="0" dirty="0"/>
              <a:t>(/bin/</a:t>
            </a:r>
            <a:r>
              <a:rPr lang="en-US" altLang="zh-CN" sz="1800" b="0" dirty="0" err="1"/>
              <a:t>sh</a:t>
            </a:r>
            <a:r>
              <a:rPr lang="en-US" altLang="zh-CN" sz="1800" b="0" dirty="0" smtClean="0"/>
              <a:t>)</a:t>
            </a:r>
          </a:p>
          <a:p>
            <a:r>
              <a:rPr lang="en-US" altLang="zh-CN" sz="1800" b="0" dirty="0" err="1"/>
              <a:t>sh</a:t>
            </a:r>
            <a:r>
              <a:rPr lang="zh-CN" altLang="en-US" sz="1800" b="0" dirty="0"/>
              <a:t>也只是一个正常的具有</a:t>
            </a:r>
            <a:r>
              <a:rPr lang="en-US" altLang="zh-CN" sz="1800" b="0" dirty="0"/>
              <a:t>main</a:t>
            </a:r>
            <a:r>
              <a:rPr lang="zh-CN" altLang="en-US" sz="1800" b="0" dirty="0"/>
              <a:t>函数的可执行</a:t>
            </a:r>
            <a:r>
              <a:rPr lang="zh-CN" altLang="en-US" sz="1800" b="0" dirty="0" smtClean="0"/>
              <a:t>程序，其读取</a:t>
            </a:r>
            <a:r>
              <a:rPr lang="zh-CN" altLang="en-US" sz="1800" b="0" dirty="0"/>
              <a:t>用户在命令行输入的程序名以及相应参数，然后</a:t>
            </a:r>
            <a:r>
              <a:rPr lang="en-US" altLang="zh-CN" sz="1800" b="0" dirty="0"/>
              <a:t>fork</a:t>
            </a:r>
            <a:r>
              <a:rPr lang="zh-CN" altLang="en-US" sz="1800" b="0" dirty="0"/>
              <a:t>出一个子进程去</a:t>
            </a:r>
            <a:r>
              <a:rPr lang="en-US" altLang="zh-CN" sz="1800" b="0" dirty="0" err="1"/>
              <a:t>execve</a:t>
            </a:r>
            <a:r>
              <a:rPr lang="zh-CN" altLang="en-US" sz="1800" b="0" dirty="0"/>
              <a:t>这个程序，子程序执行完成后又回到命令行等待输入</a:t>
            </a:r>
            <a:r>
              <a:rPr lang="zh-CN" altLang="en-US" sz="1800" b="0" dirty="0" smtClean="0"/>
              <a:t>，</a:t>
            </a:r>
            <a:endParaRPr lang="en-US" altLang="zh-CN" sz="1800" b="0" dirty="0" smtClean="0"/>
          </a:p>
          <a:p>
            <a:r>
              <a:rPr lang="en-US" altLang="zh-CN" sz="1800" b="0" dirty="0" err="1"/>
              <a:t>execve</a:t>
            </a:r>
            <a:r>
              <a:rPr lang="en-US" altLang="zh-CN" sz="1800" b="0" dirty="0"/>
              <a:t>(“/bin/</a:t>
            </a:r>
            <a:r>
              <a:rPr lang="en-US" altLang="zh-CN" sz="1800" b="0" dirty="0" err="1"/>
              <a:t>sh</a:t>
            </a:r>
            <a:r>
              <a:rPr lang="en-US" altLang="zh-CN" sz="1800" b="0" dirty="0"/>
              <a:t>”,</a:t>
            </a:r>
            <a:r>
              <a:rPr lang="en-US" altLang="zh-CN" sz="1800" b="0" dirty="0" err="1"/>
              <a:t>argv,envp</a:t>
            </a:r>
            <a:r>
              <a:rPr lang="en-US" altLang="zh-CN" sz="1800" b="0" dirty="0"/>
              <a:t>)</a:t>
            </a:r>
            <a:r>
              <a:rPr lang="zh-CN" altLang="en-US" sz="1800" b="0" dirty="0"/>
              <a:t>函数是</a:t>
            </a:r>
            <a:r>
              <a:rPr lang="zh-CN" altLang="en-US" sz="1800" b="0" dirty="0" smtClean="0"/>
              <a:t>关键</a:t>
            </a:r>
            <a:endParaRPr lang="en-US" altLang="zh-CN" sz="1800" b="0" dirty="0" smtClean="0"/>
          </a:p>
          <a:p>
            <a:r>
              <a:rPr lang="en-US" altLang="zh-CN" sz="1800" b="0" dirty="0" err="1" smtClean="0"/>
              <a:t>execve</a:t>
            </a:r>
            <a:r>
              <a:rPr lang="en-US" altLang="zh-CN" sz="1800" b="0" dirty="0"/>
              <a:t>→</a:t>
            </a:r>
            <a:r>
              <a:rPr lang="en-US" altLang="zh-CN" sz="1800" b="0" dirty="0" smtClean="0"/>
              <a:t> </a:t>
            </a:r>
            <a:r>
              <a:rPr lang="en-US" altLang="zh-CN" sz="1800" b="0" dirty="0" err="1" smtClean="0"/>
              <a:t>sys_execve</a:t>
            </a:r>
            <a:r>
              <a:rPr lang="en-US" altLang="zh-CN" sz="1800" b="0" dirty="0"/>
              <a:t> → </a:t>
            </a:r>
            <a:r>
              <a:rPr lang="en-US" altLang="zh-CN" sz="1800" b="0" dirty="0" err="1" smtClean="0"/>
              <a:t>do_execve</a:t>
            </a:r>
            <a:r>
              <a:rPr lang="en-US" altLang="zh-CN" sz="1800" b="0" dirty="0" smtClean="0"/>
              <a:t> (</a:t>
            </a:r>
            <a:r>
              <a:rPr lang="en-US" altLang="zh-CN" sz="1800" b="0" dirty="0" err="1"/>
              <a:t>exec.c</a:t>
            </a:r>
            <a:r>
              <a:rPr lang="en-US" altLang="zh-CN" sz="1800" b="0" dirty="0" smtClean="0"/>
              <a:t>)</a:t>
            </a:r>
            <a:endParaRPr lang="en-US" altLang="zh-CN" sz="1800" b="0" dirty="0"/>
          </a:p>
          <a:p>
            <a:endParaRPr lang="en-US" altLang="zh-CN" sz="1800" b="0" dirty="0" smtClean="0"/>
          </a:p>
          <a:p>
            <a:endParaRPr lang="en-US" altLang="zh-CN" sz="1800" b="0" dirty="0" smtClean="0"/>
          </a:p>
          <a:p>
            <a:endParaRPr lang="zh-CN" altLang="en-US" sz="1800" dirty="0" smtClean="0"/>
          </a:p>
        </p:txBody>
      </p:sp>
      <p:pic>
        <p:nvPicPr>
          <p:cNvPr id="7270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50" y="1205345"/>
            <a:ext cx="4667250" cy="528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4476750" y="2640106"/>
            <a:ext cx="4644838" cy="2554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solidFill>
                  <a:srgbClr val="C00000"/>
                </a:solidFill>
              </a:ln>
              <a:noFill/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476750" y="4468906"/>
            <a:ext cx="4610100" cy="2554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solidFill>
                  <a:srgbClr val="C00000"/>
                </a:solidFill>
              </a:ln>
              <a:noFill/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28600" y="4875312"/>
            <a:ext cx="4013200" cy="12311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47591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宋体" pitchFamily="2" charset="-122"/>
              </a:rPr>
              <a:t>函数的参数是通过堆栈传递的，返回地址是在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宋体" pitchFamily="2" charset="-122"/>
              </a:rPr>
              <a:t>call</a:t>
            </a: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宋体" pitchFamily="2" charset="-122"/>
              </a:rPr>
              <a:t>语句时被压入堆栈的，返回值通过</a:t>
            </a:r>
            <a:r>
              <a:rPr kumimoji="0" lang="zh-CN" altLang="zh-CN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宋体" pitchFamily="2" charset="-122"/>
              </a:rPr>
              <a:t>eax</a:t>
            </a:r>
            <a:r>
              <a:rPr kumimoji="0" lang="zh-CN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宋体" pitchFamily="2" charset="-122"/>
              </a:rPr>
              <a:t>传递</a:t>
            </a: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宋体" pitchFamily="2" charset="-122"/>
                <a:cs typeface="宋体" pitchFamily="2" charset="-122"/>
              </a:rPr>
              <a:t>。</a:t>
            </a:r>
            <a:endParaRPr kumimoji="0" lang="en-US" altLang="zh-CN" sz="20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lt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000" b="0" dirty="0" smtClean="0">
                <a:solidFill>
                  <a:srgbClr val="FF0000"/>
                </a:solidFill>
                <a:latin typeface="+mn-lt"/>
                <a:cs typeface="宋体" pitchFamily="2" charset="-122"/>
              </a:rPr>
              <a:t>copy_process</a:t>
            </a:r>
            <a:r>
              <a:rPr lang="zh-CN" altLang="en-US" sz="2000" b="0" dirty="0" smtClean="0">
                <a:solidFill>
                  <a:srgbClr val="FF0000"/>
                </a:solidFill>
                <a:latin typeface="+mn-lt"/>
                <a:cs typeface="宋体" pitchFamily="2" charset="-122"/>
              </a:rPr>
              <a:t>过程？</a:t>
            </a:r>
            <a:endParaRPr kumimoji="0" lang="zh-CN" sz="20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lt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4495800" y="3352800"/>
            <a:ext cx="4610100" cy="255494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solidFill>
                  <a:srgbClr val="C00000"/>
                </a:solidFill>
              </a:ln>
              <a:noFill/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563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3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 smtClean="0"/>
              <a:t>do_execve</a:t>
            </a:r>
            <a:r>
              <a:rPr lang="zh-CN" altLang="en-US" b="0" dirty="0" smtClean="0"/>
              <a:t>过程分析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76200" y="1268412"/>
            <a:ext cx="9220200" cy="5437187"/>
          </a:xfrm>
        </p:spPr>
        <p:txBody>
          <a:bodyPr/>
          <a:lstStyle/>
          <a:p>
            <a:r>
              <a:rPr lang="en-US" altLang="zh-CN" sz="1800" dirty="0" err="1"/>
              <a:t>execve</a:t>
            </a:r>
            <a:r>
              <a:rPr lang="en-US" altLang="zh-CN" sz="1800" dirty="0"/>
              <a:t>(“/bin/</a:t>
            </a:r>
            <a:r>
              <a:rPr lang="en-US" altLang="zh-CN" sz="1800" dirty="0" err="1"/>
              <a:t>sh</a:t>
            </a:r>
            <a:r>
              <a:rPr lang="en-US" altLang="zh-CN" sz="1800" dirty="0"/>
              <a:t>”,</a:t>
            </a:r>
            <a:r>
              <a:rPr lang="en-US" altLang="zh-CN" sz="1800" dirty="0" err="1"/>
              <a:t>argv,envp</a:t>
            </a:r>
            <a:r>
              <a:rPr lang="en-US" altLang="zh-CN" sz="1800" dirty="0" smtClean="0"/>
              <a:t>)</a:t>
            </a:r>
          </a:p>
          <a:p>
            <a:r>
              <a:rPr lang="en-US" altLang="zh-CN" sz="1800" dirty="0" err="1" smtClean="0">
                <a:solidFill>
                  <a:schemeClr val="bg1">
                    <a:lumMod val="65000"/>
                  </a:schemeClr>
                </a:solidFill>
              </a:rPr>
              <a:t>linux</a:t>
            </a:r>
            <a:r>
              <a:rPr lang="en-US" altLang="zh-CN" sz="1800" dirty="0" smtClean="0">
                <a:solidFill>
                  <a:schemeClr val="bg1">
                    <a:lumMod val="65000"/>
                  </a:schemeClr>
                </a:solidFill>
              </a:rPr>
              <a:t>/lib/</a:t>
            </a:r>
            <a:r>
              <a:rPr lang="en-US" altLang="zh-CN" sz="1800" dirty="0" err="1" smtClean="0">
                <a:solidFill>
                  <a:schemeClr val="bg1">
                    <a:lumMod val="65000"/>
                  </a:schemeClr>
                </a:solidFill>
              </a:rPr>
              <a:t>execve.c</a:t>
            </a:r>
            <a:endParaRPr lang="en-US" altLang="zh-CN" sz="1800" dirty="0" smtClean="0"/>
          </a:p>
          <a:p>
            <a:r>
              <a:rPr lang="en-US" altLang="zh-CN" sz="1800" dirty="0"/>
              <a:t>_syscall3(</a:t>
            </a:r>
            <a:r>
              <a:rPr lang="en-US" altLang="zh-CN" sz="1800" dirty="0" err="1"/>
              <a:t>int,execve,</a:t>
            </a:r>
            <a:r>
              <a:rPr lang="en-US" altLang="zh-CN" sz="1800" dirty="0" err="1">
                <a:solidFill>
                  <a:srgbClr val="C00000"/>
                </a:solidFill>
              </a:rPr>
              <a:t>const</a:t>
            </a:r>
            <a:r>
              <a:rPr lang="en-US" altLang="zh-CN" sz="1800" dirty="0">
                <a:solidFill>
                  <a:srgbClr val="C00000"/>
                </a:solidFill>
              </a:rPr>
              <a:t> char *,</a:t>
            </a:r>
            <a:r>
              <a:rPr lang="en-US" altLang="zh-CN" sz="1800" dirty="0" err="1">
                <a:solidFill>
                  <a:srgbClr val="C00000"/>
                </a:solidFill>
              </a:rPr>
              <a:t>file,char</a:t>
            </a:r>
            <a:r>
              <a:rPr lang="en-US" altLang="zh-CN" sz="1800" dirty="0">
                <a:solidFill>
                  <a:srgbClr val="C00000"/>
                </a:solidFill>
              </a:rPr>
              <a:t> **,</a:t>
            </a:r>
            <a:r>
              <a:rPr lang="en-US" altLang="zh-CN" sz="1800" dirty="0" err="1">
                <a:solidFill>
                  <a:srgbClr val="C00000"/>
                </a:solidFill>
              </a:rPr>
              <a:t>argv,char</a:t>
            </a:r>
            <a:r>
              <a:rPr lang="en-US" altLang="zh-CN" sz="1800" dirty="0">
                <a:solidFill>
                  <a:srgbClr val="C00000"/>
                </a:solidFill>
              </a:rPr>
              <a:t> **,</a:t>
            </a:r>
            <a:r>
              <a:rPr lang="en-US" altLang="zh-CN" sz="1800" dirty="0" err="1">
                <a:solidFill>
                  <a:srgbClr val="C00000"/>
                </a:solidFill>
              </a:rPr>
              <a:t>envp</a:t>
            </a:r>
            <a:r>
              <a:rPr lang="en-US" altLang="zh-CN" sz="1800" dirty="0"/>
              <a:t>) </a:t>
            </a:r>
            <a:endParaRPr lang="en-US" altLang="zh-CN" sz="1800" dirty="0" smtClean="0"/>
          </a:p>
          <a:p>
            <a:r>
              <a:rPr lang="en-US" altLang="zh-CN" sz="1800" dirty="0" smtClean="0">
                <a:solidFill>
                  <a:schemeClr val="bg1">
                    <a:lumMod val="65000"/>
                  </a:schemeClr>
                </a:solidFill>
              </a:rPr>
              <a:t>include/</a:t>
            </a:r>
            <a:r>
              <a:rPr lang="en-US" altLang="zh-CN" sz="1800" dirty="0" err="1" smtClean="0">
                <a:solidFill>
                  <a:schemeClr val="bg1">
                    <a:lumMod val="65000"/>
                  </a:schemeClr>
                </a:solidFill>
              </a:rPr>
              <a:t>unistd.h</a:t>
            </a:r>
            <a:endParaRPr lang="en-US" altLang="zh-CN" sz="1800" dirty="0" smtClean="0"/>
          </a:p>
          <a:p>
            <a:r>
              <a:rPr lang="en-US" altLang="zh-CN" sz="1800" dirty="0" smtClean="0"/>
              <a:t>#</a:t>
            </a:r>
            <a:r>
              <a:rPr lang="en-US" altLang="zh-CN" sz="1800" dirty="0"/>
              <a:t>define _syscall3(</a:t>
            </a:r>
            <a:r>
              <a:rPr lang="en-US" altLang="zh-CN" sz="1800" dirty="0" err="1"/>
              <a:t>type,name,atype,a,btype,b,ctype,c</a:t>
            </a:r>
            <a:r>
              <a:rPr lang="en-US" altLang="zh-CN" sz="1800" dirty="0"/>
              <a:t>) </a:t>
            </a:r>
            <a:r>
              <a:rPr lang="en-US" altLang="zh-CN" sz="1800" dirty="0" smtClean="0"/>
              <a:t>   \ </a:t>
            </a:r>
            <a:endParaRPr lang="en-US" altLang="zh-CN" sz="18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sz="1800" dirty="0"/>
              <a:t>type name(</a:t>
            </a:r>
            <a:r>
              <a:rPr lang="en-US" altLang="zh-CN" sz="1800" dirty="0" err="1"/>
              <a:t>atype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a,btype</a:t>
            </a:r>
            <a:r>
              <a:rPr lang="en-US" altLang="zh-CN" sz="1800" dirty="0"/>
              <a:t> </a:t>
            </a:r>
            <a:r>
              <a:rPr lang="en-US" altLang="zh-CN" sz="1800" dirty="0" err="1"/>
              <a:t>b,ctype</a:t>
            </a:r>
            <a:r>
              <a:rPr lang="en-US" altLang="zh-CN" sz="1800" dirty="0"/>
              <a:t> c) </a:t>
            </a:r>
            <a:r>
              <a:rPr lang="en-US" altLang="zh-CN" sz="1800" dirty="0" smtClean="0"/>
              <a:t>  \     </a:t>
            </a:r>
            <a:endParaRPr lang="en-US" altLang="zh-CN" sz="1800" dirty="0"/>
          </a:p>
          <a:p>
            <a:r>
              <a:rPr lang="en-US" altLang="zh-CN" sz="1800" dirty="0"/>
              <a:t>{ \</a:t>
            </a:r>
          </a:p>
          <a:p>
            <a:r>
              <a:rPr lang="en-US" altLang="zh-CN" sz="1800" dirty="0"/>
              <a:t>long __res; \</a:t>
            </a:r>
          </a:p>
          <a:p>
            <a:r>
              <a:rPr lang="en-US" altLang="zh-CN" sz="1800" dirty="0"/>
              <a:t>__</a:t>
            </a:r>
            <a:r>
              <a:rPr lang="en-US" altLang="zh-CN" sz="1800" dirty="0" err="1"/>
              <a:t>asm</a:t>
            </a:r>
            <a:r>
              <a:rPr lang="en-US" altLang="zh-CN" sz="1800" dirty="0"/>
              <a:t>__ volatile ("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$0x80" \</a:t>
            </a:r>
          </a:p>
          <a:p>
            <a:r>
              <a:rPr lang="en-US" altLang="zh-CN" sz="1800" dirty="0"/>
              <a:t>	: "=a" (__res) \</a:t>
            </a:r>
          </a:p>
          <a:p>
            <a:r>
              <a:rPr lang="en-US" altLang="zh-CN" sz="1800" dirty="0"/>
              <a:t>	: "0" (__NR_##name</a:t>
            </a:r>
            <a:r>
              <a:rPr lang="en-US" altLang="zh-CN" sz="1800" dirty="0">
                <a:solidFill>
                  <a:srgbClr val="C00000"/>
                </a:solidFill>
              </a:rPr>
              <a:t>),"b" ((long)(a)),"c" ((long)(b)),"d" ((long)(c))); </a:t>
            </a:r>
            <a:r>
              <a:rPr lang="en-US" altLang="zh-CN" sz="1800" dirty="0"/>
              <a:t>\</a:t>
            </a:r>
          </a:p>
          <a:p>
            <a:r>
              <a:rPr lang="en-US" altLang="zh-CN" sz="1800" dirty="0"/>
              <a:t>if (__res&gt;=0) \</a:t>
            </a:r>
          </a:p>
          <a:p>
            <a:r>
              <a:rPr lang="en-US" altLang="zh-CN" sz="1800" dirty="0"/>
              <a:t>	return (type) __res; \</a:t>
            </a:r>
          </a:p>
          <a:p>
            <a:r>
              <a:rPr lang="en-US" altLang="zh-CN" sz="1800" dirty="0" err="1"/>
              <a:t>errno</a:t>
            </a:r>
            <a:r>
              <a:rPr lang="en-US" altLang="zh-CN" sz="1800" dirty="0"/>
              <a:t>=-__res; \</a:t>
            </a:r>
          </a:p>
          <a:p>
            <a:r>
              <a:rPr lang="en-US" altLang="zh-CN" sz="1800" dirty="0"/>
              <a:t>return -1; \</a:t>
            </a:r>
          </a:p>
          <a:p>
            <a:r>
              <a:rPr lang="en-US" altLang="zh-CN" sz="1800" dirty="0"/>
              <a:t>}</a:t>
            </a:r>
          </a:p>
          <a:p>
            <a:endParaRPr lang="en-US" altLang="zh-CN" sz="1800" dirty="0"/>
          </a:p>
          <a:p>
            <a:endParaRPr lang="zh-CN" altLang="en-US" sz="1800" dirty="0"/>
          </a:p>
        </p:txBody>
      </p:sp>
      <p:sp>
        <p:nvSpPr>
          <p:cNvPr id="4" name="圆角矩形标注 3"/>
          <p:cNvSpPr/>
          <p:nvPr/>
        </p:nvSpPr>
        <p:spPr bwMode="auto">
          <a:xfrm>
            <a:off x="2895600" y="3352800"/>
            <a:ext cx="1828800" cy="381000"/>
          </a:xfrm>
          <a:prstGeom prst="wedgeRoundRectCallout">
            <a:avLst>
              <a:gd name="adj1" fmla="val -68055"/>
              <a:gd name="adj2" fmla="val 304643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_</a:t>
            </a:r>
            <a:r>
              <a:rPr kumimoji="0" lang="en-US" altLang="zh-CN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NR_execve</a:t>
            </a:r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2743200" y="2362200"/>
            <a:ext cx="4419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连接符 6"/>
          <p:cNvCxnSpPr/>
          <p:nvPr/>
        </p:nvCxnSpPr>
        <p:spPr bwMode="auto">
          <a:xfrm>
            <a:off x="3429000" y="4953000"/>
            <a:ext cx="44196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曲线连接符 8"/>
          <p:cNvCxnSpPr/>
          <p:nvPr/>
        </p:nvCxnSpPr>
        <p:spPr bwMode="auto">
          <a:xfrm rot="5400000">
            <a:off x="5486400" y="3314700"/>
            <a:ext cx="2133600" cy="457200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5435600" y="4962555"/>
            <a:ext cx="302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“b”-%</a:t>
            </a:r>
            <a:r>
              <a:rPr lang="en-US" altLang="zh-CN" sz="2000" dirty="0" err="1"/>
              <a:t>ebx</a:t>
            </a:r>
            <a:r>
              <a:rPr lang="en-US" altLang="zh-CN" sz="2000" dirty="0" smtClean="0"/>
              <a:t>,</a:t>
            </a:r>
            <a:r>
              <a:rPr lang="en-US" altLang="zh-CN" sz="2000" dirty="0"/>
              <a:t> </a:t>
            </a:r>
            <a:r>
              <a:rPr lang="zh-CN" altLang="en-US" sz="2000" dirty="0" smtClean="0"/>
              <a:t>保存</a:t>
            </a:r>
            <a:r>
              <a:rPr lang="en-US" altLang="zh-CN" sz="2000" dirty="0" smtClean="0"/>
              <a:t>filename</a:t>
            </a:r>
          </a:p>
          <a:p>
            <a:r>
              <a:rPr lang="en-US" altLang="zh-CN" sz="2000" dirty="0" smtClean="0"/>
              <a:t>“</a:t>
            </a:r>
            <a:r>
              <a:rPr lang="en-US" altLang="zh-CN" sz="2000" dirty="0"/>
              <a:t>c</a:t>
            </a:r>
            <a:r>
              <a:rPr lang="en-US" altLang="zh-CN" sz="2000" dirty="0" smtClean="0"/>
              <a:t>”-%</a:t>
            </a:r>
            <a:r>
              <a:rPr lang="en-US" altLang="zh-CN" sz="2000" dirty="0" err="1" smtClean="0"/>
              <a:t>ecx</a:t>
            </a:r>
            <a:r>
              <a:rPr lang="en-US" altLang="zh-CN" sz="2000" dirty="0" smtClean="0"/>
              <a:t>,“</a:t>
            </a:r>
            <a:r>
              <a:rPr lang="en-US" altLang="zh-CN" sz="2000" dirty="0"/>
              <a:t>d</a:t>
            </a:r>
            <a:r>
              <a:rPr lang="en-US" altLang="zh-CN" sz="2000" dirty="0" smtClean="0"/>
              <a:t>”-%</a:t>
            </a:r>
            <a:r>
              <a:rPr lang="en-US" altLang="zh-CN" sz="2000" dirty="0" err="1" smtClean="0"/>
              <a:t>edx</a:t>
            </a:r>
            <a:endParaRPr lang="zh-CN" altLang="en-US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2590800" y="6054755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系统调用号存入</a:t>
            </a:r>
            <a:r>
              <a:rPr lang="en-US" altLang="zh-CN" sz="2000" dirty="0" smtClean="0"/>
              <a:t>%</a:t>
            </a:r>
            <a:r>
              <a:rPr lang="en-US" altLang="zh-CN" sz="2000" dirty="0" err="1" smtClean="0"/>
              <a:t>eax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0538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4" grpId="0"/>
      <p:bldP spid="1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 smtClean="0"/>
              <a:t>do_execve</a:t>
            </a:r>
            <a:r>
              <a:rPr lang="zh-CN" altLang="en-US" b="0" dirty="0" smtClean="0"/>
              <a:t>过程分析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76200" y="1268413"/>
            <a:ext cx="9220200" cy="2722604"/>
          </a:xfrm>
        </p:spPr>
        <p:txBody>
          <a:bodyPr/>
          <a:lstStyle/>
          <a:p>
            <a:r>
              <a:rPr lang="en-US" altLang="zh-CN" sz="1800" dirty="0" smtClean="0"/>
              <a:t>__</a:t>
            </a:r>
            <a:r>
              <a:rPr lang="en-US" altLang="zh-CN" sz="1800" dirty="0" err="1"/>
              <a:t>asm</a:t>
            </a:r>
            <a:r>
              <a:rPr lang="en-US" altLang="zh-CN" sz="1800" dirty="0"/>
              <a:t>__ volatile ("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$0x80" \</a:t>
            </a:r>
          </a:p>
          <a:p>
            <a:r>
              <a:rPr lang="en-US" altLang="zh-CN" sz="1800" dirty="0"/>
              <a:t>	: "=a" (__res) \</a:t>
            </a:r>
          </a:p>
          <a:p>
            <a:r>
              <a:rPr lang="en-US" altLang="zh-CN" sz="1800" dirty="0"/>
              <a:t>	: "0" (__NR_##name</a:t>
            </a:r>
            <a:r>
              <a:rPr lang="en-US" altLang="zh-CN" sz="1800" dirty="0">
                <a:solidFill>
                  <a:srgbClr val="C00000"/>
                </a:solidFill>
              </a:rPr>
              <a:t>),"b" ((long)(a)),"c" ((long)(b)),"d" ((long)(c))); </a:t>
            </a:r>
            <a:r>
              <a:rPr lang="en-US" altLang="zh-CN" sz="1800" dirty="0"/>
              <a:t>\</a:t>
            </a:r>
          </a:p>
          <a:p>
            <a:r>
              <a:rPr lang="en-US" altLang="zh-CN" sz="1800" dirty="0" smtClean="0"/>
              <a:t>if (__res&gt;=0) \</a:t>
            </a:r>
          </a:p>
          <a:p>
            <a:r>
              <a:rPr lang="en-US" altLang="zh-CN" sz="1800" dirty="0" smtClean="0"/>
              <a:t>	return (type) __res; \</a:t>
            </a:r>
          </a:p>
          <a:p>
            <a:r>
              <a:rPr lang="en-US" altLang="zh-CN" sz="1800" dirty="0" err="1" smtClean="0"/>
              <a:t>errno</a:t>
            </a:r>
            <a:r>
              <a:rPr lang="en-US" altLang="zh-CN" sz="1800" dirty="0" smtClean="0"/>
              <a:t>=-__res; \</a:t>
            </a:r>
          </a:p>
          <a:p>
            <a:r>
              <a:rPr lang="en-US" altLang="zh-CN" sz="1800" dirty="0" smtClean="0"/>
              <a:t>return -1; \</a:t>
            </a:r>
          </a:p>
          <a:p>
            <a:r>
              <a:rPr lang="en-US" altLang="zh-CN" sz="1800" dirty="0" smtClean="0"/>
              <a:t>}</a:t>
            </a:r>
          </a:p>
          <a:p>
            <a:endParaRPr lang="en-US" altLang="zh-CN" sz="1800" dirty="0"/>
          </a:p>
          <a:p>
            <a:endParaRPr lang="zh-CN" altLang="en-US" sz="1800" dirty="0"/>
          </a:p>
        </p:txBody>
      </p:sp>
      <p:sp>
        <p:nvSpPr>
          <p:cNvPr id="14" name="TextBox 13"/>
          <p:cNvSpPr txBox="1"/>
          <p:nvPr/>
        </p:nvSpPr>
        <p:spPr>
          <a:xfrm>
            <a:off x="152400" y="4078300"/>
            <a:ext cx="746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然后产生中断</a:t>
            </a:r>
            <a:r>
              <a:rPr lang="zh-CN" altLang="en-US" sz="2000" dirty="0" smtClean="0"/>
              <a:t>，硬件会做什么？？</a:t>
            </a:r>
            <a:endParaRPr lang="en-US" altLang="zh-CN" sz="2000" dirty="0" smtClean="0"/>
          </a:p>
        </p:txBody>
      </p:sp>
      <p:sp>
        <p:nvSpPr>
          <p:cNvPr id="4" name="矩形 3"/>
          <p:cNvSpPr/>
          <p:nvPr/>
        </p:nvSpPr>
        <p:spPr>
          <a:xfrm>
            <a:off x="172452" y="4572000"/>
            <a:ext cx="60759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硬件自动保存</a:t>
            </a:r>
            <a:r>
              <a:rPr lang="en-US" altLang="zh-CN" sz="2000" dirty="0" err="1">
                <a:solidFill>
                  <a:srgbClr val="C00000"/>
                </a:solidFill>
              </a:rPr>
              <a:t>ss,esp,eflags,cs,eip</a:t>
            </a:r>
            <a:r>
              <a:rPr lang="zh-CN" altLang="en-US" sz="2000" dirty="0">
                <a:solidFill>
                  <a:srgbClr val="C00000"/>
                </a:solidFill>
              </a:rPr>
              <a:t>到内核栈中。</a:t>
            </a:r>
            <a:endParaRPr lang="en-US" altLang="zh-CN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79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 smtClean="0"/>
              <a:t>do_execve</a:t>
            </a:r>
            <a:r>
              <a:rPr lang="zh-CN" altLang="en-US" b="0" dirty="0" smtClean="0"/>
              <a:t>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066800"/>
            <a:ext cx="7921625" cy="4525962"/>
          </a:xfrm>
        </p:spPr>
        <p:txBody>
          <a:bodyPr/>
          <a:lstStyle/>
          <a:p>
            <a:r>
              <a:rPr lang="en-US" altLang="zh-CN" sz="2000" dirty="0" err="1"/>
              <a:t>int</a:t>
            </a:r>
            <a:r>
              <a:rPr lang="en-US" altLang="zh-CN" sz="2000" dirty="0"/>
              <a:t> $</a:t>
            </a:r>
            <a:r>
              <a:rPr lang="en-US" altLang="zh-CN" sz="2000" dirty="0" smtClean="0"/>
              <a:t>0x80 </a:t>
            </a:r>
            <a:r>
              <a:rPr lang="zh-CN" altLang="en-US" sz="2000" dirty="0" smtClean="0"/>
              <a:t>导致进入系统调用过程</a:t>
            </a:r>
            <a:endParaRPr lang="en-US" altLang="zh-CN" sz="2000" dirty="0" smtClean="0"/>
          </a:p>
          <a:p>
            <a:r>
              <a:rPr lang="zh-CN" altLang="en-US" sz="2000" dirty="0" smtClean="0"/>
              <a:t>入</a:t>
            </a:r>
            <a:r>
              <a:rPr lang="zh-CN" altLang="en-US" sz="2000" dirty="0"/>
              <a:t>栈</a:t>
            </a:r>
            <a:r>
              <a:rPr lang="zh-CN" altLang="en-US" sz="2000" dirty="0" smtClean="0"/>
              <a:t>顺序（内核栈）：</a:t>
            </a:r>
            <a:r>
              <a:rPr lang="en-US" altLang="zh-CN" sz="2000" dirty="0" err="1" smtClean="0"/>
              <a:t>ds,es,fs,edx,ecx,ebx</a:t>
            </a:r>
            <a:endParaRPr lang="en-US" altLang="zh-CN" sz="2000" dirty="0" smtClean="0"/>
          </a:p>
          <a:p>
            <a:r>
              <a:rPr lang="zh-CN" altLang="en-US" sz="2000" dirty="0"/>
              <a:t>入栈顺序（内核栈）：</a:t>
            </a:r>
            <a:r>
              <a:rPr lang="en-US" altLang="zh-CN" sz="2000" dirty="0" err="1" smtClean="0"/>
              <a:t>ds,es,fs,edx,ecx,ebx,call</a:t>
            </a:r>
            <a:r>
              <a:rPr lang="zh-CN" altLang="en-US" sz="2000" dirty="0" smtClean="0"/>
              <a:t>返回地址</a:t>
            </a:r>
            <a:endParaRPr lang="en-US" altLang="zh-CN" sz="2000" dirty="0"/>
          </a:p>
          <a:p>
            <a:endParaRPr lang="en-US" altLang="zh-CN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32"/>
          <a:stretch/>
        </p:blipFill>
        <p:spPr bwMode="auto">
          <a:xfrm>
            <a:off x="0" y="2286000"/>
            <a:ext cx="6172200" cy="355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30"/>
          <a:stretch/>
        </p:blipFill>
        <p:spPr bwMode="auto">
          <a:xfrm>
            <a:off x="6083300" y="2527300"/>
            <a:ext cx="3022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 bwMode="auto">
          <a:xfrm>
            <a:off x="381000" y="3048000"/>
            <a:ext cx="5702300" cy="13716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81000" y="5562600"/>
            <a:ext cx="4724400" cy="3810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线形标注 1 4"/>
          <p:cNvSpPr/>
          <p:nvPr/>
        </p:nvSpPr>
        <p:spPr bwMode="auto">
          <a:xfrm>
            <a:off x="5257800" y="5943600"/>
            <a:ext cx="3581400" cy="762000"/>
          </a:xfrm>
          <a:prstGeom prst="borderCallout1">
            <a:avLst>
              <a:gd name="adj1" fmla="val 52083"/>
              <a:gd name="adj2" fmla="val 0"/>
              <a:gd name="adj3" fmla="val -26894"/>
              <a:gd name="adj4" fmla="val -3064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800" dirty="0">
                <a:solidFill>
                  <a:srgbClr val="C00000"/>
                </a:solidFill>
                <a:latin typeface="Arial" charset="0"/>
              </a:rPr>
              <a:t>call (_</a:t>
            </a:r>
            <a:r>
              <a:rPr lang="en-US" altLang="zh-CN" sz="1800" dirty="0" err="1">
                <a:solidFill>
                  <a:srgbClr val="C00000"/>
                </a:solidFill>
                <a:latin typeface="Arial" charset="0"/>
              </a:rPr>
              <a:t>sys_call_table</a:t>
            </a:r>
            <a:r>
              <a:rPr lang="en-US" altLang="zh-CN" sz="1800" dirty="0">
                <a:solidFill>
                  <a:srgbClr val="C00000"/>
                </a:solidFill>
                <a:latin typeface="Arial" charset="0"/>
              </a:rPr>
              <a:t>+%</a:t>
            </a:r>
            <a:r>
              <a:rPr lang="en-US" altLang="zh-CN" sz="1800" dirty="0" err="1">
                <a:solidFill>
                  <a:srgbClr val="C00000"/>
                </a:solidFill>
                <a:latin typeface="Arial" charset="0"/>
              </a:rPr>
              <a:t>eax</a:t>
            </a:r>
            <a:r>
              <a:rPr lang="en-US" altLang="zh-CN" sz="1800" dirty="0">
                <a:solidFill>
                  <a:srgbClr val="C00000"/>
                </a:solidFill>
                <a:latin typeface="Arial" charset="0"/>
              </a:rPr>
              <a:t>*4</a:t>
            </a:r>
            <a:r>
              <a:rPr lang="en-US" altLang="zh-CN" sz="1800" dirty="0" smtClean="0">
                <a:solidFill>
                  <a:srgbClr val="C00000"/>
                </a:solidFill>
                <a:latin typeface="Arial" charset="0"/>
              </a:rPr>
              <a:t>)</a:t>
            </a:r>
          </a:p>
          <a:p>
            <a:pPr eaLnBrk="1" hangingPunct="1"/>
            <a:r>
              <a:rPr lang="zh-CN" altLang="en-US" sz="1800" dirty="0" smtClean="0">
                <a:solidFill>
                  <a:srgbClr val="C00000"/>
                </a:solidFill>
                <a:latin typeface="Arial" charset="0"/>
              </a:rPr>
              <a:t>同时：</a:t>
            </a:r>
            <a:r>
              <a:rPr lang="en-US" altLang="zh-CN" sz="1800" dirty="0" err="1" smtClean="0">
                <a:solidFill>
                  <a:srgbClr val="C00000"/>
                </a:solidFill>
                <a:latin typeface="Arial" charset="0"/>
              </a:rPr>
              <a:t>pushl</a:t>
            </a:r>
            <a:r>
              <a:rPr lang="en-US" altLang="zh-CN" sz="1800" dirty="0" smtClean="0">
                <a:solidFill>
                  <a:srgbClr val="C00000"/>
                </a:solidFill>
                <a:latin typeface="Arial" charset="0"/>
              </a:rPr>
              <a:t>  call</a:t>
            </a:r>
            <a:r>
              <a:rPr lang="zh-CN" altLang="en-US" sz="1800" dirty="0" smtClean="0">
                <a:solidFill>
                  <a:srgbClr val="C00000"/>
                </a:solidFill>
                <a:latin typeface="Arial" charset="0"/>
              </a:rPr>
              <a:t>下条指令地址</a:t>
            </a:r>
            <a:endParaRPr lang="zh-CN" altLang="en-US" sz="1800" dirty="0">
              <a:solidFill>
                <a:srgbClr val="C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508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do_execve</a:t>
            </a:r>
            <a:r>
              <a:rPr lang="zh-CN" altLang="en-US" b="0" dirty="0" smtClean="0"/>
              <a:t>过程分析</a:t>
            </a:r>
            <a:r>
              <a:rPr lang="en-US" altLang="zh-CN" b="0" dirty="0" smtClean="0"/>
              <a:t>--</a:t>
            </a:r>
            <a:r>
              <a:rPr lang="zh-CN" altLang="en-US" dirty="0" smtClean="0"/>
              <a:t>参数传递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3400" y="1066800"/>
            <a:ext cx="7921625" cy="927100"/>
          </a:xfrm>
        </p:spPr>
        <p:txBody>
          <a:bodyPr/>
          <a:lstStyle/>
          <a:p>
            <a:r>
              <a:rPr lang="zh-CN" altLang="en-US" sz="2000" dirty="0" smtClean="0"/>
              <a:t>入</a:t>
            </a:r>
            <a:r>
              <a:rPr lang="zh-CN" altLang="en-US" sz="2000" dirty="0"/>
              <a:t>栈顺序（内核栈）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r>
              <a:rPr lang="en-US" altLang="zh-CN" sz="2000" dirty="0" err="1" smtClean="0"/>
              <a:t>ds,es,fs,edx,ecx,ebx</a:t>
            </a:r>
            <a:r>
              <a:rPr lang="en-US" altLang="zh-CN" sz="2000" dirty="0" smtClean="0"/>
              <a:t>, call</a:t>
            </a:r>
            <a:r>
              <a:rPr lang="zh-CN" altLang="en-US" sz="2000" dirty="0" smtClean="0"/>
              <a:t>返回地址</a:t>
            </a:r>
            <a:r>
              <a:rPr lang="en-US" altLang="zh-CN" sz="2000" dirty="0" smtClean="0"/>
              <a:t>,</a:t>
            </a:r>
            <a:r>
              <a:rPr lang="en-US" altLang="zh-CN" sz="2000" dirty="0" err="1" smtClean="0"/>
              <a:t>eax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eip</a:t>
            </a:r>
            <a:r>
              <a:rPr lang="zh-CN" altLang="en-US" sz="2000" dirty="0" smtClean="0"/>
              <a:t>地址）</a:t>
            </a:r>
            <a:r>
              <a:rPr lang="en-US" altLang="zh-CN" sz="2000" dirty="0" smtClean="0"/>
              <a:t>, </a:t>
            </a:r>
            <a:r>
              <a:rPr lang="en-US" altLang="zh-CN" sz="2000" dirty="0" smtClean="0">
                <a:solidFill>
                  <a:srgbClr val="C0C0C0"/>
                </a:solidFill>
              </a:rPr>
              <a:t>call</a:t>
            </a:r>
            <a:r>
              <a:rPr lang="zh-CN" altLang="en-US" sz="2000" dirty="0" smtClean="0">
                <a:solidFill>
                  <a:srgbClr val="C0C0C0"/>
                </a:solidFill>
              </a:rPr>
              <a:t>返回地址</a:t>
            </a:r>
            <a:endParaRPr lang="en-US" altLang="zh-CN" sz="2000" dirty="0" smtClean="0">
              <a:solidFill>
                <a:srgbClr val="C0C0C0"/>
              </a:solidFill>
            </a:endParaRPr>
          </a:p>
          <a:p>
            <a:endParaRPr lang="en-US" altLang="zh-CN" sz="20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30"/>
          <a:stretch/>
        </p:blipFill>
        <p:spPr bwMode="auto">
          <a:xfrm>
            <a:off x="152400" y="2286000"/>
            <a:ext cx="3022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线形标注 1 4"/>
          <p:cNvSpPr/>
          <p:nvPr/>
        </p:nvSpPr>
        <p:spPr bwMode="auto">
          <a:xfrm>
            <a:off x="3384550" y="3211646"/>
            <a:ext cx="1136650" cy="979354"/>
          </a:xfrm>
          <a:prstGeom prst="borderCallout1">
            <a:avLst>
              <a:gd name="adj1" fmla="val 52083"/>
              <a:gd name="adj2" fmla="val -3352"/>
              <a:gd name="adj3" fmla="val -47055"/>
              <a:gd name="adj4" fmla="val -8203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1800" dirty="0" smtClean="0">
                <a:solidFill>
                  <a:srgbClr val="C00000"/>
                </a:solidFill>
                <a:latin typeface="Arial" charset="0"/>
              </a:rPr>
              <a:t>栈中</a:t>
            </a:r>
            <a:r>
              <a:rPr lang="en-US" altLang="zh-CN" sz="1800" dirty="0" smtClean="0">
                <a:solidFill>
                  <a:srgbClr val="C00000"/>
                </a:solidFill>
                <a:latin typeface="Arial" charset="0"/>
              </a:rPr>
              <a:t>%</a:t>
            </a:r>
            <a:r>
              <a:rPr lang="en-US" altLang="zh-CN" sz="1800" dirty="0" err="1" smtClean="0">
                <a:solidFill>
                  <a:srgbClr val="C00000"/>
                </a:solidFill>
                <a:latin typeface="Arial" charset="0"/>
              </a:rPr>
              <a:t>eip</a:t>
            </a:r>
            <a:r>
              <a:rPr lang="zh-CN" altLang="en-US" sz="1800" dirty="0" smtClean="0">
                <a:solidFill>
                  <a:srgbClr val="C00000"/>
                </a:solidFill>
                <a:latin typeface="Arial" charset="0"/>
              </a:rPr>
              <a:t>所在地址</a:t>
            </a:r>
            <a:endParaRPr lang="zh-CN" altLang="en-US" sz="1800" dirty="0">
              <a:solidFill>
                <a:srgbClr val="C00000"/>
              </a:solidFill>
              <a:latin typeface="Arial" charset="0"/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6" t="10997" r="41242" b="6529"/>
          <a:stretch/>
        </p:blipFill>
        <p:spPr bwMode="auto">
          <a:xfrm>
            <a:off x="5918200" y="2337197"/>
            <a:ext cx="2311400" cy="3250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9"/>
          <p:cNvSpPr/>
          <p:nvPr/>
        </p:nvSpPr>
        <p:spPr bwMode="auto">
          <a:xfrm>
            <a:off x="5956300" y="4229100"/>
            <a:ext cx="1981200" cy="279400"/>
          </a:xfrm>
          <a:prstGeom prst="rect">
            <a:avLst/>
          </a:prstGeom>
          <a:noFill/>
          <a:ln w="9525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箭头连接符 12"/>
          <p:cNvCxnSpPr/>
          <p:nvPr/>
        </p:nvCxnSpPr>
        <p:spPr bwMode="auto">
          <a:xfrm flipV="1">
            <a:off x="5689600" y="2730500"/>
            <a:ext cx="0" cy="2590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13"/>
          <p:cNvSpPr txBox="1"/>
          <p:nvPr/>
        </p:nvSpPr>
        <p:spPr>
          <a:xfrm>
            <a:off x="5270500" y="3319730"/>
            <a:ext cx="419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栈增长方向</a:t>
            </a:r>
            <a:endParaRPr lang="zh-CN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5308600" y="5274846"/>
            <a:ext cx="990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低地址</a:t>
            </a:r>
            <a:endParaRPr lang="zh-CN" alt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5270500" y="2408823"/>
            <a:ext cx="80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高地址</a:t>
            </a:r>
            <a:endParaRPr lang="zh-CN" altLang="en-US" sz="1600" dirty="0"/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025900"/>
            <a:ext cx="1898650" cy="27107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矩形 20"/>
          <p:cNvSpPr/>
          <p:nvPr/>
        </p:nvSpPr>
        <p:spPr bwMode="auto">
          <a:xfrm>
            <a:off x="838200" y="2552700"/>
            <a:ext cx="2743200" cy="5334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996950" y="5511800"/>
            <a:ext cx="1981200" cy="279400"/>
          </a:xfrm>
          <a:prstGeom prst="rect">
            <a:avLst/>
          </a:prstGeom>
          <a:noFill/>
          <a:ln w="9525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6" name="直接箭头连接符 15"/>
          <p:cNvCxnSpPr/>
          <p:nvPr/>
        </p:nvCxnSpPr>
        <p:spPr bwMode="auto">
          <a:xfrm flipH="1" flipV="1">
            <a:off x="5956300" y="1841500"/>
            <a:ext cx="57150" cy="23495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矩形 3"/>
          <p:cNvSpPr/>
          <p:nvPr/>
        </p:nvSpPr>
        <p:spPr>
          <a:xfrm>
            <a:off x="5016985" y="5878670"/>
            <a:ext cx="3438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 smtClean="0"/>
              <a:t>压入</a:t>
            </a:r>
            <a:r>
              <a:rPr lang="en-US" altLang="zh-CN" sz="1800" dirty="0" err="1"/>
              <a:t>eax</a:t>
            </a:r>
            <a:r>
              <a:rPr lang="en-US" altLang="zh-CN" sz="1800" dirty="0"/>
              <a:t>(</a:t>
            </a:r>
            <a:r>
              <a:rPr lang="en-US" altLang="zh-CN" sz="1800" dirty="0" err="1"/>
              <a:t>eip</a:t>
            </a:r>
            <a:r>
              <a:rPr lang="zh-CN" altLang="en-US" sz="1800" dirty="0"/>
              <a:t>地址）</a:t>
            </a:r>
            <a:r>
              <a:rPr lang="zh-CN" altLang="en-US" sz="1800" dirty="0" smtClean="0"/>
              <a:t>返回地址前的结构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4002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/>
      <p:bldP spid="17" grpId="0"/>
      <p:bldP spid="18" grpId="0"/>
      <p:bldP spid="21" grpId="0" animBg="1"/>
      <p:bldP spid="2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do_execve</a:t>
            </a:r>
            <a:r>
              <a:rPr lang="zh-CN" altLang="en-US" b="0" dirty="0" smtClean="0"/>
              <a:t>过程分析</a:t>
            </a:r>
            <a:r>
              <a:rPr lang="en-US" altLang="zh-CN" b="0" dirty="0" smtClean="0"/>
              <a:t>--</a:t>
            </a:r>
            <a:r>
              <a:rPr lang="zh-CN" altLang="en-US" b="0" dirty="0" smtClean="0"/>
              <a:t>参数传递</a:t>
            </a: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10"/>
          <a:stretch/>
        </p:blipFill>
        <p:spPr bwMode="auto">
          <a:xfrm>
            <a:off x="165100" y="2667000"/>
            <a:ext cx="8763000" cy="2579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81000" y="1371600"/>
            <a:ext cx="7921625" cy="838200"/>
          </a:xfrm>
        </p:spPr>
        <p:txBody>
          <a:bodyPr/>
          <a:lstStyle/>
          <a:p>
            <a:r>
              <a:rPr lang="zh-CN" altLang="en-US" sz="2000" dirty="0" smtClean="0"/>
              <a:t>入</a:t>
            </a:r>
            <a:r>
              <a:rPr lang="zh-CN" altLang="en-US" sz="2000" dirty="0"/>
              <a:t>栈顺序（内核栈）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r>
              <a:rPr lang="en-US" altLang="zh-CN" sz="2000" dirty="0" err="1" smtClean="0"/>
              <a:t>ds,es,fs,edx,ecx,ebx</a:t>
            </a:r>
            <a:r>
              <a:rPr lang="en-US" altLang="zh-CN" sz="2000" dirty="0" smtClean="0"/>
              <a:t>, call</a:t>
            </a:r>
            <a:r>
              <a:rPr lang="zh-CN" altLang="en-US" sz="2000" dirty="0" smtClean="0"/>
              <a:t>返回地址</a:t>
            </a:r>
            <a:r>
              <a:rPr lang="en-US" altLang="zh-CN" sz="2000" dirty="0" smtClean="0"/>
              <a:t>,</a:t>
            </a:r>
            <a:r>
              <a:rPr lang="en-US" altLang="zh-CN" sz="2000" dirty="0" err="1" smtClean="0"/>
              <a:t>eax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eip</a:t>
            </a:r>
            <a:r>
              <a:rPr lang="zh-CN" altLang="en-US" sz="2000" dirty="0" smtClean="0"/>
              <a:t>地址）</a:t>
            </a:r>
            <a:r>
              <a:rPr lang="en-US" altLang="zh-CN" sz="2000" dirty="0" smtClean="0"/>
              <a:t>, </a:t>
            </a:r>
            <a:r>
              <a:rPr lang="en-US" altLang="zh-CN" sz="2000" dirty="0">
                <a:solidFill>
                  <a:srgbClr val="C0C0C0"/>
                </a:solidFill>
              </a:rPr>
              <a:t>call</a:t>
            </a:r>
            <a:r>
              <a:rPr lang="zh-CN" altLang="en-US" sz="2000" dirty="0">
                <a:solidFill>
                  <a:srgbClr val="C0C0C0"/>
                </a:solidFill>
              </a:rPr>
              <a:t>返回地址</a:t>
            </a:r>
            <a:endParaRPr lang="en-US" altLang="zh-CN" sz="2000" dirty="0">
              <a:solidFill>
                <a:srgbClr val="C0C0C0"/>
              </a:solidFill>
            </a:endParaRPr>
          </a:p>
          <a:p>
            <a:endParaRPr lang="en-US" altLang="zh-CN" sz="2000" dirty="0"/>
          </a:p>
        </p:txBody>
      </p:sp>
      <p:cxnSp>
        <p:nvCxnSpPr>
          <p:cNvPr id="6" name="直接箭头连接符 5"/>
          <p:cNvCxnSpPr/>
          <p:nvPr/>
        </p:nvCxnSpPr>
        <p:spPr bwMode="auto">
          <a:xfrm flipV="1">
            <a:off x="3505200" y="2133600"/>
            <a:ext cx="1905000" cy="2590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/>
          <p:cNvCxnSpPr/>
          <p:nvPr/>
        </p:nvCxnSpPr>
        <p:spPr bwMode="auto">
          <a:xfrm flipH="1" flipV="1">
            <a:off x="4038600" y="2057400"/>
            <a:ext cx="228600" cy="2667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直接箭头连接符 9"/>
          <p:cNvCxnSpPr/>
          <p:nvPr/>
        </p:nvCxnSpPr>
        <p:spPr bwMode="auto">
          <a:xfrm flipH="1" flipV="1">
            <a:off x="3124200" y="2057400"/>
            <a:ext cx="2514600" cy="2667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/>
          <p:cNvCxnSpPr/>
          <p:nvPr/>
        </p:nvCxnSpPr>
        <p:spPr bwMode="auto">
          <a:xfrm flipV="1">
            <a:off x="2057400" y="2057400"/>
            <a:ext cx="457200" cy="3048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直接箭头连接符 13"/>
          <p:cNvCxnSpPr/>
          <p:nvPr/>
        </p:nvCxnSpPr>
        <p:spPr bwMode="auto">
          <a:xfrm flipH="1" flipV="1">
            <a:off x="2057400" y="2057400"/>
            <a:ext cx="1295400" cy="3048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/>
          <p:cNvSpPr txBox="1"/>
          <p:nvPr/>
        </p:nvSpPr>
        <p:spPr>
          <a:xfrm>
            <a:off x="1409700" y="5692696"/>
            <a:ext cx="302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“b”-%</a:t>
            </a:r>
            <a:r>
              <a:rPr lang="en-US" altLang="zh-CN" sz="2000" dirty="0" err="1"/>
              <a:t>ebx</a:t>
            </a:r>
            <a:r>
              <a:rPr lang="en-US" altLang="zh-CN" sz="2000" dirty="0" smtClean="0"/>
              <a:t>,</a:t>
            </a:r>
            <a:r>
              <a:rPr lang="en-US" altLang="zh-CN" sz="2000" dirty="0"/>
              <a:t> </a:t>
            </a:r>
            <a:r>
              <a:rPr lang="zh-CN" altLang="en-US" sz="2000" dirty="0" smtClean="0"/>
              <a:t>保存</a:t>
            </a:r>
            <a:r>
              <a:rPr lang="en-US" altLang="zh-CN" sz="2000" dirty="0" smtClean="0"/>
              <a:t>filename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0200" y="5338753"/>
            <a:ext cx="297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 smtClean="0"/>
              <a:t>eip</a:t>
            </a:r>
            <a:r>
              <a:rPr lang="en-US" altLang="zh-CN" sz="2000" dirty="0" smtClean="0"/>
              <a:t>[0],</a:t>
            </a:r>
            <a:r>
              <a:rPr lang="en-US" altLang="zh-CN" sz="2000" dirty="0" err="1" smtClean="0"/>
              <a:t>eip</a:t>
            </a:r>
            <a:r>
              <a:rPr lang="en-US" altLang="zh-CN" sz="2000" dirty="0" smtClean="0"/>
              <a:t>[3]?</a:t>
            </a:r>
            <a:r>
              <a:rPr lang="zh-CN" altLang="en-US" sz="2000" dirty="0" smtClean="0"/>
              <a:t>表示什么</a:t>
            </a:r>
            <a:endParaRPr lang="zh-CN" altLang="en-US" sz="2000" dirty="0"/>
          </a:p>
        </p:txBody>
      </p:sp>
      <p:sp>
        <p:nvSpPr>
          <p:cNvPr id="13" name="圆角矩形标注 12"/>
          <p:cNvSpPr/>
          <p:nvPr/>
        </p:nvSpPr>
        <p:spPr bwMode="auto">
          <a:xfrm>
            <a:off x="6159500" y="457200"/>
            <a:ext cx="2984500" cy="914400"/>
          </a:xfrm>
          <a:prstGeom prst="wedgeRoundRectCallout">
            <a:avLst>
              <a:gd name="adj1" fmla="val -60592"/>
              <a:gd name="adj2" fmla="val 90313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 smtClean="0">
                <a:latin typeface="Arial" charset="0"/>
              </a:rPr>
              <a:t>中断返回后的</a:t>
            </a:r>
            <a:r>
              <a:rPr lang="en-US" altLang="zh-CN" sz="1800" dirty="0" err="1" smtClean="0">
                <a:latin typeface="Arial" charset="0"/>
              </a:rPr>
              <a:t>eip</a:t>
            </a:r>
            <a:r>
              <a:rPr lang="zh-CN" altLang="en-US" sz="1800" dirty="0" smtClean="0">
                <a:latin typeface="Arial" charset="0"/>
              </a:rPr>
              <a:t>，如果该值不变，返回到调用</a:t>
            </a:r>
            <a:r>
              <a:rPr lang="en-US" altLang="zh-CN" sz="1800" dirty="0" smtClean="0">
                <a:latin typeface="Arial" charset="0"/>
              </a:rPr>
              <a:t>fork</a:t>
            </a:r>
            <a:r>
              <a:rPr lang="zh-CN" altLang="en-US" sz="1800" dirty="0" smtClean="0">
                <a:latin typeface="Arial" charset="0"/>
              </a:rPr>
              <a:t>的进程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719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/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do_execve</a:t>
            </a:r>
            <a:r>
              <a:rPr lang="zh-CN" altLang="en-US" b="0" dirty="0" smtClean="0"/>
              <a:t>过程分析</a:t>
            </a:r>
            <a:r>
              <a:rPr lang="en-US" altLang="zh-CN" b="0" dirty="0" smtClean="0"/>
              <a:t>—</a:t>
            </a:r>
            <a:r>
              <a:rPr lang="en-US" altLang="zh-CN" b="0" dirty="0" err="1" smtClean="0"/>
              <a:t>i</a:t>
            </a:r>
            <a:r>
              <a:rPr lang="zh-CN" altLang="en-US" b="0" dirty="0" smtClean="0"/>
              <a:t>节点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97"/>
          <a:stretch/>
        </p:blipFill>
        <p:spPr bwMode="auto">
          <a:xfrm>
            <a:off x="457200" y="1066800"/>
            <a:ext cx="7620000" cy="57593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381000" y="1066800"/>
            <a:ext cx="8382000" cy="9144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81000" y="5911764"/>
            <a:ext cx="8382000" cy="9144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6553200" y="4800600"/>
            <a:ext cx="2590800" cy="685800"/>
          </a:xfrm>
          <a:prstGeom prst="wedgeRoundRectCallout">
            <a:avLst>
              <a:gd name="adj1" fmla="val -57250"/>
              <a:gd name="adj2" fmla="val 115768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1)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找</a:t>
            </a:r>
            <a:r>
              <a:rPr lang="zh-CN" altLang="en-US" sz="1800" dirty="0">
                <a:latin typeface="Arial" charset="0"/>
              </a:rPr>
              <a:t>可</a:t>
            </a:r>
            <a:r>
              <a:rPr lang="zh-CN" altLang="en-US" sz="1800" dirty="0" smtClean="0">
                <a:latin typeface="Arial" charset="0"/>
              </a:rPr>
              <a:t>执行程序文件</a:t>
            </a:r>
            <a:r>
              <a:rPr kumimoji="0" lang="en-US" altLang="zh-CN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i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节点，与</a:t>
            </a:r>
            <a:r>
              <a:rPr kumimoji="0" lang="en-US" altLang="zh-CN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open_namei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比？</a:t>
            </a:r>
          </a:p>
        </p:txBody>
      </p:sp>
    </p:spTree>
    <p:extLst>
      <p:ext uri="{BB962C8B-B14F-4D97-AF65-F5344CB8AC3E}">
        <p14:creationId xmlns:p14="http://schemas.microsoft.com/office/powerpoint/2010/main" val="20293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do_execve</a:t>
            </a:r>
            <a:r>
              <a:rPr lang="zh-CN" altLang="en-US" b="0" dirty="0"/>
              <a:t>过程分析</a:t>
            </a:r>
            <a:r>
              <a:rPr lang="en-US" altLang="zh-CN" b="0" dirty="0" smtClean="0"/>
              <a:t>—</a:t>
            </a:r>
            <a:r>
              <a:rPr lang="zh-CN" altLang="en-US" b="0" dirty="0" smtClean="0"/>
              <a:t>权限检测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200443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304800" y="4724400"/>
            <a:ext cx="8382000" cy="9144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5715000" y="3657600"/>
            <a:ext cx="2590800" cy="685800"/>
          </a:xfrm>
          <a:prstGeom prst="wedgeRoundRectCallout">
            <a:avLst>
              <a:gd name="adj1" fmla="val -57250"/>
              <a:gd name="adj2" fmla="val 115768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2)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从</a:t>
            </a:r>
            <a:r>
              <a:rPr kumimoji="0" lang="en-US" altLang="zh-CN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i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节点中取文件属性信息，权限检测</a:t>
            </a:r>
          </a:p>
        </p:txBody>
      </p:sp>
      <p:pic>
        <p:nvPicPr>
          <p:cNvPr id="7" name="Picture 27" descr="MINIX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21"/>
          <a:stretch/>
        </p:blipFill>
        <p:spPr bwMode="auto">
          <a:xfrm>
            <a:off x="2768600" y="941426"/>
            <a:ext cx="6249785" cy="263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063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do_execve</a:t>
            </a:r>
            <a:r>
              <a:rPr lang="zh-CN" altLang="en-US" b="0" dirty="0"/>
              <a:t>过程分析</a:t>
            </a:r>
            <a:r>
              <a:rPr lang="en-US" altLang="zh-CN" b="0" dirty="0"/>
              <a:t>—</a:t>
            </a:r>
            <a:r>
              <a:rPr lang="zh-CN" altLang="en-US" b="0" dirty="0"/>
              <a:t>权限检测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2999"/>
            <a:ext cx="7772400" cy="5517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圆角矩形标注 4"/>
          <p:cNvSpPr/>
          <p:nvPr/>
        </p:nvSpPr>
        <p:spPr bwMode="auto">
          <a:xfrm>
            <a:off x="5715000" y="3657600"/>
            <a:ext cx="2590800" cy="685800"/>
          </a:xfrm>
          <a:prstGeom prst="wedgeRoundRectCallout">
            <a:avLst>
              <a:gd name="adj1" fmla="val -119995"/>
              <a:gd name="adj2" fmla="val -899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2)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从</a:t>
            </a:r>
            <a:r>
              <a:rPr kumimoji="0" lang="en-US" altLang="zh-CN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i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节点中取文件属性信息，权限检测</a:t>
            </a:r>
          </a:p>
        </p:txBody>
      </p:sp>
    </p:spTree>
    <p:extLst>
      <p:ext uri="{BB962C8B-B14F-4D97-AF65-F5344CB8AC3E}">
        <p14:creationId xmlns:p14="http://schemas.microsoft.com/office/powerpoint/2010/main" val="253582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do_execve</a:t>
            </a:r>
            <a:r>
              <a:rPr lang="zh-CN" altLang="en-US" b="0" dirty="0"/>
              <a:t>过程分析</a:t>
            </a:r>
            <a:r>
              <a:rPr lang="en-US" altLang="zh-CN" b="0" dirty="0" smtClean="0"/>
              <a:t>—</a:t>
            </a:r>
            <a:r>
              <a:rPr lang="zh-CN" altLang="en-US" b="0" dirty="0" smtClean="0"/>
              <a:t>文件头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1625600"/>
            <a:ext cx="8445173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50800" y="1600200"/>
            <a:ext cx="8991600" cy="9144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5029200" y="2743200"/>
            <a:ext cx="2590800" cy="685800"/>
          </a:xfrm>
          <a:prstGeom prst="wedgeRoundRectCallout">
            <a:avLst>
              <a:gd name="adj1" fmla="val -144995"/>
              <a:gd name="adj2" fmla="val -12682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Arial" charset="0"/>
              </a:rPr>
              <a:t>3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)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根据</a:t>
            </a:r>
            <a:r>
              <a:rPr kumimoji="0" lang="en-US" altLang="zh-CN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i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节点读取文件头信息，放入缓冲区</a:t>
            </a:r>
          </a:p>
        </p:txBody>
      </p:sp>
      <p:sp>
        <p:nvSpPr>
          <p:cNvPr id="8" name="圆角矩形标注 7"/>
          <p:cNvSpPr/>
          <p:nvPr/>
        </p:nvSpPr>
        <p:spPr bwMode="auto">
          <a:xfrm>
            <a:off x="5003800" y="4724400"/>
            <a:ext cx="2590800" cy="685800"/>
          </a:xfrm>
          <a:prstGeom prst="wedgeRoundRectCallout">
            <a:avLst>
              <a:gd name="adj1" fmla="val -99897"/>
              <a:gd name="adj2" fmla="val -150899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 smtClean="0">
                <a:latin typeface="Arial" charset="0"/>
              </a:rPr>
              <a:t>4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)</a:t>
            </a:r>
            <a:r>
              <a:rPr lang="zh-CN" altLang="en-US" sz="1800" dirty="0" smtClean="0">
                <a:latin typeface="Arial" charset="0"/>
              </a:rPr>
              <a:t>将缓冲区内容转化为</a:t>
            </a:r>
            <a:r>
              <a:rPr lang="en-US" altLang="zh-CN" sz="1800" dirty="0" smtClean="0">
                <a:latin typeface="Arial" charset="0"/>
              </a:rPr>
              <a:t>ex</a:t>
            </a:r>
            <a:r>
              <a:rPr lang="zh-CN" altLang="en-US" sz="1800" dirty="0" smtClean="0">
                <a:latin typeface="Arial" charset="0"/>
              </a:rPr>
              <a:t>程序头结构体指针</a:t>
            </a:r>
            <a:r>
              <a:rPr lang="zh-CN" altLang="en-US" sz="1800" dirty="0" smtClean="0">
                <a:solidFill>
                  <a:srgbClr val="FF0000"/>
                </a:solidFill>
                <a:latin typeface="Arial" charset="0"/>
              </a:rPr>
              <a:t>？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800" y="3429000"/>
            <a:ext cx="8991600" cy="9144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10000" y="5588000"/>
            <a:ext cx="49399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把</a:t>
            </a:r>
            <a:r>
              <a:rPr lang="en-US" altLang="zh-CN" sz="2000" dirty="0" err="1">
                <a:solidFill>
                  <a:srgbClr val="C00000"/>
                </a:solidFill>
              </a:rPr>
              <a:t>b_data</a:t>
            </a:r>
            <a:r>
              <a:rPr lang="zh-CN" altLang="en-US" sz="2000" dirty="0">
                <a:solidFill>
                  <a:srgbClr val="C00000"/>
                </a:solidFill>
              </a:rPr>
              <a:t>数据复制到</a:t>
            </a:r>
            <a:r>
              <a:rPr lang="en-US" altLang="zh-CN" sz="2000" dirty="0">
                <a:solidFill>
                  <a:srgbClr val="C00000"/>
                </a:solidFill>
              </a:rPr>
              <a:t>ex</a:t>
            </a:r>
            <a:r>
              <a:rPr lang="zh-CN" altLang="en-US" sz="2000" dirty="0">
                <a:solidFill>
                  <a:srgbClr val="C00000"/>
                </a:solidFill>
              </a:rPr>
              <a:t>中，这说明文件的</a:t>
            </a:r>
            <a:r>
              <a:rPr lang="en-US" altLang="zh-CN" sz="2000" dirty="0" err="1" smtClean="0">
                <a:solidFill>
                  <a:srgbClr val="C00000"/>
                </a:solidFill>
              </a:rPr>
              <a:t>b_data</a:t>
            </a:r>
            <a:r>
              <a:rPr lang="zh-CN" altLang="en-US" sz="2000" dirty="0" smtClean="0">
                <a:solidFill>
                  <a:srgbClr val="C00000"/>
                </a:solidFill>
              </a:rPr>
              <a:t>存储内容的结构就是</a:t>
            </a:r>
            <a:r>
              <a:rPr lang="en-US" altLang="zh-CN" sz="2000" dirty="0">
                <a:solidFill>
                  <a:srgbClr val="C00000"/>
                </a:solidFill>
              </a:rPr>
              <a:t>exec</a:t>
            </a:r>
            <a:r>
              <a:rPr lang="zh-CN" altLang="en-US" sz="2000" dirty="0">
                <a:solidFill>
                  <a:srgbClr val="C00000"/>
                </a:solidFill>
              </a:rPr>
              <a:t>结构。</a:t>
            </a:r>
          </a:p>
        </p:txBody>
      </p:sp>
    </p:spTree>
    <p:extLst>
      <p:ext uri="{BB962C8B-B14F-4D97-AF65-F5344CB8AC3E}">
        <p14:creationId xmlns:p14="http://schemas.microsoft.com/office/powerpoint/2010/main" val="189392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do_execve</a:t>
            </a:r>
            <a:r>
              <a:rPr lang="zh-CN" altLang="en-US" b="0" dirty="0"/>
              <a:t>过程分析</a:t>
            </a:r>
            <a:r>
              <a:rPr lang="en-US" altLang="zh-CN" b="0" dirty="0" smtClean="0"/>
              <a:t>—</a:t>
            </a:r>
            <a:r>
              <a:rPr lang="zh-CN" altLang="en-US" b="0" dirty="0" smtClean="0"/>
              <a:t>合法性检测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7161213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圆角矩形标注 4"/>
          <p:cNvSpPr/>
          <p:nvPr/>
        </p:nvSpPr>
        <p:spPr bwMode="auto">
          <a:xfrm>
            <a:off x="5562600" y="3581400"/>
            <a:ext cx="2590800" cy="685800"/>
          </a:xfrm>
          <a:prstGeom prst="wedgeRoundRectCallout">
            <a:avLst>
              <a:gd name="adj1" fmla="val 5005"/>
              <a:gd name="adj2" fmla="val -15645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Arial" charset="0"/>
              </a:rPr>
              <a:t>5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)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对可执行程序合法性检测</a:t>
            </a:r>
          </a:p>
        </p:txBody>
      </p:sp>
      <p:sp>
        <p:nvSpPr>
          <p:cNvPr id="6" name="矩形 5"/>
          <p:cNvSpPr/>
          <p:nvPr/>
        </p:nvSpPr>
        <p:spPr bwMode="auto">
          <a:xfrm>
            <a:off x="50800" y="2362200"/>
            <a:ext cx="8991600" cy="9144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248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do_execve</a:t>
            </a:r>
            <a:r>
              <a:rPr lang="zh-CN" altLang="en-US" b="0" dirty="0"/>
              <a:t>过程分析</a:t>
            </a:r>
            <a:r>
              <a:rPr lang="en-US" altLang="zh-CN" b="0" dirty="0" smtClean="0"/>
              <a:t>—</a:t>
            </a:r>
            <a:r>
              <a:rPr lang="zh-CN" altLang="en-US" b="0" dirty="0"/>
              <a:t>挂</a:t>
            </a:r>
            <a:r>
              <a:rPr lang="zh-CN" altLang="en-US" b="0" dirty="0" smtClean="0"/>
              <a:t>接与复位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752600"/>
            <a:ext cx="8305800" cy="4121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50800" y="2336800"/>
            <a:ext cx="8991600" cy="9144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0800" y="3813316"/>
            <a:ext cx="8991600" cy="206071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圆角矩形标注 7"/>
          <p:cNvSpPr/>
          <p:nvPr/>
        </p:nvSpPr>
        <p:spPr bwMode="auto">
          <a:xfrm>
            <a:off x="5562600" y="3581400"/>
            <a:ext cx="2590800" cy="685800"/>
          </a:xfrm>
          <a:prstGeom prst="wedgeRoundRectCallout">
            <a:avLst>
              <a:gd name="adj1" fmla="val 5005"/>
              <a:gd name="adj2" fmla="val -15645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 smtClean="0">
                <a:latin typeface="Arial" charset="0"/>
              </a:rPr>
              <a:t>6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)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将当前进程可执行文件</a:t>
            </a:r>
            <a:r>
              <a:rPr kumimoji="0" lang="en-US" altLang="zh-CN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i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节点更新</a:t>
            </a:r>
          </a:p>
        </p:txBody>
      </p:sp>
      <p:sp>
        <p:nvSpPr>
          <p:cNvPr id="9" name="圆角矩形标注 8"/>
          <p:cNvSpPr/>
          <p:nvPr/>
        </p:nvSpPr>
        <p:spPr bwMode="auto">
          <a:xfrm>
            <a:off x="5105400" y="5930900"/>
            <a:ext cx="2590800" cy="685800"/>
          </a:xfrm>
          <a:prstGeom prst="wedgeRoundRectCallout">
            <a:avLst>
              <a:gd name="adj1" fmla="val -56269"/>
              <a:gd name="adj2" fmla="val -174973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latin typeface="Arial" charset="0"/>
              </a:rPr>
              <a:t>7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)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对文件和信号进行复位（归零）</a:t>
            </a:r>
          </a:p>
        </p:txBody>
      </p:sp>
    </p:spTree>
    <p:extLst>
      <p:ext uri="{BB962C8B-B14F-4D97-AF65-F5344CB8AC3E}">
        <p14:creationId xmlns:p14="http://schemas.microsoft.com/office/powerpoint/2010/main" val="346972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do_execve</a:t>
            </a:r>
            <a:r>
              <a:rPr lang="zh-CN" altLang="en-US" b="0" dirty="0"/>
              <a:t>过程分析</a:t>
            </a:r>
            <a:r>
              <a:rPr lang="en-US" altLang="zh-CN" b="0" dirty="0" smtClean="0"/>
              <a:t>—</a:t>
            </a:r>
            <a:r>
              <a:rPr lang="zh-CN" altLang="en-US" b="0" dirty="0"/>
              <a:t>旧</a:t>
            </a:r>
            <a:r>
              <a:rPr lang="zh-CN" altLang="en-US" b="0" dirty="0" smtClean="0"/>
              <a:t>页表操作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1076325"/>
            <a:ext cx="8287257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743325"/>
            <a:ext cx="4829175" cy="311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8932" y="3705225"/>
            <a:ext cx="3362325" cy="307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圆角矩形标注 7"/>
          <p:cNvSpPr/>
          <p:nvPr/>
        </p:nvSpPr>
        <p:spPr bwMode="auto">
          <a:xfrm>
            <a:off x="6400800" y="2819399"/>
            <a:ext cx="2743200" cy="1219201"/>
          </a:xfrm>
          <a:prstGeom prst="wedgeRoundRectCallout">
            <a:avLst>
              <a:gd name="adj1" fmla="val -41428"/>
              <a:gd name="adj2" fmla="val -9533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>
                <a:solidFill>
                  <a:srgbClr val="FF0000"/>
                </a:solidFill>
                <a:latin typeface="Arial" charset="0"/>
              </a:rPr>
              <a:t>7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宋体" pitchFamily="2" charset="-122"/>
              </a:rPr>
              <a:t>)</a:t>
            </a:r>
            <a:r>
              <a:rPr lang="zh-CN" altLang="en-US" sz="1800" dirty="0" smtClean="0">
                <a:solidFill>
                  <a:srgbClr val="FF0000"/>
                </a:solidFill>
                <a:latin typeface="Arial" charset="0"/>
              </a:rPr>
              <a:t>释放代码段和数据段页表，代码和数据段未在内存。想一想</a:t>
            </a:r>
            <a:r>
              <a:rPr lang="en-US" altLang="zh-CN" sz="1800" dirty="0" err="1" smtClean="0">
                <a:solidFill>
                  <a:srgbClr val="FF0000"/>
                </a:solidFill>
                <a:latin typeface="Arial" charset="0"/>
              </a:rPr>
              <a:t>copy_process</a:t>
            </a:r>
            <a:r>
              <a:rPr lang="zh-CN" altLang="en-US" sz="1800" dirty="0" smtClean="0">
                <a:solidFill>
                  <a:srgbClr val="FF0000"/>
                </a:solidFill>
                <a:latin typeface="Arial" charset="0"/>
              </a:rPr>
              <a:t>函数？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50800" y="1076325"/>
            <a:ext cx="8991600" cy="147637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0691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534400" cy="676275"/>
          </a:xfrm>
        </p:spPr>
        <p:txBody>
          <a:bodyPr/>
          <a:lstStyle/>
          <a:p>
            <a:r>
              <a:rPr lang="en-US" altLang="zh-CN" b="0" dirty="0" err="1"/>
              <a:t>do_execve</a:t>
            </a:r>
            <a:r>
              <a:rPr lang="zh-CN" altLang="en-US" b="0" dirty="0"/>
              <a:t>过程分析</a:t>
            </a:r>
            <a:r>
              <a:rPr lang="en-US" altLang="zh-CN" b="0" dirty="0" smtClean="0"/>
              <a:t>—</a:t>
            </a:r>
            <a:r>
              <a:rPr lang="zh-CN" altLang="en-US" b="0" dirty="0" smtClean="0"/>
              <a:t>段设置（限长）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8305800" cy="5307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 bwMode="auto">
          <a:xfrm>
            <a:off x="63500" y="3009900"/>
            <a:ext cx="8991600" cy="23622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5715000" y="5181600"/>
            <a:ext cx="2055306" cy="1219201"/>
          </a:xfrm>
          <a:prstGeom prst="wedgeRoundRectCallout">
            <a:avLst>
              <a:gd name="adj1" fmla="val -78258"/>
              <a:gd name="adj2" fmla="val -109507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 smtClean="0">
                <a:latin typeface="Arial" charset="0"/>
              </a:rPr>
              <a:t>8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)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设置新代码段数据段和栈地址信息</a:t>
            </a:r>
          </a:p>
        </p:txBody>
      </p:sp>
      <p:pic>
        <p:nvPicPr>
          <p:cNvPr id="7" name="Picture 4" descr="http://img.blog.csdn.net/2015010418135679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096587"/>
            <a:ext cx="8067675" cy="239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 bwMode="auto">
          <a:xfrm>
            <a:off x="63500" y="1219200"/>
            <a:ext cx="8991600" cy="17145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66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err="1"/>
              <a:t>do_execve</a:t>
            </a:r>
            <a:r>
              <a:rPr lang="zh-CN" altLang="en-US" b="0" dirty="0"/>
              <a:t>过程分析</a:t>
            </a:r>
            <a:r>
              <a:rPr lang="en-US" altLang="zh-CN" b="0" dirty="0" smtClean="0"/>
              <a:t>—</a:t>
            </a:r>
            <a:r>
              <a:rPr lang="zh-CN" altLang="en-US" b="0" dirty="0" smtClean="0"/>
              <a:t>入口地址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1"/>
          <a:stretch/>
        </p:blipFill>
        <p:spPr bwMode="auto">
          <a:xfrm>
            <a:off x="457200" y="1524000"/>
            <a:ext cx="8229601" cy="154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46" t="10997" r="41242" b="6529"/>
          <a:stretch/>
        </p:blipFill>
        <p:spPr bwMode="auto">
          <a:xfrm>
            <a:off x="5638800" y="3307030"/>
            <a:ext cx="2311400" cy="3250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 bwMode="auto">
          <a:xfrm>
            <a:off x="5676900" y="5198933"/>
            <a:ext cx="1981200" cy="279400"/>
          </a:xfrm>
          <a:prstGeom prst="rect">
            <a:avLst/>
          </a:prstGeom>
          <a:noFill/>
          <a:ln w="9525" cap="flat" cmpd="sng" algn="ctr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kumimoji="0" lang="zh-CN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V="1">
            <a:off x="5410200" y="3700333"/>
            <a:ext cx="0" cy="2590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4991100" y="4289563"/>
            <a:ext cx="419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栈增长方向</a:t>
            </a:r>
            <a:endParaRPr lang="zh-CN" alt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5029200" y="6244679"/>
            <a:ext cx="990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低</a:t>
            </a:r>
            <a:r>
              <a:rPr lang="zh-CN" altLang="en-US" sz="1600" smtClean="0"/>
              <a:t>地址</a:t>
            </a:r>
            <a:endParaRPr lang="zh-CN" alt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4991100" y="3378656"/>
            <a:ext cx="80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高地址</a:t>
            </a:r>
            <a:endParaRPr lang="zh-CN" altLang="en-US" sz="1600" dirty="0"/>
          </a:p>
        </p:txBody>
      </p:sp>
      <p:sp>
        <p:nvSpPr>
          <p:cNvPr id="11" name="圆角矩形标注 10"/>
          <p:cNvSpPr/>
          <p:nvPr/>
        </p:nvSpPr>
        <p:spPr bwMode="auto">
          <a:xfrm>
            <a:off x="990600" y="3378656"/>
            <a:ext cx="3124200" cy="1726744"/>
          </a:xfrm>
          <a:prstGeom prst="wedgeRoundRectCallout">
            <a:avLst>
              <a:gd name="adj1" fmla="val 2496"/>
              <a:gd name="adj2" fmla="val -91986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1800" dirty="0">
                <a:latin typeface="Arial" charset="0"/>
              </a:rPr>
              <a:t>9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)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修改</a:t>
            </a:r>
            <a:r>
              <a:rPr lang="en-US" altLang="zh-CN" sz="1800" b="0" dirty="0" err="1"/>
              <a:t>do_execve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返回时的</a:t>
            </a:r>
            <a:r>
              <a:rPr kumimoji="0" lang="en-US" altLang="zh-CN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eip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和</a:t>
            </a:r>
            <a:r>
              <a:rPr kumimoji="0" lang="en-US" altLang="zh-CN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rPr>
              <a:t>esp</a:t>
            </a:r>
            <a:r>
              <a:rPr lang="zh-CN" altLang="en-US" sz="1800" dirty="0" smtClean="0">
                <a:latin typeface="Arial" charset="0"/>
              </a:rPr>
              <a:t>为新进程的入口和栈，则返回后后进入新进程。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  <a:ea typeface="宋体" pitchFamily="2" charset="-122"/>
              </a:rPr>
              <a:t>都在新进程的地址空间。但代码和数据还未拷入！！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301" y="119826"/>
            <a:ext cx="4136397" cy="2338862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8361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  <p:bldP spid="10" grpId="0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46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676275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sym typeface="Symbol" panose="05050102010706020507" pitchFamily="18" charset="2"/>
              </a:rPr>
              <a:t>回顾：如何记录页是否在内存？</a:t>
            </a:r>
            <a:endParaRPr lang="zh-CN" altLang="zh-CN" dirty="0" smtClean="0">
              <a:sym typeface="Symbol" panose="05050102010706020507" pitchFamily="18" charset="2"/>
            </a:endParaRPr>
          </a:p>
        </p:txBody>
      </p:sp>
      <p:sp>
        <p:nvSpPr>
          <p:cNvPr id="470069" name="Rectangle 53"/>
          <p:cNvSpPr>
            <a:spLocks noChangeArrowheads="1"/>
          </p:cNvSpPr>
          <p:nvPr/>
        </p:nvSpPr>
        <p:spPr bwMode="auto">
          <a:xfrm>
            <a:off x="79375" y="5791200"/>
            <a:ext cx="69310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2600"/>
              <a:t>改造页表，页表项增加“</a:t>
            </a:r>
            <a:r>
              <a:rPr lang="zh-CN" altLang="en-US" sz="2600">
                <a:solidFill>
                  <a:srgbClr val="FF0000"/>
                </a:solidFill>
              </a:rPr>
              <a:t>有效</a:t>
            </a:r>
            <a:r>
              <a:rPr lang="en-US" altLang="zh-CN" sz="2600">
                <a:solidFill>
                  <a:srgbClr val="FF0000"/>
                </a:solidFill>
              </a:rPr>
              <a:t>/</a:t>
            </a:r>
            <a:r>
              <a:rPr lang="zh-CN" altLang="en-US" sz="2600">
                <a:solidFill>
                  <a:srgbClr val="FF0000"/>
                </a:solidFill>
              </a:rPr>
              <a:t>无效位</a:t>
            </a:r>
            <a:r>
              <a:rPr lang="zh-CN" altLang="en-US" sz="2600"/>
              <a:t>”</a:t>
            </a:r>
            <a:endParaRPr lang="zh-CN" altLang="en-US" sz="2600">
              <a:solidFill>
                <a:srgbClr val="FF0000"/>
              </a:solidFill>
            </a:endParaRPr>
          </a:p>
        </p:txBody>
      </p:sp>
      <p:grpSp>
        <p:nvGrpSpPr>
          <p:cNvPr id="470096" name="Group 80"/>
          <p:cNvGrpSpPr>
            <a:grpSpLocks/>
          </p:cNvGrpSpPr>
          <p:nvPr/>
        </p:nvGrpSpPr>
        <p:grpSpPr bwMode="auto">
          <a:xfrm>
            <a:off x="473075" y="1822450"/>
            <a:ext cx="2498725" cy="3511550"/>
            <a:chOff x="3535" y="1440"/>
            <a:chExt cx="1574" cy="2212"/>
          </a:xfrm>
        </p:grpSpPr>
        <p:sp>
          <p:nvSpPr>
            <p:cNvPr id="66576" name="Rectangle 4"/>
            <p:cNvSpPr>
              <a:spLocks noChangeArrowheads="1"/>
            </p:cNvSpPr>
            <p:nvPr/>
          </p:nvSpPr>
          <p:spPr bwMode="auto">
            <a:xfrm>
              <a:off x="3535" y="1716"/>
              <a:ext cx="1183" cy="1680"/>
            </a:xfrm>
            <a:prstGeom prst="rect">
              <a:avLst/>
            </a:prstGeom>
            <a:solidFill>
              <a:schemeClr val="bg1"/>
            </a:solidFill>
            <a:ln w="57150" cmpd="thickThin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Verdana" panose="020B060403050404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66577" name="Line 5"/>
            <p:cNvSpPr>
              <a:spLocks noChangeShapeType="1"/>
            </p:cNvSpPr>
            <p:nvPr/>
          </p:nvSpPr>
          <p:spPr bwMode="auto">
            <a:xfrm flipV="1">
              <a:off x="3552" y="1920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8" name="Line 6"/>
            <p:cNvSpPr>
              <a:spLocks noChangeShapeType="1"/>
            </p:cNvSpPr>
            <p:nvPr/>
          </p:nvSpPr>
          <p:spPr bwMode="auto">
            <a:xfrm flipV="1">
              <a:off x="3552" y="2112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79" name="Line 7"/>
            <p:cNvSpPr>
              <a:spLocks noChangeShapeType="1"/>
            </p:cNvSpPr>
            <p:nvPr/>
          </p:nvSpPr>
          <p:spPr bwMode="auto">
            <a:xfrm>
              <a:off x="3552" y="2304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0" name="Line 13"/>
            <p:cNvSpPr>
              <a:spLocks noChangeShapeType="1"/>
            </p:cNvSpPr>
            <p:nvPr/>
          </p:nvSpPr>
          <p:spPr bwMode="auto">
            <a:xfrm>
              <a:off x="4416" y="1728"/>
              <a:ext cx="0" cy="16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81" name="Text Box 14"/>
            <p:cNvSpPr txBox="1">
              <a:spLocks noChangeArrowheads="1"/>
            </p:cNvSpPr>
            <p:nvPr/>
          </p:nvSpPr>
          <p:spPr bwMode="auto">
            <a:xfrm>
              <a:off x="4461" y="1676"/>
              <a:ext cx="2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rPr>
                <a:t>v</a:t>
              </a:r>
            </a:p>
          </p:txBody>
        </p:sp>
        <p:sp>
          <p:nvSpPr>
            <p:cNvPr id="66582" name="Text Box 15"/>
            <p:cNvSpPr txBox="1">
              <a:spLocks noChangeArrowheads="1"/>
            </p:cNvSpPr>
            <p:nvPr/>
          </p:nvSpPr>
          <p:spPr bwMode="auto">
            <a:xfrm>
              <a:off x="4462" y="1865"/>
              <a:ext cx="2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rPr>
                <a:t>v</a:t>
              </a:r>
            </a:p>
          </p:txBody>
        </p:sp>
        <p:sp>
          <p:nvSpPr>
            <p:cNvPr id="66583" name="Text Box 16"/>
            <p:cNvSpPr txBox="1">
              <a:spLocks noChangeArrowheads="1"/>
            </p:cNvSpPr>
            <p:nvPr/>
          </p:nvSpPr>
          <p:spPr bwMode="auto">
            <a:xfrm>
              <a:off x="4461" y="2054"/>
              <a:ext cx="2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rPr>
                <a:t>v</a:t>
              </a:r>
            </a:p>
          </p:txBody>
        </p:sp>
        <p:sp>
          <p:nvSpPr>
            <p:cNvPr id="66584" name="Text Box 17"/>
            <p:cNvSpPr txBox="1">
              <a:spLocks noChangeArrowheads="1"/>
            </p:cNvSpPr>
            <p:nvPr/>
          </p:nvSpPr>
          <p:spPr bwMode="auto">
            <a:xfrm>
              <a:off x="4462" y="2261"/>
              <a:ext cx="2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rPr>
                <a:t>v</a:t>
              </a:r>
            </a:p>
          </p:txBody>
        </p:sp>
        <p:sp>
          <p:nvSpPr>
            <p:cNvPr id="66585" name="Text Box 18"/>
            <p:cNvSpPr txBox="1">
              <a:spLocks noChangeArrowheads="1"/>
            </p:cNvSpPr>
            <p:nvPr/>
          </p:nvSpPr>
          <p:spPr bwMode="auto">
            <a:xfrm>
              <a:off x="4482" y="2462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rPr>
                <a:t>i</a:t>
              </a:r>
            </a:p>
          </p:txBody>
        </p:sp>
        <p:sp>
          <p:nvSpPr>
            <p:cNvPr id="66586" name="Text Box 19"/>
            <p:cNvSpPr txBox="1">
              <a:spLocks noChangeArrowheads="1"/>
            </p:cNvSpPr>
            <p:nvPr/>
          </p:nvSpPr>
          <p:spPr bwMode="auto">
            <a:xfrm>
              <a:off x="4482" y="2990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rPr>
                <a:t>i</a:t>
              </a:r>
            </a:p>
          </p:txBody>
        </p:sp>
        <p:sp>
          <p:nvSpPr>
            <p:cNvPr id="66587" name="Text Box 20"/>
            <p:cNvSpPr txBox="1">
              <a:spLocks noChangeArrowheads="1"/>
            </p:cNvSpPr>
            <p:nvPr/>
          </p:nvSpPr>
          <p:spPr bwMode="auto">
            <a:xfrm>
              <a:off x="4482" y="3182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Helvetica" panose="020B0604020202020204" pitchFamily="34" charset="0"/>
                  <a:ea typeface="ＭＳ Ｐゴシック" panose="020B0600070205080204" pitchFamily="34" charset="-128"/>
                </a:rPr>
                <a:t>i</a:t>
              </a:r>
            </a:p>
          </p:txBody>
        </p:sp>
        <p:sp>
          <p:nvSpPr>
            <p:cNvPr id="66588" name="Text Box 21"/>
            <p:cNvSpPr txBox="1">
              <a:spLocks noChangeArrowheads="1"/>
            </p:cNvSpPr>
            <p:nvPr/>
          </p:nvSpPr>
          <p:spPr bwMode="auto">
            <a:xfrm>
              <a:off x="3810" y="2702"/>
              <a:ext cx="3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Helvetica" panose="020B0604020202020204" pitchFamily="34" charset="0"/>
                  <a:ea typeface="ＭＳ Ｐゴシック" panose="020B0600070205080204" pitchFamily="34" charset="-128"/>
                </a:rPr>
                <a:t>….</a:t>
              </a:r>
            </a:p>
          </p:txBody>
        </p:sp>
        <p:sp>
          <p:nvSpPr>
            <p:cNvPr id="66589" name="Text Box 22"/>
            <p:cNvSpPr txBox="1">
              <a:spLocks noChangeArrowheads="1"/>
            </p:cNvSpPr>
            <p:nvPr/>
          </p:nvSpPr>
          <p:spPr bwMode="auto">
            <a:xfrm>
              <a:off x="3648" y="1440"/>
              <a:ext cx="4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Helvetica" panose="020B0604020202020204" pitchFamily="34" charset="0"/>
                </a:rPr>
                <a:t>帧号</a:t>
              </a:r>
            </a:p>
          </p:txBody>
        </p:sp>
        <p:sp>
          <p:nvSpPr>
            <p:cNvPr id="66590" name="Text Box 23"/>
            <p:cNvSpPr txBox="1">
              <a:spLocks noChangeArrowheads="1"/>
            </p:cNvSpPr>
            <p:nvPr/>
          </p:nvSpPr>
          <p:spPr bwMode="auto">
            <a:xfrm>
              <a:off x="4144" y="1456"/>
              <a:ext cx="96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000099"/>
                  </a:solidFill>
                  <a:latin typeface="Helvetica" panose="020B0604020202020204" pitchFamily="34" charset="0"/>
                </a:rPr>
                <a:t>有效</a:t>
              </a:r>
              <a:r>
                <a:rPr lang="en-US" altLang="zh-CN" sz="2000">
                  <a:solidFill>
                    <a:srgbClr val="000099"/>
                  </a:solidFill>
                  <a:latin typeface="Helvetica" panose="020B0604020202020204" pitchFamily="34" charset="0"/>
                </a:rPr>
                <a:t>/</a:t>
              </a:r>
              <a:r>
                <a:rPr lang="zh-CN" altLang="en-US" sz="2000">
                  <a:solidFill>
                    <a:srgbClr val="000099"/>
                  </a:solidFill>
                  <a:latin typeface="Helvetica" panose="020B0604020202020204" pitchFamily="34" charset="0"/>
                </a:rPr>
                <a:t>无效位</a:t>
              </a:r>
            </a:p>
          </p:txBody>
        </p:sp>
        <p:sp>
          <p:nvSpPr>
            <p:cNvPr id="66591" name="Text Box 24"/>
            <p:cNvSpPr txBox="1">
              <a:spLocks noChangeArrowheads="1"/>
            </p:cNvSpPr>
            <p:nvPr/>
          </p:nvSpPr>
          <p:spPr bwMode="auto">
            <a:xfrm>
              <a:off x="3629" y="3402"/>
              <a:ext cx="10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Helvetica" panose="020B0604020202020204" pitchFamily="34" charset="0"/>
                </a:rPr>
                <a:t>改造后的页表</a:t>
              </a:r>
            </a:p>
          </p:txBody>
        </p:sp>
        <p:sp>
          <p:nvSpPr>
            <p:cNvPr id="66592" name="Line 5"/>
            <p:cNvSpPr>
              <a:spLocks noChangeShapeType="1"/>
            </p:cNvSpPr>
            <p:nvPr/>
          </p:nvSpPr>
          <p:spPr bwMode="auto">
            <a:xfrm flipV="1">
              <a:off x="3552" y="2496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93" name="Line 6"/>
            <p:cNvSpPr>
              <a:spLocks noChangeShapeType="1"/>
            </p:cNvSpPr>
            <p:nvPr/>
          </p:nvSpPr>
          <p:spPr bwMode="auto">
            <a:xfrm flipV="1">
              <a:off x="3552" y="2688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94" name="Line 7"/>
            <p:cNvSpPr>
              <a:spLocks noChangeShapeType="1"/>
            </p:cNvSpPr>
            <p:nvPr/>
          </p:nvSpPr>
          <p:spPr bwMode="auto">
            <a:xfrm>
              <a:off x="3552" y="3024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595" name="Line 7"/>
            <p:cNvSpPr>
              <a:spLocks noChangeShapeType="1"/>
            </p:cNvSpPr>
            <p:nvPr/>
          </p:nvSpPr>
          <p:spPr bwMode="auto">
            <a:xfrm>
              <a:off x="3552" y="3216"/>
              <a:ext cx="11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0109" name="Group 93"/>
          <p:cNvGrpSpPr>
            <a:grpSpLocks/>
          </p:cNvGrpSpPr>
          <p:nvPr/>
        </p:nvGrpSpPr>
        <p:grpSpPr bwMode="auto">
          <a:xfrm>
            <a:off x="3657600" y="1752600"/>
            <a:ext cx="5356225" cy="4495800"/>
            <a:chOff x="2304" y="1104"/>
            <a:chExt cx="3374" cy="2832"/>
          </a:xfrm>
        </p:grpSpPr>
        <p:pic>
          <p:nvPicPr>
            <p:cNvPr id="66569" name="Picture 79" descr="9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872"/>
            <a:stretch>
              <a:fillRect/>
            </a:stretch>
          </p:blipFill>
          <p:spPr bwMode="auto">
            <a:xfrm>
              <a:off x="2304" y="1104"/>
              <a:ext cx="3374" cy="2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570" name="Rectangle 81"/>
            <p:cNvSpPr>
              <a:spLocks noChangeArrowheads="1"/>
            </p:cNvSpPr>
            <p:nvPr/>
          </p:nvSpPr>
          <p:spPr bwMode="auto">
            <a:xfrm>
              <a:off x="2352" y="2976"/>
              <a:ext cx="480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/>
                <a:t>逻辑内存</a:t>
              </a:r>
            </a:p>
          </p:txBody>
        </p:sp>
        <p:sp>
          <p:nvSpPr>
            <p:cNvPr id="66571" name="Rectangle 82"/>
            <p:cNvSpPr>
              <a:spLocks noChangeArrowheads="1"/>
            </p:cNvSpPr>
            <p:nvPr/>
          </p:nvSpPr>
          <p:spPr bwMode="auto">
            <a:xfrm>
              <a:off x="3184" y="2920"/>
              <a:ext cx="480" cy="144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/>
                <a:t>页表</a:t>
              </a:r>
            </a:p>
          </p:txBody>
        </p:sp>
        <p:sp>
          <p:nvSpPr>
            <p:cNvPr id="66572" name="Rectangle 83"/>
            <p:cNvSpPr>
              <a:spLocks noChangeArrowheads="1"/>
            </p:cNvSpPr>
            <p:nvPr/>
          </p:nvSpPr>
          <p:spPr bwMode="auto">
            <a:xfrm>
              <a:off x="3936" y="3696"/>
              <a:ext cx="768" cy="2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/>
                <a:t>物理内存</a:t>
              </a:r>
            </a:p>
          </p:txBody>
        </p:sp>
        <p:sp>
          <p:nvSpPr>
            <p:cNvPr id="66573" name="Rectangle 84"/>
            <p:cNvSpPr>
              <a:spLocks noChangeArrowheads="1"/>
            </p:cNvSpPr>
            <p:nvPr/>
          </p:nvSpPr>
          <p:spPr bwMode="auto">
            <a:xfrm>
              <a:off x="4848" y="3392"/>
              <a:ext cx="76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/>
                <a:t>辅存（磁盘）</a:t>
              </a:r>
            </a:p>
          </p:txBody>
        </p:sp>
        <p:sp>
          <p:nvSpPr>
            <p:cNvPr id="66574" name="Rectangle 85"/>
            <p:cNvSpPr>
              <a:spLocks noChangeArrowheads="1"/>
            </p:cNvSpPr>
            <p:nvPr/>
          </p:nvSpPr>
          <p:spPr bwMode="auto">
            <a:xfrm>
              <a:off x="2976" y="1728"/>
              <a:ext cx="288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/>
                <a:t>帧号</a:t>
              </a:r>
            </a:p>
          </p:txBody>
        </p:sp>
        <p:sp>
          <p:nvSpPr>
            <p:cNvPr id="66575" name="Rectangle 86"/>
            <p:cNvSpPr>
              <a:spLocks noChangeArrowheads="1"/>
            </p:cNvSpPr>
            <p:nvPr/>
          </p:nvSpPr>
          <p:spPr bwMode="auto">
            <a:xfrm>
              <a:off x="3264" y="1488"/>
              <a:ext cx="576" cy="96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/>
                <a:t>有效</a:t>
              </a:r>
              <a:r>
                <a:rPr lang="en-US" altLang="zh-CN" sz="1200"/>
                <a:t>-</a:t>
              </a:r>
              <a:r>
                <a:rPr lang="zh-CN" altLang="en-US" sz="1200"/>
                <a:t>无效位</a:t>
              </a:r>
            </a:p>
          </p:txBody>
        </p:sp>
      </p:grpSp>
      <p:grpSp>
        <p:nvGrpSpPr>
          <p:cNvPr id="470108" name="Group 92"/>
          <p:cNvGrpSpPr>
            <a:grpSpLocks/>
          </p:cNvGrpSpPr>
          <p:nvPr/>
        </p:nvGrpSpPr>
        <p:grpSpPr bwMode="auto">
          <a:xfrm>
            <a:off x="4419600" y="1219200"/>
            <a:ext cx="4038600" cy="1828800"/>
            <a:chOff x="2784" y="768"/>
            <a:chExt cx="2544" cy="1152"/>
          </a:xfrm>
        </p:grpSpPr>
        <p:sp>
          <p:nvSpPr>
            <p:cNvPr id="66567" name="Rectangle 88"/>
            <p:cNvSpPr>
              <a:spLocks noChangeArrowheads="1"/>
            </p:cNvSpPr>
            <p:nvPr/>
          </p:nvSpPr>
          <p:spPr bwMode="auto">
            <a:xfrm>
              <a:off x="2784" y="768"/>
              <a:ext cx="2544" cy="288"/>
            </a:xfrm>
            <a:prstGeom prst="rect">
              <a:avLst/>
            </a:prstGeom>
            <a:noFill/>
            <a:ln w="19050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>
              <a:lvl1pPr marL="342900" indent="-34290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buFont typeface="Wingdings" panose="05000000000000000000" pitchFamily="2" charset="2"/>
                <a:buNone/>
              </a:pPr>
              <a:r>
                <a:rPr lang="zh-CN" altLang="en-US" sz="2400">
                  <a:solidFill>
                    <a:srgbClr val="CC0000"/>
                  </a:solidFill>
                  <a:ea typeface="楷体_GB2312"/>
                  <a:cs typeface="楷体_GB2312"/>
                </a:rPr>
                <a:t>某些页不在内存中时的页表</a:t>
              </a:r>
            </a:p>
          </p:txBody>
        </p:sp>
        <p:sp>
          <p:nvSpPr>
            <p:cNvPr id="66568" name="Line 91"/>
            <p:cNvSpPr>
              <a:spLocks noChangeShapeType="1"/>
            </p:cNvSpPr>
            <p:nvPr/>
          </p:nvSpPr>
          <p:spPr bwMode="auto">
            <a:xfrm flipH="1">
              <a:off x="3600" y="1056"/>
              <a:ext cx="288" cy="86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115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7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70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7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006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010" name="Group 2"/>
          <p:cNvGrpSpPr>
            <a:grpSpLocks/>
          </p:cNvGrpSpPr>
          <p:nvPr/>
        </p:nvGrpSpPr>
        <p:grpSpPr bwMode="auto">
          <a:xfrm>
            <a:off x="3016250" y="1981200"/>
            <a:ext cx="5594350" cy="4024313"/>
            <a:chOff x="1900" y="1248"/>
            <a:chExt cx="3524" cy="2535"/>
          </a:xfrm>
        </p:grpSpPr>
        <p:sp>
          <p:nvSpPr>
            <p:cNvPr id="67615" name="Rectangle 3"/>
            <p:cNvSpPr>
              <a:spLocks noChangeArrowheads="1"/>
            </p:cNvSpPr>
            <p:nvPr/>
          </p:nvSpPr>
          <p:spPr bwMode="auto">
            <a:xfrm>
              <a:off x="1920" y="2064"/>
              <a:ext cx="480" cy="24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16" name="Oval 4"/>
            <p:cNvSpPr>
              <a:spLocks noChangeArrowheads="1"/>
            </p:cNvSpPr>
            <p:nvPr/>
          </p:nvSpPr>
          <p:spPr bwMode="auto">
            <a:xfrm>
              <a:off x="4128" y="1613"/>
              <a:ext cx="1296" cy="27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17" name="Oval 5"/>
            <p:cNvSpPr>
              <a:spLocks noChangeArrowheads="1"/>
            </p:cNvSpPr>
            <p:nvPr/>
          </p:nvSpPr>
          <p:spPr bwMode="auto">
            <a:xfrm>
              <a:off x="4128" y="2716"/>
              <a:ext cx="1296" cy="276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18" name="Line 6"/>
            <p:cNvSpPr>
              <a:spLocks noChangeShapeType="1"/>
            </p:cNvSpPr>
            <p:nvPr/>
          </p:nvSpPr>
          <p:spPr bwMode="auto">
            <a:xfrm flipH="1">
              <a:off x="4128" y="1771"/>
              <a:ext cx="0" cy="110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19" name="Line 7"/>
            <p:cNvSpPr>
              <a:spLocks noChangeShapeType="1"/>
            </p:cNvSpPr>
            <p:nvPr/>
          </p:nvSpPr>
          <p:spPr bwMode="auto">
            <a:xfrm flipH="1">
              <a:off x="5424" y="1728"/>
              <a:ext cx="0" cy="110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20" name="Rectangle 8"/>
            <p:cNvSpPr>
              <a:spLocks noChangeArrowheads="1"/>
            </p:cNvSpPr>
            <p:nvPr/>
          </p:nvSpPr>
          <p:spPr bwMode="auto">
            <a:xfrm>
              <a:off x="4272" y="2165"/>
              <a:ext cx="192" cy="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21" name="Rectangle 9"/>
            <p:cNvSpPr>
              <a:spLocks noChangeArrowheads="1"/>
            </p:cNvSpPr>
            <p:nvPr/>
          </p:nvSpPr>
          <p:spPr bwMode="auto">
            <a:xfrm>
              <a:off x="4368" y="2244"/>
              <a:ext cx="192" cy="7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22" name="Rectangle 10"/>
            <p:cNvSpPr>
              <a:spLocks noChangeArrowheads="1"/>
            </p:cNvSpPr>
            <p:nvPr/>
          </p:nvSpPr>
          <p:spPr bwMode="auto">
            <a:xfrm>
              <a:off x="4464" y="2322"/>
              <a:ext cx="192" cy="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23" name="Rectangle 11"/>
            <p:cNvSpPr>
              <a:spLocks noChangeArrowheads="1"/>
            </p:cNvSpPr>
            <p:nvPr/>
          </p:nvSpPr>
          <p:spPr bwMode="auto">
            <a:xfrm>
              <a:off x="4656" y="1968"/>
              <a:ext cx="192" cy="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24" name="Rectangle 12"/>
            <p:cNvSpPr>
              <a:spLocks noChangeArrowheads="1"/>
            </p:cNvSpPr>
            <p:nvPr/>
          </p:nvSpPr>
          <p:spPr bwMode="auto">
            <a:xfrm>
              <a:off x="4656" y="2480"/>
              <a:ext cx="192" cy="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25" name="Rectangle 13"/>
            <p:cNvSpPr>
              <a:spLocks noChangeArrowheads="1"/>
            </p:cNvSpPr>
            <p:nvPr/>
          </p:nvSpPr>
          <p:spPr bwMode="auto">
            <a:xfrm>
              <a:off x="4752" y="2047"/>
              <a:ext cx="192" cy="78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26" name="Rectangle 14"/>
            <p:cNvSpPr>
              <a:spLocks noChangeArrowheads="1"/>
            </p:cNvSpPr>
            <p:nvPr/>
          </p:nvSpPr>
          <p:spPr bwMode="auto">
            <a:xfrm>
              <a:off x="4848" y="2125"/>
              <a:ext cx="192" cy="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27" name="Rectangle 15"/>
            <p:cNvSpPr>
              <a:spLocks noChangeArrowheads="1"/>
            </p:cNvSpPr>
            <p:nvPr/>
          </p:nvSpPr>
          <p:spPr bwMode="auto">
            <a:xfrm>
              <a:off x="4944" y="2204"/>
              <a:ext cx="192" cy="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28" name="Rectangle 16"/>
            <p:cNvSpPr>
              <a:spLocks noChangeArrowheads="1"/>
            </p:cNvSpPr>
            <p:nvPr/>
          </p:nvSpPr>
          <p:spPr bwMode="auto">
            <a:xfrm>
              <a:off x="5040" y="2283"/>
              <a:ext cx="192" cy="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29" name="Rectangle 17"/>
            <p:cNvSpPr>
              <a:spLocks noChangeArrowheads="1"/>
            </p:cNvSpPr>
            <p:nvPr/>
          </p:nvSpPr>
          <p:spPr bwMode="auto">
            <a:xfrm>
              <a:off x="5136" y="2362"/>
              <a:ext cx="192" cy="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30" name="Rectangle 18"/>
            <p:cNvSpPr>
              <a:spLocks noChangeArrowheads="1"/>
            </p:cNvSpPr>
            <p:nvPr/>
          </p:nvSpPr>
          <p:spPr bwMode="auto">
            <a:xfrm>
              <a:off x="4560" y="2400"/>
              <a:ext cx="192" cy="7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31" name="Text Box 19"/>
            <p:cNvSpPr txBox="1">
              <a:spLocks noChangeArrowheads="1"/>
            </p:cNvSpPr>
            <p:nvPr/>
          </p:nvSpPr>
          <p:spPr bwMode="auto">
            <a:xfrm>
              <a:off x="4512" y="1248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Comic Sans MS" panose="030F0702030302020204" pitchFamily="66" charset="0"/>
                </a:rPr>
                <a:t>磁盘</a:t>
              </a:r>
            </a:p>
          </p:txBody>
        </p:sp>
        <p:sp>
          <p:nvSpPr>
            <p:cNvPr id="67632" name="Text Box 20"/>
            <p:cNvSpPr txBox="1">
              <a:spLocks noChangeArrowheads="1"/>
            </p:cNvSpPr>
            <p:nvPr/>
          </p:nvSpPr>
          <p:spPr bwMode="auto">
            <a:xfrm>
              <a:off x="1900" y="1488"/>
              <a:ext cx="5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Comic Sans MS" panose="030F0702030302020204" pitchFamily="66" charset="0"/>
                </a:rPr>
                <a:t>页表</a:t>
              </a:r>
            </a:p>
          </p:txBody>
        </p:sp>
        <p:sp>
          <p:nvSpPr>
            <p:cNvPr id="67633" name="Rectangle 21"/>
            <p:cNvSpPr>
              <a:spLocks noChangeArrowheads="1"/>
            </p:cNvSpPr>
            <p:nvPr/>
          </p:nvSpPr>
          <p:spPr bwMode="auto">
            <a:xfrm>
              <a:off x="1920" y="1815"/>
              <a:ext cx="480" cy="25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34" name="Rectangle 22"/>
            <p:cNvSpPr>
              <a:spLocks noChangeArrowheads="1"/>
            </p:cNvSpPr>
            <p:nvPr/>
          </p:nvSpPr>
          <p:spPr bwMode="auto">
            <a:xfrm>
              <a:off x="1920" y="2553"/>
              <a:ext cx="480" cy="24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35" name="Rectangle 23"/>
            <p:cNvSpPr>
              <a:spLocks noChangeArrowheads="1"/>
            </p:cNvSpPr>
            <p:nvPr/>
          </p:nvSpPr>
          <p:spPr bwMode="auto">
            <a:xfrm>
              <a:off x="1920" y="2304"/>
              <a:ext cx="480" cy="254"/>
            </a:xfrm>
            <a:prstGeom prst="rect">
              <a:avLst/>
            </a:prstGeom>
            <a:solidFill>
              <a:srgbClr val="CCFF6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36" name="Rectangle 24"/>
            <p:cNvSpPr>
              <a:spLocks noChangeArrowheads="1"/>
            </p:cNvSpPr>
            <p:nvPr/>
          </p:nvSpPr>
          <p:spPr bwMode="auto">
            <a:xfrm>
              <a:off x="1920" y="3045"/>
              <a:ext cx="480" cy="24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37" name="Rectangle 25"/>
            <p:cNvSpPr>
              <a:spLocks noChangeArrowheads="1"/>
            </p:cNvSpPr>
            <p:nvPr/>
          </p:nvSpPr>
          <p:spPr bwMode="auto">
            <a:xfrm>
              <a:off x="1920" y="2796"/>
              <a:ext cx="480" cy="254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38" name="Rectangle 26"/>
            <p:cNvSpPr>
              <a:spLocks noChangeArrowheads="1"/>
            </p:cNvSpPr>
            <p:nvPr/>
          </p:nvSpPr>
          <p:spPr bwMode="auto">
            <a:xfrm>
              <a:off x="1920" y="3543"/>
              <a:ext cx="480" cy="24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39" name="Rectangle 27"/>
            <p:cNvSpPr>
              <a:spLocks noChangeArrowheads="1"/>
            </p:cNvSpPr>
            <p:nvPr/>
          </p:nvSpPr>
          <p:spPr bwMode="auto">
            <a:xfrm>
              <a:off x="1920" y="3285"/>
              <a:ext cx="480" cy="25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40" name="Line 28"/>
            <p:cNvSpPr>
              <a:spLocks noChangeShapeType="1"/>
            </p:cNvSpPr>
            <p:nvPr/>
          </p:nvSpPr>
          <p:spPr bwMode="auto">
            <a:xfrm flipV="1">
              <a:off x="2256" y="2544"/>
              <a:ext cx="748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41" name="Line 29"/>
            <p:cNvSpPr>
              <a:spLocks noChangeShapeType="1"/>
            </p:cNvSpPr>
            <p:nvPr/>
          </p:nvSpPr>
          <p:spPr bwMode="auto">
            <a:xfrm>
              <a:off x="2256" y="2448"/>
              <a:ext cx="748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642" name="Text Box 30"/>
            <p:cNvSpPr txBox="1">
              <a:spLocks noChangeArrowheads="1"/>
            </p:cNvSpPr>
            <p:nvPr/>
          </p:nvSpPr>
          <p:spPr bwMode="auto">
            <a:xfrm>
              <a:off x="2764" y="3440"/>
              <a:ext cx="8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Comic Sans MS" panose="030F0702030302020204" pitchFamily="66" charset="0"/>
                </a:rPr>
                <a:t>物理内存</a:t>
              </a:r>
            </a:p>
          </p:txBody>
        </p:sp>
        <p:sp>
          <p:nvSpPr>
            <p:cNvPr id="67643" name="Rectangle 31"/>
            <p:cNvSpPr>
              <a:spLocks noChangeArrowheads="1"/>
            </p:cNvSpPr>
            <p:nvPr/>
          </p:nvSpPr>
          <p:spPr bwMode="auto">
            <a:xfrm>
              <a:off x="3004" y="3168"/>
              <a:ext cx="480" cy="24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44" name="Rectangle 32"/>
            <p:cNvSpPr>
              <a:spLocks noChangeArrowheads="1"/>
            </p:cNvSpPr>
            <p:nvPr/>
          </p:nvSpPr>
          <p:spPr bwMode="auto">
            <a:xfrm>
              <a:off x="3004" y="2919"/>
              <a:ext cx="480" cy="254"/>
            </a:xfrm>
            <a:prstGeom prst="rect">
              <a:avLst/>
            </a:prstGeom>
            <a:solidFill>
              <a:srgbClr val="CCFF66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45" name="Rectangle 33"/>
            <p:cNvSpPr>
              <a:spLocks noChangeArrowheads="1"/>
            </p:cNvSpPr>
            <p:nvPr/>
          </p:nvSpPr>
          <p:spPr bwMode="auto">
            <a:xfrm>
              <a:off x="3004" y="2679"/>
              <a:ext cx="480" cy="24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46" name="Rectangle 34"/>
            <p:cNvSpPr>
              <a:spLocks noChangeArrowheads="1"/>
            </p:cNvSpPr>
            <p:nvPr/>
          </p:nvSpPr>
          <p:spPr bwMode="auto">
            <a:xfrm>
              <a:off x="3004" y="2430"/>
              <a:ext cx="480" cy="254"/>
            </a:xfrm>
            <a:prstGeom prst="rect">
              <a:avLst/>
            </a:prstGeom>
            <a:solidFill>
              <a:srgbClr val="FF66CC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</p:grpSp>
      <p:sp>
        <p:nvSpPr>
          <p:cNvPr id="67587" name="Rectangle 35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676275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sym typeface="Symbol" panose="05050102010706020507" pitchFamily="18" charset="2"/>
              </a:rPr>
              <a:t>请求调页过程</a:t>
            </a:r>
            <a:endParaRPr lang="zh-CN" altLang="zh-CN" dirty="0" smtClean="0">
              <a:sym typeface="Symbol" panose="05050102010706020507" pitchFamily="18" charset="2"/>
            </a:endParaRPr>
          </a:p>
        </p:txBody>
      </p:sp>
      <p:grpSp>
        <p:nvGrpSpPr>
          <p:cNvPr id="67588" name="Group 36"/>
          <p:cNvGrpSpPr>
            <a:grpSpLocks/>
          </p:cNvGrpSpPr>
          <p:nvPr/>
        </p:nvGrpSpPr>
        <p:grpSpPr bwMode="auto">
          <a:xfrm>
            <a:off x="7620000" y="66675"/>
            <a:ext cx="1470025" cy="1152525"/>
            <a:chOff x="3756" y="1018"/>
            <a:chExt cx="1070" cy="870"/>
          </a:xfrm>
        </p:grpSpPr>
        <p:sp>
          <p:nvSpPr>
            <p:cNvPr id="67611" name="Rectangle 37"/>
            <p:cNvSpPr>
              <a:spLocks noChangeArrowheads="1"/>
            </p:cNvSpPr>
            <p:nvPr/>
          </p:nvSpPr>
          <p:spPr bwMode="auto">
            <a:xfrm>
              <a:off x="4577" y="1192"/>
              <a:ext cx="249" cy="398"/>
            </a:xfrm>
            <a:prstGeom prst="rect">
              <a:avLst/>
            </a:prstGeom>
            <a:solidFill>
              <a:srgbClr val="CCFF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12" name="Rectangle 38"/>
            <p:cNvSpPr>
              <a:spLocks noChangeArrowheads="1"/>
            </p:cNvSpPr>
            <p:nvPr/>
          </p:nvSpPr>
          <p:spPr bwMode="auto">
            <a:xfrm>
              <a:off x="3756" y="1018"/>
              <a:ext cx="448" cy="870"/>
            </a:xfrm>
            <a:prstGeom prst="rect">
              <a:avLst/>
            </a:prstGeom>
            <a:solidFill>
              <a:srgbClr val="FF0066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13" name="Line 39"/>
            <p:cNvSpPr>
              <a:spLocks noChangeShapeType="1"/>
            </p:cNvSpPr>
            <p:nvPr/>
          </p:nvSpPr>
          <p:spPr bwMode="auto">
            <a:xfrm>
              <a:off x="4204" y="1018"/>
              <a:ext cx="373" cy="17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4" name="Line 40"/>
            <p:cNvSpPr>
              <a:spLocks noChangeShapeType="1"/>
            </p:cNvSpPr>
            <p:nvPr/>
          </p:nvSpPr>
          <p:spPr bwMode="auto">
            <a:xfrm flipV="1">
              <a:off x="4204" y="1590"/>
              <a:ext cx="373" cy="29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7049" name="Rectangle 41"/>
          <p:cNvSpPr>
            <a:spLocks noChangeArrowheads="1"/>
          </p:cNvSpPr>
          <p:nvPr/>
        </p:nvSpPr>
        <p:spPr bwMode="auto">
          <a:xfrm>
            <a:off x="765175" y="1219200"/>
            <a:ext cx="7921625" cy="865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当访问没有映射的线性地址时</a:t>
            </a:r>
            <a:r>
              <a:rPr lang="en-US" altLang="zh-CN"/>
              <a:t>…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27050" name="Text Box 42"/>
          <p:cNvSpPr txBox="1">
            <a:spLocks noChangeArrowheads="1"/>
          </p:cNvSpPr>
          <p:nvPr/>
        </p:nvSpPr>
        <p:spPr bwMode="auto">
          <a:xfrm>
            <a:off x="457200" y="3248025"/>
            <a:ext cx="1676400" cy="466725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</a:rPr>
              <a:t>load [addr]</a:t>
            </a:r>
          </a:p>
        </p:txBody>
      </p:sp>
      <p:sp>
        <p:nvSpPr>
          <p:cNvPr id="427051" name="Line 43"/>
          <p:cNvSpPr>
            <a:spLocks noChangeShapeType="1"/>
          </p:cNvSpPr>
          <p:nvPr/>
        </p:nvSpPr>
        <p:spPr bwMode="auto">
          <a:xfrm>
            <a:off x="2133600" y="3476625"/>
            <a:ext cx="1066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27052" name="Group 44"/>
          <p:cNvGrpSpPr>
            <a:grpSpLocks/>
          </p:cNvGrpSpPr>
          <p:nvPr/>
        </p:nvGrpSpPr>
        <p:grpSpPr bwMode="auto">
          <a:xfrm>
            <a:off x="3429000" y="3213100"/>
            <a:ext cx="381000" cy="457200"/>
            <a:chOff x="2160" y="2016"/>
            <a:chExt cx="240" cy="297"/>
          </a:xfrm>
        </p:grpSpPr>
        <p:sp>
          <p:nvSpPr>
            <p:cNvPr id="67609" name="Rectangle 45"/>
            <p:cNvSpPr>
              <a:spLocks noChangeArrowheads="1"/>
            </p:cNvSpPr>
            <p:nvPr/>
          </p:nvSpPr>
          <p:spPr bwMode="auto">
            <a:xfrm>
              <a:off x="2160" y="2064"/>
              <a:ext cx="240" cy="240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67610" name="Text Box 46"/>
            <p:cNvSpPr txBox="1">
              <a:spLocks noChangeArrowheads="1"/>
            </p:cNvSpPr>
            <p:nvPr/>
          </p:nvSpPr>
          <p:spPr bwMode="auto">
            <a:xfrm>
              <a:off x="2208" y="2016"/>
              <a:ext cx="192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anose="05000000000000000000" pitchFamily="2" charset="2"/>
                <a:buChar char="l"/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anose="02020603050405020304" pitchFamily="18" charset="0"/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anose="02020603050405020304" pitchFamily="18" charset="0"/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</a:rPr>
                <a:t>i</a:t>
              </a:r>
            </a:p>
          </p:txBody>
        </p:sp>
      </p:grpSp>
      <p:sp>
        <p:nvSpPr>
          <p:cNvPr id="427055" name="Text Box 47"/>
          <p:cNvSpPr txBox="1">
            <a:spLocks noChangeArrowheads="1"/>
          </p:cNvSpPr>
          <p:nvPr/>
        </p:nvSpPr>
        <p:spPr bwMode="auto">
          <a:xfrm>
            <a:off x="4191000" y="2133600"/>
            <a:ext cx="1600200" cy="831850"/>
          </a:xfrm>
          <a:prstGeom prst="rect">
            <a:avLst/>
          </a:prstGeom>
          <a:noFill/>
          <a:ln w="9525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0000"/>
                </a:solidFill>
              </a:rPr>
              <a:t>页错误处理程序</a:t>
            </a:r>
          </a:p>
        </p:txBody>
      </p:sp>
      <p:sp>
        <p:nvSpPr>
          <p:cNvPr id="427056" name="Freeform 48"/>
          <p:cNvSpPr>
            <a:spLocks/>
          </p:cNvSpPr>
          <p:nvPr/>
        </p:nvSpPr>
        <p:spPr bwMode="auto">
          <a:xfrm>
            <a:off x="3733800" y="2971800"/>
            <a:ext cx="609600" cy="457200"/>
          </a:xfrm>
          <a:custGeom>
            <a:avLst/>
            <a:gdLst>
              <a:gd name="T0" fmla="*/ 0 w 384"/>
              <a:gd name="T1" fmla="*/ 2147483646 h 288"/>
              <a:gd name="T2" fmla="*/ 2147483646 w 384"/>
              <a:gd name="T3" fmla="*/ 2147483646 h 288"/>
              <a:gd name="T4" fmla="*/ 2147483646 w 384"/>
              <a:gd name="T5" fmla="*/ 0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4" h="288">
                <a:moveTo>
                  <a:pt x="0" y="288"/>
                </a:moveTo>
                <a:cubicBezTo>
                  <a:pt x="88" y="264"/>
                  <a:pt x="176" y="240"/>
                  <a:pt x="240" y="192"/>
                </a:cubicBezTo>
                <a:cubicBezTo>
                  <a:pt x="304" y="144"/>
                  <a:pt x="344" y="72"/>
                  <a:pt x="384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7057" name="Freeform 49"/>
          <p:cNvSpPr>
            <a:spLocks/>
          </p:cNvSpPr>
          <p:nvPr/>
        </p:nvSpPr>
        <p:spPr bwMode="auto">
          <a:xfrm>
            <a:off x="5638800" y="2743200"/>
            <a:ext cx="2057400" cy="685800"/>
          </a:xfrm>
          <a:custGeom>
            <a:avLst/>
            <a:gdLst>
              <a:gd name="T0" fmla="*/ 0 w 816"/>
              <a:gd name="T1" fmla="*/ 0 h 576"/>
              <a:gd name="T2" fmla="*/ 2147483646 w 816"/>
              <a:gd name="T3" fmla="*/ 2147483646 h 576"/>
              <a:gd name="T4" fmla="*/ 2147483646 w 816"/>
              <a:gd name="T5" fmla="*/ 2147483646 h 57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16" h="576">
                <a:moveTo>
                  <a:pt x="0" y="0"/>
                </a:moveTo>
                <a:cubicBezTo>
                  <a:pt x="52" y="120"/>
                  <a:pt x="104" y="240"/>
                  <a:pt x="240" y="336"/>
                </a:cubicBezTo>
                <a:cubicBezTo>
                  <a:pt x="376" y="432"/>
                  <a:pt x="720" y="536"/>
                  <a:pt x="816" y="57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7058" name="Rectangle 50"/>
          <p:cNvSpPr>
            <a:spLocks noChangeArrowheads="1"/>
          </p:cNvSpPr>
          <p:nvPr/>
        </p:nvSpPr>
        <p:spPr bwMode="auto">
          <a:xfrm>
            <a:off x="4767263" y="5029200"/>
            <a:ext cx="762000" cy="381000"/>
          </a:xfrm>
          <a:prstGeom prst="rect">
            <a:avLst/>
          </a:prstGeom>
          <a:solidFill>
            <a:schemeClr val="hlink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600"/>
          </a:p>
        </p:txBody>
      </p:sp>
      <p:sp>
        <p:nvSpPr>
          <p:cNvPr id="427059" name="Freeform 51"/>
          <p:cNvSpPr>
            <a:spLocks/>
          </p:cNvSpPr>
          <p:nvPr/>
        </p:nvSpPr>
        <p:spPr bwMode="auto">
          <a:xfrm>
            <a:off x="5410200" y="3429000"/>
            <a:ext cx="2286000" cy="1828800"/>
          </a:xfrm>
          <a:custGeom>
            <a:avLst/>
            <a:gdLst>
              <a:gd name="T0" fmla="*/ 2147483646 w 1392"/>
              <a:gd name="T1" fmla="*/ 0 h 1152"/>
              <a:gd name="T2" fmla="*/ 2147483646 w 1392"/>
              <a:gd name="T3" fmla="*/ 2147483646 h 1152"/>
              <a:gd name="T4" fmla="*/ 0 w 1392"/>
              <a:gd name="T5" fmla="*/ 2147483646 h 115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392" h="1152">
                <a:moveTo>
                  <a:pt x="1392" y="0"/>
                </a:moveTo>
                <a:cubicBezTo>
                  <a:pt x="1292" y="240"/>
                  <a:pt x="1192" y="480"/>
                  <a:pt x="960" y="672"/>
                </a:cubicBezTo>
                <a:cubicBezTo>
                  <a:pt x="728" y="864"/>
                  <a:pt x="364" y="1008"/>
                  <a:pt x="0" y="115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7060" name="Rectangle 52"/>
          <p:cNvSpPr>
            <a:spLocks noChangeArrowheads="1"/>
          </p:cNvSpPr>
          <p:nvPr/>
        </p:nvSpPr>
        <p:spPr bwMode="auto">
          <a:xfrm>
            <a:off x="3048000" y="3276600"/>
            <a:ext cx="762000" cy="390525"/>
          </a:xfrm>
          <a:prstGeom prst="rect">
            <a:avLst/>
          </a:prstGeom>
          <a:solidFill>
            <a:schemeClr val="hlink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600"/>
          </a:p>
        </p:txBody>
      </p:sp>
      <p:sp>
        <p:nvSpPr>
          <p:cNvPr id="427061" name="Freeform 53"/>
          <p:cNvSpPr>
            <a:spLocks/>
          </p:cNvSpPr>
          <p:nvPr/>
        </p:nvSpPr>
        <p:spPr bwMode="auto">
          <a:xfrm>
            <a:off x="2057400" y="3581400"/>
            <a:ext cx="1066800" cy="266700"/>
          </a:xfrm>
          <a:custGeom>
            <a:avLst/>
            <a:gdLst>
              <a:gd name="T0" fmla="*/ 2147483646 w 624"/>
              <a:gd name="T1" fmla="*/ 0 h 168"/>
              <a:gd name="T2" fmla="*/ 2147483646 w 624"/>
              <a:gd name="T3" fmla="*/ 2147483646 h 168"/>
              <a:gd name="T4" fmla="*/ 2147483646 w 624"/>
              <a:gd name="T5" fmla="*/ 2147483646 h 168"/>
              <a:gd name="T6" fmla="*/ 0 w 624"/>
              <a:gd name="T7" fmla="*/ 2147483646 h 16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4" h="168">
                <a:moveTo>
                  <a:pt x="624" y="0"/>
                </a:moveTo>
                <a:cubicBezTo>
                  <a:pt x="548" y="60"/>
                  <a:pt x="472" y="120"/>
                  <a:pt x="384" y="144"/>
                </a:cubicBezTo>
                <a:cubicBezTo>
                  <a:pt x="296" y="168"/>
                  <a:pt x="160" y="160"/>
                  <a:pt x="96" y="144"/>
                </a:cubicBezTo>
                <a:cubicBezTo>
                  <a:pt x="32" y="128"/>
                  <a:pt x="16" y="88"/>
                  <a:pt x="0" y="48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7062" name="Line 54"/>
          <p:cNvSpPr>
            <a:spLocks noChangeShapeType="1"/>
          </p:cNvSpPr>
          <p:nvPr/>
        </p:nvSpPr>
        <p:spPr bwMode="auto">
          <a:xfrm>
            <a:off x="3581400" y="3429000"/>
            <a:ext cx="1219200" cy="1828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7064" name="Text Box 56"/>
          <p:cNvSpPr txBox="1">
            <a:spLocks noChangeArrowheads="1"/>
          </p:cNvSpPr>
          <p:nvPr/>
        </p:nvSpPr>
        <p:spPr bwMode="auto">
          <a:xfrm>
            <a:off x="2286000" y="3108325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(1)</a:t>
            </a:r>
          </a:p>
        </p:txBody>
      </p:sp>
      <p:sp>
        <p:nvSpPr>
          <p:cNvPr id="427065" name="Text Box 57"/>
          <p:cNvSpPr txBox="1">
            <a:spLocks noChangeArrowheads="1"/>
          </p:cNvSpPr>
          <p:nvPr/>
        </p:nvSpPr>
        <p:spPr bwMode="auto">
          <a:xfrm>
            <a:off x="3733800" y="28956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(2)</a:t>
            </a:r>
          </a:p>
        </p:txBody>
      </p:sp>
      <p:sp>
        <p:nvSpPr>
          <p:cNvPr id="427066" name="Text Box 58"/>
          <p:cNvSpPr txBox="1">
            <a:spLocks noChangeArrowheads="1"/>
          </p:cNvSpPr>
          <p:nvPr/>
        </p:nvSpPr>
        <p:spPr bwMode="auto">
          <a:xfrm>
            <a:off x="5943600" y="26670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(3)</a:t>
            </a:r>
          </a:p>
        </p:txBody>
      </p:sp>
      <p:sp>
        <p:nvSpPr>
          <p:cNvPr id="427067" name="Text Box 59"/>
          <p:cNvSpPr txBox="1">
            <a:spLocks noChangeArrowheads="1"/>
          </p:cNvSpPr>
          <p:nvPr/>
        </p:nvSpPr>
        <p:spPr bwMode="auto">
          <a:xfrm>
            <a:off x="5867400" y="45720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(4)</a:t>
            </a:r>
          </a:p>
        </p:txBody>
      </p:sp>
      <p:sp>
        <p:nvSpPr>
          <p:cNvPr id="427068" name="Text Box 60"/>
          <p:cNvSpPr txBox="1">
            <a:spLocks noChangeArrowheads="1"/>
          </p:cNvSpPr>
          <p:nvPr/>
        </p:nvSpPr>
        <p:spPr bwMode="auto">
          <a:xfrm>
            <a:off x="3962400" y="37338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(5)</a:t>
            </a:r>
          </a:p>
        </p:txBody>
      </p:sp>
      <p:sp>
        <p:nvSpPr>
          <p:cNvPr id="427069" name="Text Box 61"/>
          <p:cNvSpPr txBox="1">
            <a:spLocks noChangeArrowheads="1"/>
          </p:cNvSpPr>
          <p:nvPr/>
        </p:nvSpPr>
        <p:spPr bwMode="auto">
          <a:xfrm>
            <a:off x="2286000" y="3810000"/>
            <a:ext cx="68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accent2"/>
                </a:solidFill>
              </a:rPr>
              <a:t>(6)</a:t>
            </a:r>
          </a:p>
        </p:txBody>
      </p:sp>
      <p:sp>
        <p:nvSpPr>
          <p:cNvPr id="427070" name="AutoShape 62"/>
          <p:cNvSpPr>
            <a:spLocks noChangeArrowheads="1"/>
          </p:cNvSpPr>
          <p:nvPr/>
        </p:nvSpPr>
        <p:spPr bwMode="auto">
          <a:xfrm rot="10800000">
            <a:off x="228600" y="4419600"/>
            <a:ext cx="2743200" cy="1600200"/>
          </a:xfrm>
          <a:prstGeom prst="wedgeRoundRectCallout">
            <a:avLst>
              <a:gd name="adj1" fmla="val -31486"/>
              <a:gd name="adj2" fmla="val 6855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但完成这个过程很费时间</a:t>
            </a:r>
            <a:r>
              <a:rPr lang="en-US" altLang="zh-CN" sz="2400"/>
              <a:t>(</a:t>
            </a:r>
            <a:r>
              <a:rPr lang="zh-CN" altLang="en-US" sz="2400"/>
              <a:t>有时候一条指令会引起几次调页</a:t>
            </a:r>
            <a:r>
              <a:rPr lang="en-US" altLang="zh-CN" sz="2400"/>
              <a:t>)!</a:t>
            </a:r>
          </a:p>
        </p:txBody>
      </p:sp>
      <p:sp>
        <p:nvSpPr>
          <p:cNvPr id="427071" name="AutoShape 63"/>
          <p:cNvSpPr>
            <a:spLocks noChangeArrowheads="1"/>
          </p:cNvSpPr>
          <p:nvPr/>
        </p:nvSpPr>
        <p:spPr bwMode="auto">
          <a:xfrm rot="10800000">
            <a:off x="228600" y="2057400"/>
            <a:ext cx="2743200" cy="914400"/>
          </a:xfrm>
          <a:prstGeom prst="wedgeRoundRectCallout">
            <a:avLst>
              <a:gd name="adj1" fmla="val -26389"/>
              <a:gd name="adj2" fmla="val -7587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显然是一个很好理解的过程</a:t>
            </a:r>
          </a:p>
        </p:txBody>
      </p:sp>
    </p:spTree>
    <p:extLst>
      <p:ext uri="{BB962C8B-B14F-4D97-AF65-F5344CB8AC3E}">
        <p14:creationId xmlns:p14="http://schemas.microsoft.com/office/powerpoint/2010/main" val="288650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2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2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27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27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27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7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27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27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7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42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1000"/>
                                        <p:tgtEl>
                                          <p:spTgt spid="427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2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2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42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27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27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49" grpId="0"/>
      <p:bldP spid="427050" grpId="0" animBg="1"/>
      <p:bldP spid="427051" grpId="0" animBg="1"/>
      <p:bldP spid="427055" grpId="0" animBg="1"/>
      <p:bldP spid="427056" grpId="0" animBg="1"/>
      <p:bldP spid="427057" grpId="0" animBg="1"/>
      <p:bldP spid="427058" grpId="0" animBg="1"/>
      <p:bldP spid="427059" grpId="0" animBg="1"/>
      <p:bldP spid="427060" grpId="0" animBg="1"/>
      <p:bldP spid="427061" grpId="0" animBg="1"/>
      <p:bldP spid="427062" grpId="0" animBg="1"/>
      <p:bldP spid="427064" grpId="0"/>
      <p:bldP spid="427065" grpId="0"/>
      <p:bldP spid="427066" grpId="0"/>
      <p:bldP spid="427067" grpId="0"/>
      <p:bldP spid="427068" grpId="0"/>
      <p:bldP spid="427069" grpId="0"/>
      <p:bldP spid="427070" grpId="0" animBg="1"/>
      <p:bldP spid="42707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请求调页</a:t>
            </a:r>
            <a:r>
              <a:rPr lang="zh-CN" altLang="en-US" dirty="0" smtClean="0">
                <a:sym typeface="Symbol" panose="05050102010706020507" pitchFamily="18" charset="2"/>
              </a:rPr>
              <a:t>过程</a:t>
            </a:r>
            <a:r>
              <a:rPr lang="en-US" altLang="zh-CN" dirty="0" smtClean="0">
                <a:sym typeface="Symbol" panose="05050102010706020507" pitchFamily="18" charset="2"/>
              </a:rPr>
              <a:t>--</a:t>
            </a:r>
            <a:r>
              <a:rPr lang="en-US" altLang="zh-CN" b="0" dirty="0"/>
              <a:t> </a:t>
            </a:r>
            <a:r>
              <a:rPr lang="en-US" altLang="zh-CN" b="0" dirty="0" err="1"/>
              <a:t>do_no_page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562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CN" sz="1600" dirty="0"/>
              <a:t>// </a:t>
            </a:r>
            <a:r>
              <a:rPr lang="zh-CN" altLang="en-US" sz="1600" dirty="0"/>
              <a:t>处理缺页异常的函数体。</a:t>
            </a:r>
            <a:r>
              <a:rPr lang="en-US" altLang="zh-CN" sz="1600" dirty="0"/>
              <a:t>address</a:t>
            </a:r>
            <a:r>
              <a:rPr lang="zh-CN" altLang="en-US" sz="1600" dirty="0"/>
              <a:t>是事发地点线性地址</a:t>
            </a:r>
            <a:r>
              <a:rPr lang="zh-CN" altLang="en-US" sz="1600" dirty="0" smtClean="0"/>
              <a:t>。</a:t>
            </a:r>
            <a:endParaRPr lang="en-US" altLang="zh-CN" sz="1600" dirty="0"/>
          </a:p>
          <a:p>
            <a:pPr marL="0" indent="0">
              <a:buNone/>
              <a:defRPr/>
            </a:pPr>
            <a:r>
              <a:rPr lang="en-US" altLang="zh-CN" sz="1600" dirty="0" smtClean="0"/>
              <a:t>void </a:t>
            </a:r>
            <a:r>
              <a:rPr lang="en-US" altLang="zh-CN" sz="1600" dirty="0" err="1" smtClean="0"/>
              <a:t>do_no_page</a:t>
            </a:r>
            <a:r>
              <a:rPr lang="en-US" altLang="zh-CN" sz="1600" dirty="0" smtClean="0"/>
              <a:t> (</a:t>
            </a:r>
            <a:r>
              <a:rPr lang="en-US" altLang="zh-CN" sz="1600" dirty="0"/>
              <a:t>unsigned long </a:t>
            </a:r>
            <a:r>
              <a:rPr lang="en-US" altLang="zh-CN" sz="1600" dirty="0" err="1"/>
              <a:t>error_code,unsigned</a:t>
            </a:r>
            <a:r>
              <a:rPr lang="en-US" altLang="zh-CN" sz="1600" dirty="0"/>
              <a:t> long address)</a:t>
            </a:r>
            <a:r>
              <a:rPr lang="en-US" altLang="zh-CN" sz="1600" dirty="0" smtClean="0"/>
              <a:t/>
            </a:r>
            <a:br>
              <a:rPr lang="en-US" altLang="zh-CN" sz="1600" dirty="0" smtClean="0"/>
            </a:br>
            <a:r>
              <a:rPr lang="en-US" altLang="zh-CN" sz="1600" dirty="0"/>
              <a:t>{</a:t>
            </a:r>
            <a:r>
              <a:rPr lang="en-US" altLang="zh-CN" sz="1600" dirty="0" smtClean="0"/>
              <a:t/>
            </a:r>
            <a:br>
              <a:rPr lang="en-US" altLang="zh-CN" sz="1600" dirty="0" smtClean="0"/>
            </a:b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/>
              <a:t>nr[4</a:t>
            </a:r>
            <a:r>
              <a:rPr lang="en-US" altLang="zh-CN" sz="1600" dirty="0" smtClean="0"/>
              <a:t>]; unsigned </a:t>
            </a:r>
            <a:r>
              <a:rPr lang="en-US" altLang="zh-CN" sz="1600" dirty="0"/>
              <a:t>long </a:t>
            </a:r>
            <a:r>
              <a:rPr lang="en-US" altLang="zh-CN" sz="1600" dirty="0" err="1"/>
              <a:t>tmp</a:t>
            </a:r>
            <a:r>
              <a:rPr lang="en-US" altLang="zh-CN" sz="1600" dirty="0" smtClean="0"/>
              <a:t>; unsigned </a:t>
            </a:r>
            <a:r>
              <a:rPr lang="en-US" altLang="zh-CN" sz="1600" dirty="0"/>
              <a:t>long page</a:t>
            </a:r>
            <a:r>
              <a:rPr lang="en-US" altLang="zh-CN" sz="1600" dirty="0" smtClean="0"/>
              <a:t>; </a:t>
            </a:r>
            <a:r>
              <a:rPr lang="en-US" altLang="zh-CN" sz="1600" dirty="0" err="1" smtClean="0"/>
              <a:t>int</a:t>
            </a:r>
            <a:r>
              <a:rPr lang="en-US" altLang="zh-CN" sz="1600" dirty="0" smtClean="0"/>
              <a:t> </a:t>
            </a:r>
            <a:r>
              <a:rPr lang="en-US" altLang="zh-CN" sz="1600" dirty="0" err="1"/>
              <a:t>block,i</a:t>
            </a:r>
            <a:r>
              <a:rPr lang="en-US" altLang="zh-CN" sz="1600" dirty="0" smtClean="0"/>
              <a:t>;</a:t>
            </a:r>
            <a:br>
              <a:rPr lang="en-US" altLang="zh-CN" sz="1600" dirty="0" smtClean="0"/>
            </a:br>
            <a:r>
              <a:rPr lang="en-US" altLang="zh-CN" sz="1600" dirty="0">
                <a:solidFill>
                  <a:srgbClr val="C00000"/>
                </a:solidFill>
              </a:rPr>
              <a:t>address &amp;= 0xfffff000</a:t>
            </a:r>
            <a:r>
              <a:rPr lang="en-US" altLang="zh-CN" sz="1600" dirty="0" smtClean="0">
                <a:solidFill>
                  <a:srgbClr val="C00000"/>
                </a:solidFill>
              </a:rPr>
              <a:t>;  //4k</a:t>
            </a:r>
            <a:r>
              <a:rPr lang="zh-CN" altLang="en-US" sz="1600" dirty="0" smtClean="0">
                <a:solidFill>
                  <a:srgbClr val="C00000"/>
                </a:solidFill>
              </a:rPr>
              <a:t>对其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en-US" altLang="zh-CN" sz="1600" dirty="0" smtClean="0">
                <a:solidFill>
                  <a:srgbClr val="33CC33"/>
                </a:solidFill>
              </a:rPr>
              <a:t>/*  address</a:t>
            </a:r>
            <a:r>
              <a:rPr lang="zh-CN" altLang="en-US" sz="1600" dirty="0" smtClean="0">
                <a:solidFill>
                  <a:srgbClr val="33CC33"/>
                </a:solidFill>
              </a:rPr>
              <a:t>是线性页面地址，</a:t>
            </a:r>
            <a:r>
              <a:rPr lang="en-US" altLang="zh-CN" sz="1600" dirty="0" smtClean="0">
                <a:solidFill>
                  <a:srgbClr val="33CC33"/>
                </a:solidFill>
              </a:rPr>
              <a:t>current-&gt;</a:t>
            </a:r>
            <a:r>
              <a:rPr lang="en-US" altLang="zh-CN" sz="1600" dirty="0" err="1" smtClean="0">
                <a:solidFill>
                  <a:srgbClr val="33CC33"/>
                </a:solidFill>
              </a:rPr>
              <a:t>start_code</a:t>
            </a:r>
            <a:r>
              <a:rPr lang="zh-CN" altLang="en-US" sz="1600" dirty="0" smtClean="0">
                <a:solidFill>
                  <a:srgbClr val="33CC33"/>
                </a:solidFill>
              </a:rPr>
              <a:t>是进程在线性地址空间的起始地址，</a:t>
            </a:r>
            <a:r>
              <a:rPr lang="en-US" altLang="zh-CN" sz="1600" dirty="0" smtClean="0">
                <a:solidFill>
                  <a:srgbClr val="33CC33"/>
                </a:solidFill>
              </a:rPr>
              <a:t> </a:t>
            </a:r>
            <a:r>
              <a:rPr lang="zh-CN" altLang="en-US" sz="1600" dirty="0" smtClean="0">
                <a:solidFill>
                  <a:srgbClr val="33CC33"/>
                </a:solidFill>
              </a:rPr>
              <a:t>两个相减</a:t>
            </a:r>
            <a:r>
              <a:rPr lang="en-US" altLang="zh-CN" sz="1600" dirty="0" err="1" smtClean="0">
                <a:solidFill>
                  <a:srgbClr val="33CC33"/>
                </a:solidFill>
              </a:rPr>
              <a:t>tmp</a:t>
            </a:r>
            <a:r>
              <a:rPr lang="zh-CN" altLang="en-US" sz="1600" dirty="0" smtClean="0">
                <a:solidFill>
                  <a:srgbClr val="33CC33"/>
                </a:solidFill>
              </a:rPr>
              <a:t>是发生缺页时的相对于代码段起始地址的偏移</a:t>
            </a:r>
            <a:r>
              <a:rPr lang="en-US" altLang="zh-CN" sz="1600" dirty="0" smtClean="0">
                <a:solidFill>
                  <a:srgbClr val="33CC33"/>
                </a:solidFill>
              </a:rPr>
              <a:t>*/</a:t>
            </a:r>
          </a:p>
          <a:p>
            <a:pPr marL="0" indent="0">
              <a:buNone/>
              <a:defRPr/>
            </a:pPr>
            <a:r>
              <a:rPr lang="en-US" altLang="zh-CN" sz="1600" dirty="0" err="1" smtClean="0">
                <a:solidFill>
                  <a:srgbClr val="C00000"/>
                </a:solidFill>
              </a:rPr>
              <a:t>tmp</a:t>
            </a:r>
            <a:r>
              <a:rPr lang="en-US" altLang="zh-CN" sz="1600" dirty="0" smtClean="0">
                <a:solidFill>
                  <a:srgbClr val="C00000"/>
                </a:solidFill>
              </a:rPr>
              <a:t> </a:t>
            </a:r>
            <a:r>
              <a:rPr lang="en-US" altLang="zh-CN" sz="1600" dirty="0">
                <a:solidFill>
                  <a:srgbClr val="C00000"/>
                </a:solidFill>
              </a:rPr>
              <a:t>= address - current-&gt;</a:t>
            </a:r>
            <a:r>
              <a:rPr lang="en-US" altLang="zh-CN" sz="1600" dirty="0" err="1">
                <a:solidFill>
                  <a:srgbClr val="C00000"/>
                </a:solidFill>
              </a:rPr>
              <a:t>start_code</a:t>
            </a:r>
            <a:r>
              <a:rPr lang="en-US" altLang="zh-CN" sz="1600" dirty="0">
                <a:solidFill>
                  <a:srgbClr val="C00000"/>
                </a:solidFill>
              </a:rPr>
              <a:t>;</a:t>
            </a:r>
            <a:r>
              <a:rPr lang="en-US" altLang="zh-CN" sz="1600" dirty="0" smtClean="0"/>
              <a:t/>
            </a:r>
            <a:br>
              <a:rPr lang="en-US" altLang="zh-CN" sz="1600" dirty="0" smtClean="0"/>
            </a:br>
            <a:r>
              <a:rPr lang="en-US" altLang="zh-CN" sz="1600" dirty="0" smtClean="0">
                <a:solidFill>
                  <a:srgbClr val="33CC33"/>
                </a:solidFill>
              </a:rPr>
              <a:t>// </a:t>
            </a:r>
            <a:r>
              <a:rPr lang="zh-CN" altLang="en-US" sz="1600" dirty="0">
                <a:solidFill>
                  <a:srgbClr val="33CC33"/>
                </a:solidFill>
              </a:rPr>
              <a:t>缺页中断有多种情况</a:t>
            </a:r>
            <a:r>
              <a:rPr lang="zh-CN" altLang="en-US" sz="1600" dirty="0" smtClean="0">
                <a:solidFill>
                  <a:srgbClr val="33CC33"/>
                </a:solidFill>
              </a:rPr>
              <a:t>，第一种如下：</a:t>
            </a:r>
            <a:r>
              <a:rPr lang="zh-CN" altLang="en-US" sz="1600" dirty="0">
                <a:solidFill>
                  <a:srgbClr val="33CC33"/>
                </a:solidFill>
              </a:rPr>
              <a:t/>
            </a:r>
            <a:br>
              <a:rPr lang="zh-CN" altLang="en-US" sz="1600" dirty="0">
                <a:solidFill>
                  <a:srgbClr val="33CC33"/>
                </a:solidFill>
              </a:rPr>
            </a:br>
            <a:r>
              <a:rPr lang="en-US" altLang="zh-CN" sz="1600" dirty="0" smtClean="0">
                <a:solidFill>
                  <a:srgbClr val="33CC33"/>
                </a:solidFill>
              </a:rPr>
              <a:t>// </a:t>
            </a:r>
            <a:r>
              <a:rPr lang="en-US" altLang="zh-CN" sz="1600" dirty="0">
                <a:solidFill>
                  <a:srgbClr val="33CC33"/>
                </a:solidFill>
              </a:rPr>
              <a:t>current-&gt;executable == 0 </a:t>
            </a:r>
            <a:r>
              <a:rPr lang="zh-CN" altLang="en-US" sz="1600" dirty="0">
                <a:solidFill>
                  <a:srgbClr val="33CC33"/>
                </a:solidFill>
              </a:rPr>
              <a:t>表明当前进程没有可执行文件</a:t>
            </a:r>
            <a:r>
              <a:rPr lang="zh-CN" altLang="en-US" sz="1600" dirty="0" smtClean="0">
                <a:solidFill>
                  <a:srgbClr val="33CC33"/>
                </a:solidFill>
              </a:rPr>
              <a:t>。</a:t>
            </a:r>
            <a:endParaRPr lang="en-US" altLang="zh-CN" sz="1600" dirty="0" smtClean="0">
              <a:solidFill>
                <a:srgbClr val="33CC33"/>
              </a:solidFill>
            </a:endParaRPr>
          </a:p>
          <a:p>
            <a:pPr marL="0" indent="0">
              <a:buNone/>
              <a:defRPr/>
            </a:pPr>
            <a:r>
              <a:rPr lang="en-US" altLang="zh-CN" sz="1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 </a:t>
            </a:r>
            <a:r>
              <a:rPr lang="en-US" altLang="zh-CN" sz="1600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tmp</a:t>
            </a:r>
            <a:r>
              <a:rPr lang="en-US" altLang="zh-CN" sz="1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&gt;=</a:t>
            </a:r>
            <a:r>
              <a:rPr lang="en-US" altLang="zh-CN" sz="1600" dirty="0" err="1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current_end_data</a:t>
            </a:r>
            <a:r>
              <a:rPr lang="zh-CN" altLang="en-US" sz="16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，表示</a:t>
            </a:r>
            <a:r>
              <a:rPr lang="zh-CN" altLang="en-US" sz="1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缺页的逻辑地址大于进程的代码段和数据段之和。这两种情况都对应着第一种缺页</a:t>
            </a:r>
            <a:br>
              <a:rPr lang="zh-CN" altLang="en-US" sz="1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16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// </a:t>
            </a:r>
            <a:r>
              <a:rPr lang="zh-CN" altLang="en-US" sz="16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即</a:t>
            </a:r>
            <a:r>
              <a:rPr lang="zh-CN" altLang="en-US" sz="1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当前缺页是由于进程压栈（为堆或栈中数据寻找新的页面）造成的，</a:t>
            </a:r>
            <a:r>
              <a:rPr lang="zh-CN" altLang="en-US" sz="16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因此</a:t>
            </a:r>
            <a:r>
              <a:rPr lang="en-US" altLang="zh-CN" sz="1600" dirty="0" smtClean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1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直接调用</a:t>
            </a:r>
            <a:r>
              <a:rPr lang="en-US" altLang="zh-CN" sz="1600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get_empty_page</a:t>
            </a:r>
            <a:r>
              <a:rPr lang="zh-CN" altLang="en-US" sz="16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为进程申请一页新物理内存即可。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(!current-&gt;executable || </a:t>
            </a:r>
            <a:r>
              <a:rPr lang="en-US" altLang="zh-CN" sz="16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tmp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&gt;= current-&gt;</a:t>
            </a:r>
            <a:r>
              <a:rPr lang="en-US" altLang="zh-CN" sz="16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end_data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{</a:t>
            </a:r>
            <a:r>
              <a:rPr lang="en-US" altLang="zh-CN" sz="1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CN" sz="1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altLang="zh-CN" sz="1600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get_empty_page</a:t>
            </a:r>
            <a:r>
              <a:rPr lang="en-US" altLang="zh-CN" sz="1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(address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r>
              <a:rPr lang="en-US" altLang="zh-CN" sz="1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CN" sz="1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return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r>
              <a:rPr lang="en-US" altLang="zh-CN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CN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r>
              <a:rPr lang="en-US" altLang="zh-CN" sz="1600" dirty="0" smtClean="0"/>
              <a:t/>
            </a:r>
            <a:br>
              <a:rPr lang="en-US" altLang="zh-CN" sz="1600" dirty="0" smtClean="0"/>
            </a:br>
            <a:r>
              <a:rPr lang="en-US" altLang="zh-CN" sz="1600" dirty="0">
                <a:solidFill>
                  <a:srgbClr val="33CC33"/>
                </a:solidFill>
              </a:rPr>
              <a:t>//</a:t>
            </a:r>
            <a:r>
              <a:rPr lang="zh-CN" altLang="en-US" sz="1600" dirty="0">
                <a:solidFill>
                  <a:srgbClr val="33CC33"/>
                </a:solidFill>
              </a:rPr>
              <a:t>*若走到这里，则说明缺页异常不是由于进程压栈造成，那肯定就是执行</a:t>
            </a:r>
            <a:r>
              <a:rPr lang="en-US" altLang="zh-CN" sz="1600" dirty="0" err="1">
                <a:solidFill>
                  <a:srgbClr val="33CC33"/>
                </a:solidFill>
              </a:rPr>
              <a:t>exevce</a:t>
            </a:r>
            <a:r>
              <a:rPr lang="zh-CN" altLang="en-US" sz="1600" dirty="0">
                <a:solidFill>
                  <a:srgbClr val="33CC33"/>
                </a:solidFill>
              </a:rPr>
              <a:t>导致。先尝试</a:t>
            </a:r>
            <a:r>
              <a:rPr lang="en-US" altLang="zh-CN" sz="1600" dirty="0" err="1">
                <a:solidFill>
                  <a:srgbClr val="33CC33"/>
                </a:solidFill>
              </a:rPr>
              <a:t>share_page</a:t>
            </a:r>
            <a:r>
              <a:rPr lang="zh-CN" altLang="en-US" sz="1600" dirty="0">
                <a:solidFill>
                  <a:srgbClr val="33CC33"/>
                </a:solidFill>
              </a:rPr>
              <a:t>。即先看当前进程的</a:t>
            </a:r>
            <a:r>
              <a:rPr lang="en-US" altLang="zh-CN" sz="1600" dirty="0">
                <a:solidFill>
                  <a:srgbClr val="33CC33"/>
                </a:solidFill>
              </a:rPr>
              <a:t>executable</a:t>
            </a:r>
            <a:r>
              <a:rPr lang="zh-CN" altLang="en-US" sz="1600" dirty="0">
                <a:solidFill>
                  <a:srgbClr val="33CC33"/>
                </a:solidFill>
              </a:rPr>
              <a:t>是否被其他进程同样</a:t>
            </a:r>
            <a:r>
              <a:rPr lang="zh-CN" altLang="en-US" sz="1600" dirty="0" smtClean="0">
                <a:solidFill>
                  <a:srgbClr val="33CC33"/>
                </a:solidFill>
              </a:rPr>
              <a:t>引用*</a:t>
            </a:r>
            <a:r>
              <a:rPr lang="en-US" altLang="zh-CN" sz="1600" dirty="0" smtClean="0">
                <a:solidFill>
                  <a:srgbClr val="33CC33"/>
                </a:solidFill>
              </a:rPr>
              <a:t>/</a:t>
            </a:r>
            <a:r>
              <a:rPr lang="zh-CN" altLang="en-US" sz="1600" dirty="0" smtClean="0"/>
              <a:t/>
            </a:r>
            <a:br>
              <a:rPr lang="zh-CN" altLang="en-US" sz="1600" dirty="0" smtClean="0"/>
            </a:br>
            <a:r>
              <a:rPr lang="en-US" altLang="zh-CN" sz="1600" dirty="0"/>
              <a:t>if (</a:t>
            </a:r>
            <a:r>
              <a:rPr lang="en-US" altLang="zh-CN" sz="1600" dirty="0" err="1"/>
              <a:t>share_page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tmp</a:t>
            </a:r>
            <a:r>
              <a:rPr lang="en-US" altLang="zh-CN" sz="1600" dirty="0"/>
              <a:t>))</a:t>
            </a:r>
            <a:r>
              <a:rPr lang="en-US" altLang="zh-CN" sz="1600" dirty="0" smtClean="0"/>
              <a:t/>
            </a:r>
            <a:br>
              <a:rPr lang="en-US" altLang="zh-CN" sz="1600" dirty="0" smtClean="0"/>
            </a:b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31745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请求调页过程</a:t>
            </a:r>
            <a:r>
              <a:rPr lang="en-US" altLang="zh-CN" dirty="0">
                <a:sym typeface="Symbol" panose="05050102010706020507" pitchFamily="18" charset="2"/>
              </a:rPr>
              <a:t>--</a:t>
            </a:r>
            <a:r>
              <a:rPr lang="en-US" altLang="zh-CN" b="0" dirty="0"/>
              <a:t> </a:t>
            </a:r>
            <a:r>
              <a:rPr lang="en-US" altLang="zh-CN" b="0" dirty="0" err="1"/>
              <a:t>do_no_page</a:t>
            </a:r>
            <a:endParaRPr lang="zh-CN" altLang="en-US" dirty="0" smtClean="0"/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152400" y="1268413"/>
            <a:ext cx="8839200" cy="2084387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 smtClean="0"/>
              <a:t>if (share_page(</a:t>
            </a:r>
            <a:r>
              <a:rPr lang="en-US" altLang="zh-CN" sz="1800" dirty="0" err="1" smtClean="0"/>
              <a:t>tmp</a:t>
            </a:r>
            <a:r>
              <a:rPr lang="en-US" altLang="zh-CN" sz="1800" dirty="0" smtClean="0"/>
              <a:t>)) 	return;</a:t>
            </a:r>
            <a:br>
              <a:rPr lang="en-US" altLang="zh-CN" sz="1800" dirty="0" smtClean="0"/>
            </a:br>
            <a:r>
              <a:rPr lang="en-US" altLang="zh-CN" sz="1800" dirty="0" smtClean="0">
                <a:solidFill>
                  <a:srgbClr val="33CC33"/>
                </a:solidFill>
              </a:rPr>
              <a:t>// </a:t>
            </a:r>
            <a:r>
              <a:rPr lang="zh-CN" altLang="en-US" sz="1800" dirty="0" smtClean="0">
                <a:solidFill>
                  <a:srgbClr val="33CC33"/>
                </a:solidFill>
              </a:rPr>
              <a:t>要是没能</a:t>
            </a:r>
            <a:r>
              <a:rPr lang="en-US" altLang="zh-CN" sz="1800" dirty="0" smtClean="0">
                <a:solidFill>
                  <a:srgbClr val="33CC33"/>
                </a:solidFill>
              </a:rPr>
              <a:t>share</a:t>
            </a:r>
            <a:r>
              <a:rPr lang="zh-CN" altLang="en-US" sz="1800" dirty="0" smtClean="0">
                <a:solidFill>
                  <a:srgbClr val="33CC33"/>
                </a:solidFill>
              </a:rPr>
              <a:t>成功，退而求其次吧。只能为该进程注册一页新的物理内存，并且读取</a:t>
            </a:r>
            <a:r>
              <a:rPr lang="en-US" altLang="zh-CN" sz="1800" dirty="0" smtClean="0">
                <a:solidFill>
                  <a:srgbClr val="33CC33"/>
                </a:solidFill>
              </a:rPr>
              <a:t> </a:t>
            </a:r>
            <a:r>
              <a:rPr lang="zh-CN" altLang="en-US" sz="1800" dirty="0" smtClean="0">
                <a:solidFill>
                  <a:srgbClr val="33CC33"/>
                </a:solidFill>
              </a:rPr>
              <a:t>相应内容到这页物理内存中了。</a:t>
            </a:r>
            <a:endParaRPr lang="en-US" altLang="zh-CN" sz="1800" dirty="0" smtClean="0">
              <a:solidFill>
                <a:srgbClr val="33CC33"/>
              </a:solidFill>
            </a:endParaRPr>
          </a:p>
          <a:p>
            <a:pPr marL="0" indent="0">
              <a:buNone/>
            </a:pPr>
            <a:r>
              <a:rPr lang="zh-CN" altLang="en-US" sz="1800" dirty="0" smtClean="0"/>
              <a:t/>
            </a:r>
            <a:br>
              <a:rPr lang="zh-CN" altLang="en-US" sz="1800" dirty="0" smtClean="0"/>
            </a:br>
            <a:r>
              <a:rPr lang="en-US" altLang="zh-CN" sz="1800" dirty="0" smtClean="0"/>
              <a:t>if (!(</a:t>
            </a:r>
            <a:r>
              <a:rPr lang="en-US" altLang="zh-CN" sz="1800" dirty="0" smtClean="0">
                <a:solidFill>
                  <a:srgbClr val="0033CC"/>
                </a:solidFill>
              </a:rPr>
              <a:t>page = </a:t>
            </a:r>
            <a:r>
              <a:rPr lang="en-US" altLang="zh-CN" sz="1800" dirty="0" err="1" smtClean="0">
                <a:solidFill>
                  <a:srgbClr val="0033CC"/>
                </a:solidFill>
              </a:rPr>
              <a:t>get_free_page</a:t>
            </a:r>
            <a:r>
              <a:rPr lang="en-US" altLang="zh-CN" sz="1800" dirty="0" smtClean="0">
                <a:solidFill>
                  <a:srgbClr val="0033CC"/>
                </a:solidFill>
              </a:rPr>
              <a:t>()</a:t>
            </a:r>
            <a:r>
              <a:rPr lang="en-US" altLang="zh-CN" sz="1800" dirty="0" smtClean="0"/>
              <a:t>))  </a:t>
            </a:r>
            <a:r>
              <a:rPr lang="en-US" altLang="zh-CN" sz="1800" dirty="0" err="1" smtClean="0"/>
              <a:t>oom</a:t>
            </a:r>
            <a:r>
              <a:rPr lang="en-US" altLang="zh-CN" sz="1800" dirty="0" smtClean="0"/>
              <a:t>(); //</a:t>
            </a:r>
            <a:r>
              <a:rPr lang="zh-CN" altLang="en-US" sz="1800" dirty="0" smtClean="0"/>
              <a:t>申请一个页框（帧）</a:t>
            </a:r>
            <a:br>
              <a:rPr lang="zh-CN" altLang="en-US" sz="1800" dirty="0" smtClean="0"/>
            </a:br>
            <a:r>
              <a:rPr lang="en-US" altLang="zh-CN" sz="1800" dirty="0" smtClean="0">
                <a:solidFill>
                  <a:srgbClr val="C00000"/>
                </a:solidFill>
              </a:rPr>
              <a:t>block = 1 + 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tmp</a:t>
            </a:r>
            <a:r>
              <a:rPr lang="en-US" altLang="zh-CN" sz="1800" dirty="0" smtClean="0">
                <a:solidFill>
                  <a:srgbClr val="C00000"/>
                </a:solidFill>
              </a:rPr>
              <a:t>/BLOCK_SIZE;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    /* </a:t>
            </a:r>
            <a:r>
              <a:rPr lang="zh-CN" altLang="en-US" sz="1800" dirty="0"/>
              <a:t>第一块文件头</a:t>
            </a:r>
            <a:r>
              <a:rPr lang="en-US" altLang="zh-CN" sz="1800" dirty="0" smtClean="0"/>
              <a:t>*/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>
                <a:solidFill>
                  <a:srgbClr val="C00000"/>
                </a:solidFill>
              </a:rPr>
              <a:t>for (</a:t>
            </a:r>
            <a:r>
              <a:rPr lang="en-US" altLang="zh-CN" sz="1800" dirty="0" err="1">
                <a:solidFill>
                  <a:srgbClr val="C00000"/>
                </a:solidFill>
              </a:rPr>
              <a:t>i</a:t>
            </a:r>
            <a:r>
              <a:rPr lang="en-US" altLang="zh-CN" sz="1800" dirty="0">
                <a:solidFill>
                  <a:srgbClr val="C00000"/>
                </a:solidFill>
              </a:rPr>
              <a:t>=0 ; </a:t>
            </a:r>
            <a:r>
              <a:rPr lang="en-US" altLang="zh-CN" sz="1800" dirty="0" err="1">
                <a:solidFill>
                  <a:srgbClr val="C00000"/>
                </a:solidFill>
              </a:rPr>
              <a:t>i</a:t>
            </a:r>
            <a:r>
              <a:rPr lang="en-US" altLang="zh-CN" sz="1800" dirty="0">
                <a:solidFill>
                  <a:srgbClr val="C00000"/>
                </a:solidFill>
              </a:rPr>
              <a:t>&lt;4 ; block++,</a:t>
            </a:r>
            <a:r>
              <a:rPr lang="en-US" altLang="zh-CN" sz="1800" dirty="0" err="1">
                <a:solidFill>
                  <a:srgbClr val="C00000"/>
                </a:solidFill>
              </a:rPr>
              <a:t>i</a:t>
            </a:r>
            <a:r>
              <a:rPr lang="en-US" altLang="zh-CN" sz="1800" dirty="0">
                <a:solidFill>
                  <a:srgbClr val="C00000"/>
                </a:solidFill>
              </a:rPr>
              <a:t>++)  nr[</a:t>
            </a:r>
            <a:r>
              <a:rPr lang="en-US" altLang="zh-CN" sz="1800" dirty="0" err="1">
                <a:solidFill>
                  <a:srgbClr val="C00000"/>
                </a:solidFill>
              </a:rPr>
              <a:t>i</a:t>
            </a:r>
            <a:r>
              <a:rPr lang="en-US" altLang="zh-CN" sz="1800" dirty="0">
                <a:solidFill>
                  <a:srgbClr val="C00000"/>
                </a:solidFill>
              </a:rPr>
              <a:t>] = </a:t>
            </a:r>
            <a:r>
              <a:rPr lang="en-US" altLang="zh-CN" sz="1800" dirty="0" err="1">
                <a:solidFill>
                  <a:srgbClr val="33CC33"/>
                </a:solidFill>
              </a:rPr>
              <a:t>bmap</a:t>
            </a:r>
            <a:r>
              <a:rPr lang="en-US" altLang="zh-CN" sz="1800" dirty="0">
                <a:solidFill>
                  <a:srgbClr val="C00000"/>
                </a:solidFill>
              </a:rPr>
              <a:t>(current-&gt;</a:t>
            </a:r>
            <a:r>
              <a:rPr lang="en-US" altLang="zh-CN" sz="1800" dirty="0" err="1">
                <a:solidFill>
                  <a:srgbClr val="C00000"/>
                </a:solidFill>
              </a:rPr>
              <a:t>executable,block</a:t>
            </a:r>
            <a:r>
              <a:rPr lang="en-US" altLang="zh-CN" sz="1800" dirty="0">
                <a:solidFill>
                  <a:srgbClr val="C00000"/>
                </a:solidFill>
              </a:rPr>
              <a:t>);</a:t>
            </a:r>
            <a:endParaRPr lang="zh-CN" altLang="en-US" sz="1800" dirty="0" smtClean="0"/>
          </a:p>
        </p:txBody>
      </p:sp>
      <p:sp>
        <p:nvSpPr>
          <p:cNvPr id="2" name="矩形 1"/>
          <p:cNvSpPr/>
          <p:nvPr/>
        </p:nvSpPr>
        <p:spPr>
          <a:xfrm>
            <a:off x="217714" y="3505200"/>
            <a:ext cx="86868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/>
              <a:t>1</a:t>
            </a:r>
            <a:r>
              <a:rPr lang="en-US" altLang="zh-CN" sz="2000" dirty="0"/>
              <a:t>)</a:t>
            </a:r>
            <a:r>
              <a:rPr lang="zh-CN" altLang="en-US" sz="2000" dirty="0" smtClean="0"/>
              <a:t>首先</a:t>
            </a:r>
            <a:r>
              <a:rPr lang="zh-CN" altLang="en-US" sz="2000" dirty="0"/>
              <a:t>申请一个页框（帧）</a:t>
            </a:r>
            <a:endParaRPr lang="en-US" altLang="zh-CN" sz="2000" dirty="0" smtClean="0">
              <a:latin typeface="+mn-lt"/>
            </a:endParaRPr>
          </a:p>
          <a:p>
            <a:r>
              <a:rPr lang="en-US" altLang="zh-CN" sz="2000" dirty="0" smtClean="0">
                <a:latin typeface="+mn-lt"/>
              </a:rPr>
              <a:t>2)</a:t>
            </a:r>
            <a:r>
              <a:rPr lang="zh-CN" altLang="en-US" sz="2000" dirty="0" smtClean="0">
                <a:latin typeface="+mn-lt"/>
              </a:rPr>
              <a:t>计算</a:t>
            </a:r>
            <a:r>
              <a:rPr lang="en-US" altLang="zh-CN" sz="2000" dirty="0">
                <a:latin typeface="+mn-lt"/>
              </a:rPr>
              <a:t>address</a:t>
            </a:r>
            <a:r>
              <a:rPr lang="zh-CN" altLang="en-US" sz="2000" dirty="0">
                <a:latin typeface="+mn-lt"/>
              </a:rPr>
              <a:t>地址处内存在可执行文件中的块</a:t>
            </a:r>
            <a:r>
              <a:rPr lang="zh-CN" altLang="en-US" sz="2000" dirty="0" smtClean="0">
                <a:latin typeface="+mn-lt"/>
              </a:rPr>
              <a:t>序号</a:t>
            </a:r>
            <a:endParaRPr lang="en-US" altLang="zh-CN" sz="2000" dirty="0" smtClean="0">
              <a:latin typeface="+mn-lt"/>
            </a:endParaRPr>
          </a:p>
          <a:p>
            <a:r>
              <a:rPr lang="en-US" altLang="zh-CN" sz="2000" dirty="0" smtClean="0">
                <a:latin typeface="+mn-lt"/>
              </a:rPr>
              <a:t>3)</a:t>
            </a:r>
            <a:r>
              <a:rPr lang="zh-CN" altLang="en-US" sz="2000" dirty="0" smtClean="0">
                <a:latin typeface="+mn-lt"/>
              </a:rPr>
              <a:t>由</a:t>
            </a:r>
            <a:r>
              <a:rPr lang="en-US" altLang="zh-CN" sz="2000" dirty="0" smtClean="0">
                <a:latin typeface="+mn-lt"/>
              </a:rPr>
              <a:t>address</a:t>
            </a:r>
            <a:r>
              <a:rPr lang="zh-CN" altLang="en-US" sz="2000" dirty="0" smtClean="0">
                <a:latin typeface="+mn-lt"/>
              </a:rPr>
              <a:t>得到</a:t>
            </a:r>
            <a:r>
              <a:rPr lang="zh-CN" altLang="en-US" sz="2000" dirty="0">
                <a:latin typeface="+mn-lt"/>
              </a:rPr>
              <a:t>缺页逻辑地址</a:t>
            </a:r>
            <a:r>
              <a:rPr lang="en-US" altLang="zh-CN" sz="2000" dirty="0" err="1" smtClean="0">
                <a:latin typeface="+mn-lt"/>
              </a:rPr>
              <a:t>tmp</a:t>
            </a:r>
            <a:r>
              <a:rPr lang="zh-CN" altLang="en-US" sz="2000" dirty="0" smtClean="0">
                <a:latin typeface="+mn-lt"/>
              </a:rPr>
              <a:t>，然后</a:t>
            </a:r>
            <a:r>
              <a:rPr lang="zh-CN" altLang="en-US" sz="2000" dirty="0">
                <a:latin typeface="+mn-lt"/>
              </a:rPr>
              <a:t>由</a:t>
            </a:r>
            <a:r>
              <a:rPr lang="en-US" altLang="zh-CN" sz="2000" dirty="0" err="1">
                <a:latin typeface="+mn-lt"/>
              </a:rPr>
              <a:t>tmp</a:t>
            </a:r>
            <a:r>
              <a:rPr lang="en-US" altLang="zh-CN" sz="2000" dirty="0">
                <a:latin typeface="+mn-lt"/>
              </a:rPr>
              <a:t>/BLOCK_SIZE</a:t>
            </a:r>
            <a:r>
              <a:rPr lang="zh-CN" altLang="en-US" sz="2000" dirty="0">
                <a:latin typeface="+mn-lt"/>
              </a:rPr>
              <a:t>即</a:t>
            </a:r>
            <a:r>
              <a:rPr lang="zh-CN" altLang="en-US" sz="2000" dirty="0" smtClean="0">
                <a:latin typeface="+mn-lt"/>
              </a:rPr>
              <a:t>得到</a:t>
            </a:r>
            <a:r>
              <a:rPr lang="en-US" altLang="zh-CN" sz="2000" dirty="0" err="1" smtClean="0">
                <a:latin typeface="+mn-lt"/>
              </a:rPr>
              <a:t>tmp</a:t>
            </a:r>
            <a:r>
              <a:rPr lang="zh-CN" altLang="en-US" sz="2000" dirty="0">
                <a:latin typeface="+mn-lt"/>
              </a:rPr>
              <a:t>逻辑地址在可执行文件中的块</a:t>
            </a:r>
            <a:r>
              <a:rPr lang="zh-CN" altLang="en-US" sz="2000" dirty="0" smtClean="0">
                <a:latin typeface="+mn-lt"/>
              </a:rPr>
              <a:t>序号</a:t>
            </a:r>
            <a:endParaRPr lang="en-US" altLang="zh-CN" sz="2000" dirty="0" smtClean="0">
              <a:latin typeface="+mn-lt"/>
            </a:endParaRPr>
          </a:p>
          <a:p>
            <a:r>
              <a:rPr lang="en-US" altLang="zh-CN" sz="2000" dirty="0" smtClean="0">
                <a:latin typeface="+mn-lt"/>
              </a:rPr>
              <a:t>4)+1</a:t>
            </a:r>
            <a:r>
              <a:rPr lang="zh-CN" altLang="en-US" sz="2000" dirty="0">
                <a:latin typeface="+mn-lt"/>
              </a:rPr>
              <a:t>是考虑到文件头占用的开头一个</a:t>
            </a:r>
            <a:r>
              <a:rPr lang="en-US" altLang="zh-CN" sz="2000" dirty="0" smtClean="0">
                <a:latin typeface="+mn-lt"/>
              </a:rPr>
              <a:t>block</a:t>
            </a:r>
          </a:p>
          <a:p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5)</a:t>
            </a:r>
            <a:r>
              <a:rPr lang="zh-CN" altLang="en-US" sz="2000" dirty="0" smtClean="0">
                <a:solidFill>
                  <a:srgbClr val="C00000"/>
                </a:solidFill>
                <a:latin typeface="+mn-lt"/>
              </a:rPr>
              <a:t>接下去？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读取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address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地址处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4096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字节内容到内存中刚申请的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page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物理页面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中。一个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block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等于两个扇区（</a:t>
            </a:r>
            <a:r>
              <a:rPr lang="en-US" altLang="zh-CN" sz="2000" dirty="0" err="1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1k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），四个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block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等于一个页大小（</a:t>
            </a:r>
            <a:r>
              <a:rPr lang="en-US" altLang="zh-CN" sz="2000" dirty="0" err="1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4k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）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5116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请求调页过程</a:t>
            </a:r>
            <a:r>
              <a:rPr lang="en-US" altLang="zh-CN" dirty="0">
                <a:sym typeface="Symbol" panose="05050102010706020507" pitchFamily="18" charset="2"/>
              </a:rPr>
              <a:t>--</a:t>
            </a:r>
            <a:r>
              <a:rPr lang="en-US" altLang="zh-CN" b="0" dirty="0"/>
              <a:t> </a:t>
            </a:r>
            <a:r>
              <a:rPr lang="en-US" altLang="zh-CN" b="0" dirty="0" err="1"/>
              <a:t>do_no_page</a:t>
            </a:r>
            <a:endParaRPr lang="zh-CN" altLang="en-US" dirty="0" smtClean="0"/>
          </a:p>
        </p:txBody>
      </p:sp>
      <p:sp>
        <p:nvSpPr>
          <p:cNvPr id="60419" name="内容占位符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17526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for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=0 ; 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&lt;4 ; block++,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++)  nr[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] = </a:t>
            </a:r>
            <a:r>
              <a:rPr lang="en-US" altLang="zh-CN" sz="2400" dirty="0" err="1">
                <a:solidFill>
                  <a:srgbClr val="C00000"/>
                </a:solidFill>
              </a:rPr>
              <a:t>bmap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(current-&gt;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executable,block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磁盘块号采用两个字节存储；一个间接块占一个磁盘块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1k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（两个扇区）。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节点中可以访问的总块数：直接块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7+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一次间接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512+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二次间接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512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*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512</a:t>
            </a:r>
          </a:p>
          <a:p>
            <a:pPr marL="0" indent="0">
              <a:buNone/>
            </a:pPr>
            <a:r>
              <a:rPr lang="en-US" altLang="zh-CN" sz="20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bmap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找到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block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对应的磁盘快号！放到数组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nr[</a:t>
            </a:r>
            <a:r>
              <a:rPr lang="en-US" altLang="zh-CN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</a:t>
            </a:r>
            <a:r>
              <a:rPr lang="en-US" altLang="zh-CN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]</a:t>
            </a:r>
            <a:r>
              <a:rPr lang="zh-CN" alt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中</a:t>
            </a:r>
          </a:p>
        </p:txBody>
      </p:sp>
      <p:pic>
        <p:nvPicPr>
          <p:cNvPr id="5" name="Picture 25" descr="MINIX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4308" y="3124200"/>
            <a:ext cx="5334000" cy="319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52400" y="3429000"/>
            <a:ext cx="211120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0" dirty="0" smtClean="0">
                <a:solidFill>
                  <a:srgbClr val="FF0000"/>
                </a:solidFill>
              </a:rPr>
              <a:t>一</a:t>
            </a:r>
            <a:r>
              <a:rPr lang="zh-CN" altLang="en-US" sz="2000" b="0" dirty="0">
                <a:solidFill>
                  <a:srgbClr val="FF0000"/>
                </a:solidFill>
              </a:rPr>
              <a:t>个</a:t>
            </a:r>
            <a:r>
              <a:rPr lang="en-US" altLang="zh-CN" sz="2000" b="0" dirty="0">
                <a:solidFill>
                  <a:srgbClr val="FF0000"/>
                </a:solidFill>
              </a:rPr>
              <a:t>page</a:t>
            </a:r>
            <a:r>
              <a:rPr lang="zh-CN" altLang="en-US" sz="2000" b="0" dirty="0">
                <a:solidFill>
                  <a:srgbClr val="FF0000"/>
                </a:solidFill>
              </a:rPr>
              <a:t>有</a:t>
            </a:r>
            <a:r>
              <a:rPr lang="en-US" altLang="zh-CN" sz="2000" b="0" dirty="0" smtClean="0">
                <a:solidFill>
                  <a:srgbClr val="FF0000"/>
                </a:solidFill>
              </a:rPr>
              <a:t>4k</a:t>
            </a:r>
            <a:r>
              <a:rPr lang="zh-CN" altLang="en-US" sz="2000" b="0" dirty="0" smtClean="0">
                <a:solidFill>
                  <a:srgbClr val="FF0000"/>
                </a:solidFill>
              </a:rPr>
              <a:t>，而</a:t>
            </a:r>
            <a:r>
              <a:rPr lang="zh-CN" altLang="en-US" sz="2000" b="0" dirty="0">
                <a:solidFill>
                  <a:srgbClr val="FF0000"/>
                </a:solidFill>
              </a:rPr>
              <a:t>一个</a:t>
            </a:r>
            <a:r>
              <a:rPr lang="en-US" altLang="zh-CN" sz="2000" b="0" dirty="0">
                <a:solidFill>
                  <a:srgbClr val="FF0000"/>
                </a:solidFill>
              </a:rPr>
              <a:t>block</a:t>
            </a:r>
            <a:r>
              <a:rPr lang="zh-CN" altLang="en-US" sz="2000" b="0" dirty="0">
                <a:solidFill>
                  <a:srgbClr val="FF0000"/>
                </a:solidFill>
              </a:rPr>
              <a:t>为</a:t>
            </a:r>
            <a:r>
              <a:rPr lang="en-US" altLang="zh-CN" sz="2000" b="0" dirty="0">
                <a:solidFill>
                  <a:srgbClr val="FF0000"/>
                </a:solidFill>
              </a:rPr>
              <a:t>1k</a:t>
            </a:r>
            <a:r>
              <a:rPr lang="zh-CN" altLang="en-US" sz="2000" b="0" dirty="0" smtClean="0">
                <a:solidFill>
                  <a:srgbClr val="FF0000"/>
                </a:solidFill>
              </a:rPr>
              <a:t>，因此</a:t>
            </a:r>
            <a:r>
              <a:rPr lang="zh-CN" altLang="en-US" sz="2000" b="0" dirty="0">
                <a:solidFill>
                  <a:srgbClr val="FF0000"/>
                </a:solidFill>
              </a:rPr>
              <a:t>要</a:t>
            </a:r>
            <a:r>
              <a:rPr lang="zh-CN" altLang="en-US" sz="2000" b="0" dirty="0" smtClean="0">
                <a:solidFill>
                  <a:srgbClr val="FF0000"/>
                </a:solidFill>
              </a:rPr>
              <a:t>读取从</a:t>
            </a:r>
            <a:r>
              <a:rPr lang="en-US" altLang="zh-CN" sz="2000" b="0" dirty="0" smtClean="0">
                <a:solidFill>
                  <a:srgbClr val="FF0000"/>
                </a:solidFill>
              </a:rPr>
              <a:t>block</a:t>
            </a:r>
            <a:r>
              <a:rPr lang="zh-CN" altLang="en-US" sz="2000" b="0" dirty="0">
                <a:solidFill>
                  <a:srgbClr val="FF0000"/>
                </a:solidFill>
              </a:rPr>
              <a:t>开始的</a:t>
            </a:r>
            <a:r>
              <a:rPr lang="en-US" altLang="zh-CN" sz="2000" b="0" dirty="0">
                <a:solidFill>
                  <a:srgbClr val="FF0000"/>
                </a:solidFill>
              </a:rPr>
              <a:t>4</a:t>
            </a:r>
            <a:r>
              <a:rPr lang="zh-CN" altLang="en-US" sz="2000" b="0" dirty="0">
                <a:solidFill>
                  <a:srgbClr val="FF0000"/>
                </a:solidFill>
              </a:rPr>
              <a:t>个</a:t>
            </a:r>
            <a:r>
              <a:rPr lang="zh-CN" altLang="en-US" sz="2000" b="0" dirty="0" smtClean="0">
                <a:solidFill>
                  <a:srgbClr val="FF0000"/>
                </a:solidFill>
              </a:rPr>
              <a:t>连续数据块。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94400" y="2602468"/>
            <a:ext cx="787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指向</a:t>
            </a:r>
            <a:r>
              <a:rPr lang="en-US" altLang="zh-CN" sz="1400" dirty="0" smtClean="0"/>
              <a:t>512</a:t>
            </a:r>
            <a:r>
              <a:rPr lang="zh-CN" altLang="en-US" sz="1400" dirty="0" smtClean="0"/>
              <a:t>个磁盘块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7369008" y="3124200"/>
            <a:ext cx="93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指向</a:t>
            </a:r>
            <a:r>
              <a:rPr lang="en-US" altLang="zh-CN" sz="1400" dirty="0" smtClean="0"/>
              <a:t>512</a:t>
            </a:r>
            <a:r>
              <a:rPr lang="zh-CN" altLang="en-US" sz="1400" dirty="0" smtClean="0"/>
              <a:t>个磁盘块</a:t>
            </a:r>
            <a:endParaRPr lang="zh-CN" altLang="en-US" sz="1400" dirty="0"/>
          </a:p>
        </p:txBody>
      </p:sp>
      <p:sp>
        <p:nvSpPr>
          <p:cNvPr id="9" name="文本框 8"/>
          <p:cNvSpPr txBox="1"/>
          <p:nvPr/>
        </p:nvSpPr>
        <p:spPr>
          <a:xfrm>
            <a:off x="7273758" y="6206021"/>
            <a:ext cx="93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指向</a:t>
            </a:r>
            <a:r>
              <a:rPr lang="en-US" altLang="zh-CN" sz="1400" dirty="0" smtClean="0"/>
              <a:t>512</a:t>
            </a:r>
            <a:r>
              <a:rPr lang="zh-CN" altLang="en-US" sz="1400" dirty="0" smtClean="0"/>
              <a:t>个磁盘块</a:t>
            </a:r>
            <a:endParaRPr lang="zh-CN" altLang="en-US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5616408" y="6206021"/>
            <a:ext cx="939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指向</a:t>
            </a:r>
            <a:r>
              <a:rPr lang="en-US" altLang="zh-CN" sz="1400" dirty="0" smtClean="0"/>
              <a:t>512</a:t>
            </a:r>
            <a:r>
              <a:rPr lang="zh-CN" altLang="en-US" sz="1400" dirty="0" smtClean="0"/>
              <a:t>个二次间接二级块</a:t>
            </a:r>
            <a:endParaRPr lang="zh-CN" altLang="en-US" sz="1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5086016" y="3167390"/>
            <a:ext cx="698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7</a:t>
            </a:r>
            <a:r>
              <a:rPr lang="zh-CN" altLang="en-US" sz="1400" dirty="0" smtClean="0"/>
              <a:t>个直接块</a:t>
            </a:r>
            <a:endParaRPr lang="zh-CN" altLang="en-US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889708" y="3505200"/>
            <a:ext cx="873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FF0000"/>
                </a:solidFill>
              </a:rPr>
              <a:t>520</a:t>
            </a:r>
            <a:r>
              <a:rPr lang="zh-CN" altLang="en-US" sz="1400" dirty="0" smtClean="0">
                <a:solidFill>
                  <a:srgbClr val="FF0000"/>
                </a:solidFill>
              </a:rPr>
              <a:t>块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889708" y="3694727"/>
            <a:ext cx="749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FF0000"/>
                </a:solidFill>
              </a:rPr>
              <a:t>521</a:t>
            </a:r>
            <a:r>
              <a:rPr lang="zh-CN" altLang="en-US" sz="1400" dirty="0" smtClean="0">
                <a:solidFill>
                  <a:srgbClr val="FF0000"/>
                </a:solidFill>
              </a:rPr>
              <a:t>块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889708" y="3883223"/>
            <a:ext cx="749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FF0000"/>
                </a:solidFill>
              </a:rPr>
              <a:t>522</a:t>
            </a:r>
            <a:r>
              <a:rPr lang="zh-CN" altLang="en-US" sz="1400" dirty="0" smtClean="0">
                <a:solidFill>
                  <a:srgbClr val="FF0000"/>
                </a:solidFill>
              </a:rPr>
              <a:t>块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81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532292"/>
            <a:ext cx="4191000" cy="266810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1191681"/>
            <a:ext cx="900363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00B05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// create</a:t>
            </a:r>
            <a:r>
              <a:rPr lang="zh-CN" altLang="zh-CN" sz="1600" kern="1800" dirty="0" smtClean="0">
                <a:solidFill>
                  <a:srgbClr val="00B0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是否创建新块，</a:t>
            </a:r>
            <a:r>
              <a:rPr lang="en-US" altLang="zh-CN" sz="1600" kern="1800" dirty="0" smtClean="0">
                <a:solidFill>
                  <a:srgbClr val="00B0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zh-CN" sz="1600" kern="1800" dirty="0" smtClean="0">
                <a:solidFill>
                  <a:srgbClr val="00B0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创建，</a:t>
            </a:r>
            <a:r>
              <a:rPr lang="en-US" altLang="zh-CN" sz="1600" kern="1800" dirty="0" smtClean="0">
                <a:solidFill>
                  <a:srgbClr val="00B0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zh-CN" sz="1600" kern="1800" dirty="0" smtClean="0">
                <a:solidFill>
                  <a:srgbClr val="00B0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不创建；</a:t>
            </a:r>
            <a:r>
              <a:rPr lang="en-US" altLang="zh-CN" sz="1600" kern="1800" dirty="0" smtClean="0">
                <a:solidFill>
                  <a:srgbClr val="00B0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block</a:t>
            </a:r>
            <a:r>
              <a:rPr lang="zh-CN" altLang="zh-CN" sz="1600" kern="1800" dirty="0" smtClean="0">
                <a:solidFill>
                  <a:srgbClr val="00B0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文件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static </a:t>
            </a:r>
            <a:r>
              <a:rPr lang="en-US" altLang="zh-CN" sz="1600" kern="1800" dirty="0" err="1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1600" kern="1800" dirty="0" err="1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bmap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600" kern="1800" dirty="0" err="1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struct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kern="1800" dirty="0" err="1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m_inode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* </a:t>
            </a:r>
            <a:r>
              <a:rPr lang="en-US" altLang="zh-CN" sz="1600" kern="1800" dirty="0" err="1" smtClean="0">
                <a:solidFill>
                  <a:srgbClr val="C0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inode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,</a:t>
            </a: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en-US" altLang="zh-CN" sz="1600" kern="1800" dirty="0" err="1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kern="1800" dirty="0" err="1" smtClean="0">
                <a:solidFill>
                  <a:srgbClr val="C0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block</a:t>
            </a:r>
            <a:r>
              <a:rPr lang="en-US" altLang="zh-CN" sz="1600" kern="1800" dirty="0" err="1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,int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kern="1800" dirty="0" smtClean="0">
                <a:solidFill>
                  <a:srgbClr val="C0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create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{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en-US" altLang="zh-CN" sz="1600" kern="180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struct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kern="180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buffer_head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* </a:t>
            </a:r>
            <a:r>
              <a:rPr lang="en-US" altLang="zh-CN" sz="1600" kern="180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bh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en-US" altLang="zh-CN" sz="1600" kern="1800" dirty="0" err="1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int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kern="1800" dirty="0" err="1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 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if (block&lt;0) panic("_</a:t>
            </a:r>
            <a:r>
              <a:rPr lang="en-US" altLang="zh-CN" sz="1600" kern="180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bmap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: block&lt;0");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 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if (block &gt;= 7+512+512*512)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panic("_</a:t>
            </a:r>
            <a:r>
              <a:rPr lang="en-US" altLang="zh-CN" sz="1600" kern="1800" dirty="0" err="1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bmap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: block&gt;big");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 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if (block&lt;7) </a:t>
            </a:r>
            <a:r>
              <a:rPr lang="en-US" altLang="zh-CN" sz="1600" kern="1800" dirty="0" smtClean="0">
                <a:latin typeface="微软雅黑" panose="020B0503020204020204" pitchFamily="34" charset="-122"/>
                <a:cs typeface="Arial" panose="020B0604020202020204" pitchFamily="34" charset="0"/>
              </a:rPr>
              <a:t>{ 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… …  //</a:t>
            </a:r>
            <a:r>
              <a:rPr lang="zh-CN" altLang="en-US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说明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block</a:t>
            </a:r>
            <a:r>
              <a:rPr lang="zh-CN" altLang="en-US" sz="1600" kern="1800" dirty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序号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0-6</a:t>
            </a:r>
            <a:r>
              <a:rPr lang="zh-CN" altLang="en-US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直接快</a:t>
            </a:r>
            <a:endParaRPr lang="en-US" altLang="zh-CN" sz="1600" kern="1800" dirty="0" smtClean="0">
              <a:solidFill>
                <a:srgbClr val="333333"/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00B0F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	return </a:t>
            </a:r>
            <a:r>
              <a:rPr lang="en-US" altLang="zh-CN" sz="1600" kern="1800" dirty="0" err="1" smtClean="0">
                <a:solidFill>
                  <a:srgbClr val="00B0F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inode</a:t>
            </a:r>
            <a:r>
              <a:rPr lang="en-US" altLang="zh-CN" sz="1600" kern="1800" dirty="0" smtClean="0">
                <a:solidFill>
                  <a:srgbClr val="00B0F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600" kern="1800" dirty="0" err="1" smtClean="0">
                <a:solidFill>
                  <a:srgbClr val="00B0F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i_zone</a:t>
            </a:r>
            <a:r>
              <a:rPr lang="en-US" altLang="zh-CN" sz="1600" kern="1800" dirty="0" smtClean="0">
                <a:solidFill>
                  <a:srgbClr val="00B0F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[block]; 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} </a:t>
            </a:r>
          </a:p>
          <a:p>
            <a:pPr algn="just">
              <a:lnSpc>
                <a:spcPts val="1800"/>
              </a:lnSpc>
              <a:spcAft>
                <a:spcPts val="0"/>
              </a:spcAft>
            </a:pP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block -= 7;    </a:t>
            </a:r>
            <a:r>
              <a:rPr lang="en-US" altLang="zh-CN" sz="1600" kern="1800" dirty="0" smtClean="0">
                <a:solidFill>
                  <a:srgbClr val="00B05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zh-CN" sz="1600" kern="1800" dirty="0" smtClean="0">
                <a:solidFill>
                  <a:srgbClr val="00B0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减掉直接块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if (block&lt;512) {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… …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	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if (!(</a:t>
            </a:r>
            <a:r>
              <a:rPr lang="en-US" altLang="zh-CN" sz="1600" kern="180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bh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1600" kern="1800" dirty="0" smtClean="0">
                <a:solidFill>
                  <a:srgbClr val="00B05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bread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600" kern="180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inode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600" kern="180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i_dev,inode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600" kern="180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i_zone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[7])))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return 0;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	</a:t>
            </a:r>
            <a:r>
              <a:rPr lang="en-US" altLang="zh-CN" sz="1600" kern="1800" dirty="0" smtClean="0">
                <a:solidFill>
                  <a:srgbClr val="00B05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//</a:t>
            </a:r>
            <a:r>
              <a:rPr lang="zh-CN" altLang="zh-CN" sz="1600" kern="1800" dirty="0" smtClean="0">
                <a:solidFill>
                  <a:srgbClr val="00B05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一次间接存储的物理盘块号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	</a:t>
            </a:r>
            <a:r>
              <a:rPr lang="en-US" altLang="zh-CN" sz="1600" kern="180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= ((unsigned short *) (</a:t>
            </a:r>
            <a:r>
              <a:rPr lang="en-US" altLang="zh-CN" sz="1600" kern="180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bh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600" kern="180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b_data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))[block];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66700" indent="266700"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… …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00B0F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	return </a:t>
            </a:r>
            <a:r>
              <a:rPr lang="en-US" altLang="zh-CN" sz="1600" kern="1800" dirty="0" err="1" smtClean="0">
                <a:solidFill>
                  <a:srgbClr val="00B0F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i</a:t>
            </a:r>
            <a:r>
              <a:rPr lang="en-US" altLang="zh-CN" sz="1600" kern="1800" dirty="0" smtClean="0">
                <a:solidFill>
                  <a:srgbClr val="00B0F0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;</a:t>
            </a:r>
            <a:endParaRPr lang="zh-CN" altLang="zh-CN" sz="1600" kern="100" dirty="0" smtClean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	}</a:t>
            </a: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… …</a:t>
            </a: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}</a:t>
            </a:r>
            <a:endParaRPr lang="zh-CN" altLang="zh-CN" sz="1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2971800" y="5943600"/>
            <a:ext cx="2133600" cy="685800"/>
          </a:xfrm>
          <a:prstGeom prst="wedgeRoundRectCallout">
            <a:avLst>
              <a:gd name="adj1" fmla="val 37848"/>
              <a:gd name="adj2" fmla="val -106331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800">
                <a:solidFill>
                  <a:srgbClr val="FF0000"/>
                </a:solidFill>
              </a:rPr>
              <a:t>char *b_data;   // </a:t>
            </a:r>
            <a:r>
              <a:rPr lang="zh-CN" altLang="en-US" sz="1800">
                <a:solidFill>
                  <a:srgbClr val="FF0000"/>
                </a:solidFill>
              </a:rPr>
              <a:t>指向缓冲块数据区</a:t>
            </a:r>
            <a:endParaRPr lang="zh-CN" altLang="en-US" sz="1800" dirty="0"/>
          </a:p>
        </p:txBody>
      </p:sp>
      <p:sp>
        <p:nvSpPr>
          <p:cNvPr id="7" name="矩形 6"/>
          <p:cNvSpPr/>
          <p:nvPr/>
        </p:nvSpPr>
        <p:spPr>
          <a:xfrm>
            <a:off x="5257800" y="5809934"/>
            <a:ext cx="388620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800" kern="1800" dirty="0" err="1" smtClean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bh</a:t>
            </a:r>
            <a:r>
              <a:rPr lang="en-US" altLang="zh-CN" sz="1800" kern="1800" dirty="0" smtClean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en-US" altLang="zh-CN" sz="1800" kern="1800" dirty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&gt;</a:t>
            </a:r>
            <a:r>
              <a:rPr lang="en-US" altLang="zh-CN" sz="1800" kern="1800" dirty="0" err="1" smtClean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b_data</a:t>
            </a:r>
            <a:endParaRPr lang="en-US" altLang="zh-CN" sz="1800" kern="1800" dirty="0" smtClean="0">
              <a:solidFill>
                <a:srgbClr val="0033CC"/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800" kern="1800" dirty="0" smtClean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en-US" altLang="zh-CN" sz="1800" kern="1800" dirty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unsigned short </a:t>
            </a:r>
            <a:r>
              <a:rPr lang="en-US" altLang="zh-CN" sz="1800" kern="1800" dirty="0" smtClean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*)</a:t>
            </a:r>
            <a:r>
              <a:rPr lang="en-US" altLang="zh-CN" sz="1800" kern="1800" dirty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 (</a:t>
            </a:r>
            <a:r>
              <a:rPr lang="en-US" altLang="zh-CN" sz="1800" kern="1800" dirty="0" err="1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bh</a:t>
            </a:r>
            <a:r>
              <a:rPr lang="en-US" altLang="zh-CN" sz="1800" kern="1800" dirty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-&gt;</a:t>
            </a:r>
            <a:r>
              <a:rPr lang="en-US" altLang="zh-CN" sz="1800" kern="1800" dirty="0" err="1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b_data</a:t>
            </a:r>
            <a:r>
              <a:rPr lang="en-US" altLang="zh-CN" sz="1800" kern="1800" dirty="0" smtClean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en-US" altLang="zh-CN" sz="1800" kern="1800" dirty="0">
              <a:solidFill>
                <a:srgbClr val="0033CC"/>
              </a:solidFill>
              <a:latin typeface="微软雅黑" panose="020B0503020204020204" pitchFamily="34" charset="-122"/>
              <a:cs typeface="Arial" panose="020B0604020202020204" pitchFamily="34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800" kern="1800" dirty="0" smtClean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[</a:t>
            </a:r>
            <a:r>
              <a:rPr lang="en-US" altLang="zh-CN" sz="1800" kern="1800" dirty="0">
                <a:solidFill>
                  <a:srgbClr val="0033CC"/>
                </a:solidFill>
                <a:latin typeface="微软雅黑" panose="020B0503020204020204" pitchFamily="34" charset="-122"/>
                <a:cs typeface="Arial" panose="020B0604020202020204" pitchFamily="34" charset="0"/>
              </a:rPr>
              <a:t>block];</a:t>
            </a:r>
            <a:endParaRPr lang="zh-CN" altLang="zh-CN" sz="1800" kern="100" dirty="0">
              <a:solidFill>
                <a:srgbClr val="0033CC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55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t="3331"/>
          <a:stretch/>
        </p:blipFill>
        <p:spPr>
          <a:xfrm>
            <a:off x="5105400" y="0"/>
            <a:ext cx="3974432" cy="244595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6200" y="1295400"/>
            <a:ext cx="9003632" cy="4632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// create</a:t>
            </a:r>
            <a:r>
              <a:rPr lang="zh-CN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是否创建新块，</a:t>
            </a: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1</a:t>
            </a:r>
            <a:r>
              <a:rPr lang="zh-CN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创建，</a:t>
            </a: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0</a:t>
            </a:r>
            <a:r>
              <a:rPr lang="zh-CN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不创建；</a:t>
            </a: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block</a:t>
            </a:r>
            <a:r>
              <a:rPr lang="zh-CN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文件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static 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int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 _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bmap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(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struct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m_inode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 * </a:t>
            </a:r>
            <a:r>
              <a:rPr lang="en-US" altLang="zh-CN" sz="1600" kern="1800" dirty="0" err="1">
                <a:solidFill>
                  <a:srgbClr val="C00000"/>
                </a:solidFill>
                <a:latin typeface="+mn-lt"/>
                <a:ea typeface="+mn-ea"/>
                <a:cs typeface="Arial" panose="020B0604020202020204" pitchFamily="34" charset="0"/>
              </a:rPr>
              <a:t>inode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,</a:t>
            </a: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	</a:t>
            </a:r>
            <a:r>
              <a:rPr lang="en-US" altLang="zh-CN" sz="1600" kern="1800" dirty="0" err="1" smtClean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int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600" kern="1800" dirty="0" err="1">
                <a:solidFill>
                  <a:srgbClr val="C00000"/>
                </a:solidFill>
                <a:latin typeface="+mn-lt"/>
                <a:ea typeface="+mn-ea"/>
                <a:cs typeface="Arial" panose="020B0604020202020204" pitchFamily="34" charset="0"/>
              </a:rPr>
              <a:t>block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,int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1600" kern="1800" dirty="0">
                <a:solidFill>
                  <a:srgbClr val="C00000"/>
                </a:solidFill>
                <a:latin typeface="+mn-lt"/>
                <a:ea typeface="+mn-ea"/>
                <a:cs typeface="Arial" panose="020B0604020202020204" pitchFamily="34" charset="0"/>
              </a:rPr>
              <a:t>create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)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{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latin typeface="+mn-lt"/>
                <a:ea typeface="+mn-ea"/>
                <a:cs typeface="Arial" panose="020B0604020202020204" pitchFamily="34" charset="0"/>
              </a:rPr>
              <a:t>         … …</a:t>
            </a: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	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block </a:t>
            </a:r>
            <a:r>
              <a:rPr lang="en-US" altLang="zh-CN" sz="1600" kern="1800" dirty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-= 512;  </a:t>
            </a: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//</a:t>
            </a:r>
            <a:r>
              <a:rPr lang="zh-CN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减掉一次间接块，之前已将直接块</a:t>
            </a: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7</a:t>
            </a:r>
            <a:r>
              <a:rPr lang="zh-CN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减掉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marL="266700" indent="266700"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… …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	</a:t>
            </a:r>
            <a:r>
              <a:rPr lang="en-US" altLang="zh-CN" sz="1600" kern="1800" dirty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if (!(</a:t>
            </a:r>
            <a:r>
              <a:rPr lang="en-US" altLang="zh-CN" sz="1600" kern="1800" dirty="0" err="1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bh</a:t>
            </a:r>
            <a:r>
              <a:rPr lang="en-US" altLang="zh-CN" sz="1600" kern="1800" dirty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=bread(</a:t>
            </a:r>
            <a:r>
              <a:rPr lang="en-US" altLang="zh-CN" sz="1600" kern="1800" dirty="0" err="1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inode</a:t>
            </a:r>
            <a:r>
              <a:rPr lang="en-US" altLang="zh-CN" sz="1600" kern="1800" dirty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-&gt;</a:t>
            </a:r>
            <a:r>
              <a:rPr lang="en-US" altLang="zh-CN" sz="1600" kern="1800" dirty="0" err="1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i_dev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, </a:t>
            </a:r>
            <a:r>
              <a:rPr lang="en-US" altLang="zh-CN" sz="1600" kern="1800" dirty="0" err="1" smtClean="0">
                <a:solidFill>
                  <a:srgbClr val="0000CC"/>
                </a:solidFill>
                <a:latin typeface="+mn-lt"/>
                <a:ea typeface="+mn-ea"/>
                <a:cs typeface="Arial" panose="020B0604020202020204" pitchFamily="34" charset="0"/>
              </a:rPr>
              <a:t>inode</a:t>
            </a:r>
            <a:r>
              <a:rPr lang="en-US" altLang="zh-CN" sz="1600" kern="1800" dirty="0" smtClean="0">
                <a:solidFill>
                  <a:srgbClr val="0000CC"/>
                </a:solidFill>
                <a:latin typeface="+mn-lt"/>
                <a:ea typeface="+mn-ea"/>
                <a:cs typeface="Arial" panose="020B0604020202020204" pitchFamily="34" charset="0"/>
              </a:rPr>
              <a:t>-</a:t>
            </a:r>
            <a:r>
              <a:rPr lang="en-US" altLang="zh-CN" sz="1600" kern="1800" dirty="0">
                <a:solidFill>
                  <a:srgbClr val="0000CC"/>
                </a:solidFill>
                <a:latin typeface="+mn-lt"/>
                <a:ea typeface="+mn-ea"/>
                <a:cs typeface="Arial" panose="020B0604020202020204" pitchFamily="34" charset="0"/>
              </a:rPr>
              <a:t>&gt;</a:t>
            </a:r>
            <a:r>
              <a:rPr lang="en-US" altLang="zh-CN" sz="1600" kern="1800" dirty="0" err="1">
                <a:solidFill>
                  <a:srgbClr val="0000CC"/>
                </a:solidFill>
                <a:latin typeface="+mn-lt"/>
                <a:ea typeface="+mn-ea"/>
                <a:cs typeface="Arial" panose="020B0604020202020204" pitchFamily="34" charset="0"/>
              </a:rPr>
              <a:t>i_zone</a:t>
            </a:r>
            <a:r>
              <a:rPr lang="en-US" altLang="zh-CN" sz="1600" kern="1800" dirty="0">
                <a:solidFill>
                  <a:srgbClr val="0000CC"/>
                </a:solidFill>
                <a:latin typeface="+mn-lt"/>
                <a:ea typeface="+mn-ea"/>
                <a:cs typeface="Arial" panose="020B0604020202020204" pitchFamily="34" charset="0"/>
              </a:rPr>
              <a:t>[8</a:t>
            </a:r>
            <a:r>
              <a:rPr lang="en-US" altLang="zh-CN" sz="1600" kern="1800" dirty="0" smtClean="0">
                <a:solidFill>
                  <a:srgbClr val="0000CC"/>
                </a:solidFill>
                <a:latin typeface="+mn-lt"/>
                <a:ea typeface="+mn-ea"/>
                <a:cs typeface="Arial" panose="020B0604020202020204" pitchFamily="34" charset="0"/>
              </a:rPr>
              <a:t>] 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))) 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return 0;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 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indent="266700"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	// </a:t>
            </a: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block&gt;&gt;9</a:t>
            </a:r>
            <a:r>
              <a:rPr lang="zh-CN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右移</a:t>
            </a: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9</a:t>
            </a:r>
            <a:r>
              <a:rPr lang="zh-CN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位，除</a:t>
            </a: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512(</a:t>
            </a:r>
            <a:r>
              <a:rPr lang="en-US" altLang="zh-CN" sz="1600" kern="1800" dirty="0" err="1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0x0100</a:t>
            </a: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)</a:t>
            </a:r>
            <a:r>
              <a:rPr lang="zh-CN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，找到二次间接二级块号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	</a:t>
            </a:r>
            <a:r>
              <a:rPr lang="en-US" altLang="zh-CN" sz="1600" kern="1800" dirty="0" err="1">
                <a:latin typeface="+mn-lt"/>
                <a:ea typeface="+mn-ea"/>
                <a:cs typeface="Arial" panose="020B0604020202020204" pitchFamily="34" charset="0"/>
              </a:rPr>
              <a:t>i</a:t>
            </a:r>
            <a:r>
              <a:rPr lang="en-US" altLang="zh-CN" sz="1600" kern="1800" dirty="0">
                <a:latin typeface="+mn-lt"/>
                <a:ea typeface="+mn-ea"/>
                <a:cs typeface="Arial" panose="020B0604020202020204" pitchFamily="34" charset="0"/>
              </a:rPr>
              <a:t> = </a:t>
            </a:r>
            <a:r>
              <a:rPr lang="en-US" altLang="zh-CN" sz="1600" kern="1800" dirty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((unsigned short *)</a:t>
            </a:r>
            <a:r>
              <a:rPr lang="en-US" altLang="zh-CN" sz="1600" kern="1800" dirty="0" err="1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bh</a:t>
            </a:r>
            <a:r>
              <a:rPr lang="en-US" altLang="zh-CN" sz="1600" kern="1800" dirty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-&gt;</a:t>
            </a:r>
            <a:r>
              <a:rPr lang="en-US" altLang="zh-CN" sz="1600" kern="1800" dirty="0" err="1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b_data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) </a:t>
            </a:r>
            <a:r>
              <a:rPr lang="en-US" altLang="zh-CN" sz="1600" kern="1800" dirty="0" smtClean="0">
                <a:solidFill>
                  <a:srgbClr val="0000CC"/>
                </a:solidFill>
                <a:latin typeface="+mn-lt"/>
                <a:ea typeface="+mn-ea"/>
                <a:cs typeface="Arial" panose="020B0604020202020204" pitchFamily="34" charset="0"/>
              </a:rPr>
              <a:t>[</a:t>
            </a:r>
            <a:r>
              <a:rPr lang="en-US" altLang="zh-CN" sz="1600" kern="1800" dirty="0">
                <a:solidFill>
                  <a:srgbClr val="0000CC"/>
                </a:solidFill>
                <a:latin typeface="+mn-lt"/>
                <a:ea typeface="+mn-ea"/>
                <a:cs typeface="Arial" panose="020B0604020202020204" pitchFamily="34" charset="0"/>
              </a:rPr>
              <a:t>block&gt;&gt;9</a:t>
            </a:r>
            <a:r>
              <a:rPr lang="en-US" altLang="zh-CN" sz="1600" kern="1800" dirty="0" smtClean="0">
                <a:solidFill>
                  <a:srgbClr val="0000CC"/>
                </a:solidFill>
                <a:latin typeface="+mn-lt"/>
                <a:ea typeface="+mn-ea"/>
                <a:cs typeface="Arial" panose="020B0604020202020204" pitchFamily="34" charset="0"/>
              </a:rPr>
              <a:t>] </a:t>
            </a:r>
            <a:r>
              <a:rPr lang="en-US" altLang="zh-CN" sz="1600" kern="1800" dirty="0" smtClean="0">
                <a:solidFill>
                  <a:srgbClr val="FF0000"/>
                </a:solidFill>
                <a:latin typeface="+mn-lt"/>
                <a:ea typeface="+mn-ea"/>
                <a:cs typeface="Arial" panose="020B0604020202020204" pitchFamily="34" charset="0"/>
              </a:rPr>
              <a:t>;  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marL="266700" indent="266700"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… </a:t>
            </a:r>
            <a:r>
              <a:rPr lang="en-US" altLang="zh-CN" sz="1600" kern="1800" dirty="0" smtClean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…//</a:t>
            </a:r>
            <a:r>
              <a:rPr lang="en-US" altLang="zh-CN" sz="1600" kern="1800" dirty="0" err="1" smtClean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i</a:t>
            </a:r>
            <a:r>
              <a:rPr lang="zh-CN" altLang="en-US" sz="1600" kern="1800" dirty="0" smtClean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是二次间接二级块的磁盘块号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	if (!(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bh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=bread(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inode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-&gt;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i_dev,i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)))  return 0;  </a:t>
            </a:r>
            <a:r>
              <a:rPr lang="en-US" altLang="zh-CN" sz="1600" kern="1800" dirty="0" smtClean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//</a:t>
            </a:r>
            <a:r>
              <a:rPr lang="zh-CN" altLang="en-US" sz="1600" kern="1800" dirty="0" smtClean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读取</a:t>
            </a:r>
            <a:r>
              <a:rPr lang="zh-CN" altLang="zh-CN" sz="1600" kern="1800" dirty="0" smtClean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二</a:t>
            </a:r>
            <a:r>
              <a:rPr lang="zh-CN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次间接二</a:t>
            </a:r>
            <a:r>
              <a:rPr lang="zh-CN" altLang="zh-CN" sz="1600" kern="1800" dirty="0" smtClean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级</a:t>
            </a:r>
            <a:r>
              <a:rPr lang="zh-CN" altLang="en-US" sz="1600" kern="1800" dirty="0" smtClean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块存入</a:t>
            </a:r>
            <a:r>
              <a:rPr lang="en-US" altLang="zh-CN" sz="1600" kern="1800" dirty="0" err="1" smtClean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bh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 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indent="266700"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	// </a:t>
            </a:r>
            <a:r>
              <a:rPr lang="en-US" altLang="zh-CN" sz="1600" kern="1800" dirty="0" err="1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block&amp;511</a:t>
            </a: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 (</a:t>
            </a:r>
            <a:r>
              <a:rPr lang="en-US" altLang="zh-CN" sz="1600" kern="1800" dirty="0" err="1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0xff</a:t>
            </a:r>
            <a:r>
              <a:rPr lang="en-US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)</a:t>
            </a:r>
            <a:r>
              <a:rPr lang="zh-CN" altLang="zh-CN" sz="1600" kern="1800" dirty="0">
                <a:solidFill>
                  <a:srgbClr val="00B050"/>
                </a:solidFill>
                <a:latin typeface="+mn-lt"/>
                <a:ea typeface="+mn-ea"/>
                <a:cs typeface="Arial" panose="020B0604020202020204" pitchFamily="34" charset="0"/>
              </a:rPr>
              <a:t>，二次间接二级块内偏移，读出物理盘块号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	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i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 = ((unsigned short *)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bh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-&gt;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b_data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)[</a:t>
            </a:r>
            <a:r>
              <a:rPr lang="en-US" altLang="zh-CN" sz="1600" kern="1800" dirty="0" err="1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block&amp;511</a:t>
            </a: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];  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marL="266700" indent="266700"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… …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00B0F0"/>
                </a:solidFill>
                <a:latin typeface="+mn-lt"/>
                <a:ea typeface="+mn-ea"/>
                <a:cs typeface="Arial" panose="020B0604020202020204" pitchFamily="34" charset="0"/>
              </a:rPr>
              <a:t>	return </a:t>
            </a:r>
            <a:r>
              <a:rPr lang="en-US" altLang="zh-CN" sz="1600" kern="1800" dirty="0" err="1">
                <a:solidFill>
                  <a:srgbClr val="00B0F0"/>
                </a:solidFill>
                <a:latin typeface="+mn-lt"/>
                <a:ea typeface="+mn-ea"/>
                <a:cs typeface="Arial" panose="020B0604020202020204" pitchFamily="34" charset="0"/>
              </a:rPr>
              <a:t>i</a:t>
            </a:r>
            <a:r>
              <a:rPr lang="en-US" altLang="zh-CN" sz="1600" kern="1800" dirty="0">
                <a:solidFill>
                  <a:srgbClr val="00B0F0"/>
                </a:solidFill>
                <a:latin typeface="+mn-lt"/>
                <a:ea typeface="+mn-ea"/>
                <a:cs typeface="Arial" panose="020B0604020202020204" pitchFamily="34" charset="0"/>
              </a:rPr>
              <a:t>;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200"/>
              </a:lnSpc>
              <a:spcAft>
                <a:spcPts val="0"/>
              </a:spcAft>
            </a:pPr>
            <a:r>
              <a:rPr lang="en-US" altLang="zh-CN" sz="1600" kern="1800" dirty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}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algn="just">
              <a:lnSpc>
                <a:spcPts val="1800"/>
              </a:lnSpc>
              <a:spcAft>
                <a:spcPts val="0"/>
              </a:spcAft>
            </a:pPr>
            <a:r>
              <a:rPr lang="en-US" altLang="zh-CN" sz="1600" kern="1800" dirty="0" smtClean="0">
                <a:solidFill>
                  <a:srgbClr val="333333"/>
                </a:solidFill>
                <a:latin typeface="+mn-lt"/>
                <a:ea typeface="+mn-ea"/>
                <a:cs typeface="Arial" panose="020B0604020202020204" pitchFamily="34" charset="0"/>
              </a:rPr>
              <a:t>}</a:t>
            </a:r>
            <a:endParaRPr lang="zh-CN" altLang="zh-CN" sz="1600" kern="100" dirty="0"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17568" y="30242"/>
            <a:ext cx="838200" cy="11695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512</a:t>
            </a:r>
            <a:r>
              <a:rPr lang="zh-CN" altLang="en-US" sz="1400" dirty="0" smtClean="0"/>
              <a:t>块</a:t>
            </a:r>
            <a:endParaRPr lang="en-US" altLang="zh-CN" sz="1400" dirty="0" smtClean="0"/>
          </a:p>
          <a:p>
            <a:endParaRPr lang="en-US" altLang="zh-CN" sz="1400" dirty="0"/>
          </a:p>
          <a:p>
            <a:endParaRPr lang="en-US" altLang="zh-CN" sz="1400" dirty="0" smtClean="0"/>
          </a:p>
          <a:p>
            <a:endParaRPr lang="en-US" altLang="zh-CN" sz="1400" dirty="0"/>
          </a:p>
          <a:p>
            <a:endParaRPr lang="zh-CN" altLang="en-US" sz="1400" dirty="0"/>
          </a:p>
        </p:txBody>
      </p:sp>
      <p:sp>
        <p:nvSpPr>
          <p:cNvPr id="7" name="文本框 6"/>
          <p:cNvSpPr txBox="1"/>
          <p:nvPr/>
        </p:nvSpPr>
        <p:spPr>
          <a:xfrm>
            <a:off x="8229600" y="1259074"/>
            <a:ext cx="838200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altLang="zh-CN" sz="1400" dirty="0" smtClean="0"/>
          </a:p>
          <a:p>
            <a:endParaRPr lang="en-US" altLang="zh-CN" sz="1400" dirty="0" smtClean="0"/>
          </a:p>
          <a:p>
            <a:endParaRPr lang="en-US" altLang="zh-CN" sz="1400" dirty="0"/>
          </a:p>
          <a:p>
            <a:endParaRPr lang="en-US" altLang="zh-CN" sz="1400" dirty="0" smtClean="0"/>
          </a:p>
          <a:p>
            <a:endParaRPr lang="en-US" altLang="zh-CN" sz="1400" dirty="0"/>
          </a:p>
          <a:p>
            <a:r>
              <a:rPr lang="en-US" altLang="zh-CN" sz="1400" dirty="0" smtClean="0"/>
              <a:t>512</a:t>
            </a:r>
            <a:r>
              <a:rPr lang="zh-CN" altLang="en-US" sz="1400" dirty="0" smtClean="0"/>
              <a:t>块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7239000" y="1239679"/>
            <a:ext cx="228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0</a:t>
            </a:r>
            <a:endParaRPr lang="zh-CN" altLang="en-US" sz="1000" dirty="0"/>
          </a:p>
        </p:txBody>
      </p:sp>
      <p:sp>
        <p:nvSpPr>
          <p:cNvPr id="9" name="文本框 8"/>
          <p:cNvSpPr txBox="1"/>
          <p:nvPr/>
        </p:nvSpPr>
        <p:spPr>
          <a:xfrm>
            <a:off x="7277100" y="1354707"/>
            <a:ext cx="228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1</a:t>
            </a:r>
            <a:endParaRPr lang="zh-CN" altLang="en-US" sz="1000" dirty="0"/>
          </a:p>
        </p:txBody>
      </p:sp>
      <p:sp>
        <p:nvSpPr>
          <p:cNvPr id="10" name="文本框 9"/>
          <p:cNvSpPr txBox="1"/>
          <p:nvPr/>
        </p:nvSpPr>
        <p:spPr>
          <a:xfrm>
            <a:off x="7378700" y="1443384"/>
            <a:ext cx="228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2</a:t>
            </a:r>
            <a:endParaRPr lang="zh-CN" altLang="en-US" sz="1000" dirty="0"/>
          </a:p>
        </p:txBody>
      </p:sp>
      <p:sp>
        <p:nvSpPr>
          <p:cNvPr id="11" name="文本框 10"/>
          <p:cNvSpPr txBox="1"/>
          <p:nvPr/>
        </p:nvSpPr>
        <p:spPr>
          <a:xfrm>
            <a:off x="7505700" y="1541206"/>
            <a:ext cx="228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3</a:t>
            </a:r>
            <a:endParaRPr lang="zh-CN" altLang="en-US" sz="1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7109159" y="1226273"/>
            <a:ext cx="838200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altLang="zh-CN" sz="1400" dirty="0" smtClean="0"/>
          </a:p>
          <a:p>
            <a:endParaRPr lang="en-US" altLang="zh-CN" sz="1400" dirty="0" smtClean="0"/>
          </a:p>
          <a:p>
            <a:endParaRPr lang="en-US" altLang="zh-CN" sz="1400" dirty="0"/>
          </a:p>
          <a:p>
            <a:endParaRPr lang="en-US" altLang="zh-CN" sz="1400" dirty="0" smtClean="0"/>
          </a:p>
          <a:p>
            <a:endParaRPr lang="en-US" altLang="zh-CN" sz="1400" dirty="0"/>
          </a:p>
          <a:p>
            <a:pPr algn="ctr"/>
            <a:r>
              <a:rPr lang="en-US" altLang="zh-CN" sz="1400" dirty="0" smtClean="0"/>
              <a:t>512</a:t>
            </a:r>
            <a:r>
              <a:rPr lang="zh-CN" altLang="en-US" sz="1400" dirty="0" smtClean="0"/>
              <a:t>个二级间接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6565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请求调页过程</a:t>
            </a:r>
            <a:r>
              <a:rPr lang="en-US" altLang="zh-CN" dirty="0">
                <a:sym typeface="Symbol" panose="05050102010706020507" pitchFamily="18" charset="2"/>
              </a:rPr>
              <a:t>--</a:t>
            </a:r>
            <a:r>
              <a:rPr lang="en-US" altLang="zh-CN" b="0" dirty="0"/>
              <a:t> </a:t>
            </a:r>
            <a:r>
              <a:rPr lang="en-US" altLang="zh-CN" b="0" dirty="0" err="1"/>
              <a:t>do_no_page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132387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CN" sz="2000" b="0" dirty="0" smtClean="0">
                <a:solidFill>
                  <a:schemeClr val="bg1">
                    <a:lumMod val="50000"/>
                  </a:schemeClr>
                </a:solidFill>
              </a:rPr>
              <a:t>/* 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调用</a:t>
            </a:r>
            <a:r>
              <a:rPr lang="en-US" altLang="zh-CN" sz="2000" b="0" dirty="0" err="1">
                <a:solidFill>
                  <a:schemeClr val="bg1">
                    <a:lumMod val="50000"/>
                  </a:schemeClr>
                </a:solidFill>
              </a:rPr>
              <a:t>bread_page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函数读取这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个连续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</a:rPr>
              <a:t>block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的数据，放入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</a:rPr>
              <a:t>page</a:t>
            </a:r>
            <a:r>
              <a:rPr lang="zh-CN" altLang="en-US" sz="2000" b="0" dirty="0" smtClean="0">
                <a:solidFill>
                  <a:schemeClr val="bg1">
                    <a:lumMod val="50000"/>
                  </a:schemeClr>
                </a:solidFill>
              </a:rPr>
              <a:t>中</a:t>
            </a:r>
            <a:r>
              <a:rPr lang="en-US" altLang="zh-CN" sz="2000" b="0" dirty="0" smtClean="0">
                <a:solidFill>
                  <a:schemeClr val="bg1">
                    <a:lumMod val="50000"/>
                  </a:schemeClr>
                </a:solidFill>
              </a:rPr>
              <a:t>*/</a:t>
            </a:r>
            <a:endParaRPr lang="en-US" altLang="zh-CN" sz="2000" dirty="0" smtClean="0"/>
          </a:p>
          <a:p>
            <a:pPr marL="0" indent="0">
              <a:buNone/>
              <a:defRPr/>
            </a:pPr>
            <a:r>
              <a:rPr lang="en-US" altLang="zh-CN" sz="2000" dirty="0" err="1" smtClean="0">
                <a:solidFill>
                  <a:srgbClr val="C00000"/>
                </a:solidFill>
              </a:rPr>
              <a:t>bread_page</a:t>
            </a:r>
            <a:r>
              <a:rPr lang="en-US" altLang="zh-CN" sz="2000" dirty="0" smtClean="0">
                <a:solidFill>
                  <a:srgbClr val="C00000"/>
                </a:solidFill>
              </a:rPr>
              <a:t>(</a:t>
            </a:r>
            <a:r>
              <a:rPr lang="en-US" altLang="zh-CN" sz="2000" dirty="0" err="1" smtClean="0">
                <a:solidFill>
                  <a:srgbClr val="C00000"/>
                </a:solidFill>
              </a:rPr>
              <a:t>page,current</a:t>
            </a:r>
            <a:r>
              <a:rPr lang="en-US" altLang="zh-CN" sz="2000" dirty="0" smtClean="0">
                <a:solidFill>
                  <a:srgbClr val="C00000"/>
                </a:solidFill>
              </a:rPr>
              <a:t>-</a:t>
            </a:r>
            <a:r>
              <a:rPr lang="en-US" altLang="zh-CN" sz="2000" dirty="0">
                <a:solidFill>
                  <a:srgbClr val="C00000"/>
                </a:solidFill>
              </a:rPr>
              <a:t>&gt;executable-&gt;</a:t>
            </a:r>
            <a:r>
              <a:rPr lang="en-US" altLang="zh-CN" sz="2000" dirty="0" err="1">
                <a:solidFill>
                  <a:srgbClr val="C00000"/>
                </a:solidFill>
              </a:rPr>
              <a:t>i_dev,nr</a:t>
            </a:r>
            <a:r>
              <a:rPr lang="en-US" altLang="zh-CN" sz="2000" dirty="0" smtClean="0">
                <a:solidFill>
                  <a:srgbClr val="C00000"/>
                </a:solidFill>
              </a:rPr>
              <a:t>);</a:t>
            </a:r>
          </a:p>
          <a:p>
            <a:pPr marL="0" indent="0">
              <a:buNone/>
              <a:defRPr/>
            </a:pP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b="0" dirty="0" smtClean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以下代码用来完成对多于读出来的无用字节清零。这主要是针对可执行文件</a:t>
            </a:r>
            <a:r>
              <a:rPr lang="zh-CN" altLang="en-US" sz="2000" b="0" dirty="0" smtClean="0">
                <a:solidFill>
                  <a:schemeClr val="bg1">
                    <a:lumMod val="50000"/>
                  </a:schemeClr>
                </a:solidFill>
              </a:rPr>
              <a:t>中</a:t>
            </a:r>
            <a:r>
              <a:rPr lang="en-US" altLang="zh-CN" sz="2000" b="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2000" b="0" dirty="0" err="1">
                <a:solidFill>
                  <a:schemeClr val="bg1">
                    <a:lumMod val="50000"/>
                  </a:schemeClr>
                </a:solidFill>
              </a:rPr>
              <a:t>tmp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后面的内容不足一页的情况下</a:t>
            </a:r>
            <a:r>
              <a:rPr lang="zh-CN" altLang="en-US" sz="2000" b="0" dirty="0" smtClean="0">
                <a:solidFill>
                  <a:schemeClr val="bg1">
                    <a:lumMod val="50000"/>
                  </a:schemeClr>
                </a:solidFill>
              </a:rPr>
              <a:t>，读出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的一页内容就有很多字节是无用</a:t>
            </a:r>
            <a:r>
              <a:rPr lang="zh-CN" altLang="en-US" sz="2000" b="0" dirty="0" smtClean="0">
                <a:solidFill>
                  <a:schemeClr val="bg1">
                    <a:lumMod val="50000"/>
                  </a:schemeClr>
                </a:solidFill>
              </a:rPr>
              <a:t>的，</a:t>
            </a:r>
            <a:r>
              <a:rPr lang="en-US" altLang="zh-CN" sz="2000" b="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这种情况下就要把这些内容给清零。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zh-CN" sz="2000" b="0" dirty="0" err="1" smtClean="0"/>
              <a:t>i</a:t>
            </a:r>
            <a:r>
              <a:rPr lang="en-US" altLang="zh-CN" sz="2000" b="0" dirty="0" smtClean="0"/>
              <a:t> </a:t>
            </a:r>
            <a:r>
              <a:rPr lang="en-US" altLang="zh-CN" sz="2000" b="0" dirty="0"/>
              <a:t>= </a:t>
            </a:r>
            <a:r>
              <a:rPr lang="en-US" altLang="zh-CN" sz="2000" b="0" dirty="0" err="1"/>
              <a:t>tmp</a:t>
            </a:r>
            <a:r>
              <a:rPr lang="en-US" altLang="zh-CN" sz="2000" b="0" dirty="0"/>
              <a:t> + 4096 - current-&gt;</a:t>
            </a:r>
            <a:r>
              <a:rPr lang="en-US" altLang="zh-CN" sz="2000" b="0" dirty="0" err="1"/>
              <a:t>end_data</a:t>
            </a:r>
            <a:r>
              <a:rPr lang="en-US" altLang="zh-CN" sz="2000" b="0" dirty="0"/>
              <a:t>;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>	</a:t>
            </a:r>
            <a:r>
              <a:rPr lang="en-US" altLang="zh-CN" sz="2000" b="0" dirty="0" smtClean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将</a:t>
            </a:r>
            <a:r>
              <a:rPr lang="en-US" altLang="zh-CN" sz="2000" b="0" dirty="0" err="1">
                <a:solidFill>
                  <a:schemeClr val="bg1">
                    <a:lumMod val="50000"/>
                  </a:schemeClr>
                </a:solidFill>
              </a:rPr>
              <a:t>tmp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指向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</a:rPr>
              <a:t>page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物理页面的尾端，这里是要清除位置的最后面。</a:t>
            </a:r>
            <a:r>
              <a:rPr lang="zh-CN" altLang="en-US" sz="2000" dirty="0" smtClean="0"/>
              <a:t/>
            </a:r>
            <a:br>
              <a:rPr lang="zh-CN" altLang="en-US" sz="2000" dirty="0" smtClean="0"/>
            </a:br>
            <a:r>
              <a:rPr lang="en-US" altLang="zh-CN" sz="2000" b="0" dirty="0" err="1"/>
              <a:t>tmp</a:t>
            </a:r>
            <a:r>
              <a:rPr lang="en-US" altLang="zh-CN" sz="2000" b="0" dirty="0"/>
              <a:t> = page + 4096;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>	</a:t>
            </a:r>
            <a:r>
              <a:rPr lang="en-US" altLang="zh-CN" sz="2000" b="0" dirty="0" smtClean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当上面计算的</a:t>
            </a:r>
            <a:r>
              <a:rPr lang="en-US" altLang="zh-CN" sz="2000" b="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为负值时清除代码是直接跳过的，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</a:rPr>
              <a:t>ok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，很有技巧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</a:rPr>
              <a:t>···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</a:rPr>
              <a:t>	</a:t>
            </a:r>
            <a:r>
              <a:rPr lang="en-US" altLang="zh-CN" sz="2000" b="0" dirty="0" smtClean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若</a:t>
            </a:r>
            <a:r>
              <a:rPr lang="en-US" altLang="zh-CN" sz="2000" b="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为正值，则用</a:t>
            </a:r>
            <a:r>
              <a:rPr lang="en-US" altLang="zh-CN" sz="2000" b="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来计数开始从</a:t>
            </a:r>
            <a:r>
              <a:rPr lang="en-US" altLang="zh-CN" sz="2000" b="0" dirty="0">
                <a:solidFill>
                  <a:schemeClr val="bg1">
                    <a:lumMod val="50000"/>
                  </a:schemeClr>
                </a:solidFill>
              </a:rPr>
              <a:t>page</a:t>
            </a:r>
            <a:r>
              <a:rPr lang="zh-CN" altLang="en-US" sz="2000" b="0" dirty="0">
                <a:solidFill>
                  <a:schemeClr val="bg1">
                    <a:lumMod val="50000"/>
                  </a:schemeClr>
                </a:solidFill>
              </a:rPr>
              <a:t>页面的尾端开始逐个字节清除。</a:t>
            </a:r>
            <a:r>
              <a:rPr lang="zh-CN" altLang="en-US" sz="2000" dirty="0" smtClean="0"/>
              <a:t/>
            </a:r>
            <a:br>
              <a:rPr lang="zh-CN" altLang="en-US" sz="2000" dirty="0" smtClean="0"/>
            </a:br>
            <a:r>
              <a:rPr lang="en-US" altLang="zh-CN" sz="2000" b="0" dirty="0"/>
              <a:t>while (</a:t>
            </a:r>
            <a:r>
              <a:rPr lang="en-US" altLang="zh-CN" sz="2000" b="0" dirty="0" err="1"/>
              <a:t>i</a:t>
            </a:r>
            <a:r>
              <a:rPr lang="en-US" altLang="zh-CN" sz="2000" b="0" dirty="0"/>
              <a:t>-- &gt; 0) {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>	</a:t>
            </a:r>
            <a:r>
              <a:rPr lang="en-US" altLang="zh-CN" sz="2000" b="0" dirty="0" err="1" smtClean="0"/>
              <a:t>tmp</a:t>
            </a:r>
            <a:r>
              <a:rPr lang="en-US" altLang="zh-CN" sz="2000" b="0" dirty="0" smtClean="0"/>
              <a:t>-</a:t>
            </a:r>
            <a:r>
              <a:rPr lang="en-US" altLang="zh-CN" sz="2000" b="0" dirty="0"/>
              <a:t>-;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>	</a:t>
            </a:r>
            <a:r>
              <a:rPr lang="en-US" altLang="zh-CN" sz="2000" b="0" dirty="0" smtClean="0"/>
              <a:t>*(</a:t>
            </a:r>
            <a:r>
              <a:rPr lang="en-US" altLang="zh-CN" sz="2000" b="0" dirty="0"/>
              <a:t>char *)</a:t>
            </a:r>
            <a:r>
              <a:rPr lang="en-US" altLang="zh-CN" sz="2000" b="0" dirty="0" err="1"/>
              <a:t>tmp</a:t>
            </a:r>
            <a:r>
              <a:rPr lang="en-US" altLang="zh-CN" sz="2000" b="0" dirty="0"/>
              <a:t> = 0;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b="0" dirty="0"/>
              <a:t>}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5678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请求调页</a:t>
            </a:r>
            <a:r>
              <a:rPr lang="zh-CN" altLang="en-US" dirty="0" smtClean="0">
                <a:sym typeface="Symbol" panose="05050102010706020507" pitchFamily="18" charset="2"/>
              </a:rPr>
              <a:t>过程</a:t>
            </a:r>
            <a:r>
              <a:rPr lang="en-US" altLang="zh-CN" dirty="0" smtClean="0">
                <a:sym typeface="Symbol" panose="05050102010706020507" pitchFamily="18" charset="2"/>
              </a:rPr>
              <a:t>--</a:t>
            </a:r>
            <a:r>
              <a:rPr lang="en-US" altLang="zh-CN" dirty="0" err="1"/>
              <a:t>bread_page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0" y="1219200"/>
            <a:ext cx="90678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void </a:t>
            </a:r>
            <a:r>
              <a:rPr lang="en-US" altLang="zh-CN" sz="1600" dirty="0" err="1"/>
              <a:t>bread_page</a:t>
            </a:r>
            <a:r>
              <a:rPr lang="en-US" altLang="zh-CN" sz="1600" dirty="0"/>
              <a:t>(unsigned long </a:t>
            </a:r>
            <a:r>
              <a:rPr lang="en-US" altLang="zh-CN" sz="1600" dirty="0" err="1"/>
              <a:t>address,int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dev,int</a:t>
            </a:r>
            <a:r>
              <a:rPr lang="en-US" altLang="zh-CN" sz="1600" dirty="0"/>
              <a:t> b[4])</a:t>
            </a:r>
          </a:p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	</a:t>
            </a:r>
            <a:r>
              <a:rPr lang="en-US" altLang="zh-CN" sz="1600" dirty="0" err="1"/>
              <a:t>struct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buffer_head</a:t>
            </a:r>
            <a:r>
              <a:rPr lang="en-US" altLang="zh-CN" sz="1600" dirty="0"/>
              <a:t> * 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[4];</a:t>
            </a:r>
          </a:p>
          <a:p>
            <a:r>
              <a:rPr lang="en-US" altLang="zh-CN" sz="1600" dirty="0"/>
              <a:t>	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;</a:t>
            </a:r>
          </a:p>
          <a:p>
            <a:endParaRPr lang="zh-CN" altLang="en-US" sz="1600" dirty="0"/>
          </a:p>
          <a:p>
            <a:r>
              <a:rPr lang="en-US" altLang="zh-CN" sz="1600" dirty="0"/>
              <a:t>	</a:t>
            </a:r>
            <a:r>
              <a:rPr lang="en-US" altLang="zh-CN" sz="1600" dirty="0">
                <a:solidFill>
                  <a:srgbClr val="FF0000"/>
                </a:solidFill>
              </a:rPr>
              <a:t>for (</a:t>
            </a:r>
            <a:r>
              <a:rPr lang="en-US" altLang="zh-CN" sz="1600" dirty="0" err="1">
                <a:solidFill>
                  <a:srgbClr val="FF0000"/>
                </a:solidFill>
              </a:rPr>
              <a:t>i</a:t>
            </a:r>
            <a:r>
              <a:rPr lang="en-US" altLang="zh-CN" sz="1600" dirty="0">
                <a:solidFill>
                  <a:srgbClr val="FF0000"/>
                </a:solidFill>
              </a:rPr>
              <a:t>=0 ; </a:t>
            </a:r>
            <a:r>
              <a:rPr lang="en-US" altLang="zh-CN" sz="1600" dirty="0" err="1">
                <a:solidFill>
                  <a:srgbClr val="FF0000"/>
                </a:solidFill>
              </a:rPr>
              <a:t>i</a:t>
            </a:r>
            <a:r>
              <a:rPr lang="en-US" altLang="zh-CN" sz="1600" dirty="0">
                <a:solidFill>
                  <a:srgbClr val="FF0000"/>
                </a:solidFill>
              </a:rPr>
              <a:t>&lt;4 ; </a:t>
            </a:r>
            <a:r>
              <a:rPr lang="en-US" altLang="zh-CN" sz="1600" dirty="0" err="1">
                <a:solidFill>
                  <a:srgbClr val="FF0000"/>
                </a:solidFill>
              </a:rPr>
              <a:t>i</a:t>
            </a:r>
            <a:r>
              <a:rPr lang="en-US" altLang="zh-CN" sz="1600" dirty="0">
                <a:solidFill>
                  <a:srgbClr val="FF0000"/>
                </a:solidFill>
              </a:rPr>
              <a:t>++)</a:t>
            </a:r>
          </a:p>
          <a:p>
            <a:r>
              <a:rPr lang="en-US" altLang="zh-CN" sz="1600" dirty="0"/>
              <a:t>		if (b[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 {</a:t>
            </a:r>
          </a:p>
          <a:p>
            <a:r>
              <a:rPr lang="en-US" altLang="zh-CN" sz="1600" dirty="0"/>
              <a:t>			if ((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= </a:t>
            </a:r>
            <a:r>
              <a:rPr lang="en-US" altLang="zh-CN" sz="1600" dirty="0" err="1">
                <a:solidFill>
                  <a:srgbClr val="FF0000"/>
                </a:solidFill>
              </a:rPr>
              <a:t>getblk</a:t>
            </a:r>
            <a:r>
              <a:rPr lang="en-US" altLang="zh-CN" sz="1600" dirty="0">
                <a:solidFill>
                  <a:srgbClr val="FF0000"/>
                </a:solidFill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</a:rPr>
              <a:t>dev,b</a:t>
            </a:r>
            <a:r>
              <a:rPr lang="en-US" altLang="zh-CN" sz="1600" dirty="0">
                <a:solidFill>
                  <a:srgbClr val="FF0000"/>
                </a:solidFill>
              </a:rPr>
              <a:t>[</a:t>
            </a:r>
            <a:r>
              <a:rPr lang="en-US" altLang="zh-CN" sz="1600" dirty="0" err="1">
                <a:solidFill>
                  <a:srgbClr val="FF0000"/>
                </a:solidFill>
              </a:rPr>
              <a:t>i</a:t>
            </a:r>
            <a:r>
              <a:rPr lang="en-US" altLang="zh-CN" sz="1600" dirty="0"/>
              <a:t>])))</a:t>
            </a:r>
          </a:p>
          <a:p>
            <a:r>
              <a:rPr lang="en-US" altLang="zh-CN" sz="1600" dirty="0"/>
              <a:t>				if (!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]-&gt;</a:t>
            </a:r>
            <a:r>
              <a:rPr lang="en-US" altLang="zh-CN" sz="1600" dirty="0" err="1"/>
              <a:t>b_uptodate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					</a:t>
            </a:r>
            <a:r>
              <a:rPr lang="en-US" altLang="zh-CN" sz="1600" dirty="0" err="1">
                <a:solidFill>
                  <a:srgbClr val="FF0000"/>
                </a:solidFill>
              </a:rPr>
              <a:t>ll_rw_block</a:t>
            </a:r>
            <a:r>
              <a:rPr lang="en-US" altLang="zh-CN" sz="1600" dirty="0">
                <a:solidFill>
                  <a:srgbClr val="FF0000"/>
                </a:solidFill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</a:rPr>
              <a:t>READ,bh</a:t>
            </a:r>
            <a:r>
              <a:rPr lang="en-US" altLang="zh-CN" sz="1600" dirty="0">
                <a:solidFill>
                  <a:srgbClr val="FF0000"/>
                </a:solidFill>
              </a:rPr>
              <a:t>[</a:t>
            </a:r>
            <a:r>
              <a:rPr lang="en-US" altLang="zh-CN" sz="1600" dirty="0" err="1">
                <a:solidFill>
                  <a:srgbClr val="FF0000"/>
                </a:solidFill>
              </a:rPr>
              <a:t>i</a:t>
            </a:r>
            <a:r>
              <a:rPr lang="en-US" altLang="zh-CN" sz="1600" dirty="0">
                <a:solidFill>
                  <a:srgbClr val="FF0000"/>
                </a:solidFill>
              </a:rPr>
              <a:t>]);</a:t>
            </a:r>
          </a:p>
          <a:p>
            <a:r>
              <a:rPr lang="en-US" altLang="zh-CN" sz="1600" dirty="0"/>
              <a:t>		} else</a:t>
            </a:r>
          </a:p>
          <a:p>
            <a:r>
              <a:rPr lang="en-US" altLang="zh-CN" sz="1600" dirty="0"/>
              <a:t>			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= NULL;</a:t>
            </a:r>
          </a:p>
          <a:p>
            <a:r>
              <a:rPr lang="en-US" altLang="zh-CN" sz="1600" dirty="0"/>
              <a:t>	for (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=0 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&lt;4 ;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++,address += BLOCK_SIZE)</a:t>
            </a:r>
          </a:p>
          <a:p>
            <a:r>
              <a:rPr lang="en-US" altLang="zh-CN" sz="1600" dirty="0"/>
              <a:t>		if 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 {</a:t>
            </a:r>
          </a:p>
          <a:p>
            <a:r>
              <a:rPr lang="en-US" altLang="zh-CN" sz="1600" dirty="0"/>
              <a:t>			</a:t>
            </a:r>
            <a:r>
              <a:rPr lang="en-US" altLang="zh-CN" sz="1600" dirty="0" err="1"/>
              <a:t>wait_on_buffer</a:t>
            </a:r>
            <a:r>
              <a:rPr lang="en-US" altLang="zh-CN" sz="1600" dirty="0"/>
              <a:t>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]);</a:t>
            </a:r>
          </a:p>
          <a:p>
            <a:r>
              <a:rPr lang="en-US" altLang="zh-CN" sz="1600" dirty="0"/>
              <a:t>			if 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]-&gt;</a:t>
            </a:r>
            <a:r>
              <a:rPr lang="en-US" altLang="zh-CN" sz="1600" dirty="0" err="1"/>
              <a:t>b_uptodate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				</a:t>
            </a:r>
            <a:r>
              <a:rPr lang="en-US" altLang="zh-CN" sz="1600" dirty="0">
                <a:solidFill>
                  <a:srgbClr val="FF0000"/>
                </a:solidFill>
              </a:rPr>
              <a:t>COPYBLK((unsigned long) </a:t>
            </a:r>
            <a:r>
              <a:rPr lang="en-US" altLang="zh-CN" sz="1600" dirty="0" err="1">
                <a:solidFill>
                  <a:srgbClr val="FF0000"/>
                </a:solidFill>
              </a:rPr>
              <a:t>bh</a:t>
            </a:r>
            <a:r>
              <a:rPr lang="en-US" altLang="zh-CN" sz="1600" dirty="0">
                <a:solidFill>
                  <a:srgbClr val="FF0000"/>
                </a:solidFill>
              </a:rPr>
              <a:t>[</a:t>
            </a:r>
            <a:r>
              <a:rPr lang="en-US" altLang="zh-CN" sz="1600" dirty="0" err="1">
                <a:solidFill>
                  <a:srgbClr val="FF0000"/>
                </a:solidFill>
              </a:rPr>
              <a:t>i</a:t>
            </a:r>
            <a:r>
              <a:rPr lang="en-US" altLang="zh-CN" sz="1600" dirty="0">
                <a:solidFill>
                  <a:srgbClr val="FF0000"/>
                </a:solidFill>
              </a:rPr>
              <a:t>]-&gt;</a:t>
            </a:r>
            <a:r>
              <a:rPr lang="en-US" altLang="zh-CN" sz="1600" dirty="0" err="1">
                <a:solidFill>
                  <a:srgbClr val="FF0000"/>
                </a:solidFill>
              </a:rPr>
              <a:t>b_data,address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			</a:t>
            </a:r>
            <a:r>
              <a:rPr lang="en-US" altLang="zh-CN" sz="1600" dirty="0" err="1"/>
              <a:t>brelse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]);</a:t>
            </a:r>
          </a:p>
          <a:p>
            <a:r>
              <a:rPr lang="zh-CN" altLang="en-US" sz="1600" dirty="0"/>
              <a:t>		</a:t>
            </a:r>
            <a:r>
              <a:rPr lang="en-US" altLang="zh-CN" sz="1600" dirty="0"/>
              <a:t>}</a:t>
            </a:r>
          </a:p>
          <a:p>
            <a:r>
              <a:rPr lang="en-US" altLang="zh-CN" sz="1600" dirty="0"/>
              <a:t>}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63500" y="1752600"/>
            <a:ext cx="8991600" cy="24384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圆角矩形标注 5"/>
          <p:cNvSpPr/>
          <p:nvPr/>
        </p:nvSpPr>
        <p:spPr bwMode="auto">
          <a:xfrm>
            <a:off x="5562600" y="4330699"/>
            <a:ext cx="3274506" cy="838201"/>
          </a:xfrm>
          <a:prstGeom prst="wedgeRoundRectCallout">
            <a:avLst>
              <a:gd name="adj1" fmla="val 2689"/>
              <a:gd name="adj2" fmla="val -159507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 smtClean="0">
                <a:latin typeface="Arial" charset="0"/>
              </a:rPr>
              <a:t>定义四个</a:t>
            </a:r>
            <a:r>
              <a:rPr lang="en-US" altLang="zh-CN" sz="1800" dirty="0" err="1" smtClean="0">
                <a:latin typeface="Arial" charset="0"/>
              </a:rPr>
              <a:t>bh</a:t>
            </a:r>
            <a:r>
              <a:rPr lang="zh-CN" altLang="en-US" sz="1800" dirty="0" smtClean="0">
                <a:latin typeface="Arial" charset="0"/>
              </a:rPr>
              <a:t>缓冲块，先查缓冲，缓冲没有再读盘</a:t>
            </a:r>
            <a:endParaRPr kumimoji="0" lang="zh-CN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7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8143" y="-10886"/>
            <a:ext cx="9043988" cy="1638156"/>
          </a:xfrm>
        </p:spPr>
      </p:pic>
    </p:spTree>
    <p:extLst>
      <p:ext uri="{BB962C8B-B14F-4D97-AF65-F5344CB8AC3E}">
        <p14:creationId xmlns:p14="http://schemas.microsoft.com/office/powerpoint/2010/main" val="368478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bread_page</a:t>
            </a:r>
            <a:r>
              <a:rPr lang="zh-CN" altLang="en-US" dirty="0" smtClean="0"/>
              <a:t>与</a:t>
            </a:r>
            <a:r>
              <a:rPr lang="en-US" altLang="zh-CN" dirty="0"/>
              <a:t>bread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81000" y="1382285"/>
            <a:ext cx="6629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struct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buffer_head</a:t>
            </a:r>
            <a:r>
              <a:rPr lang="en-US" altLang="zh-CN" sz="1600" dirty="0"/>
              <a:t> * bread(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dev,int</a:t>
            </a:r>
            <a:r>
              <a:rPr lang="en-US" altLang="zh-CN" sz="1600" dirty="0"/>
              <a:t> block)</a:t>
            </a:r>
          </a:p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	</a:t>
            </a:r>
            <a:r>
              <a:rPr lang="en-US" altLang="zh-CN" sz="1600" dirty="0" err="1"/>
              <a:t>struct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buffer_head</a:t>
            </a:r>
            <a:r>
              <a:rPr lang="en-US" altLang="zh-CN" sz="1600" dirty="0"/>
              <a:t> * 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;</a:t>
            </a:r>
          </a:p>
          <a:p>
            <a:endParaRPr lang="zh-CN" altLang="en-US" sz="1600" dirty="0"/>
          </a:p>
          <a:p>
            <a:r>
              <a:rPr lang="en-US" altLang="zh-CN" sz="1600" dirty="0"/>
              <a:t>	if (!(</a:t>
            </a:r>
            <a:r>
              <a:rPr lang="en-US" altLang="zh-CN" sz="1600" dirty="0" err="1">
                <a:solidFill>
                  <a:srgbClr val="FF0000"/>
                </a:solidFill>
              </a:rPr>
              <a:t>bh</a:t>
            </a:r>
            <a:r>
              <a:rPr lang="en-US" altLang="zh-CN" sz="1600" dirty="0">
                <a:solidFill>
                  <a:srgbClr val="FF0000"/>
                </a:solidFill>
              </a:rPr>
              <a:t>=</a:t>
            </a:r>
            <a:r>
              <a:rPr lang="en-US" altLang="zh-CN" sz="1600" dirty="0" err="1">
                <a:solidFill>
                  <a:srgbClr val="FF0000"/>
                </a:solidFill>
              </a:rPr>
              <a:t>getblk</a:t>
            </a:r>
            <a:r>
              <a:rPr lang="en-US" altLang="zh-CN" sz="1600" dirty="0">
                <a:solidFill>
                  <a:srgbClr val="FF0000"/>
                </a:solidFill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</a:rPr>
              <a:t>dev,block</a:t>
            </a:r>
            <a:r>
              <a:rPr lang="en-US" altLang="zh-CN" sz="1600" dirty="0"/>
              <a:t>)))</a:t>
            </a:r>
          </a:p>
          <a:p>
            <a:r>
              <a:rPr lang="en-US" altLang="zh-CN" sz="1600" dirty="0"/>
              <a:t>		panic("bread: </a:t>
            </a:r>
            <a:r>
              <a:rPr lang="en-US" altLang="zh-CN" sz="1600" dirty="0" err="1"/>
              <a:t>getblk</a:t>
            </a:r>
            <a:r>
              <a:rPr lang="en-US" altLang="zh-CN" sz="1600" dirty="0"/>
              <a:t> returned NULL\n");</a:t>
            </a:r>
          </a:p>
          <a:p>
            <a:r>
              <a:rPr lang="en-US" altLang="zh-CN" sz="1600" dirty="0"/>
              <a:t>	if 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-&gt;</a:t>
            </a:r>
            <a:r>
              <a:rPr lang="en-US" altLang="zh-CN" sz="1600" dirty="0" err="1"/>
              <a:t>b_uptodate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		return 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	</a:t>
            </a:r>
            <a:r>
              <a:rPr lang="en-US" altLang="zh-CN" sz="1600" dirty="0" err="1">
                <a:solidFill>
                  <a:srgbClr val="FF0000"/>
                </a:solidFill>
              </a:rPr>
              <a:t>ll_rw_block</a:t>
            </a:r>
            <a:r>
              <a:rPr lang="en-US" altLang="zh-CN" sz="1600" dirty="0">
                <a:solidFill>
                  <a:srgbClr val="FF0000"/>
                </a:solidFill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</a:rPr>
              <a:t>READ,bh</a:t>
            </a:r>
            <a:r>
              <a:rPr lang="en-US" altLang="zh-CN" sz="1600" dirty="0">
                <a:solidFill>
                  <a:srgbClr val="FF0000"/>
                </a:solidFill>
              </a:rPr>
              <a:t>);</a:t>
            </a:r>
          </a:p>
          <a:p>
            <a:r>
              <a:rPr lang="en-US" altLang="zh-CN" sz="1600" dirty="0"/>
              <a:t>	</a:t>
            </a:r>
            <a:r>
              <a:rPr lang="en-US" altLang="zh-CN" sz="1600" dirty="0" err="1"/>
              <a:t>wait_on_buffer</a:t>
            </a:r>
            <a:r>
              <a:rPr lang="en-US" altLang="zh-CN" sz="1600" dirty="0"/>
              <a:t>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	if 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-&gt;</a:t>
            </a:r>
            <a:r>
              <a:rPr lang="en-US" altLang="zh-CN" sz="1600" dirty="0" err="1"/>
              <a:t>b_uptodate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		return 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	</a:t>
            </a:r>
            <a:r>
              <a:rPr lang="en-US" altLang="zh-CN" sz="1600" dirty="0" err="1"/>
              <a:t>brelse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	return NULL;</a:t>
            </a:r>
          </a:p>
          <a:p>
            <a:r>
              <a:rPr lang="en-US" altLang="zh-CN" sz="1600" dirty="0"/>
              <a:t>}</a:t>
            </a:r>
          </a:p>
        </p:txBody>
      </p:sp>
      <p:pic>
        <p:nvPicPr>
          <p:cNvPr id="5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012" y="4953000"/>
            <a:ext cx="9043988" cy="1638156"/>
          </a:xfrm>
        </p:spPr>
      </p:pic>
    </p:spTree>
    <p:extLst>
      <p:ext uri="{BB962C8B-B14F-4D97-AF65-F5344CB8AC3E}">
        <p14:creationId xmlns:p14="http://schemas.microsoft.com/office/powerpoint/2010/main" val="132217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请求调页过程</a:t>
            </a:r>
            <a:r>
              <a:rPr lang="en-US" altLang="zh-CN" dirty="0">
                <a:sym typeface="Symbol" panose="05050102010706020507" pitchFamily="18" charset="2"/>
              </a:rPr>
              <a:t>--</a:t>
            </a:r>
            <a:r>
              <a:rPr lang="en-US" altLang="zh-CN" b="0" dirty="0"/>
              <a:t> </a:t>
            </a:r>
            <a:r>
              <a:rPr lang="en-US" altLang="zh-CN" b="0" dirty="0" err="1"/>
              <a:t>do_no_page</a:t>
            </a:r>
            <a:endParaRPr lang="zh-CN" altLang="en-US" dirty="0" smtClean="0"/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228600" y="1219200"/>
            <a:ext cx="8839200" cy="4525962"/>
          </a:xfrm>
        </p:spPr>
        <p:txBody>
          <a:bodyPr/>
          <a:lstStyle/>
          <a:p>
            <a:r>
              <a:rPr lang="en-US" altLang="zh-CN" sz="2000" b="0" dirty="0" smtClean="0"/>
              <a:t> /* </a:t>
            </a:r>
            <a:r>
              <a:rPr lang="zh-CN" altLang="en-US" sz="2000" b="0" dirty="0" smtClean="0"/>
              <a:t>最后调用</a:t>
            </a:r>
            <a:r>
              <a:rPr lang="en-US" altLang="zh-CN" sz="2000" b="0" dirty="0" err="1" smtClean="0"/>
              <a:t>put_page</a:t>
            </a:r>
            <a:r>
              <a:rPr lang="zh-CN" altLang="en-US" sz="2000" b="0" dirty="0" smtClean="0"/>
              <a:t>来将当前进程</a:t>
            </a:r>
            <a:r>
              <a:rPr lang="en-US" altLang="zh-CN" sz="2000" b="0" dirty="0" smtClean="0"/>
              <a:t>address</a:t>
            </a:r>
            <a:r>
              <a:rPr lang="zh-CN" altLang="en-US" sz="2000" b="0" dirty="0" smtClean="0"/>
              <a:t>线性地址空间页面与</a:t>
            </a:r>
            <a:r>
              <a:rPr lang="en-US" altLang="zh-CN" sz="2000" b="0" dirty="0" smtClean="0"/>
              <a:t>page</a:t>
            </a:r>
            <a:r>
              <a:rPr lang="zh-CN" altLang="en-US" sz="2000" b="0" dirty="0" smtClean="0"/>
              <a:t>处物理页面挂接起来，建立页表填充页框。（返回后会重新执行刚才导致缺页异常的那句代码</a:t>
            </a:r>
            <a:r>
              <a:rPr lang="en-US" altLang="zh-CN" sz="2000" b="0" dirty="0" smtClean="0"/>
              <a:t>*/</a:t>
            </a:r>
          </a:p>
          <a:p>
            <a:r>
              <a:rPr lang="en-US" altLang="zh-CN" sz="2000" dirty="0" smtClean="0"/>
              <a:t>if (</a:t>
            </a:r>
            <a:r>
              <a:rPr lang="en-US" altLang="zh-CN" sz="2000" dirty="0" err="1" smtClean="0"/>
              <a:t>put_page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page,address</a:t>
            </a:r>
            <a:r>
              <a:rPr lang="en-US" altLang="zh-CN" sz="2000" dirty="0" smtClean="0"/>
              <a:t>))  return;</a:t>
            </a:r>
          </a:p>
          <a:p>
            <a:r>
              <a:rPr lang="en-US" altLang="zh-CN" sz="2000" b="0" dirty="0" smtClean="0"/>
              <a:t>// </a:t>
            </a:r>
            <a:r>
              <a:rPr lang="zh-CN" altLang="en-US" sz="2000" b="0" dirty="0" smtClean="0"/>
              <a:t>执行到这表示</a:t>
            </a:r>
            <a:r>
              <a:rPr lang="en-US" altLang="zh-CN" sz="2000" b="0" dirty="0" err="1" smtClean="0"/>
              <a:t>put_page</a:t>
            </a:r>
            <a:r>
              <a:rPr lang="zh-CN" altLang="en-US" sz="2000" b="0" dirty="0" smtClean="0"/>
              <a:t>失败，这表示此次</a:t>
            </a:r>
            <a:r>
              <a:rPr lang="en-US" altLang="zh-CN" sz="2000" b="0" dirty="0" smtClean="0"/>
              <a:t>load on demand</a:t>
            </a:r>
            <a:r>
              <a:rPr lang="zh-CN" altLang="en-US" sz="2000" b="0" dirty="0" smtClean="0"/>
              <a:t>失败了。善后时要</a:t>
            </a:r>
            <a:r>
              <a:rPr lang="en-US" altLang="zh-CN" sz="2000" b="0" dirty="0" smtClean="0"/>
              <a:t> free</a:t>
            </a:r>
            <a:r>
              <a:rPr lang="zh-CN" altLang="en-US" sz="2000" b="0" dirty="0" smtClean="0"/>
              <a:t>刚才本函数申请的一页物理内存。并且提示</a:t>
            </a:r>
            <a:r>
              <a:rPr lang="en-US" altLang="zh-CN" sz="2000" b="0" dirty="0" smtClean="0"/>
              <a:t>out of memory</a:t>
            </a:r>
            <a:r>
              <a:rPr lang="zh-CN" altLang="en-US" sz="2000" b="0" dirty="0" smtClean="0"/>
              <a:t>。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b="0" dirty="0" err="1" smtClean="0"/>
              <a:t>free_page</a:t>
            </a:r>
            <a:r>
              <a:rPr lang="en-US" altLang="zh-CN" sz="2000" b="0" dirty="0" smtClean="0"/>
              <a:t>(page);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b="0" dirty="0" err="1" smtClean="0"/>
              <a:t>oom</a:t>
            </a:r>
            <a:r>
              <a:rPr lang="en-US" altLang="zh-CN" sz="2000" b="0" dirty="0" smtClean="0"/>
              <a:t>();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b="0" dirty="0" smtClean="0"/>
              <a:t>}</a:t>
            </a:r>
            <a:endParaRPr lang="zh-CN" altLang="en-US" sz="2000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175" y="3352800"/>
            <a:ext cx="5305425" cy="3095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356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Symbol" panose="05050102010706020507" pitchFamily="18" charset="2"/>
              </a:rPr>
              <a:t>请求调页过程</a:t>
            </a:r>
            <a:r>
              <a:rPr lang="en-US" altLang="zh-CN" dirty="0">
                <a:sym typeface="Symbol" panose="05050102010706020507" pitchFamily="18" charset="2"/>
              </a:rPr>
              <a:t>--</a:t>
            </a:r>
            <a:r>
              <a:rPr lang="en-US" altLang="zh-CN" b="0" dirty="0"/>
              <a:t> </a:t>
            </a:r>
            <a:r>
              <a:rPr lang="en-US" altLang="zh-CN" dirty="0" err="1"/>
              <a:t>put_page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-457200" y="990600"/>
            <a:ext cx="8991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 smtClean="0"/>
              <a:t>      unsigned </a:t>
            </a:r>
            <a:r>
              <a:rPr lang="en-US" altLang="zh-CN" sz="1800" dirty="0"/>
              <a:t>long </a:t>
            </a:r>
            <a:r>
              <a:rPr lang="en-US" altLang="zh-CN" sz="1800" dirty="0" err="1"/>
              <a:t>put_page</a:t>
            </a:r>
            <a:r>
              <a:rPr lang="en-US" altLang="zh-CN" sz="1800" dirty="0"/>
              <a:t>(unsigned long page</a:t>
            </a:r>
            <a:r>
              <a:rPr lang="en-US" altLang="zh-CN" sz="1800" dirty="0" smtClean="0"/>
              <a:t>, unsigned </a:t>
            </a:r>
            <a:r>
              <a:rPr lang="en-US" altLang="zh-CN" sz="1800" dirty="0"/>
              <a:t>long address)</a:t>
            </a:r>
          </a:p>
          <a:p>
            <a:r>
              <a:rPr lang="en-US" altLang="zh-CN" sz="1800" dirty="0" smtClean="0"/>
              <a:t>      {</a:t>
            </a:r>
            <a:endParaRPr lang="en-US" altLang="zh-CN" sz="1800" dirty="0"/>
          </a:p>
          <a:p>
            <a:r>
              <a:rPr lang="en-US" altLang="zh-CN" sz="1800" dirty="0"/>
              <a:t>	unsigned long 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, *</a:t>
            </a:r>
            <a:r>
              <a:rPr lang="en-US" altLang="zh-CN" sz="1800" dirty="0" err="1"/>
              <a:t>page_table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 smtClean="0"/>
              <a:t>	… …</a:t>
            </a:r>
          </a:p>
          <a:p>
            <a:r>
              <a:rPr lang="en-US" altLang="zh-CN" sz="1800" dirty="0"/>
              <a:t>	//</a:t>
            </a:r>
            <a:r>
              <a:rPr lang="zh-CN" altLang="en-US" sz="1800" dirty="0"/>
              <a:t>在页目录项中的</a:t>
            </a:r>
            <a:r>
              <a:rPr lang="zh-CN" altLang="en-US" sz="1800" dirty="0" smtClean="0"/>
              <a:t>位置，*</a:t>
            </a:r>
            <a:r>
              <a:rPr lang="en-US" altLang="zh-CN" sz="1800" dirty="0" err="1" smtClean="0"/>
              <a:t>page_table</a:t>
            </a:r>
            <a:r>
              <a:rPr lang="zh-CN" altLang="en-US" sz="1800" dirty="0" smtClean="0"/>
              <a:t>存储页表地址</a:t>
            </a:r>
            <a:endParaRPr lang="en-US" altLang="zh-CN" sz="1800" dirty="0" smtClean="0"/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page_table</a:t>
            </a:r>
            <a:r>
              <a:rPr lang="en-US" altLang="zh-CN" sz="1800" dirty="0"/>
              <a:t> = (unsigned long *) ((address&gt;&gt;20) &amp; </a:t>
            </a:r>
            <a:r>
              <a:rPr lang="en-US" altLang="zh-CN" sz="1800" dirty="0" smtClean="0"/>
              <a:t>0xffc); //</a:t>
            </a:r>
            <a:r>
              <a:rPr lang="zh-CN" altLang="en-US" sz="1800" dirty="0" smtClean="0"/>
              <a:t>转为指针，</a:t>
            </a:r>
            <a:r>
              <a:rPr lang="zh-CN" altLang="en-US" sz="1800" dirty="0" smtClean="0">
                <a:solidFill>
                  <a:srgbClr val="FF0000"/>
                </a:solidFill>
              </a:rPr>
              <a:t>页目    </a:t>
            </a:r>
            <a:r>
              <a:rPr lang="en-US" altLang="zh-CN" sz="1800" dirty="0" smtClean="0">
                <a:solidFill>
                  <a:srgbClr val="FF0000"/>
                </a:solidFill>
              </a:rPr>
              <a:t>	</a:t>
            </a:r>
            <a:r>
              <a:rPr lang="zh-CN" altLang="en-US" sz="1800" dirty="0" smtClean="0">
                <a:solidFill>
                  <a:srgbClr val="FF0000"/>
                </a:solidFill>
              </a:rPr>
              <a:t>录在哪？</a:t>
            </a:r>
            <a:r>
              <a:rPr lang="en-US" altLang="zh-CN" sz="1800" dirty="0" smtClean="0">
                <a:solidFill>
                  <a:srgbClr val="FF0000"/>
                </a:solidFill>
              </a:rPr>
              <a:t>0</a:t>
            </a:r>
            <a:r>
              <a:rPr lang="zh-CN" altLang="en-US" sz="1800" dirty="0" smtClean="0">
                <a:solidFill>
                  <a:srgbClr val="FF0000"/>
                </a:solidFill>
              </a:rPr>
              <a:t>地址</a:t>
            </a:r>
            <a:endParaRPr lang="en-US" altLang="zh-CN" sz="1800" dirty="0" smtClean="0">
              <a:solidFill>
                <a:srgbClr val="FF0000"/>
              </a:solidFill>
            </a:endParaRPr>
          </a:p>
          <a:p>
            <a:r>
              <a:rPr lang="en-US" altLang="zh-CN" sz="1800" dirty="0" smtClean="0"/>
              <a:t>	//</a:t>
            </a:r>
            <a:r>
              <a:rPr lang="zh-CN" altLang="en-US" sz="1800" dirty="0"/>
              <a:t>该</a:t>
            </a:r>
            <a:r>
              <a:rPr lang="zh-CN" altLang="en-US" sz="1800" dirty="0" smtClean="0"/>
              <a:t>页目录项已经存在</a:t>
            </a:r>
            <a:endParaRPr lang="en-US" altLang="zh-CN" sz="1800" dirty="0" smtClean="0"/>
          </a:p>
          <a:p>
            <a:r>
              <a:rPr lang="en-US" altLang="zh-CN" sz="1800" dirty="0" smtClean="0"/>
              <a:t>	if ( </a:t>
            </a:r>
            <a:r>
              <a:rPr lang="en-US" altLang="zh-CN" sz="1800" dirty="0" smtClean="0">
                <a:solidFill>
                  <a:srgbClr val="FF0000"/>
                </a:solidFill>
              </a:rPr>
              <a:t>(*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page_table</a:t>
            </a:r>
            <a:r>
              <a:rPr lang="en-US" altLang="zh-CN" sz="1800" dirty="0" smtClean="0">
                <a:solidFill>
                  <a:srgbClr val="FF0000"/>
                </a:solidFill>
              </a:rPr>
              <a:t>) </a:t>
            </a:r>
            <a:r>
              <a:rPr lang="en-US" altLang="zh-CN" sz="1800" dirty="0" smtClean="0"/>
              <a:t>&amp;1)  </a:t>
            </a:r>
          </a:p>
          <a:p>
            <a:r>
              <a:rPr lang="en-US" altLang="zh-CN" sz="1800" dirty="0" smtClean="0"/>
              <a:t>		</a:t>
            </a:r>
            <a:r>
              <a:rPr lang="en-US" altLang="zh-CN" sz="1800" dirty="0" err="1" smtClean="0"/>
              <a:t>page_table</a:t>
            </a:r>
            <a:r>
              <a:rPr lang="en-US" altLang="zh-CN" sz="1800" dirty="0" smtClean="0"/>
              <a:t> = (unsigned long *) (0xfffff000 &amp; *</a:t>
            </a:r>
            <a:r>
              <a:rPr lang="en-US" altLang="zh-CN" sz="1800" dirty="0" err="1" smtClean="0"/>
              <a:t>page_table</a:t>
            </a:r>
            <a:r>
              <a:rPr lang="en-US" altLang="zh-CN" sz="1800" dirty="0" smtClean="0"/>
              <a:t>);</a:t>
            </a:r>
          </a:p>
          <a:p>
            <a:r>
              <a:rPr lang="en-US" altLang="zh-CN" sz="1800" dirty="0"/>
              <a:t>	else </a:t>
            </a:r>
            <a:r>
              <a:rPr lang="en-US" altLang="zh-CN" sz="1800" dirty="0" smtClean="0"/>
              <a:t>{	//</a:t>
            </a:r>
            <a:r>
              <a:rPr lang="zh-CN" altLang="en-US" sz="1800" dirty="0"/>
              <a:t>该</a:t>
            </a:r>
            <a:r>
              <a:rPr lang="zh-CN" altLang="en-US" sz="1800" dirty="0" smtClean="0"/>
              <a:t>页表</a:t>
            </a:r>
            <a:r>
              <a:rPr lang="zh-CN" altLang="en-US" sz="1800" dirty="0"/>
              <a:t>不</a:t>
            </a:r>
            <a:r>
              <a:rPr lang="zh-CN" altLang="en-US" sz="1800" dirty="0" smtClean="0"/>
              <a:t>存在，申请新页表</a:t>
            </a:r>
            <a:endParaRPr lang="en-US" altLang="zh-CN" sz="1800" dirty="0"/>
          </a:p>
          <a:p>
            <a:r>
              <a:rPr lang="en-US" altLang="zh-CN" sz="1800" dirty="0"/>
              <a:t>		if (!(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=</a:t>
            </a:r>
            <a:r>
              <a:rPr lang="en-US" altLang="zh-CN" sz="1800" dirty="0" err="1"/>
              <a:t>get_free_page</a:t>
            </a:r>
            <a:r>
              <a:rPr lang="en-US" altLang="zh-CN" sz="1800" dirty="0"/>
              <a:t>()))</a:t>
            </a:r>
          </a:p>
          <a:p>
            <a:r>
              <a:rPr lang="en-US" altLang="zh-CN" sz="1800" dirty="0"/>
              <a:t>			return 0;</a:t>
            </a:r>
          </a:p>
          <a:p>
            <a:r>
              <a:rPr lang="en-US" altLang="zh-CN" sz="1800" dirty="0"/>
              <a:t>		*</a:t>
            </a:r>
            <a:r>
              <a:rPr lang="en-US" altLang="zh-CN" sz="1800" dirty="0" err="1"/>
              <a:t>page_table</a:t>
            </a:r>
            <a:r>
              <a:rPr lang="en-US" altLang="zh-CN" sz="1800" dirty="0"/>
              <a:t> = </a:t>
            </a:r>
            <a:r>
              <a:rPr lang="en-US" altLang="zh-CN" sz="1800" dirty="0" smtClean="0"/>
              <a:t>tmp|7;//</a:t>
            </a:r>
            <a:r>
              <a:rPr lang="zh-CN" altLang="en-US" sz="1800" dirty="0" smtClean="0">
                <a:solidFill>
                  <a:srgbClr val="FF0000"/>
                </a:solidFill>
              </a:rPr>
              <a:t>目录项指向新页表</a:t>
            </a:r>
            <a:endParaRPr lang="en-US" altLang="zh-CN" sz="1800" dirty="0" smtClean="0">
              <a:solidFill>
                <a:srgbClr val="FF0000"/>
              </a:solidFill>
            </a:endParaRPr>
          </a:p>
          <a:p>
            <a:r>
              <a:rPr lang="en-US" altLang="zh-CN" sz="1800" dirty="0" smtClean="0"/>
              <a:t>	</a:t>
            </a:r>
            <a:r>
              <a:rPr lang="en-US" altLang="zh-CN" sz="1800" dirty="0"/>
              <a:t>	</a:t>
            </a:r>
            <a:r>
              <a:rPr lang="en-US" altLang="zh-CN" sz="1800" dirty="0" smtClean="0"/>
              <a:t>//</a:t>
            </a:r>
            <a:r>
              <a:rPr lang="zh-CN" altLang="en-US" sz="1800" dirty="0" smtClean="0"/>
              <a:t>重新设置</a:t>
            </a:r>
            <a:r>
              <a:rPr lang="en-US" altLang="zh-CN" sz="1800" dirty="0" err="1" smtClean="0"/>
              <a:t>page_table</a:t>
            </a:r>
            <a:r>
              <a:rPr lang="zh-CN" altLang="en-US" sz="1800" dirty="0" smtClean="0"/>
              <a:t>变为新页表</a:t>
            </a:r>
            <a:endParaRPr lang="en-US" altLang="zh-CN" sz="1800" dirty="0" smtClean="0"/>
          </a:p>
          <a:p>
            <a:r>
              <a:rPr lang="en-US" altLang="zh-CN" sz="1800" dirty="0"/>
              <a:t>	</a:t>
            </a:r>
            <a:r>
              <a:rPr lang="en-US" altLang="zh-CN" sz="1800" dirty="0" smtClean="0"/>
              <a:t>	</a:t>
            </a:r>
            <a:r>
              <a:rPr lang="en-US" altLang="zh-CN" sz="1800" dirty="0" err="1" smtClean="0"/>
              <a:t>page_table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= (unsigned long *) 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;</a:t>
            </a:r>
          </a:p>
          <a:p>
            <a:r>
              <a:rPr lang="zh-CN" altLang="en-US" sz="1800" dirty="0"/>
              <a:t>	</a:t>
            </a:r>
            <a:r>
              <a:rPr lang="en-US" altLang="zh-CN" sz="1800" dirty="0"/>
              <a:t>}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page_table</a:t>
            </a:r>
            <a:r>
              <a:rPr lang="en-US" altLang="zh-CN" sz="1800" dirty="0"/>
              <a:t>[(address&gt;&gt;12) &amp; 0x3ff] = page | 7;</a:t>
            </a:r>
          </a:p>
          <a:p>
            <a:r>
              <a:rPr lang="en-US" altLang="zh-CN" sz="1800" dirty="0"/>
              <a:t>	return page;</a:t>
            </a:r>
          </a:p>
          <a:p>
            <a:r>
              <a:rPr lang="en-US" altLang="zh-CN" sz="1800" dirty="0" smtClean="0"/>
              <a:t>      }</a:t>
            </a:r>
            <a:endParaRPr lang="en-US" altLang="zh-CN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267200"/>
            <a:ext cx="3429000" cy="2268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圆角矩形标注 5"/>
          <p:cNvSpPr/>
          <p:nvPr/>
        </p:nvSpPr>
        <p:spPr bwMode="auto">
          <a:xfrm>
            <a:off x="5638800" y="1295400"/>
            <a:ext cx="2667000" cy="896035"/>
          </a:xfrm>
          <a:prstGeom prst="wedgeRoundRectCallout">
            <a:avLst>
              <a:gd name="adj1" fmla="val -45459"/>
              <a:gd name="adj2" fmla="val 80318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800" dirty="0" smtClean="0"/>
              <a:t>(address</a:t>
            </a:r>
            <a:r>
              <a:rPr lang="en-US" altLang="zh-CN" sz="1800" dirty="0"/>
              <a:t>&gt;&gt;22)&lt;&lt;2</a:t>
            </a:r>
            <a:r>
              <a:rPr lang="zh-CN" altLang="en-US" sz="1800" dirty="0"/>
              <a:t>，先得到目录项，每项四个字节，转化为地址</a:t>
            </a:r>
          </a:p>
        </p:txBody>
      </p:sp>
      <p:sp>
        <p:nvSpPr>
          <p:cNvPr id="7" name="矩形 6"/>
          <p:cNvSpPr/>
          <p:nvPr/>
        </p:nvSpPr>
        <p:spPr>
          <a:xfrm>
            <a:off x="1905000" y="5943600"/>
            <a:ext cx="4427492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 smtClean="0"/>
              <a:t>page_table</a:t>
            </a:r>
            <a:r>
              <a:rPr lang="zh-CN" altLang="en-US" sz="1600" dirty="0" smtClean="0"/>
              <a:t>先作为页目录项，后又作为页表项</a:t>
            </a:r>
            <a:endParaRPr lang="en-US" altLang="zh-CN" sz="1600" dirty="0" smtClean="0">
              <a:solidFill>
                <a:srgbClr val="C00000"/>
              </a:solidFill>
            </a:endParaRPr>
          </a:p>
          <a:p>
            <a:r>
              <a:rPr lang="en-US" altLang="zh-CN" sz="1600" dirty="0" smtClean="0">
                <a:solidFill>
                  <a:srgbClr val="C00000"/>
                </a:solidFill>
              </a:rPr>
              <a:t>[(</a:t>
            </a:r>
            <a:r>
              <a:rPr lang="en-US" altLang="zh-CN" sz="1600" dirty="0">
                <a:solidFill>
                  <a:srgbClr val="C00000"/>
                </a:solidFill>
              </a:rPr>
              <a:t>address&gt;&gt;12) &amp; 0x3ff</a:t>
            </a:r>
            <a:r>
              <a:rPr lang="en-US" altLang="zh-CN" sz="1600" dirty="0" smtClean="0">
                <a:solidFill>
                  <a:srgbClr val="C00000"/>
                </a:solidFill>
              </a:rPr>
              <a:t>]</a:t>
            </a:r>
          </a:p>
          <a:p>
            <a:r>
              <a:rPr lang="zh-CN" altLang="en-US" sz="1600" dirty="0" smtClean="0">
                <a:solidFill>
                  <a:srgbClr val="C00000"/>
                </a:solidFill>
              </a:rPr>
              <a:t>页表项</a:t>
            </a:r>
            <a:r>
              <a:rPr lang="en-US" altLang="zh-CN" sz="1600" dirty="0" smtClean="0">
                <a:solidFill>
                  <a:srgbClr val="C00000"/>
                </a:solidFill>
              </a:rPr>
              <a:t>4k</a:t>
            </a:r>
            <a:r>
              <a:rPr lang="zh-CN" altLang="en-US" sz="1600" dirty="0" smtClean="0">
                <a:solidFill>
                  <a:srgbClr val="C00000"/>
                </a:solidFill>
              </a:rPr>
              <a:t>对其，一个页表只能有</a:t>
            </a:r>
            <a:r>
              <a:rPr lang="en-US" altLang="zh-CN" sz="1600" dirty="0" smtClean="0">
                <a:solidFill>
                  <a:srgbClr val="C00000"/>
                </a:solidFill>
              </a:rPr>
              <a:t>1k</a:t>
            </a:r>
            <a:r>
              <a:rPr lang="zh-CN" altLang="en-US" sz="1600" dirty="0" smtClean="0">
                <a:solidFill>
                  <a:srgbClr val="C00000"/>
                </a:solidFill>
              </a:rPr>
              <a:t>个项</a:t>
            </a:r>
            <a:r>
              <a:rPr lang="en-US" altLang="zh-CN" sz="1600" dirty="0" smtClean="0">
                <a:solidFill>
                  <a:srgbClr val="C00000"/>
                </a:solidFill>
              </a:rPr>
              <a:t> </a:t>
            </a:r>
            <a:endParaRPr lang="zh-CN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95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将一个可执行文件变成进程？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</a:t>
            </a:r>
            <a:r>
              <a:rPr lang="en-US" altLang="zh-CN" dirty="0" smtClean="0"/>
              <a:t>ork</a:t>
            </a:r>
            <a:r>
              <a:rPr lang="zh-CN" altLang="en-US" dirty="0" smtClean="0"/>
              <a:t>一个子进程（</a:t>
            </a:r>
            <a:r>
              <a:rPr lang="en-US" altLang="zh-CN" dirty="0" smtClean="0"/>
              <a:t>PCB</a:t>
            </a:r>
            <a:r>
              <a:rPr lang="zh-CN" altLang="en-US" dirty="0" smtClean="0"/>
              <a:t>、内存）</a:t>
            </a:r>
            <a:endParaRPr lang="en-US" altLang="zh-CN" dirty="0" smtClean="0"/>
          </a:p>
          <a:p>
            <a:r>
              <a:rPr lang="en-US" altLang="zh-CN" dirty="0" err="1" smtClean="0"/>
              <a:t>do_execve</a:t>
            </a:r>
            <a:r>
              <a:rPr lang="zh-CN" altLang="en-US" dirty="0" smtClean="0"/>
              <a:t>让子进程执行新的程序（找到文件</a:t>
            </a:r>
            <a:r>
              <a:rPr lang="en-US" altLang="zh-CN" dirty="0" err="1" smtClean="0"/>
              <a:t>inode</a:t>
            </a:r>
            <a:r>
              <a:rPr lang="zh-CN" altLang="en-US" dirty="0" smtClean="0"/>
              <a:t>，读文件头，更新进程控制块中的代码段、数据段、栈段地址，释放原页表）</a:t>
            </a:r>
            <a:endParaRPr lang="en-US" altLang="zh-CN" dirty="0" smtClean="0"/>
          </a:p>
          <a:p>
            <a:r>
              <a:rPr lang="en-US" altLang="zh-CN" dirty="0" err="1" smtClean="0"/>
              <a:t>do_no_page</a:t>
            </a:r>
            <a:r>
              <a:rPr lang="zh-CN" altLang="en-US" dirty="0" smtClean="0"/>
              <a:t>根据缺页地址</a:t>
            </a:r>
            <a:r>
              <a:rPr lang="en-US" altLang="zh-CN" dirty="0" smtClean="0"/>
              <a:t>address</a:t>
            </a:r>
            <a:r>
              <a:rPr lang="zh-CN" altLang="en-US" dirty="0" smtClean="0"/>
              <a:t>按需调页，</a:t>
            </a:r>
            <a:r>
              <a:rPr lang="en-US" altLang="zh-CN" dirty="0" err="1" smtClean="0"/>
              <a:t>put_page</a:t>
            </a:r>
            <a:r>
              <a:rPr lang="zh-CN" altLang="en-US" dirty="0" smtClean="0"/>
              <a:t>建立页表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42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基于缓冲区的磁盘访问</a:t>
            </a:r>
            <a:endParaRPr lang="zh-CN" altLang="en-US" dirty="0" smtClean="0"/>
          </a:p>
        </p:txBody>
      </p:sp>
      <p:sp>
        <p:nvSpPr>
          <p:cNvPr id="563203" name="Rectangle 3"/>
          <p:cNvSpPr>
            <a:spLocks noChangeArrowheads="1"/>
          </p:cNvSpPr>
          <p:nvPr/>
        </p:nvSpPr>
        <p:spPr bwMode="auto">
          <a:xfrm>
            <a:off x="612775" y="1039813"/>
            <a:ext cx="7921625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在</a:t>
            </a:r>
            <a:r>
              <a:rPr lang="zh-CN" altLang="en-US">
                <a:solidFill>
                  <a:srgbClr val="FF0000"/>
                </a:solidFill>
              </a:rPr>
              <a:t>内存中缓存</a:t>
            </a:r>
            <a:r>
              <a:rPr lang="zh-CN" altLang="en-US"/>
              <a:t>磁盘上的部分</a:t>
            </a:r>
            <a:r>
              <a:rPr lang="en-US" altLang="zh-CN"/>
              <a:t>(</a:t>
            </a:r>
            <a:r>
              <a:rPr lang="zh-CN" altLang="en-US"/>
              <a:t>很少部分</a:t>
            </a:r>
            <a:r>
              <a:rPr lang="en-US" altLang="zh-CN"/>
              <a:t>)</a:t>
            </a:r>
            <a:r>
              <a:rPr lang="zh-CN" altLang="en-US"/>
              <a:t>盘块</a:t>
            </a:r>
          </a:p>
        </p:txBody>
      </p:sp>
      <p:grpSp>
        <p:nvGrpSpPr>
          <p:cNvPr id="563204" name="Group 4"/>
          <p:cNvGrpSpPr>
            <a:grpSpLocks/>
          </p:cNvGrpSpPr>
          <p:nvPr/>
        </p:nvGrpSpPr>
        <p:grpSpPr bwMode="auto">
          <a:xfrm>
            <a:off x="1371600" y="1828800"/>
            <a:ext cx="2895600" cy="609600"/>
            <a:chOff x="864" y="1344"/>
            <a:chExt cx="1824" cy="384"/>
          </a:xfrm>
        </p:grpSpPr>
        <p:sp>
          <p:nvSpPr>
            <p:cNvPr id="21534" name="Rectangle 5"/>
            <p:cNvSpPr>
              <a:spLocks noChangeArrowheads="1"/>
            </p:cNvSpPr>
            <p:nvPr/>
          </p:nvSpPr>
          <p:spPr bwMode="auto">
            <a:xfrm>
              <a:off x="864" y="1344"/>
              <a:ext cx="1776" cy="38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21535" name="Text Box 6"/>
            <p:cNvSpPr txBox="1">
              <a:spLocks noChangeArrowheads="1"/>
            </p:cNvSpPr>
            <p:nvPr/>
          </p:nvSpPr>
          <p:spPr bwMode="auto">
            <a:xfrm>
              <a:off x="1008" y="1392"/>
              <a:ext cx="16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/>
                <a:t>Read()</a:t>
              </a:r>
              <a:r>
                <a:rPr lang="zh-CN" altLang="en-US" sz="2400"/>
                <a:t>和</a:t>
              </a:r>
              <a:r>
                <a:rPr lang="en-US" altLang="zh-CN" sz="2400"/>
                <a:t>Write()</a:t>
              </a:r>
            </a:p>
          </p:txBody>
        </p:sp>
      </p:grpSp>
      <p:grpSp>
        <p:nvGrpSpPr>
          <p:cNvPr id="563207" name="Group 7"/>
          <p:cNvGrpSpPr>
            <a:grpSpLocks/>
          </p:cNvGrpSpPr>
          <p:nvPr/>
        </p:nvGrpSpPr>
        <p:grpSpPr bwMode="auto">
          <a:xfrm>
            <a:off x="1676400" y="2971800"/>
            <a:ext cx="2093913" cy="609600"/>
            <a:chOff x="1056" y="2064"/>
            <a:chExt cx="1319" cy="384"/>
          </a:xfrm>
        </p:grpSpPr>
        <p:sp>
          <p:nvSpPr>
            <p:cNvPr id="21532" name="Rectangle 8"/>
            <p:cNvSpPr>
              <a:spLocks noChangeArrowheads="1"/>
            </p:cNvSpPr>
            <p:nvPr/>
          </p:nvSpPr>
          <p:spPr bwMode="auto">
            <a:xfrm>
              <a:off x="1056" y="2064"/>
              <a:ext cx="1319" cy="38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21533" name="Text Box 9"/>
            <p:cNvSpPr txBox="1">
              <a:spLocks noChangeArrowheads="1"/>
            </p:cNvSpPr>
            <p:nvPr/>
          </p:nvSpPr>
          <p:spPr bwMode="auto">
            <a:xfrm>
              <a:off x="1104" y="2112"/>
              <a:ext cx="1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FF0000"/>
                  </a:solidFill>
                </a:rPr>
                <a:t>磁盘缓存</a:t>
              </a:r>
            </a:p>
          </p:txBody>
        </p:sp>
      </p:grpSp>
      <p:sp>
        <p:nvSpPr>
          <p:cNvPr id="563210" name="Line 10"/>
          <p:cNvSpPr>
            <a:spLocks noChangeShapeType="1"/>
          </p:cNvSpPr>
          <p:nvPr/>
        </p:nvSpPr>
        <p:spPr bwMode="auto">
          <a:xfrm>
            <a:off x="2743200" y="2438400"/>
            <a:ext cx="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11" name="Text Box 11"/>
          <p:cNvSpPr txBox="1">
            <a:spLocks noChangeArrowheads="1"/>
          </p:cNvSpPr>
          <p:nvPr/>
        </p:nvSpPr>
        <p:spPr bwMode="auto">
          <a:xfrm>
            <a:off x="2806700" y="2463800"/>
            <a:ext cx="2146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(1)</a:t>
            </a:r>
            <a:r>
              <a:rPr lang="zh-CN" altLang="en-US" sz="2000"/>
              <a:t>首先访问缓存</a:t>
            </a:r>
          </a:p>
        </p:txBody>
      </p:sp>
      <p:grpSp>
        <p:nvGrpSpPr>
          <p:cNvPr id="563212" name="Group 12"/>
          <p:cNvGrpSpPr>
            <a:grpSpLocks/>
          </p:cNvGrpSpPr>
          <p:nvPr/>
        </p:nvGrpSpPr>
        <p:grpSpPr bwMode="auto">
          <a:xfrm>
            <a:off x="1676400" y="4038600"/>
            <a:ext cx="2095500" cy="1219200"/>
            <a:chOff x="1056" y="2736"/>
            <a:chExt cx="1320" cy="768"/>
          </a:xfrm>
        </p:grpSpPr>
        <p:sp>
          <p:nvSpPr>
            <p:cNvPr id="21528" name="Rectangle 13"/>
            <p:cNvSpPr>
              <a:spLocks noChangeArrowheads="1"/>
            </p:cNvSpPr>
            <p:nvPr/>
          </p:nvSpPr>
          <p:spPr bwMode="auto">
            <a:xfrm>
              <a:off x="1057" y="2736"/>
              <a:ext cx="1319" cy="38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21529" name="Text Box 14"/>
            <p:cNvSpPr txBox="1">
              <a:spLocks noChangeArrowheads="1"/>
            </p:cNvSpPr>
            <p:nvPr/>
          </p:nvSpPr>
          <p:spPr bwMode="auto">
            <a:xfrm>
              <a:off x="1105" y="2784"/>
              <a:ext cx="1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/>
                <a:t>文件系统</a:t>
              </a:r>
            </a:p>
          </p:txBody>
        </p:sp>
        <p:sp>
          <p:nvSpPr>
            <p:cNvPr id="21530" name="Rectangle 15"/>
            <p:cNvSpPr>
              <a:spLocks noChangeArrowheads="1"/>
            </p:cNvSpPr>
            <p:nvPr/>
          </p:nvSpPr>
          <p:spPr bwMode="auto">
            <a:xfrm>
              <a:off x="1056" y="3120"/>
              <a:ext cx="1320" cy="384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600"/>
            </a:p>
          </p:txBody>
        </p:sp>
        <p:sp>
          <p:nvSpPr>
            <p:cNvPr id="21531" name="Text Box 16"/>
            <p:cNvSpPr txBox="1">
              <a:spLocks noChangeArrowheads="1"/>
            </p:cNvSpPr>
            <p:nvPr/>
          </p:nvSpPr>
          <p:spPr bwMode="auto">
            <a:xfrm>
              <a:off x="1136" y="3160"/>
              <a:ext cx="11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/>
                <a:t>磁盘</a:t>
              </a:r>
            </a:p>
          </p:txBody>
        </p:sp>
      </p:grpSp>
      <p:sp>
        <p:nvSpPr>
          <p:cNvPr id="563217" name="Freeform 17"/>
          <p:cNvSpPr>
            <a:spLocks/>
          </p:cNvSpPr>
          <p:nvPr/>
        </p:nvSpPr>
        <p:spPr bwMode="auto">
          <a:xfrm>
            <a:off x="1168400" y="2438400"/>
            <a:ext cx="1638300" cy="1600200"/>
          </a:xfrm>
          <a:custGeom>
            <a:avLst/>
            <a:gdLst>
              <a:gd name="T0" fmla="*/ 2147483647 w 1032"/>
              <a:gd name="T1" fmla="*/ 0 h 1008"/>
              <a:gd name="T2" fmla="*/ 2147483647 w 1032"/>
              <a:gd name="T3" fmla="*/ 2147483647 h 1008"/>
              <a:gd name="T4" fmla="*/ 2147483647 w 1032"/>
              <a:gd name="T5" fmla="*/ 2147483647 h 1008"/>
              <a:gd name="T6" fmla="*/ 2147483647 w 1032"/>
              <a:gd name="T7" fmla="*/ 2147483647 h 1008"/>
              <a:gd name="T8" fmla="*/ 2147483647 w 1032"/>
              <a:gd name="T9" fmla="*/ 2147483647 h 1008"/>
              <a:gd name="T10" fmla="*/ 2147483647 w 1032"/>
              <a:gd name="T11" fmla="*/ 2147483647 h 1008"/>
              <a:gd name="T12" fmla="*/ 2147483647 w 1032"/>
              <a:gd name="T13" fmla="*/ 2147483647 h 10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032" h="1008">
                <a:moveTo>
                  <a:pt x="704" y="0"/>
                </a:moveTo>
                <a:cubicBezTo>
                  <a:pt x="708" y="52"/>
                  <a:pt x="712" y="104"/>
                  <a:pt x="704" y="144"/>
                </a:cubicBezTo>
                <a:cubicBezTo>
                  <a:pt x="696" y="184"/>
                  <a:pt x="760" y="208"/>
                  <a:pt x="656" y="240"/>
                </a:cubicBezTo>
                <a:cubicBezTo>
                  <a:pt x="552" y="272"/>
                  <a:pt x="160" y="240"/>
                  <a:pt x="80" y="336"/>
                </a:cubicBezTo>
                <a:cubicBezTo>
                  <a:pt x="0" y="432"/>
                  <a:pt x="40" y="728"/>
                  <a:pt x="176" y="816"/>
                </a:cubicBezTo>
                <a:cubicBezTo>
                  <a:pt x="312" y="904"/>
                  <a:pt x="760" y="832"/>
                  <a:pt x="896" y="864"/>
                </a:cubicBezTo>
                <a:cubicBezTo>
                  <a:pt x="1032" y="896"/>
                  <a:pt x="1012" y="952"/>
                  <a:pt x="992" y="1008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18" name="Text Box 18"/>
          <p:cNvSpPr txBox="1">
            <a:spLocks noChangeArrowheads="1"/>
          </p:cNvSpPr>
          <p:nvPr/>
        </p:nvSpPr>
        <p:spPr bwMode="auto">
          <a:xfrm>
            <a:off x="0" y="3810000"/>
            <a:ext cx="1828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(2)</a:t>
            </a:r>
            <a:r>
              <a:rPr lang="zh-CN" altLang="en-US" sz="2000"/>
              <a:t>不在缓存就访问文件系统</a:t>
            </a:r>
          </a:p>
        </p:txBody>
      </p:sp>
      <p:sp>
        <p:nvSpPr>
          <p:cNvPr id="563219" name="Line 19"/>
          <p:cNvSpPr>
            <a:spLocks noChangeShapeType="1"/>
          </p:cNvSpPr>
          <p:nvPr/>
        </p:nvSpPr>
        <p:spPr bwMode="auto">
          <a:xfrm>
            <a:off x="3581400" y="3581400"/>
            <a:ext cx="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220" name="Text Box 20"/>
          <p:cNvSpPr txBox="1">
            <a:spLocks noChangeArrowheads="1"/>
          </p:cNvSpPr>
          <p:nvPr/>
        </p:nvSpPr>
        <p:spPr bwMode="auto">
          <a:xfrm>
            <a:off x="3733800" y="3581400"/>
            <a:ext cx="21463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(3)</a:t>
            </a:r>
            <a:r>
              <a:rPr lang="zh-CN" altLang="en-US" sz="2000"/>
              <a:t>同时将这些盘块放入缓存，加速将来访问</a:t>
            </a:r>
          </a:p>
        </p:txBody>
      </p:sp>
      <p:sp>
        <p:nvSpPr>
          <p:cNvPr id="563221" name="AutoShape 21"/>
          <p:cNvSpPr>
            <a:spLocks noChangeArrowheads="1"/>
          </p:cNvSpPr>
          <p:nvPr/>
        </p:nvSpPr>
        <p:spPr bwMode="auto">
          <a:xfrm rot="10800000">
            <a:off x="5105400" y="1676400"/>
            <a:ext cx="3048000" cy="1676400"/>
          </a:xfrm>
          <a:prstGeom prst="wedgeRoundRectCallout">
            <a:avLst>
              <a:gd name="adj1" fmla="val 43750"/>
              <a:gd name="adj2" fmla="val -67426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ym typeface="Symbol" pitchFamily="18" charset="2"/>
              </a:rPr>
              <a:t>非常熟悉的过程</a:t>
            </a:r>
            <a:r>
              <a:rPr lang="en-US" altLang="zh-CN" sz="2400">
                <a:sym typeface="Symbol" pitchFamily="18" charset="2"/>
              </a:rPr>
              <a:t>?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ym typeface="Symbol" pitchFamily="18" charset="2"/>
              </a:rPr>
              <a:t>TLB</a:t>
            </a:r>
            <a:r>
              <a:rPr lang="zh-CN" altLang="en-US" sz="2400">
                <a:sym typeface="Symbol" pitchFamily="18" charset="2"/>
              </a:rPr>
              <a:t>、虚拟内存</a:t>
            </a:r>
            <a:r>
              <a:rPr lang="en-US" altLang="zh-CN" sz="2400">
                <a:sym typeface="Symbol" pitchFamily="18" charset="2"/>
              </a:rPr>
              <a:t>!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ym typeface="Symbol" pitchFamily="18" charset="2"/>
              </a:rPr>
              <a:t>具有局部性性质才有意义</a:t>
            </a:r>
            <a:r>
              <a:rPr lang="en-US" altLang="zh-CN" sz="2400">
                <a:sym typeface="Symbol" pitchFamily="18" charset="2"/>
              </a:rPr>
              <a:t>!</a:t>
            </a:r>
            <a:endParaRPr lang="zh-CN" altLang="zh-CN" sz="2400">
              <a:sym typeface="Symbol" pitchFamily="18" charset="2"/>
            </a:endParaRPr>
          </a:p>
        </p:txBody>
      </p:sp>
      <p:grpSp>
        <p:nvGrpSpPr>
          <p:cNvPr id="563222" name="Group 22"/>
          <p:cNvGrpSpPr>
            <a:grpSpLocks/>
          </p:cNvGrpSpPr>
          <p:nvPr/>
        </p:nvGrpSpPr>
        <p:grpSpPr bwMode="auto">
          <a:xfrm>
            <a:off x="3886200" y="4975225"/>
            <a:ext cx="5181600" cy="603250"/>
            <a:chOff x="2448" y="3072"/>
            <a:chExt cx="3264" cy="380"/>
          </a:xfrm>
        </p:grpSpPr>
        <p:sp>
          <p:nvSpPr>
            <p:cNvPr id="21526" name="Rectangle 23"/>
            <p:cNvSpPr>
              <a:spLocks noChangeArrowheads="1"/>
            </p:cNvSpPr>
            <p:nvPr/>
          </p:nvSpPr>
          <p:spPr bwMode="auto">
            <a:xfrm>
              <a:off x="2448" y="3072"/>
              <a:ext cx="3264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空闲磁盘缓存用完怎么办</a:t>
              </a:r>
              <a:r>
                <a:rPr lang="en-US" altLang="zh-CN" sz="2400"/>
                <a:t>?</a:t>
              </a:r>
              <a:r>
                <a:rPr lang="en-US" altLang="zh-CN" sz="2400">
                  <a:solidFill>
                    <a:srgbClr val="FF0000"/>
                  </a:solidFill>
                </a:rPr>
                <a:t> LRU</a:t>
              </a:r>
            </a:p>
          </p:txBody>
        </p:sp>
        <p:pic>
          <p:nvPicPr>
            <p:cNvPr id="21527" name="Picture 24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2" y="321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63225" name="Group 25"/>
          <p:cNvGrpSpPr>
            <a:grpSpLocks/>
          </p:cNvGrpSpPr>
          <p:nvPr/>
        </p:nvGrpSpPr>
        <p:grpSpPr bwMode="auto">
          <a:xfrm>
            <a:off x="3886200" y="5514975"/>
            <a:ext cx="5257800" cy="1114425"/>
            <a:chOff x="2448" y="3072"/>
            <a:chExt cx="3264" cy="702"/>
          </a:xfrm>
        </p:grpSpPr>
        <p:sp>
          <p:nvSpPr>
            <p:cNvPr id="21524" name="Rectangle 26"/>
            <p:cNvSpPr>
              <a:spLocks noChangeArrowheads="1"/>
            </p:cNvSpPr>
            <p:nvPr/>
          </p:nvSpPr>
          <p:spPr bwMode="auto">
            <a:xfrm>
              <a:off x="2448" y="3072"/>
              <a:ext cx="3264" cy="7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 dirty="0"/>
                <a:t>改写后的文件盘块怎么办</a:t>
              </a:r>
              <a:r>
                <a:rPr lang="en-US" altLang="zh-CN" sz="2400" dirty="0"/>
                <a:t>?</a:t>
              </a:r>
              <a:r>
                <a:rPr lang="en-US" altLang="zh-CN" sz="2400" dirty="0">
                  <a:solidFill>
                    <a:srgbClr val="FF0000"/>
                  </a:solidFill>
                </a:rPr>
                <a:t> Delayed Write or Write Through</a:t>
              </a:r>
            </a:p>
          </p:txBody>
        </p:sp>
        <p:pic>
          <p:nvPicPr>
            <p:cNvPr id="21525" name="Picture 27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2" y="321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63228" name="AutoShape 28"/>
          <p:cNvSpPr>
            <a:spLocks noChangeArrowheads="1"/>
          </p:cNvSpPr>
          <p:nvPr/>
        </p:nvSpPr>
        <p:spPr bwMode="auto">
          <a:xfrm rot="10800000">
            <a:off x="1676400" y="5638800"/>
            <a:ext cx="2133600" cy="914400"/>
          </a:xfrm>
          <a:prstGeom prst="wedgeRoundRectCallout">
            <a:avLst>
              <a:gd name="adj1" fmla="val -63171"/>
              <a:gd name="adj2" fmla="val 7603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/>
          <a:lstStyle>
            <a:lvl1pPr eaLnBrk="0" hangingPunct="0">
              <a:spcBef>
                <a:spcPct val="20000"/>
              </a:spcBef>
              <a:buClr>
                <a:srgbClr val="993300"/>
              </a:buClr>
              <a:buSzPct val="9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CC6600"/>
              </a:buClr>
              <a:buSzPct val="80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FF6600"/>
              </a:buClr>
              <a:buSzPct val="75000"/>
              <a:buFont typeface="Times New Roman" pitchFamily="18" charset="0"/>
              <a:buChar char="–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itchFamily="18" charset="0"/>
              <a:buChar char="»"/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ym typeface="Symbol" pitchFamily="18" charset="2"/>
              </a:rPr>
              <a:t>等等</a:t>
            </a:r>
            <a:r>
              <a:rPr lang="en-US" altLang="zh-CN" sz="2400">
                <a:sym typeface="Symbol" pitchFamily="18" charset="2"/>
              </a:rPr>
              <a:t>…</a:t>
            </a:r>
            <a:r>
              <a:rPr lang="zh-CN" altLang="en-US" sz="2400">
                <a:sym typeface="Symbol" pitchFamily="18" charset="2"/>
              </a:rPr>
              <a:t>还有许多细节</a:t>
            </a:r>
            <a:endParaRPr lang="zh-CN" altLang="zh-CN" sz="2400">
              <a:sym typeface="Symbol" pitchFamily="18" charset="2"/>
            </a:endParaRPr>
          </a:p>
        </p:txBody>
      </p:sp>
      <p:grpSp>
        <p:nvGrpSpPr>
          <p:cNvPr id="563229" name="Group 29"/>
          <p:cNvGrpSpPr>
            <a:grpSpLocks/>
          </p:cNvGrpSpPr>
          <p:nvPr/>
        </p:nvGrpSpPr>
        <p:grpSpPr bwMode="auto">
          <a:xfrm>
            <a:off x="3886200" y="4448175"/>
            <a:ext cx="5181600" cy="603250"/>
            <a:chOff x="2448" y="3072"/>
            <a:chExt cx="3264" cy="380"/>
          </a:xfrm>
        </p:grpSpPr>
        <p:sp>
          <p:nvSpPr>
            <p:cNvPr id="21522" name="Rectangle 30"/>
            <p:cNvSpPr>
              <a:spLocks noChangeArrowheads="1"/>
            </p:cNvSpPr>
            <p:nvPr/>
          </p:nvSpPr>
          <p:spPr bwMode="auto">
            <a:xfrm>
              <a:off x="2448" y="3072"/>
              <a:ext cx="3264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993300"/>
                </a:buClr>
                <a:buSzPct val="90000"/>
                <a:buFont typeface="Wingdings" pitchFamily="2" charset="2"/>
                <a:buChar char="n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eaLnBrk="0" hangingPunct="0">
                <a:spcBef>
                  <a:spcPct val="20000"/>
                </a:spcBef>
                <a:buClr>
                  <a:srgbClr val="CC6600"/>
                </a:buClr>
                <a:buSzPct val="80000"/>
                <a:buFont typeface="Wingdings" pitchFamily="2" charset="2"/>
                <a:buChar char="l"/>
                <a:defRPr sz="2800" b="1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rgbClr val="009900"/>
                </a:buClr>
                <a:buSzPct val="75000"/>
                <a:buFont typeface="Webdings" pitchFamily="18" charset="2"/>
                <a:buChar char="4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FF6600"/>
                </a:buClr>
                <a:buSzPct val="75000"/>
                <a:buFont typeface="Times New Roman" pitchFamily="18" charset="0"/>
                <a:buChar char="–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Font typeface="Times New Roman" pitchFamily="18" charset="0"/>
                <a:buChar char="»"/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lvl="1" eaLnBrk="1" hangingPunct="1">
                <a:lnSpc>
                  <a:spcPct val="14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/>
                <a:t>缓存池怎么组织</a:t>
              </a:r>
              <a:r>
                <a:rPr lang="en-US" altLang="zh-CN" sz="2400"/>
                <a:t>?</a:t>
              </a:r>
              <a:r>
                <a:rPr lang="en-US" altLang="zh-CN" sz="2400">
                  <a:solidFill>
                    <a:srgbClr val="FF0000"/>
                  </a:solidFill>
                </a:rPr>
                <a:t>  Hashing</a:t>
              </a:r>
            </a:p>
          </p:txBody>
        </p:sp>
        <p:pic>
          <p:nvPicPr>
            <p:cNvPr id="21523" name="Picture 31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2" y="3216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2" name="内容占位符 3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4606117"/>
            <a:ext cx="9043988" cy="1638156"/>
          </a:xfrm>
        </p:spPr>
      </p:pic>
    </p:spTree>
    <p:extLst>
      <p:ext uri="{BB962C8B-B14F-4D97-AF65-F5344CB8AC3E}">
        <p14:creationId xmlns:p14="http://schemas.microsoft.com/office/powerpoint/2010/main" val="8347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3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3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63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3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3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3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6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6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6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6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63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63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3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63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6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6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6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6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6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63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6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55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63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6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03" grpId="0" build="p"/>
      <p:bldP spid="563210" grpId="0" animBg="1"/>
      <p:bldP spid="563211" grpId="0"/>
      <p:bldP spid="563217" grpId="0" animBg="1"/>
      <p:bldP spid="563217" grpId="1" animBg="1"/>
      <p:bldP spid="563217" grpId="2" animBg="1"/>
      <p:bldP spid="563218" grpId="0"/>
      <p:bldP spid="563219" grpId="0" animBg="1"/>
      <p:bldP spid="563220" grpId="0"/>
      <p:bldP spid="563221" grpId="0" animBg="1"/>
      <p:bldP spid="5632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基于缓冲区的磁盘访问</a:t>
            </a:r>
          </a:p>
        </p:txBody>
      </p:sp>
      <p:sp>
        <p:nvSpPr>
          <p:cNvPr id="942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 smtClean="0"/>
              <a:t>在</a:t>
            </a:r>
            <a:r>
              <a:rPr lang="en-US" altLang="zh-CN" sz="2000" dirty="0" err="1" smtClean="0"/>
              <a:t>Linux0.11</a:t>
            </a:r>
            <a:r>
              <a:rPr lang="zh-CN" altLang="en-US" sz="2000" dirty="0" smtClean="0"/>
              <a:t>初始化时，会根据内存大小来初始化高速缓冲区大小</a:t>
            </a:r>
            <a:endParaRPr lang="en-US" altLang="zh-CN" sz="2000" dirty="0" smtClean="0"/>
          </a:p>
          <a:p>
            <a:r>
              <a:rPr lang="zh-CN" altLang="en-US" sz="2000" dirty="0" smtClean="0"/>
              <a:t>缓冲区位于内核</a:t>
            </a:r>
            <a:r>
              <a:rPr lang="en-US" altLang="zh-CN" sz="2000" dirty="0" smtClean="0"/>
              <a:t>end</a:t>
            </a:r>
            <a:r>
              <a:rPr lang="zh-CN" altLang="en-US" sz="2000" dirty="0" smtClean="0"/>
              <a:t>之后，</a:t>
            </a:r>
            <a:r>
              <a:rPr lang="en-US" altLang="zh-CN" sz="2000" dirty="0" err="1" smtClean="0"/>
              <a:t>buffer_memory_end</a:t>
            </a:r>
            <a:r>
              <a:rPr lang="zh-CN" altLang="en-US" sz="2000" dirty="0" smtClean="0"/>
              <a:t>值之前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4M</a:t>
            </a:r>
            <a:r>
              <a:rPr lang="zh-CN" altLang="en-US" sz="2000" dirty="0"/>
              <a:t>内存处，一共可以划出</a:t>
            </a:r>
            <a:r>
              <a:rPr lang="en-US" altLang="zh-CN" sz="2000" dirty="0"/>
              <a:t>3</a:t>
            </a:r>
            <a:r>
              <a:rPr lang="zh-CN" altLang="en-US" sz="2000" dirty="0"/>
              <a:t>千多个逻辑块</a:t>
            </a:r>
            <a:endParaRPr lang="en-US" altLang="zh-CN" sz="2000" dirty="0" smtClean="0"/>
          </a:p>
          <a:p>
            <a:r>
              <a:rPr lang="zh-CN" altLang="en-US" sz="2000" dirty="0" smtClean="0"/>
              <a:t>缓冲区被分成一些缓冲块，每个缓冲块大小为</a:t>
            </a:r>
            <a:r>
              <a:rPr lang="en-US" altLang="zh-CN" sz="2000" dirty="0" smtClean="0"/>
              <a:t>1024</a:t>
            </a:r>
            <a:r>
              <a:rPr lang="zh-CN" altLang="en-US" sz="2000" dirty="0" smtClean="0"/>
              <a:t>字节，即两个扇区</a:t>
            </a:r>
            <a:endParaRPr lang="en-US" altLang="zh-CN" sz="2000" dirty="0" smtClean="0"/>
          </a:p>
          <a:p>
            <a:r>
              <a:rPr lang="zh-CN" altLang="en-US" sz="2000" dirty="0" smtClean="0"/>
              <a:t>在缓冲区中包含</a:t>
            </a:r>
            <a:r>
              <a:rPr lang="en-US" altLang="zh-CN" sz="2000" dirty="0" err="1" smtClean="0"/>
              <a:t>struct</a:t>
            </a:r>
            <a:r>
              <a:rPr lang="en-US" altLang="zh-CN" sz="2000" dirty="0" smtClean="0"/>
              <a:t> </a:t>
            </a:r>
            <a:r>
              <a:rPr lang="en-US" altLang="zh-CN" sz="2000" dirty="0" err="1" smtClean="0"/>
              <a:t>buffer_head</a:t>
            </a:r>
            <a:r>
              <a:rPr lang="zh-CN" altLang="en-US" sz="2000" dirty="0" smtClean="0"/>
              <a:t>结构体（缓冲头结构）</a:t>
            </a:r>
            <a:endParaRPr lang="en-US" altLang="zh-CN" sz="2000" dirty="0" smtClean="0"/>
          </a:p>
          <a:p>
            <a:r>
              <a:rPr lang="en-US" altLang="zh-CN" sz="2000" dirty="0" err="1" smtClean="0"/>
              <a:t>struct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buffer_head</a:t>
            </a:r>
            <a:r>
              <a:rPr lang="en-US" altLang="zh-CN" sz="2000" dirty="0" smtClean="0"/>
              <a:t> *</a:t>
            </a:r>
            <a:r>
              <a:rPr lang="en-US" altLang="zh-CN" sz="2000" dirty="0" err="1" smtClean="0"/>
              <a:t>start_buffer</a:t>
            </a:r>
            <a:r>
              <a:rPr lang="en-US" altLang="zh-CN" sz="2000" dirty="0" smtClean="0"/>
              <a:t> = (</a:t>
            </a:r>
            <a:r>
              <a:rPr lang="en-US" altLang="zh-CN" sz="2000" dirty="0" err="1" smtClean="0"/>
              <a:t>struct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buffer_head</a:t>
            </a:r>
            <a:r>
              <a:rPr lang="en-US" altLang="zh-CN" sz="2000" dirty="0" smtClean="0"/>
              <a:t> *) &amp;end</a:t>
            </a:r>
            <a:r>
              <a:rPr lang="zh-CN" altLang="en-US" sz="2000" dirty="0" smtClean="0"/>
              <a:t> </a:t>
            </a:r>
            <a:r>
              <a:rPr lang="en-US" altLang="zh-CN" sz="2000" dirty="0" smtClean="0"/>
              <a:t>// </a:t>
            </a:r>
            <a:r>
              <a:rPr lang="zh-CN" altLang="en-US" sz="2000" dirty="0" smtClean="0"/>
              <a:t>可见</a:t>
            </a:r>
            <a:r>
              <a:rPr lang="en-US" altLang="zh-CN" sz="2000" dirty="0" err="1" smtClean="0"/>
              <a:t>struct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buffer_head</a:t>
            </a:r>
            <a:r>
              <a:rPr lang="zh-CN" altLang="en-US" sz="2000" dirty="0" smtClean="0"/>
              <a:t>结构体起始于缓冲区的低地址（类似于</a:t>
            </a:r>
            <a:r>
              <a:rPr lang="en-US" altLang="zh-CN" sz="2000" dirty="0" err="1" smtClean="0"/>
              <a:t>inode</a:t>
            </a:r>
            <a:r>
              <a:rPr lang="zh-CN" altLang="en-US" sz="2000" dirty="0" smtClean="0"/>
              <a:t>头集中存储）</a:t>
            </a:r>
            <a:endParaRPr lang="en-US" altLang="zh-CN" sz="2000" dirty="0" smtClean="0"/>
          </a:p>
          <a:p>
            <a:r>
              <a:rPr lang="zh-CN" altLang="en-US" sz="2000" dirty="0" smtClean="0"/>
              <a:t>在</a:t>
            </a:r>
            <a:r>
              <a:rPr lang="en-US" altLang="zh-CN" sz="2000" dirty="0" err="1" smtClean="0"/>
              <a:t>buffer_init</a:t>
            </a:r>
            <a:r>
              <a:rPr lang="zh-CN" altLang="en-US" sz="2000" dirty="0" smtClean="0"/>
              <a:t>函数里会对</a:t>
            </a:r>
            <a:r>
              <a:rPr lang="en-US" altLang="zh-CN" sz="2000" dirty="0" err="1" smtClean="0"/>
              <a:t>start_buffer</a:t>
            </a:r>
            <a:r>
              <a:rPr lang="zh-CN" altLang="en-US" sz="2000" dirty="0" smtClean="0"/>
              <a:t>之后的一些</a:t>
            </a:r>
            <a:r>
              <a:rPr lang="en-US" altLang="zh-CN" sz="2000" dirty="0" err="1" smtClean="0"/>
              <a:t>buffer_head</a:t>
            </a:r>
            <a:r>
              <a:rPr lang="zh-CN" altLang="en-US" sz="2000" dirty="0" smtClean="0"/>
              <a:t>结构体进行初始化。最后的结果如下图：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008224"/>
            <a:ext cx="6629400" cy="1849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8302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基于缓冲区的磁盘访问</a:t>
            </a:r>
            <a:endParaRPr lang="zh-CN" altLang="en-US" dirty="0" smtClean="0"/>
          </a:p>
        </p:txBody>
      </p:sp>
      <p:sp>
        <p:nvSpPr>
          <p:cNvPr id="95235" name="内容占位符 2"/>
          <p:cNvSpPr>
            <a:spLocks noGrp="1"/>
          </p:cNvSpPr>
          <p:nvPr>
            <p:ph idx="1"/>
          </p:nvPr>
        </p:nvSpPr>
        <p:spPr>
          <a:xfrm>
            <a:off x="381000" y="1066800"/>
            <a:ext cx="7921625" cy="4525962"/>
          </a:xfrm>
        </p:spPr>
        <p:txBody>
          <a:bodyPr/>
          <a:lstStyle/>
          <a:p>
            <a:r>
              <a:rPr lang="zh-CN" altLang="en-US" sz="1800" dirty="0" smtClean="0"/>
              <a:t>缓冲块管理</a:t>
            </a:r>
            <a:r>
              <a:rPr lang="en-US" altLang="zh-CN" sz="1800" dirty="0" err="1" smtClean="0"/>
              <a:t>buffer_head</a:t>
            </a:r>
            <a:r>
              <a:rPr lang="zh-CN" altLang="en-US" sz="1800" dirty="0" smtClean="0"/>
              <a:t>结构体：</a:t>
            </a:r>
            <a:br>
              <a:rPr lang="zh-CN" altLang="en-US" sz="1800" dirty="0" smtClean="0"/>
            </a:br>
            <a:r>
              <a:rPr lang="en-US" altLang="zh-CN" sz="1800" dirty="0" err="1" smtClean="0"/>
              <a:t>struct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buffer_head</a:t>
            </a:r>
            <a:r>
              <a:rPr lang="en-US" altLang="zh-CN" sz="1800" dirty="0" smtClean="0"/>
              <a:t> {</a:t>
            </a:r>
            <a:br>
              <a:rPr lang="en-US" altLang="zh-CN" sz="1800" dirty="0" smtClean="0"/>
            </a:br>
            <a:r>
              <a:rPr lang="en-US" altLang="zh-CN" sz="1800" dirty="0" smtClean="0"/>
              <a:t>      </a:t>
            </a:r>
            <a:r>
              <a:rPr lang="en-US" altLang="zh-CN" sz="1800" dirty="0" smtClean="0">
                <a:solidFill>
                  <a:srgbClr val="FF0000"/>
                </a:solidFill>
              </a:rPr>
              <a:t> char *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b_data</a:t>
            </a:r>
            <a:r>
              <a:rPr lang="en-US" altLang="zh-CN" sz="1800" dirty="0" smtClean="0">
                <a:solidFill>
                  <a:srgbClr val="FF0000"/>
                </a:solidFill>
              </a:rPr>
              <a:t>;                         // </a:t>
            </a:r>
            <a:r>
              <a:rPr lang="zh-CN" altLang="en-US" sz="1800" dirty="0" smtClean="0">
                <a:solidFill>
                  <a:srgbClr val="FF0000"/>
                </a:solidFill>
              </a:rPr>
              <a:t>指向缓冲块数据区</a:t>
            </a:r>
            <a:br>
              <a:rPr lang="zh-CN" altLang="en-US" sz="1800" dirty="0" smtClean="0">
                <a:solidFill>
                  <a:srgbClr val="FF0000"/>
                </a:solidFill>
              </a:rPr>
            </a:br>
            <a:r>
              <a:rPr lang="zh-CN" altLang="en-US" sz="1800" dirty="0" smtClean="0"/>
              <a:t>       </a:t>
            </a:r>
            <a:r>
              <a:rPr lang="en-US" altLang="zh-CN" sz="1800" dirty="0" smtClean="0">
                <a:solidFill>
                  <a:srgbClr val="FF0000"/>
                </a:solidFill>
              </a:rPr>
              <a:t>unsigned long 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b_blocknr</a:t>
            </a:r>
            <a:r>
              <a:rPr lang="en-US" altLang="zh-CN" sz="1800" dirty="0" smtClean="0">
                <a:solidFill>
                  <a:srgbClr val="FF0000"/>
                </a:solidFill>
              </a:rPr>
              <a:t>;          // </a:t>
            </a:r>
            <a:r>
              <a:rPr lang="zh-CN" altLang="en-US" sz="1800" dirty="0" smtClean="0">
                <a:solidFill>
                  <a:srgbClr val="FF0000"/>
                </a:solidFill>
              </a:rPr>
              <a:t>块号</a:t>
            </a:r>
            <a:br>
              <a:rPr lang="zh-CN" altLang="en-US" sz="1800" dirty="0" smtClean="0">
                <a:solidFill>
                  <a:srgbClr val="FF0000"/>
                </a:solidFill>
              </a:rPr>
            </a:br>
            <a:r>
              <a:rPr lang="zh-CN" altLang="en-US" sz="1800" dirty="0" smtClean="0">
                <a:solidFill>
                  <a:srgbClr val="FF0000"/>
                </a:solidFill>
              </a:rPr>
              <a:t>       </a:t>
            </a:r>
            <a:r>
              <a:rPr lang="en-US" altLang="zh-CN" sz="1800" dirty="0" smtClean="0">
                <a:solidFill>
                  <a:srgbClr val="FF0000"/>
                </a:solidFill>
              </a:rPr>
              <a:t>unsigned short </a:t>
            </a:r>
            <a:r>
              <a:rPr lang="en-US" altLang="zh-CN" sz="1800" dirty="0" err="1" smtClean="0">
                <a:solidFill>
                  <a:srgbClr val="FF0000"/>
                </a:solidFill>
              </a:rPr>
              <a:t>b_dev</a:t>
            </a:r>
            <a:r>
              <a:rPr lang="en-US" altLang="zh-CN" sz="1800" dirty="0" smtClean="0">
                <a:solidFill>
                  <a:srgbClr val="FF0000"/>
                </a:solidFill>
              </a:rPr>
              <a:t>;              // </a:t>
            </a:r>
            <a:r>
              <a:rPr lang="zh-CN" altLang="en-US" sz="1800" dirty="0" smtClean="0">
                <a:solidFill>
                  <a:srgbClr val="FF0000"/>
                </a:solidFill>
              </a:rPr>
              <a:t>设备号</a:t>
            </a:r>
            <a:r>
              <a:rPr lang="zh-CN" altLang="en-US" sz="1800" dirty="0" smtClean="0"/>
              <a:t/>
            </a:r>
            <a:br>
              <a:rPr lang="zh-CN" altLang="en-US" sz="1800" dirty="0" smtClean="0"/>
            </a:br>
            <a:r>
              <a:rPr lang="zh-CN" altLang="en-US" sz="1800" dirty="0" smtClean="0"/>
              <a:t>       </a:t>
            </a:r>
            <a:r>
              <a:rPr lang="en-US" altLang="zh-CN" sz="1800" dirty="0" smtClean="0"/>
              <a:t>unsigned char </a:t>
            </a:r>
            <a:r>
              <a:rPr lang="en-US" altLang="zh-CN" sz="1800" dirty="0" err="1" smtClean="0"/>
              <a:t>b_uptodate</a:t>
            </a:r>
            <a:r>
              <a:rPr lang="en-US" altLang="zh-CN" sz="1800" dirty="0" smtClean="0"/>
              <a:t>;        // </a:t>
            </a:r>
            <a:r>
              <a:rPr lang="zh-CN" altLang="en-US" sz="1800" dirty="0" smtClean="0"/>
              <a:t>更新标示：表示数据是否已更新</a:t>
            </a:r>
            <a:br>
              <a:rPr lang="zh-CN" altLang="en-US" sz="1800" dirty="0" smtClean="0"/>
            </a:br>
            <a:r>
              <a:rPr lang="zh-CN" altLang="en-US" sz="1800" dirty="0" smtClean="0"/>
              <a:t>       </a:t>
            </a:r>
            <a:r>
              <a:rPr lang="en-US" altLang="zh-CN" sz="1800" dirty="0" smtClean="0"/>
              <a:t>unsigned char </a:t>
            </a:r>
            <a:r>
              <a:rPr lang="en-US" altLang="zh-CN" sz="1800" dirty="0" err="1" smtClean="0"/>
              <a:t>b_dirt</a:t>
            </a:r>
            <a:r>
              <a:rPr lang="en-US" altLang="zh-CN" sz="1800" dirty="0" smtClean="0"/>
              <a:t>;                // </a:t>
            </a:r>
            <a:r>
              <a:rPr lang="zh-CN" altLang="en-US" sz="1800" dirty="0" smtClean="0"/>
              <a:t>修改标志：</a:t>
            </a:r>
            <a:r>
              <a:rPr lang="en-US" altLang="zh-CN" sz="1800" dirty="0" smtClean="0"/>
              <a:t>0--</a:t>
            </a:r>
            <a:r>
              <a:rPr lang="zh-CN" altLang="en-US" sz="1800" dirty="0" smtClean="0"/>
              <a:t>未修改， </a:t>
            </a:r>
            <a:r>
              <a:rPr lang="en-US" altLang="zh-CN" sz="1800" dirty="0" smtClean="0"/>
              <a:t>1--</a:t>
            </a:r>
            <a:r>
              <a:rPr lang="zh-CN" altLang="en-US" sz="1800" dirty="0" smtClean="0"/>
              <a:t>已修改</a:t>
            </a:r>
            <a:br>
              <a:rPr lang="zh-CN" altLang="en-US" sz="1800" dirty="0" smtClean="0"/>
            </a:br>
            <a:r>
              <a:rPr lang="zh-CN" altLang="en-US" sz="1800" dirty="0" smtClean="0"/>
              <a:t>       </a:t>
            </a:r>
            <a:r>
              <a:rPr lang="en-US" altLang="zh-CN" sz="1800" dirty="0" smtClean="0"/>
              <a:t>unsigned char </a:t>
            </a:r>
            <a:r>
              <a:rPr lang="en-US" altLang="zh-CN" sz="1800" dirty="0" err="1" smtClean="0"/>
              <a:t>b_count</a:t>
            </a:r>
            <a:r>
              <a:rPr lang="en-US" altLang="zh-CN" sz="1800" dirty="0" smtClean="0"/>
              <a:t>;             // </a:t>
            </a:r>
            <a:r>
              <a:rPr lang="zh-CN" altLang="en-US" sz="1800" dirty="0" smtClean="0"/>
              <a:t>使用该块的进程数（在</a:t>
            </a:r>
            <a:br>
              <a:rPr lang="zh-CN" altLang="en-US" sz="1800" dirty="0" smtClean="0"/>
            </a:br>
            <a:r>
              <a:rPr lang="zh-CN" altLang="en-US" sz="1800" dirty="0" smtClean="0"/>
              <a:t>       </a:t>
            </a:r>
            <a:r>
              <a:rPr lang="en-US" altLang="zh-CN" sz="1800" dirty="0" smtClean="0"/>
              <a:t>unsigned char </a:t>
            </a:r>
            <a:r>
              <a:rPr lang="en-US" altLang="zh-CN" sz="1800" dirty="0" err="1" smtClean="0"/>
              <a:t>b_lock</a:t>
            </a:r>
            <a:r>
              <a:rPr lang="en-US" altLang="zh-CN" sz="1800" dirty="0" smtClean="0"/>
              <a:t>;               // </a:t>
            </a:r>
            <a:r>
              <a:rPr lang="zh-CN" altLang="en-US" sz="1800" dirty="0" smtClean="0"/>
              <a:t>缓冲区是否被锁定，</a:t>
            </a:r>
            <a:r>
              <a:rPr lang="en-US" altLang="zh-CN" sz="1800" dirty="0" smtClean="0"/>
              <a:t>0--unlocked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1--locked</a:t>
            </a:r>
            <a:br>
              <a:rPr lang="en-US" altLang="zh-CN" sz="1800" dirty="0" smtClean="0"/>
            </a:br>
            <a:r>
              <a:rPr lang="en-US" altLang="zh-CN" sz="1800" dirty="0" smtClean="0"/>
              <a:t>       </a:t>
            </a:r>
            <a:r>
              <a:rPr lang="en-US" altLang="zh-CN" sz="1800" dirty="0" err="1" smtClean="0"/>
              <a:t>struct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task_struct</a:t>
            </a:r>
            <a:r>
              <a:rPr lang="en-US" altLang="zh-CN" sz="1800" dirty="0" smtClean="0"/>
              <a:t> *</a:t>
            </a:r>
            <a:r>
              <a:rPr lang="en-US" altLang="zh-CN" sz="1800" dirty="0" err="1" smtClean="0"/>
              <a:t>b_wait</a:t>
            </a:r>
            <a:r>
              <a:rPr lang="en-US" altLang="zh-CN" sz="1800" dirty="0" smtClean="0"/>
              <a:t>;       // </a:t>
            </a:r>
            <a:r>
              <a:rPr lang="zh-CN" altLang="en-US" sz="1800" dirty="0" smtClean="0"/>
              <a:t>等待缓冲区解锁的进程</a:t>
            </a:r>
            <a:br>
              <a:rPr lang="zh-CN" altLang="en-US" sz="1800" dirty="0" smtClean="0"/>
            </a:br>
            <a:r>
              <a:rPr lang="zh-CN" altLang="en-US" sz="1800" dirty="0" smtClean="0"/>
              <a:t>       </a:t>
            </a:r>
            <a:r>
              <a:rPr lang="en-US" altLang="zh-CN" sz="1800" dirty="0" err="1" smtClean="0">
                <a:solidFill>
                  <a:srgbClr val="00B050"/>
                </a:solidFill>
              </a:rPr>
              <a:t>struct</a:t>
            </a:r>
            <a:r>
              <a:rPr lang="en-US" altLang="zh-CN" sz="1800" dirty="0" smtClean="0">
                <a:solidFill>
                  <a:srgbClr val="00B050"/>
                </a:solidFill>
              </a:rPr>
              <a:t> </a:t>
            </a:r>
            <a:r>
              <a:rPr lang="en-US" altLang="zh-CN" sz="1800" dirty="0" err="1" smtClean="0">
                <a:solidFill>
                  <a:srgbClr val="00B050"/>
                </a:solidFill>
              </a:rPr>
              <a:t>buffer_head</a:t>
            </a:r>
            <a:r>
              <a:rPr lang="en-US" altLang="zh-CN" sz="1800" dirty="0" smtClean="0">
                <a:solidFill>
                  <a:srgbClr val="00B050"/>
                </a:solidFill>
              </a:rPr>
              <a:t> *</a:t>
            </a:r>
            <a:r>
              <a:rPr lang="en-US" altLang="zh-CN" sz="1800" dirty="0" err="1" smtClean="0">
                <a:solidFill>
                  <a:srgbClr val="00B050"/>
                </a:solidFill>
              </a:rPr>
              <a:t>b_prev</a:t>
            </a:r>
            <a:r>
              <a:rPr lang="en-US" altLang="zh-CN" sz="1800" dirty="0" smtClean="0">
                <a:solidFill>
                  <a:srgbClr val="00B050"/>
                </a:solidFill>
              </a:rPr>
              <a:t>;     // hash</a:t>
            </a:r>
            <a:r>
              <a:rPr lang="zh-CN" altLang="en-US" sz="1800" dirty="0" smtClean="0">
                <a:solidFill>
                  <a:srgbClr val="00B050"/>
                </a:solidFill>
              </a:rPr>
              <a:t>表的前一个</a:t>
            </a:r>
            <a:br>
              <a:rPr lang="zh-CN" altLang="en-US" sz="1800" dirty="0" smtClean="0">
                <a:solidFill>
                  <a:srgbClr val="00B050"/>
                </a:solidFill>
              </a:rPr>
            </a:br>
            <a:r>
              <a:rPr lang="zh-CN" altLang="en-US" sz="1800" dirty="0" smtClean="0">
                <a:solidFill>
                  <a:srgbClr val="00B050"/>
                </a:solidFill>
              </a:rPr>
              <a:t>       </a:t>
            </a:r>
            <a:r>
              <a:rPr lang="en-US" altLang="zh-CN" sz="1800" dirty="0" err="1" smtClean="0">
                <a:solidFill>
                  <a:srgbClr val="00B050"/>
                </a:solidFill>
              </a:rPr>
              <a:t>struct</a:t>
            </a:r>
            <a:r>
              <a:rPr lang="en-US" altLang="zh-CN" sz="1800" dirty="0" smtClean="0">
                <a:solidFill>
                  <a:srgbClr val="00B050"/>
                </a:solidFill>
              </a:rPr>
              <a:t> </a:t>
            </a:r>
            <a:r>
              <a:rPr lang="en-US" altLang="zh-CN" sz="1800" dirty="0" err="1" smtClean="0">
                <a:solidFill>
                  <a:srgbClr val="00B050"/>
                </a:solidFill>
              </a:rPr>
              <a:t>buffer_head</a:t>
            </a:r>
            <a:r>
              <a:rPr lang="en-US" altLang="zh-CN" sz="1800" dirty="0" smtClean="0">
                <a:solidFill>
                  <a:srgbClr val="00B050"/>
                </a:solidFill>
              </a:rPr>
              <a:t> *</a:t>
            </a:r>
            <a:r>
              <a:rPr lang="en-US" altLang="zh-CN" sz="1800" dirty="0" err="1" smtClean="0">
                <a:solidFill>
                  <a:srgbClr val="00B050"/>
                </a:solidFill>
              </a:rPr>
              <a:t>b_next</a:t>
            </a:r>
            <a:r>
              <a:rPr lang="en-US" altLang="zh-CN" sz="1800" dirty="0" smtClean="0">
                <a:solidFill>
                  <a:srgbClr val="00B050"/>
                </a:solidFill>
              </a:rPr>
              <a:t>;     // hash</a:t>
            </a:r>
            <a:r>
              <a:rPr lang="zh-CN" altLang="en-US" sz="1800" dirty="0" smtClean="0">
                <a:solidFill>
                  <a:srgbClr val="00B050"/>
                </a:solidFill>
              </a:rPr>
              <a:t>表的后一个</a:t>
            </a:r>
            <a:r>
              <a:rPr lang="zh-CN" altLang="en-US" sz="1800" dirty="0" smtClean="0"/>
              <a:t/>
            </a:r>
            <a:br>
              <a:rPr lang="zh-CN" altLang="en-US" sz="1800" dirty="0" smtClean="0"/>
            </a:br>
            <a:r>
              <a:rPr lang="zh-CN" altLang="en-US" sz="1800" dirty="0" smtClean="0"/>
              <a:t>      </a:t>
            </a:r>
            <a:r>
              <a:rPr lang="zh-CN" altLang="en-US" sz="1800" dirty="0" smtClean="0">
                <a:solidFill>
                  <a:srgbClr val="C00000"/>
                </a:solidFill>
              </a:rPr>
              <a:t> 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struct</a:t>
            </a:r>
            <a:r>
              <a:rPr lang="en-US" altLang="zh-CN" sz="1800" dirty="0" smtClean="0">
                <a:solidFill>
                  <a:srgbClr val="C00000"/>
                </a:solidFill>
              </a:rPr>
              <a:t> 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buffer_head</a:t>
            </a:r>
            <a:r>
              <a:rPr lang="en-US" altLang="zh-CN" sz="1800" dirty="0" smtClean="0">
                <a:solidFill>
                  <a:srgbClr val="C00000"/>
                </a:solidFill>
              </a:rPr>
              <a:t> *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b_prev_free</a:t>
            </a:r>
            <a:r>
              <a:rPr lang="en-US" altLang="zh-CN" sz="1800" dirty="0" smtClean="0">
                <a:solidFill>
                  <a:srgbClr val="C00000"/>
                </a:solidFill>
              </a:rPr>
              <a:t>;   // free</a:t>
            </a:r>
            <a:r>
              <a:rPr lang="zh-CN" altLang="en-US" sz="1800" dirty="0" smtClean="0">
                <a:solidFill>
                  <a:srgbClr val="C00000"/>
                </a:solidFill>
              </a:rPr>
              <a:t>表的前一个</a:t>
            </a:r>
            <a:br>
              <a:rPr lang="zh-CN" altLang="en-US" sz="1800" dirty="0" smtClean="0">
                <a:solidFill>
                  <a:srgbClr val="C00000"/>
                </a:solidFill>
              </a:rPr>
            </a:br>
            <a:r>
              <a:rPr lang="zh-CN" altLang="en-US" sz="1800" dirty="0" smtClean="0">
                <a:solidFill>
                  <a:srgbClr val="C00000"/>
                </a:solidFill>
              </a:rPr>
              <a:t>       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struct</a:t>
            </a:r>
            <a:r>
              <a:rPr lang="en-US" altLang="zh-CN" sz="1800" dirty="0" smtClean="0">
                <a:solidFill>
                  <a:srgbClr val="C00000"/>
                </a:solidFill>
              </a:rPr>
              <a:t> 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buffer_head</a:t>
            </a:r>
            <a:r>
              <a:rPr lang="en-US" altLang="zh-CN" sz="1800" dirty="0" smtClean="0">
                <a:solidFill>
                  <a:srgbClr val="C00000"/>
                </a:solidFill>
              </a:rPr>
              <a:t> *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b_next_free</a:t>
            </a:r>
            <a:r>
              <a:rPr lang="en-US" altLang="zh-CN" sz="1800" dirty="0" smtClean="0">
                <a:solidFill>
                  <a:srgbClr val="C00000"/>
                </a:solidFill>
              </a:rPr>
              <a:t>;   // free</a:t>
            </a:r>
            <a:r>
              <a:rPr lang="zh-CN" altLang="en-US" sz="1800" dirty="0" smtClean="0">
                <a:solidFill>
                  <a:srgbClr val="C00000"/>
                </a:solidFill>
              </a:rPr>
              <a:t>表的后一个</a:t>
            </a:r>
            <a:r>
              <a:rPr lang="zh-CN" altLang="en-US" sz="1800" dirty="0" smtClean="0"/>
              <a:t/>
            </a:r>
            <a:br>
              <a:rPr lang="zh-CN" altLang="en-US" sz="1800" dirty="0" smtClean="0"/>
            </a:br>
            <a:r>
              <a:rPr lang="en-US" altLang="zh-CN" sz="1800" dirty="0" smtClean="0"/>
              <a:t>}</a:t>
            </a:r>
          </a:p>
          <a:p>
            <a:r>
              <a:rPr lang="zh-CN" altLang="en-US" sz="1800" dirty="0"/>
              <a:t>管理方式：</a:t>
            </a:r>
            <a:r>
              <a:rPr lang="en-US" altLang="zh-CN" sz="1800" dirty="0"/>
              <a:t>hash</a:t>
            </a:r>
            <a:r>
              <a:rPr lang="zh-CN" altLang="en-US" sz="1800" dirty="0"/>
              <a:t>表（设备号</a:t>
            </a:r>
            <a:r>
              <a:rPr lang="en-US" altLang="zh-CN" sz="1800" dirty="0"/>
              <a:t>^</a:t>
            </a:r>
            <a:r>
              <a:rPr lang="zh-CN" altLang="en-US" sz="1800" dirty="0"/>
              <a:t>逻辑块号） </a:t>
            </a:r>
            <a:r>
              <a:rPr lang="en-US" altLang="zh-CN" sz="1800" dirty="0"/>
              <a:t>+ </a:t>
            </a:r>
            <a:r>
              <a:rPr lang="zh-CN" altLang="en-US" sz="1800" dirty="0"/>
              <a:t>双向链表（所有的</a:t>
            </a:r>
            <a:r>
              <a:rPr lang="en-US" altLang="zh-CN" sz="1800" dirty="0" err="1"/>
              <a:t>buffer_head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endParaRPr lang="zh-CN" altLang="en-US" sz="1800" dirty="0" smtClean="0"/>
          </a:p>
        </p:txBody>
      </p:sp>
      <p:sp>
        <p:nvSpPr>
          <p:cNvPr id="4" name="矩形 3"/>
          <p:cNvSpPr/>
          <p:nvPr/>
        </p:nvSpPr>
        <p:spPr bwMode="auto">
          <a:xfrm>
            <a:off x="63500" y="1600200"/>
            <a:ext cx="8991600" cy="9906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76200" y="4038600"/>
            <a:ext cx="8991600" cy="121920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8857" y="6211669"/>
            <a:ext cx="7391400" cy="646331"/>
          </a:xfrm>
          <a:prstGeom prst="rect">
            <a:avLst/>
          </a:prstGeom>
          <a:solidFill>
            <a:srgbClr val="F7FBFF"/>
          </a:solidFill>
        </p:spPr>
        <p:txBody>
          <a:bodyPr wrap="square">
            <a:spAutoFit/>
          </a:bodyPr>
          <a:lstStyle/>
          <a:p>
            <a:r>
              <a:rPr lang="zh-CN" altLang="en-US" sz="1800" dirty="0" smtClean="0">
                <a:solidFill>
                  <a:srgbClr val="FF0000"/>
                </a:solidFill>
              </a:rPr>
              <a:t>struct </a:t>
            </a:r>
            <a:r>
              <a:rPr lang="zh-CN" altLang="en-US" sz="1800" dirty="0">
                <a:solidFill>
                  <a:srgbClr val="FF0000"/>
                </a:solidFill>
              </a:rPr>
              <a:t>buffer_head * hash_table[NR_HASH]</a:t>
            </a:r>
            <a:r>
              <a:rPr lang="zh-CN" altLang="en-US" sz="1800" dirty="0" smtClean="0">
                <a:solidFill>
                  <a:srgbClr val="FF0000"/>
                </a:solidFill>
              </a:rPr>
              <a:t>;</a:t>
            </a:r>
            <a:endParaRPr lang="en-US" altLang="zh-CN" sz="1800" dirty="0" smtClean="0">
              <a:solidFill>
                <a:srgbClr val="FF0000"/>
              </a:solidFill>
            </a:endParaRPr>
          </a:p>
          <a:p>
            <a:r>
              <a:rPr lang="zh-CN" altLang="en-US" sz="1800" dirty="0" smtClean="0">
                <a:solidFill>
                  <a:srgbClr val="FF0000"/>
                </a:solidFill>
              </a:rPr>
              <a:t>static </a:t>
            </a:r>
            <a:r>
              <a:rPr lang="zh-CN" altLang="en-US" sz="1800" dirty="0">
                <a:solidFill>
                  <a:srgbClr val="FF0000"/>
                </a:solidFill>
              </a:rPr>
              <a:t>struct buffer_head * free_list;</a:t>
            </a:r>
          </a:p>
        </p:txBody>
      </p:sp>
      <p:sp>
        <p:nvSpPr>
          <p:cNvPr id="3" name="矩形 2"/>
          <p:cNvSpPr/>
          <p:nvPr/>
        </p:nvSpPr>
        <p:spPr>
          <a:xfrm>
            <a:off x="5680334" y="304800"/>
            <a:ext cx="3387466" cy="1015663"/>
          </a:xfrm>
          <a:prstGeom prst="rect">
            <a:avLst/>
          </a:prstGeom>
          <a:solidFill>
            <a:srgbClr val="F7FBFF"/>
          </a:solidFill>
          <a:ln>
            <a:solidFill>
              <a:srgbClr val="0033CC"/>
            </a:solidFill>
          </a:ln>
        </p:spPr>
        <p:txBody>
          <a:bodyPr wrap="none">
            <a:spAutoFit/>
          </a:bodyPr>
          <a:lstStyle/>
          <a:p>
            <a:r>
              <a:rPr lang="zh-CN" altLang="en-US" sz="2000" dirty="0" smtClean="0"/>
              <a:t>还记得下面的操作吗？</a:t>
            </a:r>
            <a:endParaRPr lang="en-US" altLang="zh-CN" sz="2000" dirty="0" smtClean="0"/>
          </a:p>
          <a:p>
            <a:r>
              <a:rPr lang="en-US" altLang="zh-CN" sz="2000" dirty="0" err="1" smtClean="0"/>
              <a:t>struct</a:t>
            </a:r>
            <a:r>
              <a:rPr lang="en-US" altLang="zh-CN" sz="2000" dirty="0" smtClean="0"/>
              <a:t> </a:t>
            </a:r>
            <a:r>
              <a:rPr lang="en-US" altLang="zh-CN" sz="2000" dirty="0" err="1"/>
              <a:t>buffer_head</a:t>
            </a:r>
            <a:r>
              <a:rPr lang="en-US" altLang="zh-CN" sz="2000" dirty="0"/>
              <a:t> * </a:t>
            </a:r>
            <a:r>
              <a:rPr lang="en-US" altLang="zh-CN" sz="2000" dirty="0" err="1"/>
              <a:t>bh</a:t>
            </a:r>
            <a:r>
              <a:rPr lang="en-US" altLang="zh-CN" sz="2000" dirty="0"/>
              <a:t>[4];</a:t>
            </a:r>
          </a:p>
          <a:p>
            <a:r>
              <a:rPr lang="en-US" altLang="zh-CN" sz="2000" dirty="0" err="1" smtClean="0">
                <a:solidFill>
                  <a:srgbClr val="FF0000"/>
                </a:solidFill>
              </a:rPr>
              <a:t>bh</a:t>
            </a:r>
            <a:r>
              <a:rPr lang="en-US" altLang="zh-CN" sz="2000" dirty="0" smtClean="0">
                <a:solidFill>
                  <a:srgbClr val="FF0000"/>
                </a:solidFill>
              </a:rPr>
              <a:t>[</a:t>
            </a:r>
            <a:r>
              <a:rPr lang="en-US" altLang="zh-CN" sz="2000" dirty="0" err="1" smtClean="0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]-&gt;</a:t>
            </a:r>
            <a:r>
              <a:rPr lang="en-US" altLang="zh-CN" sz="2000" dirty="0" err="1">
                <a:solidFill>
                  <a:srgbClr val="FF0000"/>
                </a:solidFill>
              </a:rPr>
              <a:t>b_data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0702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5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" grpId="0" animBg="1"/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基于缓冲区的磁盘访问</a:t>
            </a:r>
            <a:endParaRPr lang="zh-CN" altLang="en-US" dirty="0" smtClean="0"/>
          </a:p>
        </p:txBody>
      </p:sp>
      <p:sp>
        <p:nvSpPr>
          <p:cNvPr id="87043" name="内容占位符 2"/>
          <p:cNvSpPr>
            <a:spLocks noGrp="1"/>
          </p:cNvSpPr>
          <p:nvPr>
            <p:ph idx="1"/>
          </p:nvPr>
        </p:nvSpPr>
        <p:spPr>
          <a:xfrm>
            <a:off x="381000" y="1137444"/>
            <a:ext cx="7921625" cy="4525962"/>
          </a:xfrm>
        </p:spPr>
        <p:txBody>
          <a:bodyPr/>
          <a:lstStyle/>
          <a:p>
            <a:r>
              <a:rPr lang="zh-CN" altLang="en-US" sz="2400" dirty="0"/>
              <a:t>刚初始化的时候所有的缓存块依次连接成一个双向的循环链表</a:t>
            </a:r>
            <a:endParaRPr lang="zh-CN" altLang="en-US" sz="2400" dirty="0" smtClean="0"/>
          </a:p>
        </p:txBody>
      </p:sp>
      <p:pic>
        <p:nvPicPr>
          <p:cNvPr id="87045" name="Picture 4" descr="\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81200"/>
            <a:ext cx="8005331" cy="4771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://img.blog.csdn.net/201412231710085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426" y="3122061"/>
            <a:ext cx="6080886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:\科研工作\工作\教学\操作系统课件-曲明成\2016上课\操作系统\进程与文件\（good）linux0_11 块设备驱动与高速缓冲区-zengxg14-ChinaUnix博客_files\24631445_1369751757KB0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464" y="2362200"/>
            <a:ext cx="6382695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329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bread_page</a:t>
            </a:r>
            <a:r>
              <a:rPr lang="zh-CN" altLang="en-US" dirty="0" smtClean="0"/>
              <a:t>与</a:t>
            </a:r>
            <a:r>
              <a:rPr lang="en-US" altLang="zh-CN" dirty="0"/>
              <a:t>bread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81000" y="1382285"/>
            <a:ext cx="7162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struct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buffer_head</a:t>
            </a:r>
            <a:r>
              <a:rPr lang="en-US" altLang="zh-CN" sz="1600" dirty="0"/>
              <a:t> * bread(</a:t>
            </a: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dev,int</a:t>
            </a:r>
            <a:r>
              <a:rPr lang="en-US" altLang="zh-CN" sz="1600" dirty="0"/>
              <a:t> block)</a:t>
            </a:r>
          </a:p>
          <a:p>
            <a:r>
              <a:rPr lang="en-US" altLang="zh-CN" sz="1600" dirty="0"/>
              <a:t>{</a:t>
            </a:r>
          </a:p>
          <a:p>
            <a:r>
              <a:rPr lang="en-US" altLang="zh-CN" sz="1600" dirty="0"/>
              <a:t>	</a:t>
            </a:r>
            <a:r>
              <a:rPr lang="en-US" altLang="zh-CN" sz="1600" dirty="0" err="1"/>
              <a:t>struct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buffer_head</a:t>
            </a:r>
            <a:r>
              <a:rPr lang="en-US" altLang="zh-CN" sz="1600" dirty="0"/>
              <a:t> * 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;</a:t>
            </a:r>
          </a:p>
          <a:p>
            <a:endParaRPr lang="zh-CN" altLang="en-US" sz="1600" dirty="0"/>
          </a:p>
          <a:p>
            <a:r>
              <a:rPr lang="en-US" altLang="zh-CN" sz="1600" dirty="0"/>
              <a:t>	if (!(</a:t>
            </a:r>
            <a:r>
              <a:rPr lang="en-US" altLang="zh-CN" sz="1600" dirty="0" err="1">
                <a:solidFill>
                  <a:srgbClr val="FF0000"/>
                </a:solidFill>
              </a:rPr>
              <a:t>bh</a:t>
            </a:r>
            <a:r>
              <a:rPr lang="en-US" altLang="zh-CN" sz="1600" dirty="0">
                <a:solidFill>
                  <a:srgbClr val="FF0000"/>
                </a:solidFill>
              </a:rPr>
              <a:t>=</a:t>
            </a:r>
            <a:r>
              <a:rPr lang="en-US" altLang="zh-CN" sz="1600" dirty="0" err="1">
                <a:solidFill>
                  <a:srgbClr val="FF0000"/>
                </a:solidFill>
              </a:rPr>
              <a:t>getblk</a:t>
            </a:r>
            <a:r>
              <a:rPr lang="en-US" altLang="zh-CN" sz="1600" dirty="0">
                <a:solidFill>
                  <a:srgbClr val="FF0000"/>
                </a:solidFill>
              </a:rPr>
              <a:t>(</a:t>
            </a:r>
            <a:r>
              <a:rPr lang="en-US" altLang="zh-CN" sz="1600" dirty="0" err="1">
                <a:solidFill>
                  <a:srgbClr val="FF0000"/>
                </a:solidFill>
              </a:rPr>
              <a:t>dev,block</a:t>
            </a:r>
            <a:r>
              <a:rPr lang="en-US" altLang="zh-CN" sz="1600" dirty="0" smtClean="0"/>
              <a:t>)))   //</a:t>
            </a:r>
            <a:r>
              <a:rPr lang="zh-CN" altLang="en-US" sz="1600" dirty="0" smtClean="0"/>
              <a:t>先从缓冲区找一个缓冲块</a:t>
            </a:r>
            <a:endParaRPr lang="en-US" altLang="zh-CN" sz="1600" dirty="0"/>
          </a:p>
          <a:p>
            <a:r>
              <a:rPr lang="en-US" altLang="zh-CN" sz="1600" dirty="0"/>
              <a:t>		panic("bread: </a:t>
            </a:r>
            <a:r>
              <a:rPr lang="en-US" altLang="zh-CN" sz="1600" dirty="0" err="1"/>
              <a:t>getblk</a:t>
            </a:r>
            <a:r>
              <a:rPr lang="en-US" altLang="zh-CN" sz="1600" dirty="0"/>
              <a:t> returned NULL\n");</a:t>
            </a:r>
          </a:p>
          <a:p>
            <a:r>
              <a:rPr lang="en-US" altLang="zh-CN" sz="1600" dirty="0"/>
              <a:t>	if 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-&gt;</a:t>
            </a:r>
            <a:r>
              <a:rPr lang="en-US" altLang="zh-CN" sz="1600" dirty="0" err="1"/>
              <a:t>b_uptodate</a:t>
            </a:r>
            <a:r>
              <a:rPr lang="en-US" altLang="zh-CN" sz="1600" dirty="0"/>
              <a:t>) </a:t>
            </a:r>
            <a:r>
              <a:rPr lang="en-US" altLang="zh-CN" sz="1600" dirty="0" smtClean="0"/>
              <a:t> return </a:t>
            </a:r>
            <a:r>
              <a:rPr lang="en-US" altLang="zh-CN" sz="1600" dirty="0" err="1"/>
              <a:t>bh</a:t>
            </a:r>
            <a:r>
              <a:rPr lang="en-US" altLang="zh-CN" sz="1600" dirty="0" smtClean="0"/>
              <a:t>;    //</a:t>
            </a:r>
            <a:r>
              <a:rPr lang="zh-CN" altLang="en-US" sz="1600" dirty="0" smtClean="0"/>
              <a:t>缓冲块数据有效，已更新</a:t>
            </a:r>
            <a:endParaRPr lang="en-US" altLang="zh-CN" sz="1600" dirty="0"/>
          </a:p>
          <a:p>
            <a:r>
              <a:rPr lang="en-US" altLang="zh-CN" sz="1600" dirty="0"/>
              <a:t>	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ll_rw_block</a:t>
            </a:r>
            <a:r>
              <a:rPr lang="en-US" altLang="zh-CN" sz="1600" dirty="0" smtClean="0">
                <a:solidFill>
                  <a:srgbClr val="FF0000"/>
                </a:solidFill>
              </a:rPr>
              <a:t>(</a:t>
            </a:r>
            <a:r>
              <a:rPr lang="en-US" altLang="zh-CN" sz="1600" dirty="0" err="1" smtClean="0">
                <a:solidFill>
                  <a:srgbClr val="FF0000"/>
                </a:solidFill>
              </a:rPr>
              <a:t>READ,bh</a:t>
            </a:r>
            <a:r>
              <a:rPr lang="en-US" altLang="zh-CN" sz="1600" dirty="0" smtClean="0">
                <a:solidFill>
                  <a:srgbClr val="FF0000"/>
                </a:solidFill>
              </a:rPr>
              <a:t>);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  //</a:t>
            </a:r>
            <a:r>
              <a:rPr lang="zh-CN" altLang="en-US" sz="1600" dirty="0" smtClean="0"/>
              <a:t>从块设备读取数据</a:t>
            </a:r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1600" dirty="0"/>
              <a:t>	</a:t>
            </a:r>
            <a:r>
              <a:rPr lang="en-US" altLang="zh-CN" sz="1600" dirty="0" err="1"/>
              <a:t>wait_on_buffer</a:t>
            </a:r>
            <a:r>
              <a:rPr lang="en-US" altLang="zh-CN" sz="1600" dirty="0"/>
              <a:t>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	if 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-&gt;</a:t>
            </a:r>
            <a:r>
              <a:rPr lang="en-US" altLang="zh-CN" sz="1600" dirty="0" err="1"/>
              <a:t>b_uptodate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		return 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	</a:t>
            </a:r>
            <a:r>
              <a:rPr lang="en-US" altLang="zh-CN" sz="1600" dirty="0" err="1"/>
              <a:t>brelse</a:t>
            </a:r>
            <a:r>
              <a:rPr lang="en-US" altLang="zh-CN" sz="1600" dirty="0"/>
              <a:t>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	return NULL;</a:t>
            </a:r>
          </a:p>
          <a:p>
            <a:r>
              <a:rPr lang="en-US" altLang="zh-CN" sz="1600" dirty="0"/>
              <a:t>}</a:t>
            </a:r>
          </a:p>
        </p:txBody>
      </p:sp>
      <p:pic>
        <p:nvPicPr>
          <p:cNvPr id="5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012" y="4953000"/>
            <a:ext cx="8967788" cy="1624354"/>
          </a:xfrm>
        </p:spPr>
      </p:pic>
    </p:spTree>
    <p:extLst>
      <p:ext uri="{BB962C8B-B14F-4D97-AF65-F5344CB8AC3E}">
        <p14:creationId xmlns:p14="http://schemas.microsoft.com/office/powerpoint/2010/main" val="248728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基于缓冲区的磁盘访问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1268413"/>
            <a:ext cx="8991599" cy="4525962"/>
          </a:xfrm>
        </p:spPr>
        <p:txBody>
          <a:bodyPr/>
          <a:lstStyle/>
          <a:p>
            <a:r>
              <a:rPr lang="zh-CN" altLang="en-US" sz="2000" dirty="0"/>
              <a:t>这个结构体的最后四个指针，表示了对</a:t>
            </a:r>
            <a:r>
              <a:rPr lang="en-US" altLang="zh-CN" sz="2000" dirty="0" err="1"/>
              <a:t>buffer_head</a:t>
            </a:r>
            <a:r>
              <a:rPr lang="zh-CN" altLang="en-US" sz="2000" dirty="0"/>
              <a:t>的管理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r>
              <a:rPr lang="zh-CN" altLang="en-US" sz="2000" dirty="0" smtClean="0"/>
              <a:t>通过</a:t>
            </a:r>
            <a:r>
              <a:rPr lang="zh-CN" altLang="en-US" sz="2000" dirty="0"/>
              <a:t>两种方式对</a:t>
            </a:r>
            <a:r>
              <a:rPr lang="en-US" altLang="zh-CN" sz="2000" dirty="0" err="1"/>
              <a:t>buffer_head</a:t>
            </a:r>
            <a:r>
              <a:rPr lang="zh-CN" altLang="en-US" sz="2000" dirty="0"/>
              <a:t>进行</a:t>
            </a:r>
            <a:r>
              <a:rPr lang="zh-CN" altLang="en-US" sz="2000" dirty="0" smtClean="0"/>
              <a:t>管理</a:t>
            </a:r>
            <a:endParaRPr lang="en-US" altLang="zh-CN" sz="2000" dirty="0" smtClean="0"/>
          </a:p>
          <a:p>
            <a:r>
              <a:rPr lang="en-US" altLang="zh-CN" sz="2000" dirty="0" smtClean="0">
                <a:solidFill>
                  <a:srgbClr val="C00000"/>
                </a:solidFill>
              </a:rPr>
              <a:t>1</a:t>
            </a:r>
            <a:r>
              <a:rPr lang="zh-CN" altLang="en-US" sz="2000" dirty="0" smtClean="0">
                <a:solidFill>
                  <a:srgbClr val="C00000"/>
                </a:solidFill>
              </a:rPr>
              <a:t>）</a:t>
            </a:r>
            <a:r>
              <a:rPr lang="en-US" altLang="zh-CN" sz="2000" dirty="0" err="1" smtClean="0">
                <a:solidFill>
                  <a:srgbClr val="C00000"/>
                </a:solidFill>
              </a:rPr>
              <a:t>free_list</a:t>
            </a:r>
            <a:r>
              <a:rPr lang="zh-CN" altLang="en-US" sz="2000" dirty="0" smtClean="0">
                <a:solidFill>
                  <a:srgbClr val="C00000"/>
                </a:solidFill>
              </a:rPr>
              <a:t>指针</a:t>
            </a:r>
            <a:endParaRPr lang="en-US" altLang="zh-CN" sz="2000" dirty="0" smtClean="0">
              <a:solidFill>
                <a:srgbClr val="C00000"/>
              </a:solidFill>
            </a:endParaRPr>
          </a:p>
          <a:p>
            <a:r>
              <a:rPr lang="en-US" altLang="zh-CN" sz="2000" dirty="0" err="1" smtClean="0">
                <a:solidFill>
                  <a:srgbClr val="C00000"/>
                </a:solidFill>
              </a:rPr>
              <a:t>free_list</a:t>
            </a:r>
            <a:r>
              <a:rPr lang="zh-CN" altLang="en-US" sz="2000" dirty="0">
                <a:solidFill>
                  <a:srgbClr val="C00000"/>
                </a:solidFill>
              </a:rPr>
              <a:t>指针</a:t>
            </a:r>
            <a:r>
              <a:rPr lang="zh-CN" altLang="en-US" sz="2000" dirty="0"/>
              <a:t>指向第一个空闲的缓冲头（</a:t>
            </a:r>
            <a:r>
              <a:rPr lang="en-US" altLang="zh-CN" sz="2000" dirty="0" err="1"/>
              <a:t>buffer_head</a:t>
            </a:r>
            <a:r>
              <a:rPr lang="zh-CN" altLang="en-US" sz="2000" dirty="0"/>
              <a:t>），全部的空闲</a:t>
            </a:r>
            <a:r>
              <a:rPr lang="en-US" altLang="zh-CN" sz="2000" dirty="0" err="1" smtClean="0"/>
              <a:t>buffer_head</a:t>
            </a:r>
            <a:r>
              <a:rPr lang="zh-CN" altLang="en-US" sz="2000" dirty="0" smtClean="0"/>
              <a:t>通过</a:t>
            </a:r>
            <a:r>
              <a:rPr lang="en-US" altLang="zh-CN" sz="2000" dirty="0" err="1">
                <a:solidFill>
                  <a:srgbClr val="C00000"/>
                </a:solidFill>
              </a:rPr>
              <a:t>b_prev_free</a:t>
            </a:r>
            <a:r>
              <a:rPr lang="zh-CN" altLang="en-US" sz="2000" dirty="0"/>
              <a:t>和</a:t>
            </a:r>
            <a:r>
              <a:rPr lang="en-US" altLang="zh-CN" sz="2000" dirty="0" err="1">
                <a:solidFill>
                  <a:srgbClr val="C00000"/>
                </a:solidFill>
              </a:rPr>
              <a:t>b_next_free</a:t>
            </a:r>
            <a:r>
              <a:rPr lang="zh-CN" altLang="en-US" sz="2000" dirty="0"/>
              <a:t>构成一个双向循环链表</a:t>
            </a:r>
            <a:r>
              <a:rPr lang="zh-CN" altLang="en-US" sz="2000" dirty="0" smtClean="0"/>
              <a:t>。</a:t>
            </a:r>
            <a:r>
              <a:rPr lang="en-US" altLang="zh-CN" sz="2000" dirty="0" err="1" smtClean="0"/>
              <a:t>free_list</a:t>
            </a:r>
            <a:r>
              <a:rPr lang="zh-CN" altLang="en-US" sz="2000" dirty="0"/>
              <a:t>指针会在每次</a:t>
            </a:r>
            <a:r>
              <a:rPr lang="en-US" altLang="zh-CN" sz="2000" dirty="0" err="1"/>
              <a:t>insert_into_queues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remove_from_queues</a:t>
            </a:r>
            <a:r>
              <a:rPr lang="zh-CN" altLang="en-US" sz="2000" dirty="0"/>
              <a:t>两个函数中</a:t>
            </a:r>
            <a:r>
              <a:rPr lang="zh-CN" altLang="en-US" sz="2000" dirty="0" smtClean="0"/>
              <a:t>改变。</a:t>
            </a:r>
            <a:endParaRPr lang="zh-CN" altLang="en-US" sz="2000" dirty="0"/>
          </a:p>
          <a:p>
            <a:r>
              <a:rPr lang="en-US" altLang="zh-CN" sz="2000" dirty="0" smtClean="0">
                <a:solidFill>
                  <a:srgbClr val="C00000"/>
                </a:solidFill>
              </a:rPr>
              <a:t>2</a:t>
            </a:r>
            <a:r>
              <a:rPr lang="zh-CN" altLang="en-US" sz="2000" dirty="0" smtClean="0">
                <a:solidFill>
                  <a:srgbClr val="C00000"/>
                </a:solidFill>
              </a:rPr>
              <a:t>）</a:t>
            </a:r>
            <a:r>
              <a:rPr lang="en-US" altLang="zh-CN" sz="2000" dirty="0" smtClean="0">
                <a:solidFill>
                  <a:srgbClr val="C00000"/>
                </a:solidFill>
              </a:rPr>
              <a:t>hash</a:t>
            </a:r>
            <a:r>
              <a:rPr lang="zh-CN" altLang="en-US" sz="2000" dirty="0" smtClean="0">
                <a:solidFill>
                  <a:srgbClr val="C00000"/>
                </a:solidFill>
              </a:rPr>
              <a:t>数组</a:t>
            </a:r>
            <a:endParaRPr lang="en-US" altLang="zh-CN" sz="2000" dirty="0" smtClean="0">
              <a:solidFill>
                <a:srgbClr val="C00000"/>
              </a:solidFill>
            </a:endParaRPr>
          </a:p>
          <a:p>
            <a:r>
              <a:rPr lang="en-US" altLang="zh-CN" sz="2000" dirty="0" err="1" smtClean="0"/>
              <a:t>struct</a:t>
            </a:r>
            <a:r>
              <a:rPr lang="en-US" altLang="zh-CN" sz="2000" dirty="0" smtClean="0"/>
              <a:t> </a:t>
            </a:r>
            <a:r>
              <a:rPr lang="en-US" altLang="zh-CN" sz="2000" dirty="0" err="1"/>
              <a:t>buffer_head</a:t>
            </a:r>
            <a:r>
              <a:rPr lang="en-US" altLang="zh-CN" sz="2000" dirty="0"/>
              <a:t> *</a:t>
            </a:r>
            <a:r>
              <a:rPr lang="en-US" altLang="zh-CN" sz="2000" dirty="0">
                <a:solidFill>
                  <a:srgbClr val="C00000"/>
                </a:solidFill>
              </a:rPr>
              <a:t>hash</a:t>
            </a:r>
            <a:r>
              <a:rPr lang="en-US" altLang="zh-CN" sz="2000" dirty="0"/>
              <a:t>[NR_HASH], NR_HASH</a:t>
            </a:r>
            <a:r>
              <a:rPr lang="zh-CN" altLang="en-US" sz="2000" dirty="0"/>
              <a:t>的值为</a:t>
            </a:r>
            <a:r>
              <a:rPr lang="en-US" altLang="zh-CN" sz="2000" dirty="0" smtClean="0"/>
              <a:t>307</a:t>
            </a:r>
            <a:r>
              <a:rPr lang="zh-CN" altLang="en-US" sz="2000" dirty="0" smtClean="0"/>
              <a:t>，对</a:t>
            </a:r>
            <a:r>
              <a:rPr lang="zh-CN" altLang="en-US" sz="2000" dirty="0"/>
              <a:t>一个正在使用的</a:t>
            </a:r>
            <a:r>
              <a:rPr lang="en-US" altLang="zh-CN" sz="2000" dirty="0" err="1"/>
              <a:t>buffer_head</a:t>
            </a:r>
            <a:r>
              <a:rPr lang="zh-CN" altLang="en-US" sz="2000" dirty="0"/>
              <a:t>，根据其中的</a:t>
            </a:r>
            <a:r>
              <a:rPr lang="zh-CN" altLang="en-US" sz="2000" dirty="0">
                <a:solidFill>
                  <a:srgbClr val="C00000"/>
                </a:solidFill>
              </a:rPr>
              <a:t>设备号和逻辑块</a:t>
            </a:r>
            <a:r>
              <a:rPr lang="zh-CN" altLang="en-US" sz="2000" dirty="0" smtClean="0">
                <a:solidFill>
                  <a:srgbClr val="C00000"/>
                </a:solidFill>
              </a:rPr>
              <a:t>号异或</a:t>
            </a:r>
            <a:r>
              <a:rPr lang="zh-CN" altLang="en-US" sz="2000" dirty="0" smtClean="0"/>
              <a:t>计算</a:t>
            </a:r>
            <a:r>
              <a:rPr lang="zh-CN" altLang="en-US" sz="2000" dirty="0"/>
              <a:t>出该</a:t>
            </a:r>
            <a:r>
              <a:rPr lang="en-US" altLang="zh-CN" sz="2000" dirty="0" err="1"/>
              <a:t>buffer_head</a:t>
            </a:r>
            <a:r>
              <a:rPr lang="zh-CN" altLang="en-US" sz="2000" dirty="0"/>
              <a:t>的</a:t>
            </a:r>
            <a:r>
              <a:rPr lang="en-US" altLang="zh-CN" sz="2000" dirty="0"/>
              <a:t>hash</a:t>
            </a:r>
            <a:r>
              <a:rPr lang="zh-CN" altLang="en-US" sz="2000" dirty="0"/>
              <a:t>值，并把该</a:t>
            </a:r>
            <a:r>
              <a:rPr lang="en-US" altLang="zh-CN" sz="2000" dirty="0" err="1"/>
              <a:t>buffer_head</a:t>
            </a:r>
            <a:r>
              <a:rPr lang="zh-CN" altLang="en-US" sz="2000" dirty="0"/>
              <a:t>放入</a:t>
            </a:r>
            <a:r>
              <a:rPr lang="en-US" altLang="zh-CN" sz="2000" dirty="0"/>
              <a:t>hash</a:t>
            </a:r>
            <a:r>
              <a:rPr lang="zh-CN" altLang="en-US" sz="2000" dirty="0"/>
              <a:t>数组中</a:t>
            </a:r>
            <a:r>
              <a:rPr lang="zh-CN" altLang="en-US" sz="2000" dirty="0" smtClean="0"/>
              <a:t>去。</a:t>
            </a:r>
            <a:r>
              <a:rPr lang="zh-CN" altLang="en-US" sz="2000" dirty="0"/>
              <a:t/>
            </a:r>
            <a:br>
              <a:rPr lang="zh-CN" altLang="en-US" sz="2000" dirty="0"/>
            </a:br>
            <a:r>
              <a:rPr lang="zh-CN" altLang="en-US" sz="2000" dirty="0"/>
              <a:t/>
            </a:r>
            <a:br>
              <a:rPr lang="zh-CN" altLang="en-US" sz="2000" dirty="0"/>
            </a:br>
            <a:r>
              <a:rPr lang="en-US" altLang="zh-CN" sz="2000" dirty="0"/>
              <a:t/>
            </a:r>
            <a:br>
              <a:rPr lang="en-US" altLang="zh-CN" sz="2000" dirty="0"/>
            </a:br>
            <a:r>
              <a:rPr lang="zh-CN" altLang="en-US" sz="2000" dirty="0"/>
              <a:t/>
            </a:r>
            <a:br>
              <a:rPr lang="zh-CN" altLang="en-US" sz="2000" dirty="0"/>
            </a:b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30298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基于缓冲区的磁盘访问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1" y="1143000"/>
            <a:ext cx="4114800" cy="4876800"/>
          </a:xfrm>
        </p:spPr>
        <p:txBody>
          <a:bodyPr/>
          <a:lstStyle/>
          <a:p>
            <a:pPr algn="just"/>
            <a:r>
              <a:rPr lang="en-US" altLang="zh-CN" sz="2000" dirty="0" err="1" smtClean="0"/>
              <a:t>getblk</a:t>
            </a:r>
            <a:r>
              <a:rPr lang="zh-CN" altLang="en-US" sz="2000" dirty="0" smtClean="0"/>
              <a:t>函数</a:t>
            </a:r>
            <a:r>
              <a:rPr lang="zh-CN" altLang="en-US" sz="2000" dirty="0"/>
              <a:t>首先将根据设备号和逻辑块号按照</a:t>
            </a:r>
            <a:r>
              <a:rPr lang="en-US" altLang="zh-CN" sz="2000" dirty="0"/>
              <a:t>hash</a:t>
            </a:r>
            <a:r>
              <a:rPr lang="zh-CN" altLang="en-US" sz="2000" dirty="0"/>
              <a:t>函数得到</a:t>
            </a:r>
            <a:r>
              <a:rPr lang="en-US" altLang="zh-CN" sz="2000" dirty="0"/>
              <a:t>hash</a:t>
            </a:r>
            <a:r>
              <a:rPr lang="zh-CN" altLang="en-US" sz="2000" dirty="0"/>
              <a:t>值</a:t>
            </a:r>
            <a:r>
              <a:rPr lang="en-US" altLang="zh-CN" sz="2000" dirty="0"/>
              <a:t>key</a:t>
            </a:r>
            <a:r>
              <a:rPr lang="zh-CN" altLang="en-US" sz="2000" dirty="0"/>
              <a:t>（假定设备号为</a:t>
            </a:r>
            <a:r>
              <a:rPr lang="en-US" altLang="zh-CN" sz="2000" dirty="0" err="1"/>
              <a:t>0x0201</a:t>
            </a:r>
            <a:r>
              <a:rPr lang="zh-CN" altLang="en-US" sz="2000" dirty="0"/>
              <a:t>，逻辑块号为</a:t>
            </a:r>
            <a:r>
              <a:rPr lang="en-US" altLang="zh-CN" sz="2000" dirty="0"/>
              <a:t>1500</a:t>
            </a:r>
            <a:r>
              <a:rPr lang="zh-CN" altLang="en-US" sz="2000" dirty="0"/>
              <a:t>，</a:t>
            </a:r>
            <a:r>
              <a:rPr lang="en-US" altLang="zh-CN" sz="2000" dirty="0"/>
              <a:t>key=171</a:t>
            </a:r>
            <a:r>
              <a:rPr lang="zh-CN" altLang="en-US" sz="2000" dirty="0"/>
              <a:t>），其实该</a:t>
            </a:r>
            <a:r>
              <a:rPr lang="en-US" altLang="zh-CN" sz="2000" dirty="0"/>
              <a:t>key</a:t>
            </a:r>
            <a:r>
              <a:rPr lang="zh-CN" altLang="en-US" sz="2000" dirty="0"/>
              <a:t>值即为</a:t>
            </a:r>
            <a:r>
              <a:rPr lang="en-US" altLang="zh-CN" sz="2000" dirty="0" err="1"/>
              <a:t>hash_table</a:t>
            </a:r>
            <a:r>
              <a:rPr lang="zh-CN" altLang="en-US" sz="2000" dirty="0"/>
              <a:t>指针数组的索引</a:t>
            </a:r>
            <a:r>
              <a:rPr lang="zh-CN" altLang="en-US" sz="2000" dirty="0" smtClean="0"/>
              <a:t>号</a:t>
            </a:r>
            <a:endParaRPr lang="en-US" altLang="zh-CN" sz="2000" dirty="0" smtClean="0"/>
          </a:p>
          <a:p>
            <a:pPr algn="just"/>
            <a:r>
              <a:rPr lang="zh-CN" altLang="en-US" sz="2000" dirty="0" smtClean="0"/>
              <a:t>然后</a:t>
            </a:r>
            <a:r>
              <a:rPr lang="zh-CN" altLang="en-US" sz="2000" dirty="0"/>
              <a:t>检索</a:t>
            </a:r>
            <a:r>
              <a:rPr lang="en-US" altLang="zh-CN" sz="2000" dirty="0" err="1"/>
              <a:t>hash_table</a:t>
            </a:r>
            <a:r>
              <a:rPr lang="zh-CN" altLang="en-US" sz="2000" dirty="0"/>
              <a:t>，看</a:t>
            </a:r>
            <a:r>
              <a:rPr lang="en-US" altLang="zh-CN" sz="2000" dirty="0" err="1" smtClean="0"/>
              <a:t>hash_table</a:t>
            </a:r>
            <a:r>
              <a:rPr lang="en-US" altLang="zh-CN" sz="2000" dirty="0" smtClean="0"/>
              <a:t> [</a:t>
            </a:r>
            <a:r>
              <a:rPr lang="en-US" altLang="zh-CN" sz="2000" dirty="0"/>
              <a:t>171]</a:t>
            </a:r>
            <a:r>
              <a:rPr lang="zh-CN" altLang="en-US" sz="2000" dirty="0"/>
              <a:t>中是否指向一个有效的缓冲块，如果存在则直接返回，如果不存在，则首先会扫描可能因</a:t>
            </a:r>
            <a:r>
              <a:rPr lang="en-US" altLang="zh-CN" sz="2000" dirty="0"/>
              <a:t>hash</a:t>
            </a:r>
            <a:r>
              <a:rPr lang="zh-CN" altLang="en-US" sz="2000" dirty="0"/>
              <a:t>冲突被移到后面的缓存块（</a:t>
            </a:r>
            <a:r>
              <a:rPr lang="en-US" altLang="zh-CN" sz="2000" dirty="0" err="1"/>
              <a:t>find_buffer</a:t>
            </a:r>
            <a:r>
              <a:rPr lang="zh-CN" altLang="en-US" sz="2000" dirty="0"/>
              <a:t>，</a:t>
            </a:r>
            <a:r>
              <a:rPr lang="en-US" altLang="zh-CN" sz="2000" dirty="0" err="1"/>
              <a:t>tmp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b_next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</p:txBody>
      </p:sp>
      <p:pic>
        <p:nvPicPr>
          <p:cNvPr id="5" name="Picture 2" descr="http://img.blog.csdn.net/201412231710085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353" y="4186625"/>
            <a:ext cx="4581525" cy="195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675" y="1104900"/>
            <a:ext cx="4867275" cy="308172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691312" y="3941651"/>
            <a:ext cx="6238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C00000"/>
                </a:solidFill>
              </a:rPr>
              <a:t> </a:t>
            </a:r>
            <a:endParaRPr lang="zh-CN" altLang="en-US" sz="1400" dirty="0"/>
          </a:p>
        </p:txBody>
      </p:sp>
      <p:sp>
        <p:nvSpPr>
          <p:cNvPr id="8" name="文本框 7"/>
          <p:cNvSpPr txBox="1"/>
          <p:nvPr/>
        </p:nvSpPr>
        <p:spPr>
          <a:xfrm>
            <a:off x="4786312" y="3564456"/>
            <a:ext cx="6238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C00000"/>
                </a:solidFill>
              </a:rPr>
              <a:t> 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9688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基于缓冲区的磁盘访问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1" y="1143000"/>
            <a:ext cx="4114800" cy="5181600"/>
          </a:xfrm>
        </p:spPr>
        <p:txBody>
          <a:bodyPr/>
          <a:lstStyle/>
          <a:p>
            <a:pPr algn="just"/>
            <a:r>
              <a:rPr lang="zh-CN" altLang="en-US" sz="2000" dirty="0" smtClean="0"/>
              <a:t>如果没</a:t>
            </a:r>
            <a:r>
              <a:rPr lang="zh-CN" altLang="en-US" sz="2000" dirty="0"/>
              <a:t>找到</a:t>
            </a:r>
            <a:r>
              <a:rPr lang="zh-CN" altLang="en-US" sz="2000" dirty="0" smtClean="0"/>
              <a:t>，从</a:t>
            </a:r>
            <a:r>
              <a:rPr lang="en-US" altLang="zh-CN" sz="2000" dirty="0" smtClean="0"/>
              <a:t>3</a:t>
            </a:r>
            <a:r>
              <a:rPr lang="zh-CN" altLang="en-US" sz="2000" dirty="0"/>
              <a:t>千多个缓冲区中找到一个空闲的缓冲</a:t>
            </a:r>
            <a:r>
              <a:rPr lang="zh-CN" altLang="en-US" sz="2000" dirty="0" smtClean="0"/>
              <a:t>块</a:t>
            </a:r>
            <a:r>
              <a:rPr lang="zh-CN" altLang="en-US" sz="2000" dirty="0"/>
              <a:t>，</a:t>
            </a:r>
            <a:r>
              <a:rPr lang="zh-CN" altLang="en-US" sz="2000" dirty="0" smtClean="0"/>
              <a:t>并</a:t>
            </a:r>
            <a:r>
              <a:rPr lang="zh-CN" altLang="en-US" sz="2000" dirty="0"/>
              <a:t>将该缓冲块的指针赋值给</a:t>
            </a:r>
            <a:r>
              <a:rPr lang="en-US" altLang="zh-CN" sz="2000" dirty="0" err="1" smtClean="0"/>
              <a:t>hash_table</a:t>
            </a:r>
            <a:r>
              <a:rPr lang="en-US" altLang="zh-CN" sz="2000" dirty="0" smtClean="0"/>
              <a:t> [171]</a:t>
            </a:r>
            <a:endParaRPr lang="en-US" altLang="zh-CN" sz="2000" dirty="0"/>
          </a:p>
          <a:p>
            <a:r>
              <a:rPr lang="en-US" altLang="zh-CN" sz="2000" dirty="0" err="1" smtClean="0"/>
              <a:t>remove_from_queues</a:t>
            </a:r>
            <a:r>
              <a:rPr lang="en-US" altLang="zh-CN" sz="2000" dirty="0" smtClean="0"/>
              <a:t>(</a:t>
            </a:r>
            <a:r>
              <a:rPr lang="en-US" altLang="zh-CN" sz="2000" dirty="0" err="1" smtClean="0"/>
              <a:t>bh</a:t>
            </a:r>
            <a:r>
              <a:rPr lang="en-US" altLang="zh-CN" sz="2000" dirty="0"/>
              <a:t>)</a:t>
            </a:r>
            <a:br>
              <a:rPr lang="en-US" altLang="zh-CN" sz="2000" dirty="0"/>
            </a:br>
            <a:r>
              <a:rPr lang="en-US" altLang="zh-CN" sz="2000" dirty="0" err="1"/>
              <a:t>bh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b_dev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dev</a:t>
            </a:r>
            <a:r>
              <a:rPr lang="en-US" altLang="zh-CN" sz="2000" dirty="0"/>
              <a:t>;</a:t>
            </a:r>
            <a:br>
              <a:rPr lang="en-US" altLang="zh-CN" sz="2000" dirty="0"/>
            </a:br>
            <a:r>
              <a:rPr lang="en-US" altLang="zh-CN" sz="2000" dirty="0" err="1"/>
              <a:t>bh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b_blocknr</a:t>
            </a:r>
            <a:r>
              <a:rPr lang="en-US" altLang="zh-CN" sz="2000" dirty="0"/>
              <a:t>=block;</a:t>
            </a:r>
            <a:br>
              <a:rPr lang="en-US" altLang="zh-CN" sz="2000" dirty="0"/>
            </a:br>
            <a:r>
              <a:rPr lang="en-US" altLang="zh-CN" sz="2000" dirty="0" err="1"/>
              <a:t>insert_into_queues</a:t>
            </a:r>
            <a:r>
              <a:rPr lang="en-US" altLang="zh-CN" sz="2000" dirty="0"/>
              <a:t>(</a:t>
            </a:r>
            <a:r>
              <a:rPr lang="en-US" altLang="zh-CN" sz="2000" dirty="0" err="1"/>
              <a:t>bh</a:t>
            </a:r>
            <a:r>
              <a:rPr lang="en-US" altLang="zh-CN" sz="2000" dirty="0" smtClean="0"/>
              <a:t>);</a:t>
            </a:r>
          </a:p>
          <a:p>
            <a:r>
              <a:rPr lang="zh-CN" altLang="en-US" sz="2000" dirty="0" smtClean="0"/>
              <a:t>如果没有空闲块，置换。将新的缓冲块移到</a:t>
            </a:r>
            <a:r>
              <a:rPr lang="en-US" altLang="zh-CN" sz="2000" dirty="0" err="1" smtClean="0"/>
              <a:t>free_list</a:t>
            </a:r>
            <a:r>
              <a:rPr lang="zh-CN" altLang="en-US" sz="2000" dirty="0"/>
              <a:t>链表的最后去（最近最少使用</a:t>
            </a:r>
            <a:r>
              <a:rPr lang="zh-CN" altLang="en-US" sz="2000" dirty="0" smtClean="0"/>
              <a:t>算法）</a:t>
            </a:r>
            <a:endParaRPr lang="en-US" altLang="zh-CN" sz="2000" dirty="0" smtClean="0"/>
          </a:p>
          <a:p>
            <a:pPr algn="just"/>
            <a:r>
              <a:rPr lang="zh-CN" altLang="en-US" sz="2000" dirty="0" smtClean="0"/>
              <a:t>当下次再</a:t>
            </a:r>
            <a:r>
              <a:rPr lang="zh-CN" altLang="en-US" sz="2000" dirty="0"/>
              <a:t>对</a:t>
            </a:r>
            <a:r>
              <a:rPr lang="zh-CN" altLang="en-US" sz="2000" dirty="0" smtClean="0"/>
              <a:t>该设备块</a:t>
            </a:r>
            <a:r>
              <a:rPr lang="zh-CN" altLang="en-US" sz="2000" dirty="0"/>
              <a:t>进行操作时，就可以根据</a:t>
            </a:r>
            <a:r>
              <a:rPr lang="en-US" altLang="zh-CN" sz="2000" dirty="0"/>
              <a:t>hash</a:t>
            </a:r>
            <a:r>
              <a:rPr lang="zh-CN" altLang="en-US" sz="2000" dirty="0"/>
              <a:t>值直接找到该块。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75" y="1104900"/>
            <a:ext cx="4867275" cy="3081725"/>
          </a:xfrm>
          <a:prstGeom prst="rect">
            <a:avLst/>
          </a:prstGeom>
        </p:spPr>
      </p:pic>
      <p:pic>
        <p:nvPicPr>
          <p:cNvPr id="5" name="Picture 2" descr="http://img.blog.csdn.net/2014122317100852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353" y="4372612"/>
            <a:ext cx="4581525" cy="195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6691312" y="3941651"/>
            <a:ext cx="6238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C00000"/>
                </a:solidFill>
              </a:rPr>
              <a:t> </a:t>
            </a:r>
            <a:endParaRPr lang="zh-CN" altLang="en-US" sz="1400" dirty="0"/>
          </a:p>
        </p:txBody>
      </p:sp>
      <p:sp>
        <p:nvSpPr>
          <p:cNvPr id="10" name="文本框 9"/>
          <p:cNvSpPr txBox="1"/>
          <p:nvPr/>
        </p:nvSpPr>
        <p:spPr>
          <a:xfrm>
            <a:off x="4786312" y="3564456"/>
            <a:ext cx="62388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C00000"/>
                </a:solidFill>
              </a:rPr>
              <a:t> </a:t>
            </a:r>
            <a:endParaRPr lang="zh-CN" altLang="en-US" sz="1400" dirty="0"/>
          </a:p>
        </p:txBody>
      </p:sp>
      <p:cxnSp>
        <p:nvCxnSpPr>
          <p:cNvPr id="11" name="直接箭头连接符 10"/>
          <p:cNvCxnSpPr/>
          <p:nvPr/>
        </p:nvCxnSpPr>
        <p:spPr bwMode="auto">
          <a:xfrm>
            <a:off x="5717484" y="4478028"/>
            <a:ext cx="0" cy="3225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矩形 11"/>
          <p:cNvSpPr/>
          <p:nvPr/>
        </p:nvSpPr>
        <p:spPr>
          <a:xfrm>
            <a:off x="5562600" y="4215758"/>
            <a:ext cx="2452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/>
              <a:t>insert_into_queues</a:t>
            </a:r>
            <a:r>
              <a:rPr lang="en-US" altLang="zh-CN" sz="1600" dirty="0"/>
              <a:t>(</a:t>
            </a:r>
            <a:r>
              <a:rPr lang="en-US" altLang="zh-CN" sz="1600" dirty="0" err="1"/>
              <a:t>bh</a:t>
            </a:r>
            <a:r>
              <a:rPr lang="en-US" altLang="zh-CN" sz="1600" dirty="0"/>
              <a:t>)</a:t>
            </a:r>
            <a:endParaRPr lang="zh-CN" altLang="en-US" sz="1600" dirty="0"/>
          </a:p>
        </p:txBody>
      </p:sp>
      <p:sp>
        <p:nvSpPr>
          <p:cNvPr id="13" name="文本框 12"/>
          <p:cNvSpPr txBox="1"/>
          <p:nvPr/>
        </p:nvSpPr>
        <p:spPr>
          <a:xfrm>
            <a:off x="6074696" y="5102211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2</a:t>
            </a:r>
            <a:endParaRPr lang="zh-CN" altLang="en-US" sz="1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5509461" y="5068491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1</a:t>
            </a:r>
            <a:endParaRPr lang="zh-CN" altLang="en-US" sz="1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6673516" y="5068491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3</a:t>
            </a:r>
            <a:endParaRPr lang="zh-CN" altLang="en-US" sz="1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7637797" y="5100589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4</a:t>
            </a:r>
            <a:endParaRPr lang="zh-CN" altLang="en-US" sz="1400" dirty="0"/>
          </a:p>
        </p:txBody>
      </p:sp>
      <p:sp>
        <p:nvSpPr>
          <p:cNvPr id="17" name="文本框 16"/>
          <p:cNvSpPr txBox="1"/>
          <p:nvPr/>
        </p:nvSpPr>
        <p:spPr>
          <a:xfrm>
            <a:off x="8239125" y="5140474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5</a:t>
            </a:r>
            <a:endParaRPr lang="zh-CN" altLang="en-US" sz="1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8209297" y="475427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6</a:t>
            </a:r>
            <a:endParaRPr lang="zh-CN" altLang="en-US" sz="1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6629400" y="4763991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8</a:t>
            </a:r>
            <a:endParaRPr lang="zh-CN" altLang="en-US" sz="1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6074696" y="4781550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9</a:t>
            </a:r>
            <a:endParaRPr lang="zh-CN" altLang="en-US" sz="1400" dirty="0"/>
          </a:p>
        </p:txBody>
      </p:sp>
      <p:sp>
        <p:nvSpPr>
          <p:cNvPr id="21" name="文本框 20"/>
          <p:cNvSpPr txBox="1"/>
          <p:nvPr/>
        </p:nvSpPr>
        <p:spPr>
          <a:xfrm>
            <a:off x="7664116" y="4782741"/>
            <a:ext cx="304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7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9684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基于缓冲区的磁盘访问</a:t>
            </a:r>
          </a:p>
        </p:txBody>
      </p:sp>
      <p:sp>
        <p:nvSpPr>
          <p:cNvPr id="4" name="矩形 3"/>
          <p:cNvSpPr/>
          <p:nvPr/>
        </p:nvSpPr>
        <p:spPr>
          <a:xfrm>
            <a:off x="457200" y="1295400"/>
            <a:ext cx="8382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/>
              <a:t>static inline void </a:t>
            </a:r>
            <a:r>
              <a:rPr lang="en-US" altLang="zh-CN" sz="1800" dirty="0" err="1"/>
              <a:t>remove_from_queues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buffer_head</a:t>
            </a:r>
            <a:r>
              <a:rPr lang="en-US" altLang="zh-CN" sz="1800" dirty="0"/>
              <a:t> *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)</a:t>
            </a:r>
          </a:p>
          <a:p>
            <a:r>
              <a:rPr lang="en-US" altLang="zh-CN" sz="1800" dirty="0"/>
              <a:t>{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/* remove from hash-queue */</a:t>
            </a:r>
          </a:p>
          <a:p>
            <a:r>
              <a:rPr lang="en-US" altLang="zh-CN" sz="1800" dirty="0"/>
              <a:t>	if (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</a:t>
            </a:r>
            <a:r>
              <a:rPr lang="en-US" altLang="zh-CN" sz="1800" dirty="0"/>
              <a:t>)</a:t>
            </a:r>
          </a:p>
          <a:p>
            <a:r>
              <a:rPr lang="en-US" altLang="zh-CN" sz="1800" dirty="0"/>
              <a:t>		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if (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</a:t>
            </a:r>
            <a:r>
              <a:rPr lang="en-US" altLang="zh-CN" sz="1800" dirty="0"/>
              <a:t>)</a:t>
            </a:r>
          </a:p>
          <a:p>
            <a:r>
              <a:rPr lang="en-US" altLang="zh-CN" sz="1800" dirty="0"/>
              <a:t>		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if (hash(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b_dev,bh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b_blocknr</a:t>
            </a:r>
            <a:r>
              <a:rPr lang="en-US" altLang="zh-CN" sz="1800" dirty="0"/>
              <a:t>) ==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)</a:t>
            </a:r>
          </a:p>
          <a:p>
            <a:r>
              <a:rPr lang="en-US" altLang="zh-CN" sz="1800" dirty="0"/>
              <a:t>		hash(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b_dev,bh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b_blocknr</a:t>
            </a:r>
            <a:r>
              <a:rPr lang="en-US" altLang="zh-CN" sz="1800" dirty="0"/>
              <a:t>) 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/* remove from free list */</a:t>
            </a:r>
          </a:p>
          <a:p>
            <a:r>
              <a:rPr lang="en-US" altLang="zh-CN" sz="1800" dirty="0"/>
              <a:t>	if (!(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b_prev_free</a:t>
            </a:r>
            <a:r>
              <a:rPr lang="en-US" altLang="zh-CN" sz="1800" dirty="0"/>
              <a:t>) || !(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b_next_free</a:t>
            </a:r>
            <a:r>
              <a:rPr lang="en-US" altLang="zh-CN" sz="1800" dirty="0"/>
              <a:t>))</a:t>
            </a:r>
          </a:p>
          <a:p>
            <a:r>
              <a:rPr lang="en-US" altLang="zh-CN" sz="1800" dirty="0"/>
              <a:t>		panic("Free block list corrupted");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b_prev_free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b_next_free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b_next_free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b_next_free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b_prev_free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b_prev_free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if (</a:t>
            </a:r>
            <a:r>
              <a:rPr lang="en-US" altLang="zh-CN" sz="1800" dirty="0" err="1"/>
              <a:t>free_list</a:t>
            </a:r>
            <a:r>
              <a:rPr lang="en-US" altLang="zh-CN" sz="1800" dirty="0"/>
              <a:t> ==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)</a:t>
            </a:r>
          </a:p>
          <a:p>
            <a:r>
              <a:rPr lang="en-US" altLang="zh-CN" sz="1800" dirty="0"/>
              <a:t>		</a:t>
            </a:r>
            <a:r>
              <a:rPr lang="en-US" altLang="zh-CN" sz="1800" dirty="0" err="1"/>
              <a:t>free_list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b_next_free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2535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基于缓冲区的磁盘访问</a:t>
            </a:r>
          </a:p>
        </p:txBody>
      </p:sp>
      <p:sp>
        <p:nvSpPr>
          <p:cNvPr id="4" name="矩形 3"/>
          <p:cNvSpPr/>
          <p:nvPr/>
        </p:nvSpPr>
        <p:spPr>
          <a:xfrm>
            <a:off x="457200" y="1301200"/>
            <a:ext cx="81534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/>
              <a:t>static inline void </a:t>
            </a:r>
            <a:r>
              <a:rPr lang="en-US" altLang="zh-CN" sz="1800" dirty="0" err="1"/>
              <a:t>insert_into_queues</a:t>
            </a:r>
            <a:r>
              <a:rPr lang="en-US" altLang="zh-CN" sz="1800" dirty="0"/>
              <a:t>(</a:t>
            </a:r>
            <a:r>
              <a:rPr lang="en-US" altLang="zh-CN" sz="1800" dirty="0" err="1"/>
              <a:t>struct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buffer_head</a:t>
            </a:r>
            <a:r>
              <a:rPr lang="en-US" altLang="zh-CN" sz="1800" dirty="0"/>
              <a:t> *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)</a:t>
            </a:r>
          </a:p>
          <a:p>
            <a:r>
              <a:rPr lang="en-US" altLang="zh-CN" sz="1800" dirty="0"/>
              <a:t>{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/* put at end of free list */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b_next_free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free_list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b_prev_free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free_list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b_prev_free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free_list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b_prev_free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b_next_free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free_list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b_prev_free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>
                <a:solidFill>
                  <a:srgbClr val="FF0000"/>
                </a:solidFill>
              </a:rPr>
              <a:t>/* put the buffer in new hash-queue if it has a device */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</a:t>
            </a:r>
            <a:r>
              <a:rPr lang="en-US" altLang="zh-CN" sz="1800" dirty="0"/>
              <a:t> = NULL;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</a:t>
            </a:r>
            <a:r>
              <a:rPr lang="en-US" altLang="zh-CN" sz="1800" dirty="0"/>
              <a:t> = NULL;</a:t>
            </a:r>
          </a:p>
          <a:p>
            <a:r>
              <a:rPr lang="en-US" altLang="zh-CN" sz="1800" dirty="0"/>
              <a:t>	if (!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b_dev</a:t>
            </a:r>
            <a:r>
              <a:rPr lang="en-US" altLang="zh-CN" sz="1800" dirty="0"/>
              <a:t>)</a:t>
            </a:r>
          </a:p>
          <a:p>
            <a:r>
              <a:rPr lang="en-US" altLang="zh-CN" sz="1800" dirty="0"/>
              <a:t>		return;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</a:t>
            </a:r>
            <a:r>
              <a:rPr lang="en-US" altLang="zh-CN" sz="1800" dirty="0"/>
              <a:t> = hash(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b_dev,bh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b_blocknr</a:t>
            </a:r>
            <a:r>
              <a:rPr lang="en-US" altLang="zh-CN" sz="1800" dirty="0"/>
              <a:t>);</a:t>
            </a:r>
          </a:p>
          <a:p>
            <a:r>
              <a:rPr lang="en-US" altLang="zh-CN" sz="1800" dirty="0"/>
              <a:t>	hash(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b_dev,bh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b_blocknr</a:t>
            </a:r>
            <a:r>
              <a:rPr lang="en-US" altLang="zh-CN" sz="1800" dirty="0"/>
              <a:t>) 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	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b_next</a:t>
            </a:r>
            <a:r>
              <a:rPr lang="en-US" altLang="zh-CN" sz="1800" dirty="0"/>
              <a:t>-&gt;</a:t>
            </a:r>
            <a:r>
              <a:rPr lang="en-US" altLang="zh-CN" sz="1800" dirty="0" err="1"/>
              <a:t>b_prev</a:t>
            </a:r>
            <a:r>
              <a:rPr lang="en-US" altLang="zh-CN" sz="1800" dirty="0"/>
              <a:t> = </a:t>
            </a:r>
            <a:r>
              <a:rPr lang="en-US" altLang="zh-CN" sz="1800" dirty="0" err="1"/>
              <a:t>bh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}</a:t>
            </a:r>
          </a:p>
          <a:p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913936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基于缓冲区的磁盘访问</a:t>
            </a:r>
            <a:endParaRPr lang="zh-CN" altLang="en-US" dirty="0" smtClean="0"/>
          </a:p>
        </p:txBody>
      </p:sp>
      <p:sp>
        <p:nvSpPr>
          <p:cNvPr id="100355" name="内容占位符 2"/>
          <p:cNvSpPr>
            <a:spLocks noGrp="1"/>
          </p:cNvSpPr>
          <p:nvPr>
            <p:ph idx="1"/>
          </p:nvPr>
        </p:nvSpPr>
        <p:spPr>
          <a:xfrm>
            <a:off x="381000" y="1219200"/>
            <a:ext cx="7921625" cy="1524000"/>
          </a:xfrm>
        </p:spPr>
        <p:txBody>
          <a:bodyPr/>
          <a:lstStyle/>
          <a:p>
            <a:r>
              <a:rPr lang="en-US" altLang="zh-CN" sz="2000" dirty="0" err="1" smtClean="0"/>
              <a:t>ll_rw_block</a:t>
            </a:r>
            <a:r>
              <a:rPr lang="en-US" altLang="zh-CN" sz="2000" dirty="0" smtClean="0"/>
              <a:t>()</a:t>
            </a:r>
            <a:r>
              <a:rPr lang="zh-CN" altLang="en-US" sz="2000" dirty="0" smtClean="0"/>
              <a:t>函数</a:t>
            </a:r>
            <a:br>
              <a:rPr lang="zh-CN" altLang="en-US" sz="2000" dirty="0" smtClean="0"/>
            </a:br>
            <a:r>
              <a:rPr lang="zh-CN" altLang="en-US" sz="2000" dirty="0" smtClean="0"/>
              <a:t>在实际要读取块设备时，最终都会执行到</a:t>
            </a:r>
            <a:r>
              <a:rPr lang="en-US" altLang="zh-CN" sz="2000" dirty="0" err="1" smtClean="0"/>
              <a:t>ll_rw_block</a:t>
            </a:r>
            <a:r>
              <a:rPr lang="zh-CN" altLang="en-US" sz="2000" dirty="0" smtClean="0"/>
              <a:t>函数，该函数根据</a:t>
            </a:r>
            <a:r>
              <a:rPr lang="en-US" altLang="zh-CN" sz="2000" dirty="0" err="1" smtClean="0"/>
              <a:t>buffer_head</a:t>
            </a:r>
            <a:r>
              <a:rPr lang="zh-CN" altLang="en-US" sz="2000" dirty="0" smtClean="0"/>
              <a:t>生成一个</a:t>
            </a:r>
            <a:r>
              <a:rPr lang="en-US" altLang="zh-CN" sz="2000" dirty="0" smtClean="0"/>
              <a:t>request</a:t>
            </a:r>
            <a:r>
              <a:rPr lang="zh-CN" altLang="en-US" sz="2000" dirty="0" smtClean="0"/>
              <a:t>，并将请求加入设备的请求队列中去。</a:t>
            </a:r>
            <a:br>
              <a:rPr lang="zh-CN" altLang="en-US" sz="2000" dirty="0" smtClean="0"/>
            </a:br>
            <a:endParaRPr lang="zh-CN" altLang="en-US" sz="2000" dirty="0" smtClean="0"/>
          </a:p>
        </p:txBody>
      </p:sp>
      <p:pic>
        <p:nvPicPr>
          <p:cNvPr id="10035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971800"/>
            <a:ext cx="8583940" cy="199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118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回顾：</a:t>
            </a:r>
            <a:r>
              <a:rPr lang="en-US" altLang="zh-CN" dirty="0" smtClean="0"/>
              <a:t>C-LOOK</a:t>
            </a:r>
            <a:r>
              <a:rPr lang="zh-CN" altLang="en-US" dirty="0" smtClean="0"/>
              <a:t>磁盘调度</a:t>
            </a:r>
          </a:p>
        </p:txBody>
      </p:sp>
      <p:grpSp>
        <p:nvGrpSpPr>
          <p:cNvPr id="517124" name="Group 4"/>
          <p:cNvGrpSpPr>
            <a:grpSpLocks/>
          </p:cNvGrpSpPr>
          <p:nvPr/>
        </p:nvGrpSpPr>
        <p:grpSpPr bwMode="auto">
          <a:xfrm>
            <a:off x="152400" y="990600"/>
            <a:ext cx="6858000" cy="868363"/>
            <a:chOff x="672" y="2160"/>
            <a:chExt cx="4320" cy="547"/>
          </a:xfrm>
        </p:grpSpPr>
        <p:sp>
          <p:nvSpPr>
            <p:cNvPr id="18507" name="Rectangle 5"/>
            <p:cNvSpPr>
              <a:spLocks noChangeArrowheads="1"/>
            </p:cNvSpPr>
            <p:nvPr/>
          </p:nvSpPr>
          <p:spPr bwMode="auto">
            <a:xfrm>
              <a:off x="672" y="2160"/>
              <a:ext cx="4320" cy="5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lvl="1" eaLnBrk="1" hangingPunct="1">
                <a:lnSpc>
                  <a:spcPct val="140000"/>
                </a:lnSpc>
              </a:pPr>
              <a:r>
                <a:rPr lang="zh-CN" altLang="en-US" sz="1800"/>
                <a:t>继续该实例</a:t>
              </a:r>
              <a:r>
                <a:rPr lang="en-US" altLang="zh-CN" sz="1800"/>
                <a:t>: </a:t>
              </a:r>
              <a:r>
                <a:rPr lang="zh-CN" altLang="en-US" sz="1800"/>
                <a:t>磁头开始位置</a:t>
              </a:r>
              <a:r>
                <a:rPr lang="en-US" altLang="zh-CN" sz="1800"/>
                <a:t>=53</a:t>
              </a:r>
              <a:r>
                <a:rPr lang="zh-CN" altLang="en-US" sz="1800"/>
                <a:t>；</a:t>
              </a:r>
            </a:p>
            <a:p>
              <a:pPr lvl="1" eaLnBrk="1" hangingPunct="1">
                <a:lnSpc>
                  <a:spcPct val="140000"/>
                </a:lnSpc>
              </a:pPr>
              <a:r>
                <a:rPr lang="zh-CN" altLang="en-US" sz="1800"/>
                <a:t>请求队列</a:t>
              </a:r>
              <a:r>
                <a:rPr lang="en-US" altLang="zh-CN" sz="1800"/>
                <a:t>=98, 183, 37, 122, 14, 124, 65, 67</a:t>
              </a:r>
            </a:p>
          </p:txBody>
        </p:sp>
        <p:pic>
          <p:nvPicPr>
            <p:cNvPr id="18508" name="Picture 6" descr="j01158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" y="2314"/>
              <a:ext cx="119" cy="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17127" name="Group 7"/>
          <p:cNvGrpSpPr>
            <a:grpSpLocks/>
          </p:cNvGrpSpPr>
          <p:nvPr/>
        </p:nvGrpSpPr>
        <p:grpSpPr bwMode="auto">
          <a:xfrm>
            <a:off x="552450" y="1752600"/>
            <a:ext cx="7372350" cy="1019175"/>
            <a:chOff x="816" y="1806"/>
            <a:chExt cx="4644" cy="642"/>
          </a:xfrm>
        </p:grpSpPr>
        <p:sp>
          <p:nvSpPr>
            <p:cNvPr id="18484" name="Rectangle 8"/>
            <p:cNvSpPr>
              <a:spLocks noChangeArrowheads="1"/>
            </p:cNvSpPr>
            <p:nvPr/>
          </p:nvSpPr>
          <p:spPr bwMode="auto">
            <a:xfrm>
              <a:off x="912" y="2112"/>
              <a:ext cx="4368" cy="336"/>
            </a:xfrm>
            <a:prstGeom prst="rect">
              <a:avLst/>
            </a:prstGeom>
            <a:solidFill>
              <a:schemeClr val="hlink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  <p:sp>
          <p:nvSpPr>
            <p:cNvPr id="18485" name="Line 9"/>
            <p:cNvSpPr>
              <a:spLocks noChangeShapeType="1"/>
            </p:cNvSpPr>
            <p:nvPr/>
          </p:nvSpPr>
          <p:spPr bwMode="auto">
            <a:xfrm>
              <a:off x="912" y="20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Text Box 10"/>
            <p:cNvSpPr txBox="1">
              <a:spLocks noChangeArrowheads="1"/>
            </p:cNvSpPr>
            <p:nvPr/>
          </p:nvSpPr>
          <p:spPr bwMode="auto">
            <a:xfrm>
              <a:off x="816" y="181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18487" name="Line 11"/>
            <p:cNvSpPr>
              <a:spLocks noChangeShapeType="1"/>
            </p:cNvSpPr>
            <p:nvPr/>
          </p:nvSpPr>
          <p:spPr bwMode="auto">
            <a:xfrm>
              <a:off x="1134" y="201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8" name="Text Box 12"/>
            <p:cNvSpPr txBox="1">
              <a:spLocks noChangeArrowheads="1"/>
            </p:cNvSpPr>
            <p:nvPr/>
          </p:nvSpPr>
          <p:spPr bwMode="auto">
            <a:xfrm>
              <a:off x="978" y="1806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</a:rPr>
                <a:t>14</a:t>
              </a:r>
            </a:p>
          </p:txBody>
        </p:sp>
        <p:sp>
          <p:nvSpPr>
            <p:cNvPr id="18489" name="Line 13"/>
            <p:cNvSpPr>
              <a:spLocks noChangeShapeType="1"/>
            </p:cNvSpPr>
            <p:nvPr/>
          </p:nvSpPr>
          <p:spPr bwMode="auto">
            <a:xfrm>
              <a:off x="1452" y="20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0" name="Text Box 14"/>
            <p:cNvSpPr txBox="1">
              <a:spLocks noChangeArrowheads="1"/>
            </p:cNvSpPr>
            <p:nvPr/>
          </p:nvSpPr>
          <p:spPr bwMode="auto">
            <a:xfrm>
              <a:off x="1296" y="181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</a:rPr>
                <a:t>37</a:t>
              </a:r>
            </a:p>
          </p:txBody>
        </p:sp>
        <p:sp>
          <p:nvSpPr>
            <p:cNvPr id="18491" name="Line 15"/>
            <p:cNvSpPr>
              <a:spLocks noChangeShapeType="1"/>
            </p:cNvSpPr>
            <p:nvPr/>
          </p:nvSpPr>
          <p:spPr bwMode="auto">
            <a:xfrm>
              <a:off x="1836" y="20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2" name="Text Box 16"/>
            <p:cNvSpPr txBox="1">
              <a:spLocks noChangeArrowheads="1"/>
            </p:cNvSpPr>
            <p:nvPr/>
          </p:nvSpPr>
          <p:spPr bwMode="auto">
            <a:xfrm>
              <a:off x="1680" y="181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</a:rPr>
                <a:t>53</a:t>
              </a:r>
            </a:p>
          </p:txBody>
        </p:sp>
        <p:sp>
          <p:nvSpPr>
            <p:cNvPr id="18493" name="Line 17"/>
            <p:cNvSpPr>
              <a:spLocks noChangeShapeType="1"/>
            </p:cNvSpPr>
            <p:nvPr/>
          </p:nvSpPr>
          <p:spPr bwMode="auto">
            <a:xfrm>
              <a:off x="2028" y="20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4" name="Text Box 18"/>
            <p:cNvSpPr txBox="1">
              <a:spLocks noChangeArrowheads="1"/>
            </p:cNvSpPr>
            <p:nvPr/>
          </p:nvSpPr>
          <p:spPr bwMode="auto">
            <a:xfrm>
              <a:off x="1872" y="181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</a:rPr>
                <a:t>65</a:t>
              </a:r>
            </a:p>
          </p:txBody>
        </p:sp>
        <p:sp>
          <p:nvSpPr>
            <p:cNvPr id="18495" name="Line 19"/>
            <p:cNvSpPr>
              <a:spLocks noChangeShapeType="1"/>
            </p:cNvSpPr>
            <p:nvPr/>
          </p:nvSpPr>
          <p:spPr bwMode="auto">
            <a:xfrm>
              <a:off x="2220" y="20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6" name="Text Box 20"/>
            <p:cNvSpPr txBox="1">
              <a:spLocks noChangeArrowheads="1"/>
            </p:cNvSpPr>
            <p:nvPr/>
          </p:nvSpPr>
          <p:spPr bwMode="auto">
            <a:xfrm>
              <a:off x="2064" y="181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</a:rPr>
                <a:t>67</a:t>
              </a:r>
            </a:p>
          </p:txBody>
        </p:sp>
        <p:sp>
          <p:nvSpPr>
            <p:cNvPr id="18497" name="Line 21"/>
            <p:cNvSpPr>
              <a:spLocks noChangeShapeType="1"/>
            </p:cNvSpPr>
            <p:nvPr/>
          </p:nvSpPr>
          <p:spPr bwMode="auto">
            <a:xfrm>
              <a:off x="2988" y="20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8" name="Text Box 22"/>
            <p:cNvSpPr txBox="1">
              <a:spLocks noChangeArrowheads="1"/>
            </p:cNvSpPr>
            <p:nvPr/>
          </p:nvSpPr>
          <p:spPr bwMode="auto">
            <a:xfrm>
              <a:off x="2832" y="1812"/>
              <a:ext cx="336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</a:rPr>
                <a:t>98</a:t>
              </a:r>
            </a:p>
          </p:txBody>
        </p:sp>
        <p:sp>
          <p:nvSpPr>
            <p:cNvPr id="18499" name="Line 23"/>
            <p:cNvSpPr>
              <a:spLocks noChangeShapeType="1"/>
            </p:cNvSpPr>
            <p:nvPr/>
          </p:nvSpPr>
          <p:spPr bwMode="auto">
            <a:xfrm>
              <a:off x="3564" y="20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0" name="Text Box 24"/>
            <p:cNvSpPr txBox="1">
              <a:spLocks noChangeArrowheads="1"/>
            </p:cNvSpPr>
            <p:nvPr/>
          </p:nvSpPr>
          <p:spPr bwMode="auto">
            <a:xfrm>
              <a:off x="3360" y="181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</a:rPr>
                <a:t>122</a:t>
              </a:r>
            </a:p>
          </p:txBody>
        </p:sp>
        <p:sp>
          <p:nvSpPr>
            <p:cNvPr id="18501" name="Line 25"/>
            <p:cNvSpPr>
              <a:spLocks noChangeShapeType="1"/>
            </p:cNvSpPr>
            <p:nvPr/>
          </p:nvSpPr>
          <p:spPr bwMode="auto">
            <a:xfrm>
              <a:off x="3852" y="20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Text Box 26"/>
            <p:cNvSpPr txBox="1">
              <a:spLocks noChangeArrowheads="1"/>
            </p:cNvSpPr>
            <p:nvPr/>
          </p:nvSpPr>
          <p:spPr bwMode="auto">
            <a:xfrm>
              <a:off x="3648" y="1812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</a:rPr>
                <a:t>124</a:t>
              </a:r>
            </a:p>
          </p:txBody>
        </p:sp>
        <p:sp>
          <p:nvSpPr>
            <p:cNvPr id="18503" name="Line 27"/>
            <p:cNvSpPr>
              <a:spLocks noChangeShapeType="1"/>
            </p:cNvSpPr>
            <p:nvPr/>
          </p:nvSpPr>
          <p:spPr bwMode="auto">
            <a:xfrm>
              <a:off x="4764" y="20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4" name="Text Box 28"/>
            <p:cNvSpPr txBox="1">
              <a:spLocks noChangeArrowheads="1"/>
            </p:cNvSpPr>
            <p:nvPr/>
          </p:nvSpPr>
          <p:spPr bwMode="auto">
            <a:xfrm>
              <a:off x="4560" y="1812"/>
              <a:ext cx="3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</a:rPr>
                <a:t>183</a:t>
              </a:r>
            </a:p>
          </p:txBody>
        </p:sp>
        <p:sp>
          <p:nvSpPr>
            <p:cNvPr id="18505" name="Line 29"/>
            <p:cNvSpPr>
              <a:spLocks noChangeShapeType="1"/>
            </p:cNvSpPr>
            <p:nvPr/>
          </p:nvSpPr>
          <p:spPr bwMode="auto">
            <a:xfrm>
              <a:off x="5280" y="20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6" name="Text Box 30"/>
            <p:cNvSpPr txBox="1">
              <a:spLocks noChangeArrowheads="1"/>
            </p:cNvSpPr>
            <p:nvPr/>
          </p:nvSpPr>
          <p:spPr bwMode="auto">
            <a:xfrm>
              <a:off x="5040" y="1812"/>
              <a:ext cx="42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rgbClr val="FF0000"/>
                  </a:solidFill>
                </a:rPr>
                <a:t>199</a:t>
              </a:r>
            </a:p>
          </p:txBody>
        </p:sp>
      </p:grpSp>
      <p:grpSp>
        <p:nvGrpSpPr>
          <p:cNvPr id="517151" name="Group 31"/>
          <p:cNvGrpSpPr>
            <a:grpSpLocks/>
          </p:cNvGrpSpPr>
          <p:nvPr/>
        </p:nvGrpSpPr>
        <p:grpSpPr bwMode="auto">
          <a:xfrm>
            <a:off x="1543050" y="2847975"/>
            <a:ext cx="685800" cy="304800"/>
            <a:chOff x="1440" y="2640"/>
            <a:chExt cx="432" cy="192"/>
          </a:xfrm>
        </p:grpSpPr>
        <p:sp>
          <p:nvSpPr>
            <p:cNvPr id="18481" name="Line 32"/>
            <p:cNvSpPr>
              <a:spLocks noChangeShapeType="1"/>
            </p:cNvSpPr>
            <p:nvPr/>
          </p:nvSpPr>
          <p:spPr bwMode="auto">
            <a:xfrm flipH="1">
              <a:off x="1488" y="2688"/>
              <a:ext cx="33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Oval 33"/>
            <p:cNvSpPr>
              <a:spLocks noChangeArrowheads="1"/>
            </p:cNvSpPr>
            <p:nvPr/>
          </p:nvSpPr>
          <p:spPr bwMode="auto">
            <a:xfrm>
              <a:off x="1824" y="264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  <p:sp>
          <p:nvSpPr>
            <p:cNvPr id="18483" name="Oval 34"/>
            <p:cNvSpPr>
              <a:spLocks noChangeArrowheads="1"/>
            </p:cNvSpPr>
            <p:nvPr/>
          </p:nvSpPr>
          <p:spPr bwMode="auto">
            <a:xfrm>
              <a:off x="1440" y="2784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</p:grpSp>
      <p:grpSp>
        <p:nvGrpSpPr>
          <p:cNvPr id="517155" name="Group 35"/>
          <p:cNvGrpSpPr>
            <a:grpSpLocks/>
          </p:cNvGrpSpPr>
          <p:nvPr/>
        </p:nvGrpSpPr>
        <p:grpSpPr bwMode="auto">
          <a:xfrm>
            <a:off x="5276850" y="3533775"/>
            <a:ext cx="1600200" cy="457200"/>
            <a:chOff x="3888" y="3552"/>
            <a:chExt cx="1008" cy="288"/>
          </a:xfrm>
        </p:grpSpPr>
        <p:sp>
          <p:nvSpPr>
            <p:cNvPr id="18478" name="Line 36"/>
            <p:cNvSpPr>
              <a:spLocks noChangeShapeType="1"/>
            </p:cNvSpPr>
            <p:nvPr/>
          </p:nvSpPr>
          <p:spPr bwMode="auto">
            <a:xfrm flipH="1">
              <a:off x="3936" y="3600"/>
              <a:ext cx="96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9" name="Oval 37"/>
            <p:cNvSpPr>
              <a:spLocks noChangeArrowheads="1"/>
            </p:cNvSpPr>
            <p:nvPr/>
          </p:nvSpPr>
          <p:spPr bwMode="auto">
            <a:xfrm>
              <a:off x="4848" y="3552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  <p:sp>
          <p:nvSpPr>
            <p:cNvPr id="18480" name="Oval 38"/>
            <p:cNvSpPr>
              <a:spLocks noChangeArrowheads="1"/>
            </p:cNvSpPr>
            <p:nvPr/>
          </p:nvSpPr>
          <p:spPr bwMode="auto">
            <a:xfrm>
              <a:off x="3888" y="3792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</p:grpSp>
      <p:grpSp>
        <p:nvGrpSpPr>
          <p:cNvPr id="517159" name="Group 39"/>
          <p:cNvGrpSpPr>
            <a:grpSpLocks/>
          </p:cNvGrpSpPr>
          <p:nvPr/>
        </p:nvGrpSpPr>
        <p:grpSpPr bwMode="auto">
          <a:xfrm>
            <a:off x="1162050" y="3076575"/>
            <a:ext cx="457200" cy="228600"/>
            <a:chOff x="1152" y="2976"/>
            <a:chExt cx="288" cy="144"/>
          </a:xfrm>
        </p:grpSpPr>
        <p:sp>
          <p:nvSpPr>
            <p:cNvPr id="18475" name="Line 40"/>
            <p:cNvSpPr>
              <a:spLocks noChangeShapeType="1"/>
            </p:cNvSpPr>
            <p:nvPr/>
          </p:nvSpPr>
          <p:spPr bwMode="auto">
            <a:xfrm flipH="1">
              <a:off x="1200" y="3006"/>
              <a:ext cx="210" cy="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Oval 41"/>
            <p:cNvSpPr>
              <a:spLocks noChangeArrowheads="1"/>
            </p:cNvSpPr>
            <p:nvPr/>
          </p:nvSpPr>
          <p:spPr bwMode="auto">
            <a:xfrm>
              <a:off x="1392" y="2976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  <p:sp>
          <p:nvSpPr>
            <p:cNvPr id="18477" name="Oval 42"/>
            <p:cNvSpPr>
              <a:spLocks noChangeArrowheads="1"/>
            </p:cNvSpPr>
            <p:nvPr/>
          </p:nvSpPr>
          <p:spPr bwMode="auto">
            <a:xfrm>
              <a:off x="1152" y="3072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</p:grpSp>
      <p:grpSp>
        <p:nvGrpSpPr>
          <p:cNvPr id="517163" name="Group 43"/>
          <p:cNvGrpSpPr>
            <a:grpSpLocks/>
          </p:cNvGrpSpPr>
          <p:nvPr/>
        </p:nvGrpSpPr>
        <p:grpSpPr bwMode="auto">
          <a:xfrm>
            <a:off x="1162050" y="3228975"/>
            <a:ext cx="5715000" cy="457200"/>
            <a:chOff x="1200" y="2736"/>
            <a:chExt cx="3600" cy="288"/>
          </a:xfrm>
        </p:grpSpPr>
        <p:sp>
          <p:nvSpPr>
            <p:cNvPr id="18472" name="Line 44"/>
            <p:cNvSpPr>
              <a:spLocks noChangeShapeType="1"/>
            </p:cNvSpPr>
            <p:nvPr/>
          </p:nvSpPr>
          <p:spPr bwMode="auto">
            <a:xfrm>
              <a:off x="1248" y="2784"/>
              <a:ext cx="350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Oval 45"/>
            <p:cNvSpPr>
              <a:spLocks noChangeArrowheads="1"/>
            </p:cNvSpPr>
            <p:nvPr/>
          </p:nvSpPr>
          <p:spPr bwMode="auto">
            <a:xfrm>
              <a:off x="1200" y="2736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  <p:sp>
          <p:nvSpPr>
            <p:cNvPr id="18474" name="Oval 46"/>
            <p:cNvSpPr>
              <a:spLocks noChangeArrowheads="1"/>
            </p:cNvSpPr>
            <p:nvPr/>
          </p:nvSpPr>
          <p:spPr bwMode="auto">
            <a:xfrm>
              <a:off x="4752" y="2976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</p:grpSp>
      <p:grpSp>
        <p:nvGrpSpPr>
          <p:cNvPr id="517167" name="Group 47"/>
          <p:cNvGrpSpPr>
            <a:grpSpLocks/>
          </p:cNvGrpSpPr>
          <p:nvPr/>
        </p:nvGrpSpPr>
        <p:grpSpPr bwMode="auto">
          <a:xfrm>
            <a:off x="4819650" y="3914775"/>
            <a:ext cx="533400" cy="381000"/>
            <a:chOff x="3600" y="3744"/>
            <a:chExt cx="336" cy="240"/>
          </a:xfrm>
        </p:grpSpPr>
        <p:sp>
          <p:nvSpPr>
            <p:cNvPr id="18469" name="Line 48"/>
            <p:cNvSpPr>
              <a:spLocks noChangeShapeType="1"/>
            </p:cNvSpPr>
            <p:nvPr/>
          </p:nvSpPr>
          <p:spPr bwMode="auto">
            <a:xfrm flipH="1">
              <a:off x="3648" y="3792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Oval 49"/>
            <p:cNvSpPr>
              <a:spLocks noChangeArrowheads="1"/>
            </p:cNvSpPr>
            <p:nvPr/>
          </p:nvSpPr>
          <p:spPr bwMode="auto">
            <a:xfrm>
              <a:off x="3888" y="3744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  <p:sp>
          <p:nvSpPr>
            <p:cNvPr id="18471" name="Oval 50"/>
            <p:cNvSpPr>
              <a:spLocks noChangeArrowheads="1"/>
            </p:cNvSpPr>
            <p:nvPr/>
          </p:nvSpPr>
          <p:spPr bwMode="auto">
            <a:xfrm>
              <a:off x="3600" y="3936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</p:grpSp>
      <p:grpSp>
        <p:nvGrpSpPr>
          <p:cNvPr id="517171" name="Group 51"/>
          <p:cNvGrpSpPr>
            <a:grpSpLocks/>
          </p:cNvGrpSpPr>
          <p:nvPr/>
        </p:nvGrpSpPr>
        <p:grpSpPr bwMode="auto">
          <a:xfrm>
            <a:off x="3829050" y="4219575"/>
            <a:ext cx="990600" cy="304800"/>
            <a:chOff x="2976" y="3792"/>
            <a:chExt cx="624" cy="192"/>
          </a:xfrm>
        </p:grpSpPr>
        <p:sp>
          <p:nvSpPr>
            <p:cNvPr id="18466" name="Line 52"/>
            <p:cNvSpPr>
              <a:spLocks noChangeShapeType="1"/>
            </p:cNvSpPr>
            <p:nvPr/>
          </p:nvSpPr>
          <p:spPr bwMode="auto">
            <a:xfrm flipH="1">
              <a:off x="3024" y="3840"/>
              <a:ext cx="52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Oval 53"/>
            <p:cNvSpPr>
              <a:spLocks noChangeArrowheads="1"/>
            </p:cNvSpPr>
            <p:nvPr/>
          </p:nvSpPr>
          <p:spPr bwMode="auto">
            <a:xfrm>
              <a:off x="3552" y="3792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  <p:sp>
          <p:nvSpPr>
            <p:cNvPr id="18468" name="Oval 54"/>
            <p:cNvSpPr>
              <a:spLocks noChangeArrowheads="1"/>
            </p:cNvSpPr>
            <p:nvPr/>
          </p:nvSpPr>
          <p:spPr bwMode="auto">
            <a:xfrm>
              <a:off x="2976" y="3936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</p:grpSp>
      <p:grpSp>
        <p:nvGrpSpPr>
          <p:cNvPr id="517175" name="Group 55"/>
          <p:cNvGrpSpPr>
            <a:grpSpLocks/>
          </p:cNvGrpSpPr>
          <p:nvPr/>
        </p:nvGrpSpPr>
        <p:grpSpPr bwMode="auto">
          <a:xfrm>
            <a:off x="2762250" y="4448175"/>
            <a:ext cx="1143000" cy="304800"/>
            <a:chOff x="2304" y="3936"/>
            <a:chExt cx="720" cy="192"/>
          </a:xfrm>
        </p:grpSpPr>
        <p:sp>
          <p:nvSpPr>
            <p:cNvPr id="18463" name="Line 56"/>
            <p:cNvSpPr>
              <a:spLocks noChangeShapeType="1"/>
            </p:cNvSpPr>
            <p:nvPr/>
          </p:nvSpPr>
          <p:spPr bwMode="auto">
            <a:xfrm flipH="1">
              <a:off x="2352" y="3984"/>
              <a:ext cx="62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Oval 57"/>
            <p:cNvSpPr>
              <a:spLocks noChangeArrowheads="1"/>
            </p:cNvSpPr>
            <p:nvPr/>
          </p:nvSpPr>
          <p:spPr bwMode="auto">
            <a:xfrm>
              <a:off x="2976" y="3936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  <p:sp>
          <p:nvSpPr>
            <p:cNvPr id="18465" name="Oval 58"/>
            <p:cNvSpPr>
              <a:spLocks noChangeArrowheads="1"/>
            </p:cNvSpPr>
            <p:nvPr/>
          </p:nvSpPr>
          <p:spPr bwMode="auto">
            <a:xfrm>
              <a:off x="2304" y="408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</p:grpSp>
      <p:grpSp>
        <p:nvGrpSpPr>
          <p:cNvPr id="517179" name="Group 59"/>
          <p:cNvGrpSpPr>
            <a:grpSpLocks/>
          </p:cNvGrpSpPr>
          <p:nvPr/>
        </p:nvGrpSpPr>
        <p:grpSpPr bwMode="auto">
          <a:xfrm>
            <a:off x="2381250" y="4676775"/>
            <a:ext cx="457200" cy="228600"/>
            <a:chOff x="2064" y="4080"/>
            <a:chExt cx="288" cy="144"/>
          </a:xfrm>
        </p:grpSpPr>
        <p:sp>
          <p:nvSpPr>
            <p:cNvPr id="18460" name="Line 60"/>
            <p:cNvSpPr>
              <a:spLocks noChangeShapeType="1"/>
            </p:cNvSpPr>
            <p:nvPr/>
          </p:nvSpPr>
          <p:spPr bwMode="auto">
            <a:xfrm flipH="1">
              <a:off x="2112" y="4128"/>
              <a:ext cx="24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Oval 61"/>
            <p:cNvSpPr>
              <a:spLocks noChangeArrowheads="1"/>
            </p:cNvSpPr>
            <p:nvPr/>
          </p:nvSpPr>
          <p:spPr bwMode="auto">
            <a:xfrm>
              <a:off x="2304" y="4080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  <p:sp>
          <p:nvSpPr>
            <p:cNvPr id="18462" name="Oval 62"/>
            <p:cNvSpPr>
              <a:spLocks noChangeArrowheads="1"/>
            </p:cNvSpPr>
            <p:nvPr/>
          </p:nvSpPr>
          <p:spPr bwMode="auto">
            <a:xfrm>
              <a:off x="2064" y="4176"/>
              <a:ext cx="48" cy="48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endParaRPr lang="zh-CN" altLang="en-US" sz="1800"/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408613" y="4105275"/>
            <a:ext cx="3846512" cy="2095500"/>
            <a:chOff x="5048250" y="4371975"/>
            <a:chExt cx="3705102" cy="2199523"/>
          </a:xfrm>
        </p:grpSpPr>
        <p:cxnSp>
          <p:nvCxnSpPr>
            <p:cNvPr id="18450" name="直接连接符 4"/>
            <p:cNvCxnSpPr>
              <a:cxnSpLocks noChangeShapeType="1"/>
            </p:cNvCxnSpPr>
            <p:nvPr/>
          </p:nvCxnSpPr>
          <p:spPr bwMode="auto">
            <a:xfrm>
              <a:off x="5810250" y="5397500"/>
              <a:ext cx="742950" cy="4572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51" name="直接连接符 6"/>
            <p:cNvCxnSpPr>
              <a:cxnSpLocks noChangeShapeType="1"/>
            </p:cNvCxnSpPr>
            <p:nvPr/>
          </p:nvCxnSpPr>
          <p:spPr bwMode="auto">
            <a:xfrm>
              <a:off x="6572250" y="4437063"/>
              <a:ext cx="1504951" cy="9604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452" name="TextBox 7"/>
            <p:cNvSpPr txBox="1">
              <a:spLocks noChangeArrowheads="1"/>
            </p:cNvSpPr>
            <p:nvPr/>
          </p:nvSpPr>
          <p:spPr bwMode="auto">
            <a:xfrm>
              <a:off x="8229600" y="5997575"/>
              <a:ext cx="523752" cy="3230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/>
                <a:t>时间</a:t>
              </a:r>
            </a:p>
          </p:txBody>
        </p:sp>
        <p:cxnSp>
          <p:nvCxnSpPr>
            <p:cNvPr id="18453" name="直接箭头连接符 9"/>
            <p:cNvCxnSpPr>
              <a:cxnSpLocks noChangeShapeType="1"/>
              <a:endCxn id="18452" idx="1"/>
            </p:cNvCxnSpPr>
            <p:nvPr/>
          </p:nvCxnSpPr>
          <p:spPr bwMode="auto">
            <a:xfrm flipV="1">
              <a:off x="5429250" y="6159124"/>
              <a:ext cx="2800350" cy="38476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454" name="直接箭头连接符 11"/>
            <p:cNvCxnSpPr>
              <a:cxnSpLocks noChangeShapeType="1"/>
            </p:cNvCxnSpPr>
            <p:nvPr/>
          </p:nvCxnSpPr>
          <p:spPr bwMode="auto">
            <a:xfrm flipV="1">
              <a:off x="5429250" y="4371975"/>
              <a:ext cx="0" cy="182562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/>
            <p:nvPr/>
          </p:nvCxnSpPr>
          <p:spPr bwMode="auto">
            <a:xfrm>
              <a:off x="6552922" y="4448625"/>
              <a:ext cx="0" cy="1749621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 bwMode="auto">
            <a:xfrm>
              <a:off x="5809761" y="5396753"/>
              <a:ext cx="226771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57" name="TextBox 85"/>
            <p:cNvSpPr txBox="1">
              <a:spLocks noChangeArrowheads="1"/>
            </p:cNvSpPr>
            <p:nvPr/>
          </p:nvSpPr>
          <p:spPr bwMode="auto">
            <a:xfrm>
              <a:off x="5048250" y="4400550"/>
              <a:ext cx="523752" cy="3230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400"/>
                <a:t>柱面</a:t>
              </a:r>
            </a:p>
          </p:txBody>
        </p:sp>
        <p:sp>
          <p:nvSpPr>
            <p:cNvPr id="18458" name="TextBox 86"/>
            <p:cNvSpPr txBox="1">
              <a:spLocks noChangeArrowheads="1"/>
            </p:cNvSpPr>
            <p:nvPr/>
          </p:nvSpPr>
          <p:spPr bwMode="auto">
            <a:xfrm>
              <a:off x="5410200" y="6248400"/>
              <a:ext cx="599412" cy="3230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/>
                <a:t>Head</a:t>
              </a:r>
              <a:endParaRPr lang="zh-CN" altLang="en-US" sz="1400"/>
            </a:p>
          </p:txBody>
        </p:sp>
        <p:sp>
          <p:nvSpPr>
            <p:cNvPr id="18459" name="TextBox 87"/>
            <p:cNvSpPr txBox="1">
              <a:spLocks noChangeArrowheads="1"/>
            </p:cNvSpPr>
            <p:nvPr/>
          </p:nvSpPr>
          <p:spPr bwMode="auto">
            <a:xfrm>
              <a:off x="7499350" y="6248400"/>
              <a:ext cx="562354" cy="3230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6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1400"/>
                <a:t>Rear</a:t>
              </a:r>
              <a:endParaRPr lang="zh-CN" altLang="en-US" sz="1400"/>
            </a:p>
          </p:txBody>
        </p:sp>
      </p:grp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6032500" y="6273800"/>
            <a:ext cx="3187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1400">
                <a:solidFill>
                  <a:srgbClr val="FF0000"/>
                </a:solidFill>
              </a:rPr>
              <a:t>53-37-14</a:t>
            </a:r>
            <a:r>
              <a:rPr lang="en-US" altLang="zh-CN" sz="1400"/>
              <a:t>- </a:t>
            </a:r>
            <a:r>
              <a:rPr lang="en-US" altLang="zh-CN" sz="1400">
                <a:solidFill>
                  <a:srgbClr val="33CC33"/>
                </a:solidFill>
              </a:rPr>
              <a:t>183-124-122-98-67-65</a:t>
            </a:r>
            <a:endParaRPr lang="zh-CN" altLang="en-US" sz="1400">
              <a:solidFill>
                <a:srgbClr val="33CC33"/>
              </a:solidFill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03250" y="5207000"/>
            <a:ext cx="4292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400"/>
              <a:t>1</a:t>
            </a:r>
            <a:r>
              <a:rPr lang="zh-CN" altLang="en-US" sz="2400"/>
              <a:t>）磁道请求队列的的形式</a:t>
            </a:r>
          </a:p>
        </p:txBody>
      </p:sp>
      <p:sp>
        <p:nvSpPr>
          <p:cNvPr id="76" name="文本框 75"/>
          <p:cNvSpPr txBox="1">
            <a:spLocks noChangeArrowheads="1"/>
          </p:cNvSpPr>
          <p:nvPr/>
        </p:nvSpPr>
        <p:spPr bwMode="auto">
          <a:xfrm>
            <a:off x="603250" y="5705475"/>
            <a:ext cx="4292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400"/>
              <a:t>2</a:t>
            </a:r>
            <a:r>
              <a:rPr lang="zh-CN" altLang="en-US" sz="2400"/>
              <a:t>）新磁道请求如何入队列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076325" y="6178550"/>
            <a:ext cx="3514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1800" b="0"/>
              <a:t>C[i+1]&lt;X&lt;c[i]</a:t>
            </a:r>
            <a:r>
              <a:rPr lang="zh-CN" altLang="en-US" sz="1800" b="0"/>
              <a:t>或者</a:t>
            </a:r>
            <a:r>
              <a:rPr lang="en-US" altLang="zh-CN" sz="1800" b="0"/>
              <a:t>X&gt;C[i+1]&gt;c[i]</a:t>
            </a:r>
            <a:endParaRPr lang="zh-CN" altLang="en-US" sz="1800" b="0"/>
          </a:p>
        </p:txBody>
      </p:sp>
    </p:spTree>
    <p:extLst>
      <p:ext uri="{BB962C8B-B14F-4D97-AF65-F5344CB8AC3E}">
        <p14:creationId xmlns:p14="http://schemas.microsoft.com/office/powerpoint/2010/main" val="388319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1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1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1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51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51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51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1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1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6" grpId="0"/>
      <p:bldP spid="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磁盘访问调度</a:t>
            </a:r>
          </a:p>
        </p:txBody>
      </p:sp>
      <p:sp>
        <p:nvSpPr>
          <p:cNvPr id="101379" name="矩形 3"/>
          <p:cNvSpPr>
            <a:spLocks noChangeArrowheads="1"/>
          </p:cNvSpPr>
          <p:nvPr/>
        </p:nvSpPr>
        <p:spPr bwMode="auto">
          <a:xfrm>
            <a:off x="304800" y="1336675"/>
            <a:ext cx="8534400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</a:rPr>
              <a:t>kernel\</a:t>
            </a:r>
            <a:r>
              <a:rPr lang="en-US" altLang="zh-CN" sz="2000" dirty="0" err="1" smtClean="0">
                <a:solidFill>
                  <a:schemeClr val="bg1">
                    <a:lumMod val="50000"/>
                  </a:schemeClr>
                </a:solidFill>
              </a:rPr>
              <a:t>blk_drv</a:t>
            </a:r>
            <a:r>
              <a:rPr lang="en-US" altLang="zh-CN" sz="2000" dirty="0" smtClean="0">
                <a:solidFill>
                  <a:schemeClr val="bg1">
                    <a:lumMod val="50000"/>
                  </a:schemeClr>
                </a:solidFill>
              </a:rPr>
              <a:t>\</a:t>
            </a:r>
            <a:r>
              <a:rPr lang="en-US" altLang="zh-CN" sz="2000" dirty="0" err="1" smtClean="0">
                <a:solidFill>
                  <a:schemeClr val="bg1">
                    <a:lumMod val="50000"/>
                  </a:schemeClr>
                </a:solidFill>
              </a:rPr>
              <a:t>ll_rw_blk.c</a:t>
            </a:r>
            <a:endParaRPr lang="en-US" altLang="zh-CN" sz="2000" dirty="0" smtClean="0">
              <a:solidFill>
                <a:schemeClr val="bg1">
                  <a:lumMod val="50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smtClean="0"/>
              <a:t>static </a:t>
            </a:r>
            <a:r>
              <a:rPr lang="en-US" altLang="zh-CN" sz="2000" dirty="0"/>
              <a:t>void </a:t>
            </a:r>
            <a:r>
              <a:rPr lang="en-US" altLang="zh-CN" sz="2000" dirty="0" err="1"/>
              <a:t>make_request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major,int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rw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struct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buffer_head</a:t>
            </a:r>
            <a:r>
              <a:rPr lang="en-US" altLang="zh-CN" sz="2000" dirty="0"/>
              <a:t> * </a:t>
            </a:r>
            <a:r>
              <a:rPr lang="en-US" altLang="zh-CN" sz="2000" dirty="0" err="1"/>
              <a:t>bh</a:t>
            </a:r>
            <a:r>
              <a:rPr lang="en-US" altLang="zh-CN" sz="2000" dirty="0"/>
              <a:t>)</a:t>
            </a:r>
            <a:br>
              <a:rPr lang="en-US" altLang="zh-CN" sz="2000" dirty="0"/>
            </a:br>
            <a:r>
              <a:rPr lang="en-US" altLang="zh-CN" sz="2000" dirty="0"/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/*</a:t>
            </a:r>
            <a:r>
              <a:rPr lang="zh-CN" altLang="en-US" sz="2000" dirty="0"/>
              <a:t> 初始化请求项的值 *</a:t>
            </a:r>
            <a:r>
              <a:rPr lang="en-US" altLang="zh-CN" sz="2000" dirty="0"/>
              <a:t>/</a:t>
            </a:r>
            <a:endParaRPr lang="zh-CN" altLang="en-US" sz="20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/>
              <a:t>    </a:t>
            </a:r>
            <a:r>
              <a:rPr lang="en-US" altLang="zh-CN" sz="2000" dirty="0" err="1"/>
              <a:t>req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dev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bh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b_dev</a:t>
            </a:r>
            <a:r>
              <a:rPr lang="en-US" altLang="zh-CN" sz="2000" dirty="0"/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    </a:t>
            </a:r>
            <a:r>
              <a:rPr lang="en-US" altLang="zh-CN" sz="2000" dirty="0" err="1"/>
              <a:t>req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cmd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rw</a:t>
            </a:r>
            <a:r>
              <a:rPr lang="en-US" altLang="zh-CN" sz="2000" dirty="0"/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    </a:t>
            </a:r>
            <a:r>
              <a:rPr lang="en-US" altLang="zh-CN" sz="2000" dirty="0" err="1"/>
              <a:t>req</a:t>
            </a:r>
            <a:r>
              <a:rPr lang="en-US" altLang="zh-CN" sz="2000" dirty="0"/>
              <a:t>-&gt;errors=0;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    </a:t>
            </a:r>
            <a:r>
              <a:rPr lang="en-US" altLang="zh-CN" sz="2000" dirty="0" err="1"/>
              <a:t>req</a:t>
            </a:r>
            <a:r>
              <a:rPr lang="en-US" altLang="zh-CN" sz="2000" dirty="0"/>
              <a:t>-&gt;sector = </a:t>
            </a:r>
            <a:r>
              <a:rPr lang="en-US" altLang="zh-CN" sz="2000" dirty="0" err="1"/>
              <a:t>bh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b_blocknr</a:t>
            </a:r>
            <a:r>
              <a:rPr lang="en-US" altLang="zh-CN" sz="2000" dirty="0"/>
              <a:t>&lt;&lt;1;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    </a:t>
            </a:r>
            <a:r>
              <a:rPr lang="en-US" altLang="zh-CN" sz="2000" dirty="0" err="1"/>
              <a:t>req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nr_sectors</a:t>
            </a:r>
            <a:r>
              <a:rPr lang="en-US" altLang="zh-CN" sz="2000" dirty="0"/>
              <a:t> = 2;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    </a:t>
            </a:r>
            <a:r>
              <a:rPr lang="en-US" altLang="zh-CN" sz="2000" dirty="0" err="1"/>
              <a:t>req</a:t>
            </a:r>
            <a:r>
              <a:rPr lang="en-US" altLang="zh-CN" sz="2000" dirty="0"/>
              <a:t>-&gt;buffer = </a:t>
            </a:r>
            <a:r>
              <a:rPr lang="en-US" altLang="zh-CN" sz="2000" dirty="0" err="1"/>
              <a:t>bh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b_data</a:t>
            </a:r>
            <a:r>
              <a:rPr lang="en-US" altLang="zh-CN" sz="2000" dirty="0"/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    </a:t>
            </a:r>
            <a:r>
              <a:rPr lang="en-US" altLang="zh-CN" sz="2000" dirty="0" err="1"/>
              <a:t>req</a:t>
            </a:r>
            <a:r>
              <a:rPr lang="en-US" altLang="zh-CN" sz="2000" dirty="0"/>
              <a:t>-&gt;waiting = NULL;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    </a:t>
            </a:r>
            <a:r>
              <a:rPr lang="en-US" altLang="zh-CN" sz="2000" dirty="0" err="1"/>
              <a:t>req</a:t>
            </a:r>
            <a:r>
              <a:rPr lang="en-US" altLang="zh-CN" sz="2000" dirty="0"/>
              <a:t>-&gt;</a:t>
            </a:r>
            <a:r>
              <a:rPr lang="en-US" altLang="zh-CN" sz="2000" dirty="0" err="1"/>
              <a:t>bh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bh</a:t>
            </a:r>
            <a:r>
              <a:rPr lang="en-US" altLang="zh-CN" sz="2000" dirty="0"/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    </a:t>
            </a:r>
            <a:r>
              <a:rPr lang="en-US" altLang="zh-CN" sz="2000" dirty="0" err="1"/>
              <a:t>req</a:t>
            </a:r>
            <a:r>
              <a:rPr lang="en-US" altLang="zh-CN" sz="2000" dirty="0"/>
              <a:t>-&gt;next = NULL;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    </a:t>
            </a:r>
            <a:r>
              <a:rPr lang="en-US" altLang="zh-CN" sz="2000" dirty="0" err="1">
                <a:solidFill>
                  <a:srgbClr val="C00000"/>
                </a:solidFill>
              </a:rPr>
              <a:t>add_request</a:t>
            </a:r>
            <a:r>
              <a:rPr lang="en-US" altLang="zh-CN" sz="2000" dirty="0">
                <a:solidFill>
                  <a:srgbClr val="C00000"/>
                </a:solidFill>
              </a:rPr>
              <a:t>(</a:t>
            </a:r>
            <a:r>
              <a:rPr lang="en-US" altLang="zh-CN" sz="2000" dirty="0" err="1">
                <a:solidFill>
                  <a:srgbClr val="C00000"/>
                </a:solidFill>
              </a:rPr>
              <a:t>major+blk_dev,req</a:t>
            </a:r>
            <a:r>
              <a:rPr lang="en-US" altLang="zh-CN" sz="2000" dirty="0">
                <a:solidFill>
                  <a:srgbClr val="C00000"/>
                </a:solidFill>
              </a:rPr>
              <a:t>);    // </a:t>
            </a:r>
            <a:r>
              <a:rPr lang="zh-CN" altLang="en-US" sz="2000" dirty="0">
                <a:solidFill>
                  <a:srgbClr val="C00000"/>
                </a:solidFill>
              </a:rPr>
              <a:t>将请求项放入设备的请求队列</a:t>
            </a:r>
            <a:r>
              <a:rPr lang="zh-CN" altLang="en-US" sz="2000" dirty="0" smtClean="0">
                <a:solidFill>
                  <a:srgbClr val="C00000"/>
                </a:solidFill>
              </a:rPr>
              <a:t>中</a:t>
            </a:r>
            <a:endParaRPr lang="zh-CN" altLang="en-US" sz="2000" dirty="0">
              <a:solidFill>
                <a:srgbClr val="C0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/>
              <a:t>}</a:t>
            </a:r>
            <a:r>
              <a:rPr lang="zh-CN" altLang="en-US" sz="20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4131381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磁盘访问调度</a:t>
            </a:r>
          </a:p>
        </p:txBody>
      </p:sp>
      <p:sp>
        <p:nvSpPr>
          <p:cNvPr id="4" name="矩形 3"/>
          <p:cNvSpPr/>
          <p:nvPr/>
        </p:nvSpPr>
        <p:spPr>
          <a:xfrm>
            <a:off x="457200" y="2766298"/>
            <a:ext cx="7757886" cy="233910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/>
              <a:t>#define IN_ORDER(s1,s2) \</a:t>
            </a:r>
          </a:p>
          <a:p>
            <a:r>
              <a:rPr lang="en-US" altLang="zh-CN" sz="1800" dirty="0" smtClean="0"/>
              <a:t>(</a:t>
            </a:r>
            <a:r>
              <a:rPr lang="en-US" altLang="zh-CN" sz="1800" dirty="0"/>
              <a:t>s1)-&gt;</a:t>
            </a:r>
            <a:r>
              <a:rPr lang="en-US" altLang="zh-CN" sz="1800" dirty="0" err="1"/>
              <a:t>cmd</a:t>
            </a:r>
            <a:r>
              <a:rPr lang="en-US" altLang="zh-CN" sz="1800" dirty="0"/>
              <a:t>&lt;(s2)-&gt;</a:t>
            </a:r>
            <a:r>
              <a:rPr lang="en-US" altLang="zh-CN" sz="1800" dirty="0" err="1"/>
              <a:t>cmd</a:t>
            </a:r>
            <a:r>
              <a:rPr lang="en-US" altLang="zh-CN" sz="1800" dirty="0"/>
              <a:t> || </a:t>
            </a:r>
            <a:endParaRPr lang="en-US" altLang="zh-CN" sz="1800" dirty="0" smtClean="0"/>
          </a:p>
          <a:p>
            <a:endParaRPr lang="en-US" altLang="zh-CN" sz="1800" dirty="0"/>
          </a:p>
          <a:p>
            <a:r>
              <a:rPr lang="en-US" altLang="zh-CN" sz="1800" dirty="0" smtClean="0">
                <a:solidFill>
                  <a:srgbClr val="C00000"/>
                </a:solidFill>
              </a:rPr>
              <a:t>(</a:t>
            </a:r>
            <a:r>
              <a:rPr lang="en-US" altLang="zh-CN" sz="1800" dirty="0">
                <a:solidFill>
                  <a:srgbClr val="C00000"/>
                </a:solidFill>
              </a:rPr>
              <a:t>s1)-&gt;</a:t>
            </a:r>
            <a:r>
              <a:rPr lang="en-US" altLang="zh-CN" sz="1800" dirty="0" err="1">
                <a:solidFill>
                  <a:srgbClr val="C00000"/>
                </a:solidFill>
              </a:rPr>
              <a:t>cmd</a:t>
            </a:r>
            <a:r>
              <a:rPr lang="en-US" altLang="zh-CN" sz="1800" dirty="0">
                <a:solidFill>
                  <a:srgbClr val="C00000"/>
                </a:solidFill>
              </a:rPr>
              <a:t>==(s2)-&gt;</a:t>
            </a:r>
            <a:r>
              <a:rPr lang="en-US" altLang="zh-CN" sz="1800" dirty="0" err="1">
                <a:solidFill>
                  <a:srgbClr val="C00000"/>
                </a:solidFill>
              </a:rPr>
              <a:t>cmd</a:t>
            </a:r>
            <a:r>
              <a:rPr lang="en-US" altLang="zh-CN" sz="1800" dirty="0"/>
              <a:t> &amp;&amp; </a:t>
            </a:r>
            <a:endParaRPr lang="en-US" altLang="zh-CN" sz="1800" dirty="0" smtClean="0"/>
          </a:p>
          <a:p>
            <a:r>
              <a:rPr lang="en-US" altLang="zh-CN" sz="1800" dirty="0" smtClean="0">
                <a:solidFill>
                  <a:srgbClr val="0070C0"/>
                </a:solidFill>
              </a:rPr>
              <a:t>( </a:t>
            </a:r>
          </a:p>
          <a:p>
            <a:r>
              <a:rPr lang="en-US" altLang="zh-CN" sz="1800" dirty="0">
                <a:solidFill>
                  <a:srgbClr val="0070C0"/>
                </a:solidFill>
              </a:rPr>
              <a:t>	</a:t>
            </a:r>
            <a:r>
              <a:rPr lang="en-US" altLang="zh-CN" sz="1800" dirty="0" smtClean="0"/>
              <a:t>(</a:t>
            </a:r>
            <a:r>
              <a:rPr lang="en-US" altLang="zh-CN" sz="1800" dirty="0"/>
              <a:t>s1)-&gt;</a:t>
            </a:r>
            <a:r>
              <a:rPr lang="en-US" altLang="zh-CN" sz="1800" dirty="0" err="1"/>
              <a:t>dev</a:t>
            </a:r>
            <a:r>
              <a:rPr lang="en-US" altLang="zh-CN" sz="1800" dirty="0"/>
              <a:t> &lt; (s2)-&gt;</a:t>
            </a:r>
            <a:r>
              <a:rPr lang="en-US" altLang="zh-CN" sz="1800" dirty="0" err="1"/>
              <a:t>dev</a:t>
            </a:r>
            <a:r>
              <a:rPr lang="en-US" altLang="zh-CN" sz="1800" dirty="0"/>
              <a:t> || </a:t>
            </a:r>
            <a:r>
              <a:rPr lang="en-US" altLang="zh-CN" sz="1800" dirty="0" smtClean="0"/>
              <a:t> </a:t>
            </a:r>
          </a:p>
          <a:p>
            <a:r>
              <a:rPr lang="en-US" altLang="zh-CN" sz="1800" dirty="0" smtClean="0">
                <a:solidFill>
                  <a:srgbClr val="FF0000"/>
                </a:solidFill>
              </a:rPr>
              <a:t>	</a:t>
            </a:r>
            <a:r>
              <a:rPr lang="en-US" altLang="zh-CN" sz="2000" dirty="0" smtClean="0">
                <a:solidFill>
                  <a:srgbClr val="00B050"/>
                </a:solidFill>
              </a:rPr>
              <a:t>(</a:t>
            </a:r>
            <a:r>
              <a:rPr lang="en-US" altLang="zh-CN" sz="1800" dirty="0" smtClean="0">
                <a:solidFill>
                  <a:srgbClr val="FF0000"/>
                </a:solidFill>
              </a:rPr>
              <a:t> </a:t>
            </a:r>
            <a:r>
              <a:rPr lang="en-US" altLang="zh-CN" sz="1800" dirty="0" smtClean="0">
                <a:solidFill>
                  <a:srgbClr val="0070C0"/>
                </a:solidFill>
              </a:rPr>
              <a:t>(s1)-&gt;</a:t>
            </a:r>
            <a:r>
              <a:rPr lang="en-US" altLang="zh-CN" sz="1800" dirty="0" err="1" smtClean="0">
                <a:solidFill>
                  <a:srgbClr val="0070C0"/>
                </a:solidFill>
              </a:rPr>
              <a:t>dev</a:t>
            </a:r>
            <a:r>
              <a:rPr lang="en-US" altLang="zh-CN" sz="1800" dirty="0" smtClean="0">
                <a:solidFill>
                  <a:srgbClr val="0070C0"/>
                </a:solidFill>
              </a:rPr>
              <a:t> == (s2)-&gt;</a:t>
            </a:r>
            <a:r>
              <a:rPr lang="en-US" altLang="zh-CN" sz="1800" dirty="0" err="1" smtClean="0">
                <a:solidFill>
                  <a:srgbClr val="0070C0"/>
                </a:solidFill>
              </a:rPr>
              <a:t>dev</a:t>
            </a:r>
            <a:r>
              <a:rPr lang="en-US" altLang="zh-CN" sz="1800" dirty="0" smtClean="0">
                <a:solidFill>
                  <a:srgbClr val="0070C0"/>
                </a:solidFill>
              </a:rPr>
              <a:t> </a:t>
            </a:r>
            <a:r>
              <a:rPr lang="en-US" altLang="zh-CN" sz="1800" dirty="0" smtClean="0"/>
              <a:t>&amp;&amp; (s1)-&gt;sector &lt; (s2)-&gt;sector </a:t>
            </a:r>
            <a:r>
              <a:rPr lang="en-US" altLang="zh-CN" sz="2000" dirty="0" smtClean="0">
                <a:solidFill>
                  <a:srgbClr val="00B050"/>
                </a:solidFill>
              </a:rPr>
              <a:t>)</a:t>
            </a:r>
            <a:r>
              <a:rPr lang="en-US" altLang="zh-CN" sz="1800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altLang="zh-CN" sz="1800" dirty="0" smtClean="0">
                <a:solidFill>
                  <a:srgbClr val="0070C0"/>
                </a:solidFill>
              </a:rPr>
              <a:t>)</a:t>
            </a:r>
            <a:endParaRPr lang="en-US" altLang="zh-CN" sz="1800" dirty="0"/>
          </a:p>
        </p:txBody>
      </p:sp>
      <p:sp>
        <p:nvSpPr>
          <p:cNvPr id="6" name="矩形 5"/>
          <p:cNvSpPr/>
          <p:nvPr/>
        </p:nvSpPr>
        <p:spPr>
          <a:xfrm>
            <a:off x="457200" y="1143000"/>
            <a:ext cx="7757886" cy="147732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</a:rPr>
              <a:t>kernel\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</a:rPr>
              <a:t>blk_drv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</a:rPr>
              <a:t>\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</a:rPr>
              <a:t>blk.h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zh-CN" altLang="en-US" sz="1800" dirty="0" smtClean="0">
                <a:solidFill>
                  <a:schemeClr val="bg1">
                    <a:lumMod val="50000"/>
                  </a:schemeClr>
                </a:solidFill>
              </a:rPr>
              <a:t>中的宏定义函数</a:t>
            </a:r>
            <a:endParaRPr lang="en-US" altLang="zh-CN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1800" dirty="0" smtClean="0">
                <a:latin typeface="+mn-lt"/>
              </a:rPr>
              <a:t>#</a:t>
            </a:r>
            <a:r>
              <a:rPr lang="en-US" altLang="zh-CN" sz="1800" dirty="0">
                <a:latin typeface="+mn-lt"/>
              </a:rPr>
              <a:t>define IN_ORDER(s1,s2) \</a:t>
            </a:r>
          </a:p>
          <a:p>
            <a:r>
              <a:rPr lang="en-US" altLang="zh-CN" sz="1800" dirty="0">
                <a:latin typeface="+mn-lt"/>
              </a:rPr>
              <a:t>((s1)-&gt;</a:t>
            </a:r>
            <a:r>
              <a:rPr lang="en-US" altLang="zh-CN" sz="1800" dirty="0" err="1">
                <a:latin typeface="+mn-lt"/>
              </a:rPr>
              <a:t>cmd</a:t>
            </a:r>
            <a:r>
              <a:rPr lang="en-US" altLang="zh-CN" sz="1800" dirty="0">
                <a:latin typeface="+mn-lt"/>
              </a:rPr>
              <a:t>&lt;(s2)-&gt;</a:t>
            </a:r>
            <a:r>
              <a:rPr lang="en-US" altLang="zh-CN" sz="1800" dirty="0" err="1">
                <a:latin typeface="+mn-lt"/>
              </a:rPr>
              <a:t>cmd</a:t>
            </a:r>
            <a:r>
              <a:rPr lang="en-US" altLang="zh-CN" sz="1800" dirty="0">
                <a:latin typeface="+mn-lt"/>
              </a:rPr>
              <a:t> || (s1)-&gt;</a:t>
            </a:r>
            <a:r>
              <a:rPr lang="en-US" altLang="zh-CN" sz="1800" dirty="0" err="1">
                <a:latin typeface="+mn-lt"/>
              </a:rPr>
              <a:t>cmd</a:t>
            </a:r>
            <a:r>
              <a:rPr lang="en-US" altLang="zh-CN" sz="1800" dirty="0">
                <a:latin typeface="+mn-lt"/>
              </a:rPr>
              <a:t>==(s2)-&gt;</a:t>
            </a:r>
            <a:r>
              <a:rPr lang="en-US" altLang="zh-CN" sz="1800" dirty="0" err="1">
                <a:latin typeface="+mn-lt"/>
              </a:rPr>
              <a:t>cmd</a:t>
            </a:r>
            <a:r>
              <a:rPr lang="en-US" altLang="zh-CN" sz="1800" dirty="0">
                <a:latin typeface="+mn-lt"/>
              </a:rPr>
              <a:t> &amp;&amp; \</a:t>
            </a:r>
          </a:p>
          <a:p>
            <a:r>
              <a:rPr lang="en-US" altLang="zh-CN" sz="1800" dirty="0">
                <a:latin typeface="+mn-lt"/>
              </a:rPr>
              <a:t>((s1)-&gt;</a:t>
            </a:r>
            <a:r>
              <a:rPr lang="en-US" altLang="zh-CN" sz="1800" dirty="0" err="1">
                <a:latin typeface="+mn-lt"/>
              </a:rPr>
              <a:t>dev</a:t>
            </a:r>
            <a:r>
              <a:rPr lang="en-US" altLang="zh-CN" sz="1800" dirty="0">
                <a:latin typeface="+mn-lt"/>
              </a:rPr>
              <a:t> &lt; (s2)-&gt;</a:t>
            </a:r>
            <a:r>
              <a:rPr lang="en-US" altLang="zh-CN" sz="1800" dirty="0" err="1">
                <a:latin typeface="+mn-lt"/>
              </a:rPr>
              <a:t>dev</a:t>
            </a:r>
            <a:r>
              <a:rPr lang="en-US" altLang="zh-CN" sz="1800" dirty="0">
                <a:latin typeface="+mn-lt"/>
              </a:rPr>
              <a:t> || ((s1)-&gt;</a:t>
            </a:r>
            <a:r>
              <a:rPr lang="en-US" altLang="zh-CN" sz="1800" dirty="0" err="1">
                <a:latin typeface="+mn-lt"/>
              </a:rPr>
              <a:t>dev</a:t>
            </a:r>
            <a:r>
              <a:rPr lang="en-US" altLang="zh-CN" sz="1800" dirty="0">
                <a:latin typeface="+mn-lt"/>
              </a:rPr>
              <a:t> == (s2)-&gt;</a:t>
            </a:r>
            <a:r>
              <a:rPr lang="en-US" altLang="zh-CN" sz="1800" dirty="0" err="1">
                <a:latin typeface="+mn-lt"/>
              </a:rPr>
              <a:t>dev</a:t>
            </a:r>
            <a:r>
              <a:rPr lang="en-US" altLang="zh-CN" sz="1800" dirty="0">
                <a:latin typeface="+mn-lt"/>
              </a:rPr>
              <a:t> &amp;&amp; \</a:t>
            </a:r>
          </a:p>
          <a:p>
            <a:r>
              <a:rPr lang="en-US" altLang="zh-CN" sz="1800" dirty="0">
                <a:latin typeface="+mn-lt"/>
              </a:rPr>
              <a:t>(s1)-&gt;sector &lt; (s2)-&gt;sector)))</a:t>
            </a:r>
          </a:p>
        </p:txBody>
      </p:sp>
      <p:sp>
        <p:nvSpPr>
          <p:cNvPr id="7" name="矩形 6"/>
          <p:cNvSpPr/>
          <p:nvPr/>
        </p:nvSpPr>
        <p:spPr>
          <a:xfrm>
            <a:off x="381000" y="5248870"/>
            <a:ext cx="788533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+mn-lt"/>
                <a:ea typeface="+mn-ea"/>
              </a:rPr>
              <a:t>（</a:t>
            </a:r>
            <a:r>
              <a:rPr lang="en-US" altLang="zh-CN" sz="1800" dirty="0">
                <a:latin typeface="+mn-lt"/>
                <a:ea typeface="+mn-ea"/>
              </a:rPr>
              <a:t>1</a:t>
            </a:r>
            <a:r>
              <a:rPr lang="zh-CN" altLang="en-US" sz="1800" dirty="0">
                <a:latin typeface="+mn-lt"/>
                <a:ea typeface="+mn-ea"/>
              </a:rPr>
              <a:t>）写请求小于读请求。</a:t>
            </a:r>
            <a:br>
              <a:rPr lang="zh-CN" altLang="en-US" sz="1800" dirty="0">
                <a:latin typeface="+mn-lt"/>
                <a:ea typeface="+mn-ea"/>
              </a:rPr>
            </a:br>
            <a:r>
              <a:rPr lang="zh-CN" altLang="en-US" sz="1800" dirty="0">
                <a:latin typeface="+mn-lt"/>
                <a:ea typeface="+mn-ea"/>
              </a:rPr>
              <a:t>（</a:t>
            </a:r>
            <a:r>
              <a:rPr lang="en-US" altLang="zh-CN" sz="1800" dirty="0">
                <a:latin typeface="+mn-lt"/>
                <a:ea typeface="+mn-ea"/>
              </a:rPr>
              <a:t>2</a:t>
            </a:r>
            <a:r>
              <a:rPr lang="zh-CN" altLang="en-US" sz="1800" dirty="0">
                <a:latin typeface="+mn-lt"/>
                <a:ea typeface="+mn-ea"/>
              </a:rPr>
              <a:t>）若请求类型相同，低设备号小于高设备号。</a:t>
            </a:r>
            <a:br>
              <a:rPr lang="zh-CN" altLang="en-US" sz="1800" dirty="0">
                <a:latin typeface="+mn-lt"/>
                <a:ea typeface="+mn-ea"/>
              </a:rPr>
            </a:br>
            <a:r>
              <a:rPr lang="zh-CN" altLang="en-US" sz="1800" dirty="0">
                <a:latin typeface="+mn-lt"/>
                <a:ea typeface="+mn-ea"/>
              </a:rPr>
              <a:t>（</a:t>
            </a:r>
            <a:r>
              <a:rPr lang="en-US" altLang="zh-CN" sz="1800" dirty="0">
                <a:latin typeface="+mn-lt"/>
                <a:ea typeface="+mn-ea"/>
              </a:rPr>
              <a:t>3</a:t>
            </a:r>
            <a:r>
              <a:rPr lang="zh-CN" altLang="en-US" sz="1800" dirty="0">
                <a:latin typeface="+mn-lt"/>
                <a:ea typeface="+mn-ea"/>
              </a:rPr>
              <a:t>）若请求同一设备，低扇区号小于高扇区号</a:t>
            </a:r>
            <a:r>
              <a:rPr lang="zh-CN" altLang="en-US" sz="1800" dirty="0" smtClean="0">
                <a:latin typeface="+mn-lt"/>
                <a:ea typeface="+mn-ea"/>
              </a:rPr>
              <a:t>。</a:t>
            </a:r>
            <a:endParaRPr lang="zh-CN" altLang="en-US" sz="180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6414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磁盘访问调度</a:t>
            </a:r>
            <a:endParaRPr lang="zh-CN" altLang="en-US" dirty="0" smtClean="0"/>
          </a:p>
        </p:txBody>
      </p:sp>
      <p:sp>
        <p:nvSpPr>
          <p:cNvPr id="102403" name="矩形 3"/>
          <p:cNvSpPr>
            <a:spLocks noChangeArrowheads="1"/>
          </p:cNvSpPr>
          <p:nvPr/>
        </p:nvSpPr>
        <p:spPr bwMode="auto">
          <a:xfrm>
            <a:off x="152400" y="1143000"/>
            <a:ext cx="88392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CC6600"/>
              </a:buClr>
              <a:buSzPct val="80000"/>
              <a:buFont typeface="Wingdings" panose="05000000000000000000" pitchFamily="2" charset="2"/>
              <a:buChar char="l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6600"/>
              </a:buClr>
              <a:buSzPct val="75000"/>
              <a:buFont typeface="Times New Roman" panose="02020603050405020304" pitchFamily="18" charset="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Times New Roman" panose="02020603050405020304" pitchFamily="18" charset="0"/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</a:rPr>
              <a:t>kernel\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</a:rPr>
              <a:t>blk_drv</a:t>
            </a:r>
            <a:r>
              <a:rPr lang="en-US" altLang="zh-CN" sz="1800" dirty="0" smtClean="0">
                <a:solidFill>
                  <a:schemeClr val="bg1">
                    <a:lumMod val="50000"/>
                  </a:schemeClr>
                </a:solidFill>
              </a:rPr>
              <a:t>\</a:t>
            </a:r>
            <a:r>
              <a:rPr lang="en-US" altLang="zh-CN" sz="1800" dirty="0" err="1" smtClean="0">
                <a:solidFill>
                  <a:schemeClr val="bg1">
                    <a:lumMod val="50000"/>
                  </a:schemeClr>
                </a:solidFill>
              </a:rPr>
              <a:t>ll_rw_blk.c</a:t>
            </a:r>
            <a:endParaRPr lang="en-US" altLang="zh-CN" sz="1800" dirty="0" smtClean="0"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 smtClean="0">
                <a:latin typeface="+mn-lt"/>
              </a:rPr>
              <a:t>static </a:t>
            </a:r>
            <a:r>
              <a:rPr lang="en-US" altLang="zh-CN" sz="1800" dirty="0">
                <a:latin typeface="+mn-lt"/>
              </a:rPr>
              <a:t>void </a:t>
            </a:r>
            <a:r>
              <a:rPr lang="en-US" altLang="zh-CN" sz="1800" dirty="0" err="1">
                <a:latin typeface="+mn-lt"/>
              </a:rPr>
              <a:t>add_request</a:t>
            </a:r>
            <a:r>
              <a:rPr lang="en-US" altLang="zh-CN" sz="1800" dirty="0">
                <a:latin typeface="+mn-lt"/>
              </a:rPr>
              <a:t>(</a:t>
            </a:r>
            <a:r>
              <a:rPr lang="en-US" altLang="zh-CN" sz="1800" dirty="0" err="1">
                <a:latin typeface="+mn-lt"/>
              </a:rPr>
              <a:t>struct</a:t>
            </a:r>
            <a:r>
              <a:rPr lang="en-US" altLang="zh-CN" sz="1800" dirty="0">
                <a:latin typeface="+mn-lt"/>
              </a:rPr>
              <a:t> </a:t>
            </a:r>
            <a:r>
              <a:rPr lang="en-US" altLang="zh-CN" sz="1800" dirty="0" err="1">
                <a:latin typeface="+mn-lt"/>
              </a:rPr>
              <a:t>blk_dev_struct</a:t>
            </a:r>
            <a:r>
              <a:rPr lang="en-US" altLang="zh-CN" sz="1800" dirty="0">
                <a:latin typeface="+mn-lt"/>
              </a:rPr>
              <a:t> * </a:t>
            </a:r>
            <a:r>
              <a:rPr lang="en-US" altLang="zh-CN" sz="1800" dirty="0" err="1">
                <a:latin typeface="+mn-lt"/>
              </a:rPr>
              <a:t>dev</a:t>
            </a:r>
            <a:r>
              <a:rPr lang="en-US" altLang="zh-CN" sz="1800" dirty="0">
                <a:latin typeface="+mn-lt"/>
              </a:rPr>
              <a:t>, </a:t>
            </a:r>
            <a:r>
              <a:rPr lang="en-US" altLang="zh-CN" sz="1800" dirty="0" err="1">
                <a:latin typeface="+mn-lt"/>
              </a:rPr>
              <a:t>struct</a:t>
            </a:r>
            <a:r>
              <a:rPr lang="en-US" altLang="zh-CN" sz="1800" dirty="0">
                <a:latin typeface="+mn-lt"/>
              </a:rPr>
              <a:t> request * </a:t>
            </a:r>
            <a:r>
              <a:rPr lang="en-US" altLang="zh-CN" sz="1800" dirty="0" err="1">
                <a:latin typeface="+mn-lt"/>
              </a:rPr>
              <a:t>req</a:t>
            </a:r>
            <a:r>
              <a:rPr lang="en-US" altLang="zh-CN" sz="1800" dirty="0">
                <a:latin typeface="+mn-lt"/>
              </a:rPr>
              <a:t>)</a:t>
            </a:r>
            <a:br>
              <a:rPr lang="en-US" altLang="zh-CN" sz="1800" dirty="0">
                <a:latin typeface="+mn-lt"/>
              </a:rPr>
            </a:br>
            <a:r>
              <a:rPr lang="en-US" altLang="zh-CN" sz="1800" dirty="0" smtClean="0">
                <a:latin typeface="+mn-lt"/>
              </a:rPr>
              <a:t>{   …… </a:t>
            </a:r>
            <a:endParaRPr lang="en-US" altLang="zh-CN" sz="1800" dirty="0"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 smtClean="0">
                <a:solidFill>
                  <a:srgbClr val="C00000"/>
                </a:solidFill>
                <a:latin typeface="+mn-lt"/>
              </a:rPr>
              <a:t>    //</a:t>
            </a:r>
            <a:r>
              <a:rPr lang="zh-CN" altLang="en-US" sz="1800" dirty="0">
                <a:solidFill>
                  <a:srgbClr val="C00000"/>
                </a:solidFill>
                <a:latin typeface="+mn-lt"/>
              </a:rPr>
              <a:t>只有一个请求，</a:t>
            </a:r>
            <a:r>
              <a:rPr lang="en-US" altLang="zh-CN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altLang="zh-CN" sz="1800" dirty="0" err="1">
                <a:solidFill>
                  <a:srgbClr val="C00000"/>
                </a:solidFill>
                <a:latin typeface="+mn-lt"/>
              </a:rPr>
              <a:t>tmp</a:t>
            </a:r>
            <a:r>
              <a:rPr lang="en-US" altLang="zh-CN" sz="1800" dirty="0">
                <a:solidFill>
                  <a:srgbClr val="C00000"/>
                </a:solidFill>
                <a:latin typeface="+mn-lt"/>
              </a:rPr>
              <a:t>-&gt;next </a:t>
            </a:r>
            <a:r>
              <a:rPr lang="zh-CN" altLang="en-US" sz="1800" dirty="0" smtClean="0">
                <a:solidFill>
                  <a:srgbClr val="C00000"/>
                </a:solidFill>
                <a:latin typeface="+mn-lt"/>
              </a:rPr>
              <a:t>空，直接放到</a:t>
            </a:r>
            <a:r>
              <a:rPr lang="en-US" altLang="zh-CN" sz="1800" dirty="0" err="1" smtClean="0">
                <a:solidFill>
                  <a:srgbClr val="C00000"/>
                </a:solidFill>
                <a:latin typeface="+mn-lt"/>
              </a:rPr>
              <a:t>tmp</a:t>
            </a:r>
            <a:r>
              <a:rPr lang="zh-CN" altLang="en-US" sz="1800" dirty="0" smtClean="0">
                <a:solidFill>
                  <a:srgbClr val="C00000"/>
                </a:solidFill>
                <a:latin typeface="+mn-lt"/>
              </a:rPr>
              <a:t>后，存在至少两个请求执行</a:t>
            </a:r>
            <a:r>
              <a:rPr lang="en-US" altLang="zh-CN" sz="1800" dirty="0" smtClean="0">
                <a:solidFill>
                  <a:srgbClr val="C00000"/>
                </a:solidFill>
                <a:latin typeface="+mn-lt"/>
              </a:rPr>
              <a:t>for</a:t>
            </a:r>
            <a:r>
              <a:rPr lang="zh-CN" altLang="en-US" sz="1800" dirty="0" smtClean="0">
                <a:solidFill>
                  <a:srgbClr val="C00000"/>
                </a:solidFill>
                <a:latin typeface="+mn-lt"/>
              </a:rPr>
              <a:t>内部</a:t>
            </a:r>
            <a:endParaRPr lang="zh-CN" altLang="en-US" sz="1800" dirty="0"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+mn-lt"/>
              </a:rPr>
              <a:t>    </a:t>
            </a:r>
            <a:r>
              <a:rPr lang="en-US" altLang="zh-CN" sz="1800" dirty="0">
                <a:latin typeface="+mn-lt"/>
              </a:rPr>
              <a:t>for ( ; </a:t>
            </a:r>
            <a:r>
              <a:rPr lang="en-US" altLang="zh-CN" sz="1800" dirty="0" err="1">
                <a:solidFill>
                  <a:srgbClr val="C00000"/>
                </a:solidFill>
                <a:latin typeface="+mn-lt"/>
              </a:rPr>
              <a:t>tmp</a:t>
            </a:r>
            <a:r>
              <a:rPr lang="en-US" altLang="zh-CN" sz="1800" dirty="0">
                <a:solidFill>
                  <a:srgbClr val="C00000"/>
                </a:solidFill>
                <a:latin typeface="+mn-lt"/>
              </a:rPr>
              <a:t>-&gt;next </a:t>
            </a:r>
            <a:r>
              <a:rPr lang="en-US" altLang="zh-CN" sz="1800" dirty="0">
                <a:latin typeface="+mn-lt"/>
              </a:rPr>
              <a:t>; </a:t>
            </a:r>
            <a:r>
              <a:rPr lang="en-US" altLang="zh-CN" sz="1800" dirty="0" err="1">
                <a:latin typeface="+mn-lt"/>
              </a:rPr>
              <a:t>tmp</a:t>
            </a:r>
            <a:r>
              <a:rPr lang="en-US" altLang="zh-CN" sz="1800" dirty="0">
                <a:latin typeface="+mn-lt"/>
              </a:rPr>
              <a:t>=</a:t>
            </a:r>
            <a:r>
              <a:rPr lang="en-US" altLang="zh-CN" sz="1800" dirty="0" err="1">
                <a:latin typeface="+mn-lt"/>
              </a:rPr>
              <a:t>tmp</a:t>
            </a:r>
            <a:r>
              <a:rPr lang="en-US" altLang="zh-CN" sz="1800" dirty="0">
                <a:latin typeface="+mn-lt"/>
              </a:rPr>
              <a:t>-&gt;next</a:t>
            </a:r>
            <a:r>
              <a:rPr lang="en-US" altLang="zh-CN" sz="1800" dirty="0" smtClean="0">
                <a:latin typeface="+mn-lt"/>
              </a:rPr>
              <a:t>)   </a:t>
            </a:r>
            <a:endParaRPr lang="en-US" altLang="zh-CN" sz="1800" dirty="0"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+mn-lt"/>
              </a:rPr>
              <a:t>        if </a:t>
            </a:r>
            <a:r>
              <a:rPr lang="en-US" altLang="zh-CN" sz="1800" dirty="0" smtClean="0">
                <a:latin typeface="+mn-lt"/>
              </a:rPr>
              <a:t>(   ( </a:t>
            </a:r>
            <a:r>
              <a:rPr lang="en-US" altLang="zh-CN" sz="1800" dirty="0" smtClean="0">
                <a:solidFill>
                  <a:srgbClr val="C00000"/>
                </a:solidFill>
                <a:latin typeface="+mn-lt"/>
              </a:rPr>
              <a:t>IN_ORDER</a:t>
            </a:r>
            <a:r>
              <a:rPr lang="en-US" altLang="zh-CN" sz="1800" dirty="0" smtClean="0">
                <a:latin typeface="+mn-lt"/>
              </a:rPr>
              <a:t>(</a:t>
            </a:r>
            <a:r>
              <a:rPr lang="en-US" altLang="zh-CN" sz="1800" dirty="0" err="1" smtClean="0">
                <a:latin typeface="+mn-lt"/>
              </a:rPr>
              <a:t>tmp,req</a:t>
            </a:r>
            <a:r>
              <a:rPr lang="en-US" altLang="zh-CN" sz="1800" dirty="0">
                <a:latin typeface="+mn-lt"/>
              </a:rPr>
              <a:t>) </a:t>
            </a:r>
            <a:r>
              <a:rPr lang="en-US" altLang="zh-CN" sz="1800" dirty="0" smtClean="0">
                <a:latin typeface="+mn-lt"/>
              </a:rPr>
              <a:t>  ||  </a:t>
            </a:r>
            <a:r>
              <a:rPr lang="en-US" altLang="zh-CN" sz="1800" dirty="0" smtClean="0">
                <a:solidFill>
                  <a:srgbClr val="C00000"/>
                </a:solidFill>
                <a:latin typeface="+mn-lt"/>
              </a:rPr>
              <a:t>! </a:t>
            </a:r>
            <a:r>
              <a:rPr lang="en-US" altLang="zh-CN" sz="1800" dirty="0" smtClean="0">
                <a:latin typeface="+mn-lt"/>
              </a:rPr>
              <a:t>IN_ORDER(</a:t>
            </a:r>
            <a:r>
              <a:rPr lang="en-US" altLang="zh-CN" sz="1800" dirty="0" err="1" smtClean="0">
                <a:latin typeface="+mn-lt"/>
              </a:rPr>
              <a:t>tmp,tmp</a:t>
            </a:r>
            <a:r>
              <a:rPr lang="en-US" altLang="zh-CN" sz="1800" dirty="0" smtClean="0">
                <a:latin typeface="+mn-lt"/>
              </a:rPr>
              <a:t>-</a:t>
            </a:r>
            <a:r>
              <a:rPr lang="en-US" altLang="zh-CN" sz="1800" dirty="0">
                <a:latin typeface="+mn-lt"/>
              </a:rPr>
              <a:t>&gt;next</a:t>
            </a:r>
            <a:r>
              <a:rPr lang="en-US" altLang="zh-CN" sz="1800" dirty="0" smtClean="0">
                <a:latin typeface="+mn-lt"/>
              </a:rPr>
              <a:t>) ) </a:t>
            </a:r>
            <a:r>
              <a:rPr lang="en-US" altLang="zh-CN" sz="1800" dirty="0">
                <a:latin typeface="+mn-lt"/>
              </a:rPr>
              <a:t>&amp;&amp;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+mn-lt"/>
              </a:rPr>
              <a:t>         IN_ORDER(</a:t>
            </a:r>
            <a:r>
              <a:rPr lang="en-US" altLang="zh-CN" sz="1800" dirty="0" err="1">
                <a:latin typeface="+mn-lt"/>
              </a:rPr>
              <a:t>req,tmp</a:t>
            </a:r>
            <a:r>
              <a:rPr lang="en-US" altLang="zh-CN" sz="1800" dirty="0">
                <a:latin typeface="+mn-lt"/>
              </a:rPr>
              <a:t>-&gt;next</a:t>
            </a:r>
            <a:r>
              <a:rPr lang="en-US" altLang="zh-CN" sz="1800" dirty="0" smtClean="0">
                <a:latin typeface="+mn-lt"/>
              </a:rPr>
              <a:t>)    )</a:t>
            </a:r>
            <a:endParaRPr lang="en-US" altLang="zh-CN" sz="1800" dirty="0"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+mn-lt"/>
              </a:rPr>
              <a:t>            break; </a:t>
            </a:r>
            <a:r>
              <a:rPr lang="en-US" altLang="zh-CN" sz="1800" dirty="0" smtClean="0">
                <a:latin typeface="+mn-lt"/>
              </a:rPr>
              <a:t>  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dirty="0"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+mn-lt"/>
              </a:rPr>
              <a:t>    // </a:t>
            </a:r>
            <a:r>
              <a:rPr lang="zh-CN" altLang="en-US" sz="1800" dirty="0">
                <a:latin typeface="+mn-lt"/>
              </a:rPr>
              <a:t>将请求插入</a:t>
            </a:r>
            <a:r>
              <a:rPr lang="en-US" altLang="zh-CN" sz="1800" dirty="0" err="1">
                <a:latin typeface="+mn-lt"/>
              </a:rPr>
              <a:t>tmp</a:t>
            </a:r>
            <a:r>
              <a:rPr lang="zh-CN" altLang="en-US" sz="1800" dirty="0">
                <a:latin typeface="+mn-lt"/>
              </a:rPr>
              <a:t>之后。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latin typeface="+mn-lt"/>
              </a:rPr>
              <a:t>    </a:t>
            </a:r>
            <a:r>
              <a:rPr lang="en-US" altLang="zh-CN" sz="1800" dirty="0" err="1">
                <a:latin typeface="+mn-lt"/>
              </a:rPr>
              <a:t>req</a:t>
            </a:r>
            <a:r>
              <a:rPr lang="en-US" altLang="zh-CN" sz="1800" dirty="0">
                <a:latin typeface="+mn-lt"/>
              </a:rPr>
              <a:t>-&gt;next=</a:t>
            </a:r>
            <a:r>
              <a:rPr lang="en-US" altLang="zh-CN" sz="1800" dirty="0" err="1">
                <a:latin typeface="+mn-lt"/>
              </a:rPr>
              <a:t>tmp</a:t>
            </a:r>
            <a:r>
              <a:rPr lang="en-US" altLang="zh-CN" sz="1800" dirty="0">
                <a:latin typeface="+mn-lt"/>
              </a:rPr>
              <a:t>-&gt;next;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+mn-lt"/>
              </a:rPr>
              <a:t>    </a:t>
            </a:r>
            <a:r>
              <a:rPr lang="en-US" altLang="zh-CN" sz="1800" dirty="0" err="1">
                <a:latin typeface="+mn-lt"/>
              </a:rPr>
              <a:t>tmp</a:t>
            </a:r>
            <a:r>
              <a:rPr lang="en-US" altLang="zh-CN" sz="1800" dirty="0">
                <a:latin typeface="+mn-lt"/>
              </a:rPr>
              <a:t>-&gt;next=</a:t>
            </a:r>
            <a:r>
              <a:rPr lang="en-US" altLang="zh-CN" sz="1800" dirty="0" err="1">
                <a:latin typeface="+mn-lt"/>
              </a:rPr>
              <a:t>req</a:t>
            </a:r>
            <a:r>
              <a:rPr lang="en-US" altLang="zh-CN" sz="1800" dirty="0">
                <a:latin typeface="+mn-lt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+mn-lt"/>
              </a:rPr>
              <a:t>    </a:t>
            </a:r>
            <a:r>
              <a:rPr lang="en-US" altLang="zh-CN" sz="1800" dirty="0" err="1">
                <a:latin typeface="+mn-lt"/>
              </a:rPr>
              <a:t>sti</a:t>
            </a:r>
            <a:r>
              <a:rPr lang="en-US" altLang="zh-CN" sz="1800" dirty="0" smtClean="0">
                <a:latin typeface="+mn-lt"/>
              </a:rPr>
              <a:t>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 smtClean="0">
                <a:latin typeface="+mn-lt"/>
              </a:rPr>
              <a:t>}</a:t>
            </a:r>
            <a:endParaRPr lang="en-US" altLang="zh-CN" sz="1800" dirty="0">
              <a:latin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5181600"/>
            <a:ext cx="9372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1800" dirty="0" smtClean="0">
                <a:latin typeface="+mn-lt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+mn-lt"/>
              </a:rPr>
              <a:t>IN_ORDER</a:t>
            </a:r>
            <a:r>
              <a:rPr lang="en-US" altLang="zh-CN" sz="1800" dirty="0">
                <a:latin typeface="+mn-lt"/>
              </a:rPr>
              <a:t>(</a:t>
            </a:r>
            <a:r>
              <a:rPr lang="en-US" altLang="zh-CN" sz="1800" dirty="0" err="1">
                <a:latin typeface="+mn-lt"/>
              </a:rPr>
              <a:t>tmp,req</a:t>
            </a:r>
            <a:r>
              <a:rPr lang="en-US" altLang="zh-CN" sz="1800" dirty="0">
                <a:latin typeface="+mn-lt"/>
              </a:rPr>
              <a:t>) </a:t>
            </a:r>
            <a:r>
              <a:rPr lang="en-US" altLang="zh-CN" sz="1800" dirty="0" smtClean="0">
                <a:latin typeface="+mn-lt"/>
              </a:rPr>
              <a:t>&amp;&amp; </a:t>
            </a:r>
            <a:r>
              <a:rPr lang="en-US" altLang="zh-CN" sz="1800" dirty="0">
                <a:solidFill>
                  <a:srgbClr val="C00000"/>
                </a:solidFill>
                <a:latin typeface="+mn-lt"/>
              </a:rPr>
              <a:t>IN_ORDER</a:t>
            </a:r>
            <a:r>
              <a:rPr lang="en-US" altLang="zh-CN" sz="1800" dirty="0">
                <a:latin typeface="+mn-lt"/>
              </a:rPr>
              <a:t>(</a:t>
            </a:r>
            <a:r>
              <a:rPr lang="en-US" altLang="zh-CN" sz="1800" dirty="0" err="1">
                <a:latin typeface="+mn-lt"/>
              </a:rPr>
              <a:t>req</a:t>
            </a:r>
            <a:r>
              <a:rPr lang="en-US" altLang="zh-CN" sz="1800" dirty="0" smtClean="0">
                <a:latin typeface="+mn-lt"/>
              </a:rPr>
              <a:t>, </a:t>
            </a:r>
            <a:r>
              <a:rPr lang="en-US" altLang="zh-CN" sz="1800" dirty="0" err="1" smtClean="0">
                <a:latin typeface="+mn-lt"/>
              </a:rPr>
              <a:t>tmp</a:t>
            </a:r>
            <a:r>
              <a:rPr lang="en-US" altLang="zh-CN" sz="1800" dirty="0" smtClean="0">
                <a:latin typeface="+mn-lt"/>
              </a:rPr>
              <a:t>-</a:t>
            </a:r>
            <a:r>
              <a:rPr lang="en-US" altLang="zh-CN" sz="1800" dirty="0">
                <a:latin typeface="+mn-lt"/>
              </a:rPr>
              <a:t>&gt;</a:t>
            </a:r>
            <a:r>
              <a:rPr lang="en-US" altLang="zh-CN" sz="1800" dirty="0" smtClean="0">
                <a:latin typeface="+mn-lt"/>
              </a:rPr>
              <a:t>next )   </a:t>
            </a:r>
            <a:r>
              <a:rPr lang="en-US" altLang="zh-CN" sz="1800" dirty="0" smtClean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→</a:t>
            </a:r>
            <a:r>
              <a:rPr lang="en-US" altLang="zh-CN" sz="1800" dirty="0" smtClean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1800" dirty="0" err="1" smtClean="0">
                <a:solidFill>
                  <a:srgbClr val="C00000"/>
                </a:solidFill>
                <a:latin typeface="+mn-lt"/>
              </a:rPr>
              <a:t>tmp</a:t>
            </a:r>
            <a:r>
              <a:rPr lang="en-US" altLang="zh-CN" sz="1800" dirty="0" smtClean="0">
                <a:solidFill>
                  <a:srgbClr val="00B050"/>
                </a:solidFill>
                <a:latin typeface="+mn-lt"/>
              </a:rPr>
              <a:t>&lt;</a:t>
            </a:r>
            <a:r>
              <a:rPr lang="en-US" altLang="zh-CN" sz="1800" dirty="0" err="1" smtClean="0">
                <a:solidFill>
                  <a:srgbClr val="00B050"/>
                </a:solidFill>
                <a:latin typeface="+mn-lt"/>
              </a:rPr>
              <a:t>req</a:t>
            </a:r>
            <a:r>
              <a:rPr lang="en-US" altLang="zh-CN" sz="1800" dirty="0" smtClean="0">
                <a:solidFill>
                  <a:srgbClr val="C00000"/>
                </a:solidFill>
                <a:latin typeface="+mn-lt"/>
              </a:rPr>
              <a:t>&lt;</a:t>
            </a:r>
            <a:r>
              <a:rPr lang="en-US" altLang="zh-CN" sz="1800" dirty="0">
                <a:solidFill>
                  <a:srgbClr val="C00000"/>
                </a:solidFill>
                <a:latin typeface="+mn-lt"/>
              </a:rPr>
              <a:t> </a:t>
            </a:r>
            <a:r>
              <a:rPr lang="en-US" altLang="zh-CN" sz="1800" dirty="0" err="1">
                <a:solidFill>
                  <a:srgbClr val="C00000"/>
                </a:solidFill>
                <a:latin typeface="+mn-lt"/>
              </a:rPr>
              <a:t>tmp</a:t>
            </a:r>
            <a:r>
              <a:rPr lang="en-US" altLang="zh-CN" sz="1800" dirty="0">
                <a:solidFill>
                  <a:srgbClr val="C00000"/>
                </a:solidFill>
                <a:latin typeface="+mn-lt"/>
              </a:rPr>
              <a:t>-&gt;next </a:t>
            </a:r>
            <a:endParaRPr lang="en-US" altLang="zh-CN" sz="1800" dirty="0" smtClean="0">
              <a:solidFill>
                <a:srgbClr val="C00000"/>
              </a:solidFill>
              <a:latin typeface="+mn-lt"/>
            </a:endParaRPr>
          </a:p>
          <a:p>
            <a:pPr eaLnBrk="1" hangingPunct="1"/>
            <a:r>
              <a:rPr lang="en-US" altLang="zh-CN" sz="1800" dirty="0" smtClean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1800" dirty="0">
                <a:solidFill>
                  <a:srgbClr val="00B050"/>
                </a:solidFill>
                <a:latin typeface="+mn-lt"/>
              </a:rPr>
              <a:t>|| </a:t>
            </a:r>
            <a:endParaRPr lang="en-US" altLang="zh-CN" sz="1800" dirty="0" smtClean="0">
              <a:solidFill>
                <a:srgbClr val="00B050"/>
              </a:solidFill>
              <a:latin typeface="+mn-lt"/>
            </a:endParaRPr>
          </a:p>
          <a:p>
            <a:pPr eaLnBrk="1" hangingPunct="1"/>
            <a:r>
              <a:rPr lang="en-US" altLang="zh-CN" sz="1800" dirty="0" smtClean="0">
                <a:latin typeface="+mn-lt"/>
              </a:rPr>
              <a:t> </a:t>
            </a:r>
            <a:r>
              <a:rPr lang="en-US" altLang="zh-CN" sz="1800" dirty="0" smtClean="0">
                <a:solidFill>
                  <a:srgbClr val="C00000"/>
                </a:solidFill>
                <a:latin typeface="+mn-lt"/>
              </a:rPr>
              <a:t>IN_ORDER</a:t>
            </a:r>
            <a:r>
              <a:rPr lang="en-US" altLang="zh-CN" sz="1800" dirty="0" smtClean="0">
                <a:latin typeface="+mn-lt"/>
              </a:rPr>
              <a:t>(</a:t>
            </a:r>
            <a:r>
              <a:rPr lang="en-US" altLang="zh-CN" sz="1800" dirty="0" err="1" smtClean="0">
                <a:latin typeface="+mn-lt"/>
              </a:rPr>
              <a:t>tmp</a:t>
            </a:r>
            <a:r>
              <a:rPr lang="en-US" altLang="zh-CN" sz="1800" dirty="0" smtClean="0">
                <a:latin typeface="+mn-lt"/>
              </a:rPr>
              <a:t>-</a:t>
            </a:r>
            <a:r>
              <a:rPr lang="en-US" altLang="zh-CN" sz="1800" dirty="0">
                <a:latin typeface="+mn-lt"/>
              </a:rPr>
              <a:t>&gt;</a:t>
            </a:r>
            <a:r>
              <a:rPr lang="en-US" altLang="zh-CN" sz="1800" dirty="0" err="1" smtClean="0">
                <a:latin typeface="+mn-lt"/>
              </a:rPr>
              <a:t>next,tmp</a:t>
            </a:r>
            <a:r>
              <a:rPr lang="en-US" altLang="zh-CN" sz="1800" dirty="0" smtClean="0">
                <a:latin typeface="+mn-lt"/>
              </a:rPr>
              <a:t>) </a:t>
            </a:r>
            <a:r>
              <a:rPr lang="en-US" altLang="zh-CN" sz="1800" dirty="0">
                <a:latin typeface="+mn-lt"/>
              </a:rPr>
              <a:t>) </a:t>
            </a:r>
            <a:r>
              <a:rPr lang="en-US" altLang="zh-CN" sz="1800" dirty="0" smtClean="0">
                <a:latin typeface="+mn-lt"/>
              </a:rPr>
              <a:t>&amp;&amp; </a:t>
            </a:r>
            <a:r>
              <a:rPr lang="en-US" altLang="zh-CN" sz="1800" dirty="0" smtClean="0">
                <a:solidFill>
                  <a:srgbClr val="C00000"/>
                </a:solidFill>
                <a:latin typeface="+mn-lt"/>
              </a:rPr>
              <a:t>IN_ORDER</a:t>
            </a:r>
            <a:r>
              <a:rPr lang="en-US" altLang="zh-CN" sz="1800" dirty="0" smtClean="0">
                <a:latin typeface="+mn-lt"/>
              </a:rPr>
              <a:t>(</a:t>
            </a:r>
            <a:r>
              <a:rPr lang="en-US" altLang="zh-CN" sz="1800" dirty="0" err="1" smtClean="0">
                <a:latin typeface="+mn-lt"/>
              </a:rPr>
              <a:t>req,tmp</a:t>
            </a:r>
            <a:r>
              <a:rPr lang="en-US" altLang="zh-CN" sz="1800" dirty="0" smtClean="0">
                <a:latin typeface="+mn-lt"/>
              </a:rPr>
              <a:t>-</a:t>
            </a:r>
            <a:r>
              <a:rPr lang="en-US" altLang="zh-CN" sz="1800" dirty="0">
                <a:latin typeface="+mn-lt"/>
              </a:rPr>
              <a:t>&gt;next) </a:t>
            </a:r>
            <a:r>
              <a:rPr lang="en-US" altLang="zh-CN" sz="1800" dirty="0">
                <a:solidFill>
                  <a:srgbClr val="00B050"/>
                </a:solidFill>
                <a:latin typeface="+mn-lt"/>
                <a:cs typeface="Times New Roman" panose="02020603050405020304" pitchFamily="18" charset="0"/>
              </a:rPr>
              <a:t>→</a:t>
            </a:r>
            <a:r>
              <a:rPr lang="en-US" altLang="zh-CN" sz="1800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1800" dirty="0" err="1" smtClean="0">
                <a:solidFill>
                  <a:srgbClr val="00B050"/>
                </a:solidFill>
                <a:latin typeface="+mn-lt"/>
              </a:rPr>
              <a:t>req</a:t>
            </a:r>
            <a:r>
              <a:rPr lang="en-US" altLang="zh-CN" sz="1800" dirty="0">
                <a:solidFill>
                  <a:srgbClr val="00B050"/>
                </a:solidFill>
                <a:latin typeface="+mn-lt"/>
              </a:rPr>
              <a:t>&lt; </a:t>
            </a:r>
            <a:r>
              <a:rPr lang="en-US" altLang="zh-CN" sz="1800" dirty="0" err="1">
                <a:solidFill>
                  <a:srgbClr val="C00000"/>
                </a:solidFill>
                <a:latin typeface="+mn-lt"/>
              </a:rPr>
              <a:t>tmp</a:t>
            </a:r>
            <a:r>
              <a:rPr lang="en-US" altLang="zh-CN" sz="1800" dirty="0">
                <a:solidFill>
                  <a:srgbClr val="C00000"/>
                </a:solidFill>
                <a:latin typeface="+mn-lt"/>
              </a:rPr>
              <a:t>-&gt;</a:t>
            </a:r>
            <a:r>
              <a:rPr lang="en-US" altLang="zh-CN" sz="1800" dirty="0" smtClean="0">
                <a:solidFill>
                  <a:srgbClr val="C00000"/>
                </a:solidFill>
                <a:latin typeface="+mn-lt"/>
              </a:rPr>
              <a:t>next</a:t>
            </a:r>
            <a:r>
              <a:rPr lang="en-US" altLang="zh-CN" sz="1800" dirty="0" smtClean="0">
                <a:solidFill>
                  <a:srgbClr val="00B050"/>
                </a:solidFill>
                <a:latin typeface="+mn-lt"/>
              </a:rPr>
              <a:t>&lt;</a:t>
            </a:r>
            <a:r>
              <a:rPr lang="en-US" altLang="zh-CN" sz="1800" dirty="0" err="1" smtClean="0">
                <a:solidFill>
                  <a:srgbClr val="C00000"/>
                </a:solidFill>
                <a:latin typeface="+mn-lt"/>
              </a:rPr>
              <a:t>tmp</a:t>
            </a:r>
            <a:r>
              <a:rPr lang="en-US" altLang="zh-CN" sz="1800" dirty="0" smtClean="0">
                <a:latin typeface="+mn-lt"/>
              </a:rPr>
              <a:t> </a:t>
            </a:r>
            <a:endParaRPr lang="en-US" altLang="zh-CN" sz="1800" dirty="0">
              <a:latin typeface="+mn-lt"/>
            </a:endParaRPr>
          </a:p>
        </p:txBody>
      </p: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3733801" y="3276600"/>
            <a:ext cx="2571724" cy="1752600"/>
            <a:chOff x="5429250" y="4371975"/>
            <a:chExt cx="2800350" cy="1826271"/>
          </a:xfrm>
        </p:grpSpPr>
        <p:cxnSp>
          <p:nvCxnSpPr>
            <p:cNvPr id="8" name="直接连接符 4"/>
            <p:cNvCxnSpPr>
              <a:cxnSpLocks noChangeShapeType="1"/>
            </p:cNvCxnSpPr>
            <p:nvPr/>
          </p:nvCxnSpPr>
          <p:spPr bwMode="auto">
            <a:xfrm flipV="1">
              <a:off x="7017016" y="5446266"/>
              <a:ext cx="664848" cy="656551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6"/>
            <p:cNvCxnSpPr>
              <a:cxnSpLocks noChangeShapeType="1"/>
            </p:cNvCxnSpPr>
            <p:nvPr/>
          </p:nvCxnSpPr>
          <p:spPr bwMode="auto">
            <a:xfrm flipH="1">
              <a:off x="5626702" y="4437063"/>
              <a:ext cx="945548" cy="95969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箭头连接符 9"/>
            <p:cNvCxnSpPr>
              <a:cxnSpLocks noChangeShapeType="1"/>
            </p:cNvCxnSpPr>
            <p:nvPr/>
          </p:nvCxnSpPr>
          <p:spPr bwMode="auto">
            <a:xfrm flipV="1">
              <a:off x="5429250" y="6159124"/>
              <a:ext cx="2800350" cy="38476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" name="直接箭头连接符 11"/>
            <p:cNvCxnSpPr>
              <a:cxnSpLocks noChangeShapeType="1"/>
            </p:cNvCxnSpPr>
            <p:nvPr/>
          </p:nvCxnSpPr>
          <p:spPr bwMode="auto">
            <a:xfrm flipV="1">
              <a:off x="5429250" y="4371975"/>
              <a:ext cx="0" cy="1825625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12"/>
            <p:cNvCxnSpPr/>
            <p:nvPr/>
          </p:nvCxnSpPr>
          <p:spPr bwMode="auto">
            <a:xfrm>
              <a:off x="6552922" y="4448625"/>
              <a:ext cx="0" cy="1749621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 bwMode="auto">
            <a:xfrm>
              <a:off x="5479905" y="5396754"/>
              <a:ext cx="2267712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  <a:ex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24" y="3219797"/>
            <a:ext cx="2686076" cy="186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54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24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02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24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操作系统中的进程、内存、文件系统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8975" y="1493838"/>
            <a:ext cx="7921625" cy="4525962"/>
          </a:xfrm>
        </p:spPr>
        <p:txBody>
          <a:bodyPr/>
          <a:lstStyle/>
          <a:p>
            <a:r>
              <a:rPr lang="zh-CN" altLang="en-US" dirty="0" smtClean="0"/>
              <a:t>进程带动内存的使用与管理，进程的段页内存使用、部分加载、按需调页、换入换出。</a:t>
            </a:r>
            <a:endParaRPr lang="en-US" altLang="zh-CN" dirty="0" smtClean="0"/>
          </a:p>
          <a:p>
            <a:r>
              <a:rPr lang="zh-CN" altLang="en-US" dirty="0" smtClean="0"/>
              <a:t>文件系统支撑进程本身的创建、按需调页、换入换出以，以及进程对各类文件的使用。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942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操作系统的地位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indent="0" algn="ctr">
              <a:buNone/>
            </a:pPr>
            <a:endParaRPr lang="en-US" altLang="zh-CN" dirty="0" smtClean="0"/>
          </a:p>
          <a:p>
            <a:pPr marL="0" indent="0" algn="ctr">
              <a:buNone/>
            </a:pPr>
            <a:r>
              <a:rPr lang="zh-CN" altLang="en-US" sz="4000" dirty="0" smtClean="0">
                <a:solidFill>
                  <a:srgbClr val="0033CC"/>
                </a:solidFill>
              </a:rPr>
              <a:t>操作系统</a:t>
            </a:r>
            <a:r>
              <a:rPr lang="zh-CN" altLang="en-US" sz="4000" dirty="0" smtClean="0">
                <a:solidFill>
                  <a:srgbClr val="FF0000"/>
                </a:solidFill>
              </a:rPr>
              <a:t>让你对</a:t>
            </a:r>
            <a:r>
              <a:rPr lang="zh-CN" altLang="en-US" sz="4000" dirty="0" smtClean="0">
                <a:solidFill>
                  <a:srgbClr val="0033CC"/>
                </a:solidFill>
              </a:rPr>
              <a:t>组成原理、汇编语言、</a:t>
            </a:r>
            <a:r>
              <a:rPr lang="en-US" altLang="zh-CN" sz="4000" dirty="0" smtClean="0">
                <a:solidFill>
                  <a:srgbClr val="0033CC"/>
                </a:solidFill>
              </a:rPr>
              <a:t>C</a:t>
            </a:r>
            <a:r>
              <a:rPr lang="zh-CN" altLang="en-US" sz="4000" dirty="0" smtClean="0">
                <a:solidFill>
                  <a:srgbClr val="0033CC"/>
                </a:solidFill>
              </a:rPr>
              <a:t>语言、数据结构与算法、编译原理</a:t>
            </a:r>
            <a:r>
              <a:rPr lang="zh-CN" altLang="en-US" sz="4000" dirty="0" smtClean="0">
                <a:solidFill>
                  <a:srgbClr val="FF0000"/>
                </a:solidFill>
              </a:rPr>
              <a:t>有一个综合运用的机会</a:t>
            </a:r>
            <a:endParaRPr lang="en-US" altLang="zh-CN" sz="40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492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>
                <a:solidFill>
                  <a:srgbClr val="FF0000"/>
                </a:solidFill>
              </a:rPr>
              <a:t>作业和报告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1</a:t>
            </a:r>
            <a:r>
              <a:rPr lang="zh-CN" altLang="en-US" dirty="0" smtClean="0"/>
              <a:t>、第一次作业，多线程编程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、第二次作业，文件系统分析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结课论文</a:t>
            </a:r>
            <a:r>
              <a:rPr lang="zh-CN" altLang="en-US" dirty="0"/>
              <a:t>，针对操作系统容器，多核调度，搜索不少于</a:t>
            </a:r>
            <a:r>
              <a:rPr lang="en-US" altLang="zh-CN" dirty="0"/>
              <a:t>3</a:t>
            </a:r>
            <a:r>
              <a:rPr lang="zh-CN" altLang="en-US" dirty="0"/>
              <a:t>篇论文 ，并撰写一个不少于</a:t>
            </a:r>
            <a:r>
              <a:rPr lang="en-US" altLang="zh-CN" dirty="0"/>
              <a:t>3000</a:t>
            </a:r>
            <a:r>
              <a:rPr lang="zh-CN" altLang="en-US" dirty="0"/>
              <a:t>字小论文。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3460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umingcheng">
  <a:themeElements>
    <a:clrScheme name="1_OS-Lizhiju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1_OS-Lizhiju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S-Lizhiju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S-Lizhiju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OS-Lizhijun</Template>
  <TotalTime>11882</TotalTime>
  <Words>7218</Words>
  <Application>Microsoft Office PowerPoint</Application>
  <PresentationFormat>全屏显示(4:3)</PresentationFormat>
  <Paragraphs>704</Paragraphs>
  <Slides>68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85" baseType="lpstr">
      <vt:lpstr>ＭＳ Ｐゴシック</vt:lpstr>
      <vt:lpstr>黑体</vt:lpstr>
      <vt:lpstr>华文琥珀</vt:lpstr>
      <vt:lpstr>楷体_GB2312</vt:lpstr>
      <vt:lpstr>宋体</vt:lpstr>
      <vt:lpstr>微软雅黑</vt:lpstr>
      <vt:lpstr>Arial</vt:lpstr>
      <vt:lpstr>Arial Black</vt:lpstr>
      <vt:lpstr>Calibri</vt:lpstr>
      <vt:lpstr>Comic Sans MS</vt:lpstr>
      <vt:lpstr>Helvetica</vt:lpstr>
      <vt:lpstr>Symbol</vt:lpstr>
      <vt:lpstr>Times New Roman</vt:lpstr>
      <vt:lpstr>Verdana</vt:lpstr>
      <vt:lpstr>Webdings</vt:lpstr>
      <vt:lpstr>Wingdings</vt:lpstr>
      <vt:lpstr>qumingcheng</vt:lpstr>
      <vt:lpstr>PowerPoint 演示文稿</vt:lpstr>
      <vt:lpstr>第13章 操作系统实例分析</vt:lpstr>
      <vt:lpstr>思考几个小问题</vt:lpstr>
      <vt:lpstr>大纲</vt:lpstr>
      <vt:lpstr>PCB中的关键元素</vt:lpstr>
      <vt:lpstr>重新分析进程控制块PCB</vt:lpstr>
      <vt:lpstr>重新分析进程控制块PCB</vt:lpstr>
      <vt:lpstr>重新分析进程控制块PCB</vt:lpstr>
      <vt:lpstr>fork创建一个进程的过程</vt:lpstr>
      <vt:lpstr>MINIX文件系统中针对inode的结构</vt:lpstr>
      <vt:lpstr>Linux0.11进程与文件的连接</vt:lpstr>
      <vt:lpstr>进程打开文件时数据结构的建立</vt:lpstr>
      <vt:lpstr>进程打开文件时数据结构的建立</vt:lpstr>
      <vt:lpstr>进程打开文件时数据结构的建立</vt:lpstr>
      <vt:lpstr>进程打开文件时数据结构的建立</vt:lpstr>
      <vt:lpstr>进程打开文件时数据结构的建立</vt:lpstr>
      <vt:lpstr>a.out可执行文件及文件头分析</vt:lpstr>
      <vt:lpstr>Linux0.11中a.out可执行文件及文件头分析</vt:lpstr>
      <vt:lpstr>a.out可执行文件及文件头分析</vt:lpstr>
      <vt:lpstr>a.out可执行文件及文件头分析</vt:lpstr>
      <vt:lpstr>a.out可执行文件及文件头分析</vt:lpstr>
      <vt:lpstr>a.out可执行文件及文件头分析</vt:lpstr>
      <vt:lpstr>创建一个与父进程不同的子进程</vt:lpstr>
      <vt:lpstr>do_execve过程分析</vt:lpstr>
      <vt:lpstr>do_execve过程分析</vt:lpstr>
      <vt:lpstr>do_execve分析</vt:lpstr>
      <vt:lpstr>do_execve过程分析--参数传递</vt:lpstr>
      <vt:lpstr>do_execve过程分析--参数传递</vt:lpstr>
      <vt:lpstr>do_execve过程分析—i节点</vt:lpstr>
      <vt:lpstr>do_execve过程分析—权限检测</vt:lpstr>
      <vt:lpstr>do_execve过程分析—权限检测</vt:lpstr>
      <vt:lpstr>do_execve过程分析—文件头</vt:lpstr>
      <vt:lpstr>do_execve过程分析—合法性检测</vt:lpstr>
      <vt:lpstr>do_execve过程分析—挂接与复位</vt:lpstr>
      <vt:lpstr>do_execve过程分析—旧页表操作</vt:lpstr>
      <vt:lpstr>do_execve过程分析—段设置（限长）</vt:lpstr>
      <vt:lpstr>do_execve过程分析—入口地址</vt:lpstr>
      <vt:lpstr>回顾：如何记录页是否在内存？</vt:lpstr>
      <vt:lpstr>请求调页过程</vt:lpstr>
      <vt:lpstr>请求调页过程-- do_no_page</vt:lpstr>
      <vt:lpstr>请求调页过程-- do_no_page</vt:lpstr>
      <vt:lpstr>请求调页过程-- do_no_page</vt:lpstr>
      <vt:lpstr>PowerPoint 演示文稿</vt:lpstr>
      <vt:lpstr>PowerPoint 演示文稿</vt:lpstr>
      <vt:lpstr>请求调页过程-- do_no_page</vt:lpstr>
      <vt:lpstr>请求调页过程--bread_page</vt:lpstr>
      <vt:lpstr>bread_page与bread</vt:lpstr>
      <vt:lpstr>请求调页过程-- do_no_page</vt:lpstr>
      <vt:lpstr>请求调页过程-- put_page</vt:lpstr>
      <vt:lpstr>将一个可执行文件变成进程？</vt:lpstr>
      <vt:lpstr>基于缓冲区的磁盘访问</vt:lpstr>
      <vt:lpstr>基于缓冲区的磁盘访问</vt:lpstr>
      <vt:lpstr>基于缓冲区的磁盘访问</vt:lpstr>
      <vt:lpstr>基于缓冲区的磁盘访问</vt:lpstr>
      <vt:lpstr>bread_page与bread</vt:lpstr>
      <vt:lpstr>基于缓冲区的磁盘访问</vt:lpstr>
      <vt:lpstr>基于缓冲区的磁盘访问</vt:lpstr>
      <vt:lpstr>基于缓冲区的磁盘访问</vt:lpstr>
      <vt:lpstr>基于缓冲区的磁盘访问</vt:lpstr>
      <vt:lpstr>基于缓冲区的磁盘访问</vt:lpstr>
      <vt:lpstr>基于缓冲区的磁盘访问</vt:lpstr>
      <vt:lpstr>回顾：C-LOOK磁盘调度</vt:lpstr>
      <vt:lpstr>磁盘访问调度</vt:lpstr>
      <vt:lpstr>磁盘访问调度</vt:lpstr>
      <vt:lpstr>磁盘访问调度</vt:lpstr>
      <vt:lpstr>操作系统中的进程、内存、文件系统</vt:lpstr>
      <vt:lpstr>操作系统的地位</vt:lpstr>
      <vt:lpstr>作业和报告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fgx</dc:creator>
  <cp:lastModifiedBy>曲先生</cp:lastModifiedBy>
  <cp:revision>2281</cp:revision>
  <cp:lastPrinted>1601-01-01T00:00:00Z</cp:lastPrinted>
  <dcterms:created xsi:type="dcterms:W3CDTF">1601-01-01T00:00:00Z</dcterms:created>
  <dcterms:modified xsi:type="dcterms:W3CDTF">2022-06-08T01:45:10Z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