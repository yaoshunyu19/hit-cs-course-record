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4" r:id="rId1"/>
  </p:sldMasterIdLst>
  <p:notesMasterIdLst>
    <p:notesMasterId r:id="rId70"/>
  </p:notesMasterIdLst>
  <p:sldIdLst>
    <p:sldId id="394" r:id="rId2"/>
    <p:sldId id="447" r:id="rId3"/>
    <p:sldId id="427" r:id="rId4"/>
    <p:sldId id="434" r:id="rId5"/>
    <p:sldId id="437" r:id="rId6"/>
    <p:sldId id="429" r:id="rId7"/>
    <p:sldId id="430" r:id="rId8"/>
    <p:sldId id="431" r:id="rId9"/>
    <p:sldId id="438" r:id="rId10"/>
    <p:sldId id="432" r:id="rId11"/>
    <p:sldId id="398" r:id="rId12"/>
    <p:sldId id="374" r:id="rId13"/>
    <p:sldId id="377" r:id="rId14"/>
    <p:sldId id="379" r:id="rId15"/>
    <p:sldId id="294" r:id="rId16"/>
    <p:sldId id="401" r:id="rId17"/>
    <p:sldId id="403" r:id="rId18"/>
    <p:sldId id="375" r:id="rId19"/>
    <p:sldId id="405" r:id="rId20"/>
    <p:sldId id="441" r:id="rId21"/>
    <p:sldId id="406" r:id="rId22"/>
    <p:sldId id="442" r:id="rId23"/>
    <p:sldId id="407" r:id="rId24"/>
    <p:sldId id="408" r:id="rId25"/>
    <p:sldId id="409" r:id="rId26"/>
    <p:sldId id="443" r:id="rId27"/>
    <p:sldId id="413" r:id="rId28"/>
    <p:sldId id="411" r:id="rId29"/>
    <p:sldId id="417" r:id="rId30"/>
    <p:sldId id="410" r:id="rId31"/>
    <p:sldId id="412" r:id="rId32"/>
    <p:sldId id="444" r:id="rId33"/>
    <p:sldId id="416" r:id="rId34"/>
    <p:sldId id="418" r:id="rId35"/>
    <p:sldId id="440" r:id="rId36"/>
    <p:sldId id="414" r:id="rId37"/>
    <p:sldId id="415" r:id="rId38"/>
    <p:sldId id="478" r:id="rId39"/>
    <p:sldId id="448" r:id="rId40"/>
    <p:sldId id="453" r:id="rId41"/>
    <p:sldId id="484" r:id="rId42"/>
    <p:sldId id="479" r:id="rId43"/>
    <p:sldId id="480" r:id="rId44"/>
    <p:sldId id="454" r:id="rId45"/>
    <p:sldId id="465" r:id="rId46"/>
    <p:sldId id="481" r:id="rId47"/>
    <p:sldId id="467" r:id="rId48"/>
    <p:sldId id="466" r:id="rId49"/>
    <p:sldId id="459" r:id="rId50"/>
    <p:sldId id="486" r:id="rId51"/>
    <p:sldId id="460" r:id="rId52"/>
    <p:sldId id="461" r:id="rId53"/>
    <p:sldId id="457" r:id="rId54"/>
    <p:sldId id="449" r:id="rId55"/>
    <p:sldId id="468" r:id="rId56"/>
    <p:sldId id="482" r:id="rId57"/>
    <p:sldId id="483" r:id="rId58"/>
    <p:sldId id="404" r:id="rId59"/>
    <p:sldId id="462" r:id="rId60"/>
    <p:sldId id="463" r:id="rId61"/>
    <p:sldId id="471" r:id="rId62"/>
    <p:sldId id="472" r:id="rId63"/>
    <p:sldId id="473" r:id="rId64"/>
    <p:sldId id="475" r:id="rId65"/>
    <p:sldId id="476" r:id="rId66"/>
    <p:sldId id="485" r:id="rId67"/>
    <p:sldId id="389" r:id="rId68"/>
    <p:sldId id="445" r:id="rId69"/>
  </p:sldIdLst>
  <p:sldSz cx="9144000" cy="6858000" type="screen4x3"/>
  <p:notesSz cx="6858000" cy="9144000"/>
  <p:defaultTextStyle>
    <a:defPPr>
      <a:defRPr lang="zh-CN"/>
    </a:defPPr>
    <a:lvl1pPr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C0C0C0"/>
    <a:srgbClr val="EAEAEA"/>
    <a:srgbClr val="FFFFCC"/>
    <a:srgbClr val="F8F8F8"/>
    <a:srgbClr val="FF0000"/>
    <a:srgbClr val="993366"/>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309" autoAdjust="0"/>
    <p:restoredTop sz="94118" autoAdjust="0"/>
  </p:normalViewPr>
  <p:slideViewPr>
    <p:cSldViewPr>
      <p:cViewPr varScale="1">
        <p:scale>
          <a:sx n="70" d="100"/>
          <a:sy n="70" d="100"/>
        </p:scale>
        <p:origin x="91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35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Arial" charset="0"/>
              </a:defRPr>
            </a:lvl1pPr>
          </a:lstStyle>
          <a:p>
            <a:pPr>
              <a:defRPr/>
            </a:pPr>
            <a:endParaRPr lang="en-US" altLang="zh-CN"/>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pPr>
              <a:defRPr/>
            </a:pPr>
            <a:endParaRPr lang="en-US" altLang="zh-CN"/>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Arial" charset="0"/>
              </a:defRPr>
            </a:lvl1pPr>
          </a:lstStyle>
          <a:p>
            <a:pPr>
              <a:defRPr/>
            </a:pPr>
            <a:endParaRPr lang="en-US" altLang="zh-CN"/>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50DCCF22-28CD-4E22-97F5-A06FB81BDA8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a:ln/>
        </p:spPr>
      </p:sp>
      <p:sp>
        <p:nvSpPr>
          <p:cNvPr id="8195" name="备注占位符 2"/>
          <p:cNvSpPr>
            <a:spLocks noGrp="1"/>
          </p:cNvSpPr>
          <p:nvPr>
            <p:ph type="body" idx="1"/>
          </p:nvPr>
        </p:nvSpPr>
        <p:spPr>
          <a:noFill/>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smtClean="0"/>
              <a:t>吞吐量是</a:t>
            </a:r>
            <a:r>
              <a:rPr lang="zh-CN" altLang="en-US" smtClean="0">
                <a:latin typeface="Arial" panose="020B0604020202020204" pitchFamily="34" charset="0"/>
              </a:rPr>
              <a:t>单位</a:t>
            </a:r>
            <a:r>
              <a:rPr lang="zh-CN" altLang="en-US" dirty="0" smtClean="0">
                <a:latin typeface="Arial" panose="020B0604020202020204" pitchFamily="34" charset="0"/>
              </a:rPr>
              <a:t>时间完成运算的数量</a:t>
            </a:r>
            <a:endParaRPr lang="en-US" altLang="zh-CN" dirty="0" smtClean="0">
              <a:latin typeface="Arial" panose="020B0604020202020204" pitchFamily="34" charset="0"/>
            </a:endParaRPr>
          </a:p>
          <a:p>
            <a:r>
              <a:rPr lang="zh-CN" altLang="en-US" dirty="0" smtClean="0">
                <a:latin typeface="Arial" panose="020B0604020202020204" pitchFamily="34" charset="0"/>
              </a:rPr>
              <a:t>响应时间针对需要交互的进程，从外部输入产生到进程对输入做出处理的时间。</a:t>
            </a:r>
            <a:br>
              <a:rPr lang="zh-CN" altLang="en-US" dirty="0" smtClean="0">
                <a:latin typeface="Arial" panose="020B0604020202020204" pitchFamily="34" charset="0"/>
              </a:rPr>
            </a:br>
            <a:r>
              <a:rPr lang="zh-CN" altLang="en-US" dirty="0" smtClean="0">
                <a:latin typeface="Arial" panose="020B0604020202020204" pitchFamily="34" charset="0"/>
              </a:rPr>
              <a:t>周转时间是指进程提交给（创建）操作系统，到执行完毕的时间。</a:t>
            </a:r>
            <a:br>
              <a:rPr lang="zh-CN" altLang="en-US" dirty="0" smtClean="0">
                <a:latin typeface="Arial" panose="020B0604020202020204" pitchFamily="34" charset="0"/>
              </a:rPr>
            </a:br>
            <a:r>
              <a:rPr lang="zh-CN" altLang="en-US" dirty="0" smtClean="0">
                <a:latin typeface="Arial" panose="020B0604020202020204" pitchFamily="34" charset="0"/>
              </a:rPr>
              <a:t>等待时间是进程从开始到结束在就绪队列中的时间 </a:t>
            </a:r>
          </a:p>
          <a:p>
            <a:endParaRPr lang="zh-CN" altLang="en-US" dirty="0" smtClean="0">
              <a:latin typeface="Arial" panose="020B0604020202020204" pitchFamily="34" charset="0"/>
            </a:endParaRPr>
          </a:p>
        </p:txBody>
      </p:sp>
      <p:sp>
        <p:nvSpPr>
          <p:cNvPr id="8196"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02951B8-2AE8-443B-AC90-9ECA9E5CF505}" type="slidenum">
              <a:rPr lang="en-US" altLang="zh-CN" sz="1200" b="0" smtClean="0"/>
              <a:pPr/>
              <a:t>3</a:t>
            </a:fld>
            <a:endParaRPr lang="en-US" altLang="zh-CN" sz="1200" b="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TextEdit="1"/>
          </p:cNvSpPr>
          <p:nvPr>
            <p:ph type="sldImg"/>
          </p:nvPr>
        </p:nvSpPr>
        <p:spPr>
          <a:ln/>
        </p:spPr>
      </p:sp>
      <p:sp>
        <p:nvSpPr>
          <p:cNvPr id="17411" name="备注占位符 2"/>
          <p:cNvSpPr>
            <a:spLocks noGrp="1"/>
          </p:cNvSpPr>
          <p:nvPr>
            <p:ph type="body" idx="1"/>
          </p:nvPr>
        </p:nvSpPr>
        <p:spPr>
          <a:noFill/>
        </p:spPr>
        <p:txBody>
          <a:bodyPr/>
          <a:lstStyle/>
          <a:p>
            <a:r>
              <a:rPr lang="zh-CN" altLang="en-US" smtClean="0">
                <a:latin typeface="Arial" panose="020B0604020202020204" pitchFamily="34" charset="0"/>
              </a:rPr>
              <a:t>购票、车要开了；银行业务、挂失；</a:t>
            </a:r>
            <a:endParaRPr lang="en-US" altLang="zh-CN" smtClean="0">
              <a:latin typeface="Arial" panose="020B0604020202020204" pitchFamily="34" charset="0"/>
            </a:endParaRPr>
          </a:p>
          <a:p>
            <a:r>
              <a:rPr lang="zh-CN" altLang="en-US" smtClean="0">
                <a:latin typeface="Arial" panose="020B0604020202020204" pitchFamily="34" charset="0"/>
              </a:rPr>
              <a:t>银行业务，</a:t>
            </a:r>
            <a:r>
              <a:rPr lang="en-US" altLang="zh-CN" smtClean="0">
                <a:latin typeface="Arial" panose="020B0604020202020204" pitchFamily="34" charset="0"/>
              </a:rPr>
              <a:t>VIP</a:t>
            </a:r>
          </a:p>
          <a:p>
            <a:r>
              <a:rPr lang="zh-CN" altLang="en-US" smtClean="0">
                <a:latin typeface="Arial" panose="020B0604020202020204" pitchFamily="34" charset="0"/>
              </a:rPr>
              <a:t>车站：紧急通道、军人优先，银行</a:t>
            </a:r>
            <a:r>
              <a:rPr lang="en-US" altLang="zh-CN" smtClean="0">
                <a:latin typeface="Arial" panose="020B0604020202020204" pitchFamily="34" charset="0"/>
              </a:rPr>
              <a:t>VIP</a:t>
            </a:r>
            <a:r>
              <a:rPr lang="zh-CN" altLang="en-US" smtClean="0">
                <a:latin typeface="Arial" panose="020B0604020202020204" pitchFamily="34" charset="0"/>
              </a:rPr>
              <a:t>，业务分类</a:t>
            </a:r>
          </a:p>
        </p:txBody>
      </p:sp>
      <p:sp>
        <p:nvSpPr>
          <p:cNvPr id="17412"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D889288C-6F2B-46EF-933D-6429B5C0BE64}" type="slidenum">
              <a:rPr lang="en-US" altLang="zh-CN" sz="1200" b="0" smtClean="0"/>
              <a:pPr/>
              <a:t>11</a:t>
            </a:fld>
            <a:endParaRPr lang="en-US" altLang="zh-CN" sz="1200" b="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2D389414-4C82-4D20-8F9E-869B7901E67D}" type="slidenum">
              <a:rPr lang="en-US" altLang="zh-CN" sz="1200" b="0" smtClean="0"/>
              <a:pPr/>
              <a:t>14</a:t>
            </a:fld>
            <a:endParaRPr lang="en-US" altLang="zh-CN" sz="1200" b="0"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r>
              <a:rPr lang="en-US" altLang="zh-CN" smtClean="0">
                <a:latin typeface="Arial" panose="020B0604020202020204" pitchFamily="34" charset="0"/>
              </a:rPr>
              <a:t>]]]</a:t>
            </a: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a:p>
            <a:pPr eaLnBrk="1" hangingPunct="1"/>
            <a:endParaRPr lang="en-US"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a:ln/>
        </p:spPr>
      </p:sp>
      <p:sp>
        <p:nvSpPr>
          <p:cNvPr id="36867" name="备注占位符 2"/>
          <p:cNvSpPr>
            <a:spLocks noGrp="1"/>
          </p:cNvSpPr>
          <p:nvPr>
            <p:ph type="body" idx="1"/>
          </p:nvPr>
        </p:nvSpPr>
        <p:spPr>
          <a:noFill/>
        </p:spPr>
        <p:txBody>
          <a:bodyPr/>
          <a:lstStyle/>
          <a:p>
            <a:r>
              <a:rPr lang="zh-CN" altLang="en-US" smtClean="0">
                <a:latin typeface="Arial" panose="020B0604020202020204" pitchFamily="34" charset="0"/>
              </a:rPr>
              <a:t>很多时候不知道任务的</a:t>
            </a:r>
            <a:r>
              <a:rPr lang="en-US" altLang="zh-CN" smtClean="0">
                <a:latin typeface="Arial" panose="020B0604020202020204" pitchFamily="34" charset="0"/>
              </a:rPr>
              <a:t>CPU</a:t>
            </a:r>
            <a:r>
              <a:rPr lang="zh-CN" altLang="en-US" smtClean="0">
                <a:latin typeface="Arial" panose="020B0604020202020204" pitchFamily="34" charset="0"/>
              </a:rPr>
              <a:t>区间</a:t>
            </a:r>
          </a:p>
        </p:txBody>
      </p:sp>
      <p:sp>
        <p:nvSpPr>
          <p:cNvPr id="36868"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B056601E-D43F-435E-9FD7-5C12EDFF8A64}" type="slidenum">
              <a:rPr lang="en-US" altLang="zh-CN" sz="1200" b="0" smtClean="0"/>
              <a:pPr/>
              <a:t>28</a:t>
            </a:fld>
            <a:endParaRPr lang="en-US" altLang="zh-CN" sz="1200" b="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ln/>
        </p:spPr>
      </p:sp>
      <p:sp>
        <p:nvSpPr>
          <p:cNvPr id="44035" name="备注占位符 2"/>
          <p:cNvSpPr>
            <a:spLocks noGrp="1"/>
          </p:cNvSpPr>
          <p:nvPr>
            <p:ph type="body" idx="1"/>
          </p:nvPr>
        </p:nvSpPr>
        <p:spPr>
          <a:noFill/>
        </p:spPr>
        <p:txBody>
          <a:bodyPr/>
          <a:lstStyle/>
          <a:p>
            <a:r>
              <a:rPr lang="zh-CN" altLang="en-US" smtClean="0">
                <a:latin typeface="Arial" panose="020B0604020202020204" pitchFamily="34" charset="0"/>
              </a:rPr>
              <a:t>实时系统：中断响应时间、任务调度时间、上下文切换时间。</a:t>
            </a:r>
            <a:endParaRPr lang="en-US" altLang="zh-CN" smtClean="0">
              <a:latin typeface="Arial" panose="020B0604020202020204" pitchFamily="34" charset="0"/>
            </a:endParaRPr>
          </a:p>
          <a:p>
            <a:r>
              <a:rPr lang="zh-CN" altLang="en-US" smtClean="0">
                <a:latin typeface="Arial" panose="020B0604020202020204" pitchFamily="34" charset="0"/>
              </a:rPr>
              <a:t>实时：</a:t>
            </a:r>
            <a:r>
              <a:rPr lang="en-US" altLang="zh-CN" smtClean="0">
                <a:latin typeface="Arial" panose="020B0604020202020204" pitchFamily="34" charset="0"/>
              </a:rPr>
              <a:t>1/1000/1/60,</a:t>
            </a:r>
            <a:r>
              <a:rPr lang="zh-CN" altLang="en-US" smtClean="0">
                <a:latin typeface="Arial" panose="020B0604020202020204" pitchFamily="34" charset="0"/>
              </a:rPr>
              <a:t>切换代价</a:t>
            </a:r>
          </a:p>
        </p:txBody>
      </p:sp>
      <p:sp>
        <p:nvSpPr>
          <p:cNvPr id="44036"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22C18EF7-52F2-414C-AAF6-1660CD747BD6}" type="slidenum">
              <a:rPr lang="en-US" altLang="zh-CN" sz="1200" b="0" smtClean="0"/>
              <a:pPr/>
              <a:t>34</a:t>
            </a:fld>
            <a:endParaRPr lang="en-US" altLang="zh-CN" sz="1200" b="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1073150" y="688975"/>
            <a:ext cx="4678363" cy="3508375"/>
          </a:xfrm>
          <a:ln/>
        </p:spPr>
      </p:sp>
      <p:sp>
        <p:nvSpPr>
          <p:cNvPr id="491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mtClean="0">
                <a:latin typeface="Arial" panose="020B0604020202020204" pitchFamily="34" charset="0"/>
              </a:rPr>
              <a:t>图形处理器（英语：</a:t>
            </a:r>
            <a:r>
              <a:rPr lang="en-US" altLang="zh-CN" smtClean="0">
                <a:latin typeface="Arial" panose="020B0604020202020204" pitchFamily="34" charset="0"/>
              </a:rPr>
              <a:t>Graphics Processing Unit</a:t>
            </a:r>
            <a:r>
              <a:rPr lang="zh-CN" altLang="en-US" smtClean="0">
                <a:latin typeface="Arial" panose="020B0604020202020204" pitchFamily="34" charset="0"/>
              </a:rPr>
              <a:t>，缩写：</a:t>
            </a:r>
            <a:r>
              <a:rPr lang="en-US" altLang="zh-CN" smtClean="0">
                <a:latin typeface="Arial" panose="020B0604020202020204" pitchFamily="34" charset="0"/>
              </a:rPr>
              <a:t>GPU</a:t>
            </a:r>
            <a:r>
              <a:rPr lang="zh-CN" altLang="en-US" smtClean="0">
                <a:latin typeface="Arial" panose="020B0604020202020204" pitchFamily="34" charset="0"/>
              </a:rPr>
              <a:t>）</a:t>
            </a:r>
            <a:endParaRPr lang="en-US" altLang="zh-CN" smtClean="0">
              <a:latin typeface="Arial" panose="020B0604020202020204" pitchFamily="34" charset="0"/>
            </a:endParaRPr>
          </a:p>
          <a:p>
            <a:endParaRPr lang="en-US" altLang="zh-CN" smtClean="0">
              <a:latin typeface="Arial" panose="020B0604020202020204" pitchFamily="34" charset="0"/>
            </a:endParaRPr>
          </a:p>
          <a:p>
            <a:r>
              <a:rPr lang="zh-CN" altLang="en-US" smtClean="0">
                <a:latin typeface="Arial" panose="020B0604020202020204" pitchFamily="34" charset="0"/>
              </a:rPr>
              <a:t>现在</a:t>
            </a:r>
            <a:r>
              <a:rPr lang="en-US" altLang="zh-CN" smtClean="0">
                <a:latin typeface="Arial" panose="020B0604020202020204" pitchFamily="34" charset="0"/>
              </a:rPr>
              <a:t>CPU</a:t>
            </a:r>
            <a:r>
              <a:rPr lang="zh-CN" altLang="en-US" smtClean="0">
                <a:latin typeface="Arial" panose="020B0604020202020204" pitchFamily="34" charset="0"/>
              </a:rPr>
              <a:t>已经达到物理极限，被</a:t>
            </a:r>
            <a:r>
              <a:rPr lang="en-US" altLang="zh-CN" smtClean="0">
                <a:latin typeface="Arial" panose="020B0604020202020204" pitchFamily="34" charset="0"/>
              </a:rPr>
              <a:t>4GHz</a:t>
            </a:r>
            <a:r>
              <a:rPr lang="zh-CN" altLang="en-US" smtClean="0">
                <a:latin typeface="Arial" panose="020B0604020202020204" pitchFamily="34" charset="0"/>
              </a:rPr>
              <a:t>所限制，于是开始通过增加</a:t>
            </a:r>
            <a:r>
              <a:rPr lang="en-US" altLang="zh-CN" smtClean="0">
                <a:latin typeface="Arial" panose="020B0604020202020204" pitchFamily="34" charset="0"/>
              </a:rPr>
              <a:t>CPU</a:t>
            </a:r>
            <a:r>
              <a:rPr lang="zh-CN" altLang="en-US" smtClean="0">
                <a:latin typeface="Arial" panose="020B0604020202020204" pitchFamily="34" charset="0"/>
              </a:rPr>
              <a:t>数量来提高计算机速度。</a:t>
            </a:r>
            <a:br>
              <a:rPr lang="zh-CN" altLang="en-US" smtClean="0">
                <a:latin typeface="Arial" panose="020B0604020202020204" pitchFamily="34" charset="0"/>
              </a:rPr>
            </a:br>
            <a:r>
              <a:rPr lang="zh-CN" altLang="en-US" smtClean="0">
                <a:latin typeface="Arial" panose="020B0604020202020204" pitchFamily="34" charset="0"/>
              </a:rPr>
              <a:t>对称多处理器（</a:t>
            </a:r>
            <a:r>
              <a:rPr lang="en-US" altLang="zh-CN" smtClean="0">
                <a:latin typeface="Arial" panose="020B0604020202020204" pitchFamily="34" charset="0"/>
              </a:rPr>
              <a:t>SMP</a:t>
            </a:r>
            <a:r>
              <a:rPr lang="zh-CN" altLang="en-US" smtClean="0">
                <a:latin typeface="Arial" panose="020B0604020202020204" pitchFamily="34" charset="0"/>
              </a:rPr>
              <a:t>）：</a:t>
            </a:r>
            <a:br>
              <a:rPr lang="zh-CN" altLang="en-US" smtClean="0">
                <a:latin typeface="Arial" panose="020B0604020202020204" pitchFamily="34" charset="0"/>
              </a:rPr>
            </a:br>
            <a:r>
              <a:rPr lang="zh-CN" altLang="en-US" smtClean="0">
                <a:latin typeface="Arial" panose="020B0604020202020204" pitchFamily="34" charset="0"/>
              </a:rPr>
              <a:t>每个</a:t>
            </a:r>
            <a:r>
              <a:rPr lang="en-US" altLang="zh-CN" smtClean="0">
                <a:latin typeface="Arial" panose="020B0604020202020204" pitchFamily="34" charset="0"/>
              </a:rPr>
              <a:t>CPU</a:t>
            </a:r>
            <a:r>
              <a:rPr lang="zh-CN" altLang="en-US" smtClean="0">
                <a:latin typeface="Arial" panose="020B0604020202020204" pitchFamily="34" charset="0"/>
              </a:rPr>
              <a:t>在系统中所处的地位和所发挥的功能是一样，是相互对称的。但在处理程序时，我们并不能把他们分成若干个不相干的子问题，所以，使得多处理器速度实际提高得并没有理论上那么高。当对于相互独立的问题，多处理器就能最大效能的发挥威力了（比如：大型数据库</a:t>
            </a:r>
            <a:r>
              <a:rPr lang="en-US" altLang="zh-CN" smtClean="0">
                <a:latin typeface="Arial" panose="020B0604020202020204" pitchFamily="34" charset="0"/>
              </a:rPr>
              <a:t>,</a:t>
            </a:r>
            <a:r>
              <a:rPr lang="zh-CN" altLang="en-US" smtClean="0">
                <a:latin typeface="Arial" panose="020B0604020202020204" pitchFamily="34" charset="0"/>
              </a:rPr>
              <a:t>网络服务等）。</a:t>
            </a:r>
          </a:p>
          <a:p>
            <a:r>
              <a:rPr lang="zh-CN" altLang="en-US" smtClean="0">
                <a:latin typeface="Arial" panose="020B0604020202020204" pitchFamily="34" charset="0"/>
              </a:rPr>
              <a:t>多核处理器：</a:t>
            </a:r>
            <a:br>
              <a:rPr lang="zh-CN" altLang="en-US" smtClean="0">
                <a:latin typeface="Arial" panose="020B0604020202020204" pitchFamily="34" charset="0"/>
              </a:rPr>
            </a:br>
            <a:r>
              <a:rPr lang="zh-CN" altLang="en-US" smtClean="0">
                <a:latin typeface="Arial" panose="020B0604020202020204" pitchFamily="34" charset="0"/>
              </a:rPr>
              <a:t>其实际上是</a:t>
            </a:r>
            <a:r>
              <a:rPr lang="en-US" altLang="zh-CN" smtClean="0">
                <a:latin typeface="Arial" panose="020B0604020202020204" pitchFamily="34" charset="0"/>
              </a:rPr>
              <a:t>(SMP)</a:t>
            </a:r>
            <a:r>
              <a:rPr lang="zh-CN" altLang="en-US" smtClean="0">
                <a:latin typeface="Arial" panose="020B0604020202020204" pitchFamily="34" charset="0"/>
              </a:rPr>
              <a:t>的简化版，思想是将多个处理器合并在一起打包出售，它们之间共享比较昂贵的缓存部件，只保留了多个核心。在逻辑上看，它们和</a:t>
            </a:r>
            <a:r>
              <a:rPr lang="en-US" altLang="zh-CN" smtClean="0">
                <a:latin typeface="Arial" panose="020B0604020202020204" pitchFamily="34" charset="0"/>
              </a:rPr>
              <a:t>SMP</a:t>
            </a:r>
            <a:r>
              <a:rPr lang="zh-CN" altLang="en-US" smtClean="0">
                <a:latin typeface="Arial" panose="020B0604020202020204" pitchFamily="34" charset="0"/>
              </a:rPr>
              <a:t>完全相同。</a:t>
            </a:r>
          </a:p>
          <a:p>
            <a:r>
              <a:rPr lang="zh-CN" altLang="en-US" smtClean="0">
                <a:latin typeface="Arial" panose="020B0604020202020204" pitchFamily="34" charset="0"/>
              </a:rPr>
              <a:t>对称处理器由于造价比较高昂，主要用在商用电脑上，对于个人电脑，主要是多核处理器。</a:t>
            </a:r>
            <a:endParaRPr lang="zh-CN" altLang="en-US" smtClean="0">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a:ln/>
        </p:spPr>
      </p:sp>
      <p:sp>
        <p:nvSpPr>
          <p:cNvPr id="51203"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51204"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5A5DE873-4137-4C31-AF0B-15EB521525F9}" type="slidenum">
              <a:rPr lang="zh-CN" altLang="en-US" sz="1200" b="0" smtClean="0"/>
              <a:pPr/>
              <a:t>39</a:t>
            </a:fld>
            <a:endParaRPr lang="en-US" altLang="zh-CN" sz="1200" b="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p:spPr>
      </p:sp>
      <p:sp>
        <p:nvSpPr>
          <p:cNvPr id="53251"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53252"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262D9EF-7FAA-4391-843E-DE9A52EC4F51}" type="slidenum">
              <a:rPr lang="zh-CN" altLang="en-US" sz="1200" b="0" smtClean="0"/>
              <a:pPr/>
              <a:t>40</a:t>
            </a:fld>
            <a:endParaRPr lang="en-US" altLang="zh-CN" sz="1200" b="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56324"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51EDC25B-5A9A-404C-819A-1AB101C61778}" type="slidenum">
              <a:rPr lang="zh-CN" altLang="en-US" sz="1200" b="0" smtClean="0"/>
              <a:pPr/>
              <a:t>42</a:t>
            </a:fld>
            <a:endParaRPr lang="en-US" altLang="zh-CN" sz="1200" b="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ln/>
        </p:spPr>
      </p:sp>
      <p:sp>
        <p:nvSpPr>
          <p:cNvPr id="58371"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58372"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ADA6634-7B32-4143-BDEE-25C146B01430}" type="slidenum">
              <a:rPr lang="zh-CN" altLang="en-US" sz="1200" b="0" smtClean="0"/>
              <a:pPr/>
              <a:t>43</a:t>
            </a:fld>
            <a:endParaRPr lang="en-US" altLang="zh-CN" sz="1200" b="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60420"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0C223B52-BDFB-47AC-9586-7E8D37F05CA6}" type="slidenum">
              <a:rPr lang="zh-CN" altLang="en-US" sz="1200" b="0" smtClean="0"/>
              <a:pPr/>
              <a:t>44</a:t>
            </a:fld>
            <a:endParaRPr lang="en-US" altLang="zh-CN" sz="1200" b="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62468"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47ECC68-F6CC-459F-8C0B-56EF653074AC}" type="slidenum">
              <a:rPr lang="zh-CN" altLang="en-US" sz="1200" b="0" smtClean="0"/>
              <a:pPr/>
              <a:t>45</a:t>
            </a:fld>
            <a:endParaRPr lang="en-US" altLang="zh-CN" sz="1200" b="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64516"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F71F540C-32EF-444A-8219-3D308E72F413}" type="slidenum">
              <a:rPr lang="zh-CN" altLang="en-US" sz="1200" b="0" smtClean="0"/>
              <a:pPr/>
              <a:t>46</a:t>
            </a:fld>
            <a:endParaRPr lang="en-US" altLang="zh-CN" sz="1200" b="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p:spPr>
      </p:sp>
      <p:sp>
        <p:nvSpPr>
          <p:cNvPr id="66563"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66564"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DB6BDAD4-49C3-4119-BCF3-A8D210952EE3}" type="slidenum">
              <a:rPr lang="zh-CN" altLang="en-US" sz="1200" b="0" smtClean="0"/>
              <a:pPr/>
              <a:t>47</a:t>
            </a:fld>
            <a:endParaRPr lang="en-US" altLang="zh-CN" sz="1200" b="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a:ln/>
        </p:spPr>
      </p:sp>
      <p:sp>
        <p:nvSpPr>
          <p:cNvPr id="68611"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68612"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F10E0EB-DC71-4365-8B91-AD2F761206B8}" type="slidenum">
              <a:rPr lang="zh-CN" altLang="en-US" sz="1200" b="0" smtClean="0"/>
              <a:pPr/>
              <a:t>48</a:t>
            </a:fld>
            <a:endParaRPr lang="en-US" altLang="zh-CN" sz="1200" b="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a:ln/>
        </p:spPr>
      </p:sp>
      <p:sp>
        <p:nvSpPr>
          <p:cNvPr id="70659"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70660"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CA84036-D698-4464-A9E4-1F3D384C7325}" type="slidenum">
              <a:rPr lang="zh-CN" altLang="en-US" sz="1200" b="0" smtClean="0"/>
              <a:pPr/>
              <a:t>49</a:t>
            </a:fld>
            <a:endParaRPr lang="en-US" altLang="zh-CN" sz="1200" b="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a:ln/>
        </p:spPr>
      </p:sp>
      <p:sp>
        <p:nvSpPr>
          <p:cNvPr id="70659"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70660"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CA84036-D698-4464-A9E4-1F3D384C7325}" type="slidenum">
              <a:rPr lang="zh-CN" altLang="en-US" sz="1200" b="0" smtClean="0"/>
              <a:pPr/>
              <a:t>50</a:t>
            </a:fld>
            <a:endParaRPr lang="en-US" altLang="zh-CN" sz="1200" b="0" smtClean="0"/>
          </a:p>
        </p:txBody>
      </p:sp>
    </p:spTree>
    <p:extLst>
      <p:ext uri="{BB962C8B-B14F-4D97-AF65-F5344CB8AC3E}">
        <p14:creationId xmlns:p14="http://schemas.microsoft.com/office/powerpoint/2010/main" val="4076534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idx="1"/>
          </p:nvPr>
        </p:nvSpPr>
        <p:spPr>
          <a:noFill/>
        </p:spPr>
        <p:txBody>
          <a:bodyPr/>
          <a:lstStyle/>
          <a:p>
            <a:r>
              <a:rPr lang="en-US" altLang="zh-CN" b="1" smtClean="0">
                <a:latin typeface="Arial" panose="020B0604020202020204" pitchFamily="34" charset="0"/>
              </a:rPr>
              <a:t>(6) </a:t>
            </a:r>
            <a:r>
              <a:rPr lang="zh-CN" altLang="en-US" b="1" smtClean="0">
                <a:latin typeface="Arial" panose="020B0604020202020204" pitchFamily="34" charset="0"/>
              </a:rPr>
              <a:t>位操作指令</a:t>
            </a:r>
            <a:endParaRPr lang="zh-CN" altLang="en-US" smtClean="0">
              <a:latin typeface="Arial" panose="020B0604020202020204" pitchFamily="34" charset="0"/>
            </a:endParaRPr>
          </a:p>
          <a:p>
            <a:r>
              <a:rPr lang="en-US" altLang="zh-CN" b="1" smtClean="0">
                <a:latin typeface="Arial" panose="020B0604020202020204" pitchFamily="34" charset="0"/>
              </a:rPr>
              <a:t>1</a:t>
            </a:r>
            <a:r>
              <a:rPr lang="zh-CN" altLang="en-US" b="1" smtClean="0">
                <a:latin typeface="Arial" panose="020B0604020202020204" pitchFamily="34" charset="0"/>
              </a:rPr>
              <a:t>、位扫描指令</a:t>
            </a:r>
            <a:r>
              <a:rPr lang="en-US" altLang="zh-CN" b="1" smtClean="0">
                <a:latin typeface="Arial" panose="020B0604020202020204" pitchFamily="34" charset="0"/>
              </a:rPr>
              <a:t>(Bit Scan Instruction)</a:t>
            </a:r>
            <a:endParaRPr lang="en-US" altLang="zh-CN" smtClean="0">
              <a:latin typeface="Arial" panose="020B0604020202020204" pitchFamily="34" charset="0"/>
            </a:endParaRPr>
          </a:p>
          <a:p>
            <a:r>
              <a:rPr lang="zh-CN" altLang="en-US" smtClean="0">
                <a:latin typeface="Arial" panose="020B0604020202020204" pitchFamily="34" charset="0"/>
              </a:rPr>
              <a:t>指令的格式：</a:t>
            </a:r>
            <a:r>
              <a:rPr lang="en-US" altLang="zh-CN" smtClean="0">
                <a:latin typeface="Arial" panose="020B0604020202020204" pitchFamily="34" charset="0"/>
              </a:rPr>
              <a:t>BSF/BSR Reg, Reg/Mem ;80386+</a:t>
            </a:r>
          </a:p>
          <a:p>
            <a:r>
              <a:rPr lang="zh-CN" altLang="en-US" smtClean="0">
                <a:latin typeface="Arial" panose="020B0604020202020204" pitchFamily="34" charset="0"/>
              </a:rPr>
              <a:t>受影响的标志位：</a:t>
            </a:r>
            <a:r>
              <a:rPr lang="en-US" altLang="zh-CN" smtClean="0">
                <a:latin typeface="Arial" panose="020B0604020202020204" pitchFamily="34" charset="0"/>
              </a:rPr>
              <a:t>ZF</a:t>
            </a:r>
          </a:p>
          <a:p>
            <a:r>
              <a:rPr lang="zh-CN" altLang="en-US" smtClean="0">
                <a:latin typeface="Arial" panose="020B0604020202020204" pitchFamily="34" charset="0"/>
              </a:rPr>
              <a:t>位扫描指令是在第二个操作数中找第一个“</a:t>
            </a:r>
            <a:r>
              <a:rPr lang="en-US" altLang="zh-CN" smtClean="0">
                <a:latin typeface="Arial" panose="020B0604020202020204" pitchFamily="34" charset="0"/>
              </a:rPr>
              <a:t>1”</a:t>
            </a:r>
            <a:r>
              <a:rPr lang="zh-CN" altLang="en-US" smtClean="0">
                <a:latin typeface="Arial" panose="020B0604020202020204" pitchFamily="34" charset="0"/>
              </a:rPr>
              <a:t>的位置。如果找到，则该“</a:t>
            </a:r>
            <a:r>
              <a:rPr lang="en-US" altLang="zh-CN" smtClean="0">
                <a:latin typeface="Arial" panose="020B0604020202020204" pitchFamily="34" charset="0"/>
              </a:rPr>
              <a:t>1”</a:t>
            </a:r>
            <a:r>
              <a:rPr lang="zh-CN" altLang="en-US" smtClean="0">
                <a:latin typeface="Arial" panose="020B0604020202020204" pitchFamily="34" charset="0"/>
              </a:rPr>
              <a:t>的位置保存在第一操作数中，并置标志位</a:t>
            </a:r>
            <a:r>
              <a:rPr lang="en-US" altLang="zh-CN" smtClean="0">
                <a:latin typeface="Arial" panose="020B0604020202020204" pitchFamily="34" charset="0"/>
              </a:rPr>
              <a:t>ZF</a:t>
            </a:r>
            <a:r>
              <a:rPr lang="zh-CN" altLang="en-US" smtClean="0">
                <a:latin typeface="Arial" panose="020B0604020202020204" pitchFamily="34" charset="0"/>
              </a:rPr>
              <a:t>为</a:t>
            </a:r>
            <a:r>
              <a:rPr lang="en-US" altLang="zh-CN" smtClean="0">
                <a:latin typeface="Arial" panose="020B0604020202020204" pitchFamily="34" charset="0"/>
              </a:rPr>
              <a:t>1</a:t>
            </a:r>
            <a:r>
              <a:rPr lang="zh-CN" altLang="en-US" smtClean="0">
                <a:latin typeface="Arial" panose="020B0604020202020204" pitchFamily="34" charset="0"/>
              </a:rPr>
              <a:t>，否则，置标志位</a:t>
            </a:r>
            <a:r>
              <a:rPr lang="en-US" altLang="zh-CN" smtClean="0">
                <a:latin typeface="Arial" panose="020B0604020202020204" pitchFamily="34" charset="0"/>
              </a:rPr>
              <a:t>ZF</a:t>
            </a:r>
            <a:r>
              <a:rPr lang="zh-CN" altLang="en-US" smtClean="0">
                <a:latin typeface="Arial" panose="020B0604020202020204" pitchFamily="34" charset="0"/>
              </a:rPr>
              <a:t>为</a:t>
            </a:r>
            <a:r>
              <a:rPr lang="en-US" altLang="zh-CN" smtClean="0">
                <a:latin typeface="Arial" panose="020B0604020202020204" pitchFamily="34" charset="0"/>
              </a:rPr>
              <a:t>0</a:t>
            </a:r>
            <a:r>
              <a:rPr lang="zh-CN" altLang="en-US" smtClean="0">
                <a:latin typeface="Arial" panose="020B0604020202020204" pitchFamily="34" charset="0"/>
              </a:rPr>
              <a:t>。</a:t>
            </a:r>
          </a:p>
          <a:p>
            <a:r>
              <a:rPr lang="zh-CN" altLang="en-US" smtClean="0">
                <a:latin typeface="Arial" panose="020B0604020202020204" pitchFamily="34" charset="0"/>
              </a:rPr>
              <a:t>根据位扫描的方向不同，指令分二种：正向扫描指令和逆向扫描指令。</a:t>
            </a:r>
          </a:p>
          <a:p>
            <a:r>
              <a:rPr lang="en-US" altLang="zh-CN" smtClean="0">
                <a:latin typeface="Arial" panose="020B0604020202020204" pitchFamily="34" charset="0"/>
              </a:rPr>
              <a:t>a) </a:t>
            </a:r>
            <a:r>
              <a:rPr lang="zh-CN" altLang="en-US" smtClean="0">
                <a:latin typeface="Arial" panose="020B0604020202020204" pitchFamily="34" charset="0"/>
              </a:rPr>
              <a:t>正向扫描指令</a:t>
            </a:r>
            <a:r>
              <a:rPr lang="en-US" altLang="zh-CN" smtClean="0">
                <a:latin typeface="Arial" panose="020B0604020202020204" pitchFamily="34" charset="0"/>
              </a:rPr>
              <a:t>BSF(Bit Scan Forward)</a:t>
            </a:r>
            <a:r>
              <a:rPr lang="zh-CN" altLang="en-US" smtClean="0">
                <a:latin typeface="Arial" panose="020B0604020202020204" pitchFamily="34" charset="0"/>
              </a:rPr>
              <a:t>从右向左扫描，即：从低位向高位扫描；</a:t>
            </a:r>
          </a:p>
          <a:p>
            <a:r>
              <a:rPr lang="en-US" altLang="zh-CN" smtClean="0">
                <a:latin typeface="Arial" panose="020B0604020202020204" pitchFamily="34" charset="0"/>
              </a:rPr>
              <a:t>b) </a:t>
            </a:r>
            <a:r>
              <a:rPr lang="zh-CN" altLang="en-US" smtClean="0">
                <a:latin typeface="Arial" panose="020B0604020202020204" pitchFamily="34" charset="0"/>
              </a:rPr>
              <a:t>逆向扫描指令</a:t>
            </a:r>
            <a:r>
              <a:rPr lang="en-US" altLang="zh-CN" smtClean="0">
                <a:latin typeface="Arial" panose="020B0604020202020204" pitchFamily="34" charset="0"/>
              </a:rPr>
              <a:t>BSR(Bit Scan Reverse)</a:t>
            </a:r>
            <a:r>
              <a:rPr lang="zh-CN" altLang="en-US" smtClean="0">
                <a:latin typeface="Arial" panose="020B0604020202020204" pitchFamily="34" charset="0"/>
              </a:rPr>
              <a:t>从左向右扫描，即：从高位向低位扫描。</a:t>
            </a:r>
          </a:p>
          <a:p>
            <a:endParaRPr lang="zh-CN" altLang="en-US" smtClean="0">
              <a:latin typeface="Arial" panose="020B0604020202020204" pitchFamily="34" charset="0"/>
            </a:endParaRPr>
          </a:p>
        </p:txBody>
      </p:sp>
      <p:sp>
        <p:nvSpPr>
          <p:cNvPr id="72708"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71B90AB5-D88D-4E1D-A4E1-028CD961783C}" type="slidenum">
              <a:rPr lang="zh-CN" altLang="en-US" sz="1200" b="0" smtClean="0"/>
              <a:pPr/>
              <a:t>51</a:t>
            </a:fld>
            <a:endParaRPr lang="en-US" altLang="zh-CN" sz="1200" b="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74756"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ACD3C6BD-C18D-4BB2-830F-AEC28288169F}" type="slidenum">
              <a:rPr lang="zh-CN" altLang="en-US" sz="1200" b="0" smtClean="0"/>
              <a:pPr/>
              <a:t>52</a:t>
            </a:fld>
            <a:endParaRPr lang="en-US" altLang="zh-CN" sz="1200" b="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a:ln/>
        </p:spPr>
      </p:sp>
      <p:sp>
        <p:nvSpPr>
          <p:cNvPr id="76803"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76804"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964BCC3A-6ED3-481C-B68A-69D56EE39CE6}" type="slidenum">
              <a:rPr lang="zh-CN" altLang="en-US" sz="1200" b="0" smtClean="0"/>
              <a:pPr/>
              <a:t>53</a:t>
            </a:fld>
            <a:endParaRPr lang="en-US" altLang="zh-CN" sz="1200" b="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idx="1"/>
          </p:nvPr>
        </p:nvSpPr>
        <p:spPr>
          <a:noFill/>
        </p:spPr>
        <p:txBody>
          <a:bodyPr/>
          <a:lstStyle/>
          <a:p>
            <a:r>
              <a:rPr lang="zh-CN" altLang="en-US" smtClean="0">
                <a:latin typeface="Arial" panose="020B0604020202020204" pitchFamily="34" charset="0"/>
              </a:rPr>
              <a:t>分类，分组，排队。</a:t>
            </a:r>
          </a:p>
        </p:txBody>
      </p:sp>
      <p:sp>
        <p:nvSpPr>
          <p:cNvPr id="78852"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5FC93086-C1ED-49A5-B081-93937876E08E}" type="slidenum">
              <a:rPr lang="zh-CN" altLang="en-US" sz="1200" b="0" smtClean="0"/>
              <a:pPr/>
              <a:t>54</a:t>
            </a:fld>
            <a:endParaRPr lang="en-US" altLang="zh-CN" sz="1200" b="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idx="1"/>
          </p:nvPr>
        </p:nvSpPr>
        <p:spPr>
          <a:noFill/>
        </p:spPr>
        <p:txBody>
          <a:bodyPr/>
          <a:lstStyle/>
          <a:p>
            <a:r>
              <a:rPr lang="zh-CN" altLang="en-US" smtClean="0">
                <a:latin typeface="Arial" panose="020B0604020202020204" pitchFamily="34" charset="0"/>
              </a:rPr>
              <a:t>分类，分组，排队。</a:t>
            </a:r>
          </a:p>
        </p:txBody>
      </p:sp>
      <p:sp>
        <p:nvSpPr>
          <p:cNvPr id="80900"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4832414E-BAEC-463D-9E24-25C2E2891C40}" type="slidenum">
              <a:rPr lang="zh-CN" altLang="en-US" sz="1200" b="0" smtClean="0"/>
              <a:pPr/>
              <a:t>55</a:t>
            </a:fld>
            <a:endParaRPr lang="en-US" altLang="zh-CN" sz="1200" b="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noFill/>
        </p:spPr>
        <p:txBody>
          <a:bodyPr/>
          <a:lstStyle/>
          <a:p>
            <a:endParaRPr lang="zh-CN" altLang="en-US" smtClean="0">
              <a:latin typeface="Arial" panose="020B0604020202020204" pitchFamily="34" charset="0"/>
            </a:endParaRPr>
          </a:p>
        </p:txBody>
      </p:sp>
      <p:sp>
        <p:nvSpPr>
          <p:cNvPr id="82948" name="灯片编号占位符 3"/>
          <p:cNvSpPr>
            <a:spLocks noGrp="1"/>
          </p:cNvSpPr>
          <p:nvPr>
            <p:ph type="sldNum" sz="quarter" idx="5"/>
          </p:nvPr>
        </p:nvSpPr>
        <p:spPr>
          <a:noFill/>
        </p:spPr>
        <p:txBody>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fld id="{1BEE74E1-25F7-45A7-B8BD-9924E5813DE3}" type="slidenum">
              <a:rPr lang="en-US" altLang="zh-CN" sz="1200" b="0" smtClean="0"/>
              <a:pPr/>
              <a:t>56</a:t>
            </a:fld>
            <a:endParaRPr lang="en-US" altLang="zh-CN" sz="1200" b="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使用进程浏览器在</a:t>
            </a:r>
            <a:r>
              <a:rPr lang="en-US" altLang="zh-CN" dirty="0" err="1" smtClean="0"/>
              <a:t>ppt</a:t>
            </a:r>
            <a:r>
              <a:rPr lang="zh-CN" altLang="en-US" dirty="0" smtClean="0"/>
              <a:t>前后台切换，看动态优先级的变化。</a:t>
            </a:r>
            <a:endParaRPr lang="zh-CN" altLang="en-US" dirty="0"/>
          </a:p>
        </p:txBody>
      </p:sp>
      <p:sp>
        <p:nvSpPr>
          <p:cNvPr id="4" name="灯片编号占位符 3"/>
          <p:cNvSpPr>
            <a:spLocks noGrp="1"/>
          </p:cNvSpPr>
          <p:nvPr>
            <p:ph type="sldNum" sz="quarter" idx="10"/>
          </p:nvPr>
        </p:nvSpPr>
        <p:spPr/>
        <p:txBody>
          <a:bodyPr/>
          <a:lstStyle/>
          <a:p>
            <a:pPr>
              <a:defRPr/>
            </a:pPr>
            <a:fld id="{50DCCF22-28CD-4E22-97F5-A06FB81BDA8C}" type="slidenum">
              <a:rPr lang="en-US" altLang="zh-CN" smtClean="0"/>
              <a:pPr>
                <a:defRPr/>
              </a:pPr>
              <a:t>66</a:t>
            </a:fld>
            <a:endParaRPr lang="en-US" altLang="zh-CN"/>
          </a:p>
        </p:txBody>
      </p:sp>
    </p:spTree>
    <p:extLst>
      <p:ext uri="{BB962C8B-B14F-4D97-AF65-F5344CB8AC3E}">
        <p14:creationId xmlns:p14="http://schemas.microsoft.com/office/powerpoint/2010/main" val="1458926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Text Box 11"/>
          <p:cNvSpPr txBox="1">
            <a:spLocks noChangeArrowheads="1"/>
          </p:cNvSpPr>
          <p:nvPr userDrawn="1"/>
        </p:nvSpPr>
        <p:spPr bwMode="auto">
          <a:xfrm>
            <a:off x="381000" y="609600"/>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chemeClr val="tx1"/>
                </a:solidFill>
                <a:latin typeface="Arial" charset="0"/>
                <a:ea typeface="宋体" pitchFamily="2" charset="-122"/>
              </a:defRPr>
            </a:lvl1pPr>
            <a:lvl2pPr marL="742950" indent="-285750" eaLnBrk="0" hangingPunct="0">
              <a:defRPr sz="2400" b="1">
                <a:solidFill>
                  <a:schemeClr val="tx1"/>
                </a:solidFill>
                <a:latin typeface="Arial" charset="0"/>
                <a:ea typeface="宋体" pitchFamily="2" charset="-122"/>
              </a:defRPr>
            </a:lvl2pPr>
            <a:lvl3pPr marL="1143000" indent="-228600" eaLnBrk="0" hangingPunct="0">
              <a:defRPr sz="2400" b="1">
                <a:solidFill>
                  <a:schemeClr val="tx1"/>
                </a:solidFill>
                <a:latin typeface="Arial" charset="0"/>
                <a:ea typeface="宋体" pitchFamily="2" charset="-122"/>
              </a:defRPr>
            </a:lvl3pPr>
            <a:lvl4pPr marL="1600200" indent="-228600" eaLnBrk="0" hangingPunct="0">
              <a:defRPr sz="2400" b="1">
                <a:solidFill>
                  <a:schemeClr val="tx1"/>
                </a:solidFill>
                <a:latin typeface="Arial" charset="0"/>
                <a:ea typeface="宋体" pitchFamily="2" charset="-122"/>
              </a:defRPr>
            </a:lvl4pPr>
            <a:lvl5pPr marL="2057400" indent="-228600" eaLnBrk="0" hangingPunct="0">
              <a:defRPr sz="2400" b="1">
                <a:solidFill>
                  <a:schemeClr val="tx1"/>
                </a:solidFill>
                <a:latin typeface="Arial" charset="0"/>
                <a:ea typeface="宋体" pitchFamily="2" charset="-122"/>
              </a:defRPr>
            </a:lvl5pPr>
            <a:lvl6pPr marL="2514600" indent="-228600" eaLnBrk="0" fontAlgn="base" hangingPunct="0">
              <a:spcBef>
                <a:spcPct val="0"/>
              </a:spcBef>
              <a:spcAft>
                <a:spcPct val="0"/>
              </a:spcAft>
              <a:defRPr sz="2400" b="1">
                <a:solidFill>
                  <a:schemeClr val="tx1"/>
                </a:solidFill>
                <a:latin typeface="Arial" charset="0"/>
                <a:ea typeface="宋体" pitchFamily="2" charset="-122"/>
              </a:defRPr>
            </a:lvl6pPr>
            <a:lvl7pPr marL="2971800" indent="-228600" eaLnBrk="0" fontAlgn="base" hangingPunct="0">
              <a:spcBef>
                <a:spcPct val="0"/>
              </a:spcBef>
              <a:spcAft>
                <a:spcPct val="0"/>
              </a:spcAft>
              <a:defRPr sz="2400" b="1">
                <a:solidFill>
                  <a:schemeClr val="tx1"/>
                </a:solidFill>
                <a:latin typeface="Arial" charset="0"/>
                <a:ea typeface="宋体" pitchFamily="2" charset="-122"/>
              </a:defRPr>
            </a:lvl7pPr>
            <a:lvl8pPr marL="3429000" indent="-228600" eaLnBrk="0" fontAlgn="base" hangingPunct="0">
              <a:spcBef>
                <a:spcPct val="0"/>
              </a:spcBef>
              <a:spcAft>
                <a:spcPct val="0"/>
              </a:spcAft>
              <a:defRPr sz="2400" b="1">
                <a:solidFill>
                  <a:schemeClr val="tx1"/>
                </a:solidFill>
                <a:latin typeface="Arial" charset="0"/>
                <a:ea typeface="宋体" pitchFamily="2" charset="-122"/>
              </a:defRPr>
            </a:lvl8pPr>
            <a:lvl9pPr marL="3886200" indent="-228600" eaLnBrk="0" fontAlgn="base" hangingPunct="0">
              <a:spcBef>
                <a:spcPct val="0"/>
              </a:spcBef>
              <a:spcAft>
                <a:spcPct val="0"/>
              </a:spcAft>
              <a:defRPr sz="2400" b="1">
                <a:solidFill>
                  <a:schemeClr val="tx1"/>
                </a:solidFill>
                <a:latin typeface="Arial" charset="0"/>
                <a:ea typeface="宋体" pitchFamily="2" charset="-122"/>
              </a:defRPr>
            </a:lvl9pPr>
          </a:lstStyle>
          <a:p>
            <a:pPr eaLnBrk="1" hangingPunct="1">
              <a:spcBef>
                <a:spcPct val="50000"/>
              </a:spcBef>
              <a:defRPr/>
            </a:pPr>
            <a:r>
              <a:rPr lang="zh-CN" altLang="en-US" smtClean="0">
                <a:solidFill>
                  <a:srgbClr val="0000FF"/>
                </a:solidFill>
                <a:ea typeface="华文隶书" pitchFamily="2" charset="-122"/>
              </a:rPr>
              <a:t>哈工大计算机科学与技术学院</a:t>
            </a:r>
          </a:p>
        </p:txBody>
      </p:sp>
      <p:sp>
        <p:nvSpPr>
          <p:cNvPr id="5" name="Text Box 12"/>
          <p:cNvSpPr txBox="1">
            <a:spLocks noChangeArrowheads="1"/>
          </p:cNvSpPr>
          <p:nvPr userDrawn="1"/>
        </p:nvSpPr>
        <p:spPr bwMode="auto">
          <a:xfrm>
            <a:off x="5735638" y="609600"/>
            <a:ext cx="3179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b="1">
                <a:solidFill>
                  <a:schemeClr val="tx1"/>
                </a:solidFill>
                <a:latin typeface="Arial" charset="0"/>
                <a:ea typeface="宋体" pitchFamily="2" charset="-122"/>
              </a:defRPr>
            </a:lvl1pPr>
            <a:lvl2pPr marL="742950" indent="-285750" eaLnBrk="0" hangingPunct="0">
              <a:defRPr sz="2400" b="1">
                <a:solidFill>
                  <a:schemeClr val="tx1"/>
                </a:solidFill>
                <a:latin typeface="Arial" charset="0"/>
                <a:ea typeface="宋体" pitchFamily="2" charset="-122"/>
              </a:defRPr>
            </a:lvl2pPr>
            <a:lvl3pPr marL="1143000" indent="-228600" eaLnBrk="0" hangingPunct="0">
              <a:defRPr sz="2400" b="1">
                <a:solidFill>
                  <a:schemeClr val="tx1"/>
                </a:solidFill>
                <a:latin typeface="Arial" charset="0"/>
                <a:ea typeface="宋体" pitchFamily="2" charset="-122"/>
              </a:defRPr>
            </a:lvl3pPr>
            <a:lvl4pPr marL="1600200" indent="-228600" eaLnBrk="0" hangingPunct="0">
              <a:defRPr sz="2400" b="1">
                <a:solidFill>
                  <a:schemeClr val="tx1"/>
                </a:solidFill>
                <a:latin typeface="Arial" charset="0"/>
                <a:ea typeface="宋体" pitchFamily="2" charset="-122"/>
              </a:defRPr>
            </a:lvl4pPr>
            <a:lvl5pPr marL="2057400" indent="-228600" eaLnBrk="0" hangingPunct="0">
              <a:defRPr sz="2400" b="1">
                <a:solidFill>
                  <a:schemeClr val="tx1"/>
                </a:solidFill>
                <a:latin typeface="Arial" charset="0"/>
                <a:ea typeface="宋体" pitchFamily="2" charset="-122"/>
              </a:defRPr>
            </a:lvl5pPr>
            <a:lvl6pPr marL="2514600" indent="-228600" eaLnBrk="0" fontAlgn="base" hangingPunct="0">
              <a:spcBef>
                <a:spcPct val="0"/>
              </a:spcBef>
              <a:spcAft>
                <a:spcPct val="0"/>
              </a:spcAft>
              <a:defRPr sz="2400" b="1">
                <a:solidFill>
                  <a:schemeClr val="tx1"/>
                </a:solidFill>
                <a:latin typeface="Arial" charset="0"/>
                <a:ea typeface="宋体" pitchFamily="2" charset="-122"/>
              </a:defRPr>
            </a:lvl6pPr>
            <a:lvl7pPr marL="2971800" indent="-228600" eaLnBrk="0" fontAlgn="base" hangingPunct="0">
              <a:spcBef>
                <a:spcPct val="0"/>
              </a:spcBef>
              <a:spcAft>
                <a:spcPct val="0"/>
              </a:spcAft>
              <a:defRPr sz="2400" b="1">
                <a:solidFill>
                  <a:schemeClr val="tx1"/>
                </a:solidFill>
                <a:latin typeface="Arial" charset="0"/>
                <a:ea typeface="宋体" pitchFamily="2" charset="-122"/>
              </a:defRPr>
            </a:lvl7pPr>
            <a:lvl8pPr marL="3429000" indent="-228600" eaLnBrk="0" fontAlgn="base" hangingPunct="0">
              <a:spcBef>
                <a:spcPct val="0"/>
              </a:spcBef>
              <a:spcAft>
                <a:spcPct val="0"/>
              </a:spcAft>
              <a:defRPr sz="2400" b="1">
                <a:solidFill>
                  <a:schemeClr val="tx1"/>
                </a:solidFill>
                <a:latin typeface="Arial" charset="0"/>
                <a:ea typeface="宋体" pitchFamily="2" charset="-122"/>
              </a:defRPr>
            </a:lvl8pPr>
            <a:lvl9pPr marL="3886200" indent="-228600" eaLnBrk="0" fontAlgn="base" hangingPunct="0">
              <a:spcBef>
                <a:spcPct val="0"/>
              </a:spcBef>
              <a:spcAft>
                <a:spcPct val="0"/>
              </a:spcAft>
              <a:defRPr sz="2400" b="1">
                <a:solidFill>
                  <a:schemeClr val="tx1"/>
                </a:solidFill>
                <a:latin typeface="Arial" charset="0"/>
                <a:ea typeface="宋体" pitchFamily="2" charset="-122"/>
              </a:defRPr>
            </a:lvl9pPr>
          </a:lstStyle>
          <a:p>
            <a:pPr algn="r" eaLnBrk="1" hangingPunct="1">
              <a:spcBef>
                <a:spcPct val="50000"/>
              </a:spcBef>
              <a:defRPr/>
            </a:pPr>
            <a:r>
              <a:rPr lang="zh-CN" altLang="en-US" smtClean="0">
                <a:solidFill>
                  <a:srgbClr val="0000FF"/>
                </a:solidFill>
                <a:ea typeface="华文隶书" pitchFamily="2" charset="-122"/>
              </a:rPr>
              <a:t>软件基础教研室</a:t>
            </a:r>
          </a:p>
        </p:txBody>
      </p:sp>
      <p:sp>
        <p:nvSpPr>
          <p:cNvPr id="6" name="Line 13"/>
          <p:cNvSpPr>
            <a:spLocks noChangeShapeType="1"/>
          </p:cNvSpPr>
          <p:nvPr userDrawn="1"/>
        </p:nvSpPr>
        <p:spPr bwMode="auto">
          <a:xfrm flipV="1">
            <a:off x="228600" y="1066800"/>
            <a:ext cx="228600" cy="304800"/>
          </a:xfrm>
          <a:prstGeom prst="line">
            <a:avLst/>
          </a:prstGeom>
          <a:noFill/>
          <a:ln w="76200" cmpd="tri">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14"/>
          <p:cNvSpPr>
            <a:spLocks noChangeShapeType="1"/>
          </p:cNvSpPr>
          <p:nvPr userDrawn="1"/>
        </p:nvSpPr>
        <p:spPr bwMode="auto">
          <a:xfrm>
            <a:off x="457200" y="1066800"/>
            <a:ext cx="8382000" cy="0"/>
          </a:xfrm>
          <a:prstGeom prst="line">
            <a:avLst/>
          </a:prstGeom>
          <a:noFill/>
          <a:ln w="76200" cmpd="tri">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46" name="Rectangle 2"/>
          <p:cNvSpPr>
            <a:spLocks noGrp="1" noChangeArrowheads="1"/>
          </p:cNvSpPr>
          <p:nvPr>
            <p:ph type="ctrTitle"/>
          </p:nvPr>
        </p:nvSpPr>
        <p:spPr>
          <a:xfrm>
            <a:off x="914400" y="2130425"/>
            <a:ext cx="7772400" cy="1470025"/>
          </a:xfrm>
          <a:extLst>
            <a:ext uri="{91240B29-F687-4F45-9708-019B960494DF}">
              <a14:hiddenLine xmlns:a14="http://schemas.microsoft.com/office/drawing/2010/main" w="9525">
                <a:solidFill>
                  <a:schemeClr val="tx1"/>
                </a:solidFill>
                <a:miter lim="800000"/>
                <a:headEnd/>
                <a:tailEnd/>
              </a14:hiddenLine>
            </a:ext>
          </a:extLst>
        </p:spPr>
        <p:txBody>
          <a:bodyPr/>
          <a:lstStyle>
            <a:lvl1pPr>
              <a:defRPr sz="5400"/>
            </a:lvl1pPr>
          </a:lstStyle>
          <a:p>
            <a:pPr lvl="0"/>
            <a:r>
              <a:rPr lang="zh-CN" altLang="en-US" noProof="0" smtClean="0"/>
              <a:t>单击此处编辑母版标题样式</a:t>
            </a:r>
          </a:p>
        </p:txBody>
      </p:sp>
      <p:sp>
        <p:nvSpPr>
          <p:cNvPr id="31747" name="Rectangle 3"/>
          <p:cNvSpPr>
            <a:spLocks noGrp="1" noChangeArrowheads="1"/>
          </p:cNvSpPr>
          <p:nvPr>
            <p:ph type="subTitle" idx="1"/>
          </p:nvPr>
        </p:nvSpPr>
        <p:spPr>
          <a:xfrm>
            <a:off x="5029200" y="5257800"/>
            <a:ext cx="3581400" cy="671513"/>
          </a:xfrm>
        </p:spPr>
        <p:txBody>
          <a:bodyPr/>
          <a:lstStyle>
            <a:lvl1pPr marL="0" indent="0" algn="ctr">
              <a:buFont typeface="Wingdings" pitchFamily="2" charset="2"/>
              <a:buNone/>
              <a:defRPr>
                <a:solidFill>
                  <a:srgbClr val="993300"/>
                </a:solidFill>
              </a:defRPr>
            </a:lvl1pPr>
          </a:lstStyle>
          <a:p>
            <a:pPr lvl="0"/>
            <a:r>
              <a:rPr lang="zh-CN" altLang="en-US" noProof="0" smtClean="0"/>
              <a:t>单击此处编辑母版副标题样式</a:t>
            </a:r>
          </a:p>
        </p:txBody>
      </p:sp>
      <p:sp>
        <p:nvSpPr>
          <p:cNvPr id="8" name="Rectangle 4"/>
          <p:cNvSpPr>
            <a:spLocks noGrp="1" noChangeArrowheads="1"/>
          </p:cNvSpPr>
          <p:nvPr>
            <p:ph type="dt" sz="half" idx="10"/>
          </p:nvPr>
        </p:nvSpPr>
        <p:spPr bwMode="auto">
          <a:xfrm>
            <a:off x="457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b="0">
                <a:solidFill>
                  <a:srgbClr val="009900"/>
                </a:solidFill>
                <a:latin typeface="Arial" charset="0"/>
              </a:defRPr>
            </a:lvl1pPr>
          </a:lstStyle>
          <a:p>
            <a:pPr>
              <a:defRPr/>
            </a:pPr>
            <a:r>
              <a:rPr lang="zh-CN" altLang="en-US"/>
              <a:t>曲明成</a:t>
            </a:r>
            <a:endParaRPr lang="en-US" altLang="zh-CN"/>
          </a:p>
        </p:txBody>
      </p:sp>
      <p:sp>
        <p:nvSpPr>
          <p:cNvPr id="9" name="Rectangle 5"/>
          <p:cNvSpPr>
            <a:spLocks noGrp="1" noChangeArrowheads="1"/>
          </p:cNvSpPr>
          <p:nvPr>
            <p:ph type="ftr" sz="quarter" idx="11"/>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b="0">
                <a:solidFill>
                  <a:srgbClr val="009900"/>
                </a:solidFill>
                <a:latin typeface="Arial" charset="0"/>
              </a:defRPr>
            </a:lvl1pPr>
          </a:lstStyle>
          <a:p>
            <a:pPr>
              <a:defRPr/>
            </a:pPr>
            <a:endParaRPr lang="en-US" altLang="zh-CN"/>
          </a:p>
        </p:txBody>
      </p:sp>
    </p:spTree>
    <p:extLst>
      <p:ext uri="{BB962C8B-B14F-4D97-AF65-F5344CB8AC3E}">
        <p14:creationId xmlns:p14="http://schemas.microsoft.com/office/powerpoint/2010/main" val="278840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55794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024335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12775" y="1268413"/>
            <a:ext cx="3884613"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9788" y="1268413"/>
            <a:ext cx="3884612"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11119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505211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769516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630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972382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670732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43967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96050" y="304800"/>
            <a:ext cx="2038350" cy="54895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304800"/>
            <a:ext cx="5962650" cy="54895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3955933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标题 3"/>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04221381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04800"/>
            <a:ext cx="78486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12775" y="1268413"/>
            <a:ext cx="79216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Text Box 9"/>
          <p:cNvSpPr txBox="1">
            <a:spLocks noChangeArrowheads="1"/>
          </p:cNvSpPr>
          <p:nvPr userDrawn="1"/>
        </p:nvSpPr>
        <p:spPr bwMode="auto">
          <a:xfrm>
            <a:off x="4114800" y="6521450"/>
            <a:ext cx="914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spcBef>
                <a:spcPct val="50000"/>
              </a:spcBef>
              <a:defRPr/>
            </a:pPr>
            <a:r>
              <a:rPr lang="en-US" altLang="zh-CN" sz="1600" smtClean="0">
                <a:ea typeface="华文琥珀" panose="02010800040101010101" pitchFamily="2" charset="-122"/>
              </a:rPr>
              <a:t>- </a:t>
            </a:r>
            <a:fld id="{F62298F1-3310-4833-88D9-CA88E9C13D9D}" type="slidenum">
              <a:rPr lang="en-US" altLang="zh-CN" sz="1600" smtClean="0">
                <a:ea typeface="华文琥珀" panose="02010800040101010101" pitchFamily="2" charset="-122"/>
              </a:rPr>
              <a:pPr algn="ctr">
                <a:spcBef>
                  <a:spcPct val="50000"/>
                </a:spcBef>
                <a:defRPr/>
              </a:pPr>
              <a:t>‹#›</a:t>
            </a:fld>
            <a:r>
              <a:rPr lang="en-US" altLang="zh-CN" sz="1600" smtClean="0">
                <a:ea typeface="华文琥珀" panose="02010800040101010101" pitchFamily="2" charset="-122"/>
              </a:rPr>
              <a:t> -</a:t>
            </a:r>
          </a:p>
        </p:txBody>
      </p:sp>
      <p:sp>
        <p:nvSpPr>
          <p:cNvPr id="1029" name="Line 32"/>
          <p:cNvSpPr>
            <a:spLocks noChangeShapeType="1"/>
          </p:cNvSpPr>
          <p:nvPr userDrawn="1"/>
        </p:nvSpPr>
        <p:spPr bwMode="auto">
          <a:xfrm>
            <a:off x="0" y="1066800"/>
            <a:ext cx="8024813" cy="0"/>
          </a:xfrm>
          <a:prstGeom prst="line">
            <a:avLst/>
          </a:prstGeom>
          <a:noFill/>
          <a:ln w="50800">
            <a:solidFill>
              <a:srgbClr val="C1C43C"/>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42" name="Text Box 10"/>
          <p:cNvSpPr txBox="1">
            <a:spLocks noChangeArrowheads="1"/>
          </p:cNvSpPr>
          <p:nvPr userDrawn="1"/>
        </p:nvSpPr>
        <p:spPr bwMode="auto">
          <a:xfrm>
            <a:off x="7810500" y="6630988"/>
            <a:ext cx="1447800" cy="246062"/>
          </a:xfrm>
          <a:prstGeom prst="rect">
            <a:avLst/>
          </a:prstGeom>
          <a:noFill/>
          <a:ln w="9525">
            <a:noFill/>
            <a:miter lim="800000"/>
            <a:headEnd/>
            <a:tailEnd/>
          </a:ln>
          <a:effectLst/>
        </p:spPr>
        <p:txBody>
          <a:bodyPr>
            <a:spAutoFit/>
          </a:bodyPr>
          <a:lstStyle>
            <a:lvl1pPr>
              <a:defRPr>
                <a:solidFill>
                  <a:schemeClr val="tx1"/>
                </a:solidFill>
                <a:latin typeface="Arial" charset="0"/>
                <a:ea typeface="宋体" pitchFamily="2" charset="-122"/>
              </a:defRPr>
            </a:lvl1pPr>
            <a:lvl2pPr marL="37931725" indent="-37474525">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marL="457200" fontAlgn="base">
              <a:spcBef>
                <a:spcPct val="0"/>
              </a:spcBef>
              <a:spcAft>
                <a:spcPct val="0"/>
              </a:spcAft>
              <a:defRPr>
                <a:solidFill>
                  <a:schemeClr val="tx1"/>
                </a:solidFill>
                <a:latin typeface="Arial" charset="0"/>
                <a:ea typeface="宋体" pitchFamily="2" charset="-122"/>
              </a:defRPr>
            </a:lvl6pPr>
            <a:lvl7pPr marL="914400" fontAlgn="base">
              <a:spcBef>
                <a:spcPct val="0"/>
              </a:spcBef>
              <a:spcAft>
                <a:spcPct val="0"/>
              </a:spcAft>
              <a:defRPr>
                <a:solidFill>
                  <a:schemeClr val="tx1"/>
                </a:solidFill>
                <a:latin typeface="Arial" charset="0"/>
                <a:ea typeface="宋体" pitchFamily="2" charset="-122"/>
              </a:defRPr>
            </a:lvl7pPr>
            <a:lvl8pPr marL="1371600" fontAlgn="base">
              <a:spcBef>
                <a:spcPct val="0"/>
              </a:spcBef>
              <a:spcAft>
                <a:spcPct val="0"/>
              </a:spcAft>
              <a:defRPr>
                <a:solidFill>
                  <a:schemeClr val="tx1"/>
                </a:solidFill>
                <a:latin typeface="Arial" charset="0"/>
                <a:ea typeface="宋体" pitchFamily="2" charset="-122"/>
              </a:defRPr>
            </a:lvl8pPr>
            <a:lvl9pPr marL="1828800" fontAlgn="base">
              <a:spcBef>
                <a:spcPct val="0"/>
              </a:spcBef>
              <a:spcAft>
                <a:spcPct val="0"/>
              </a:spcAft>
              <a:defRPr>
                <a:solidFill>
                  <a:schemeClr val="tx1"/>
                </a:solidFill>
                <a:latin typeface="Arial" charset="0"/>
                <a:ea typeface="宋体" pitchFamily="2" charset="-122"/>
              </a:defRPr>
            </a:lvl9pPr>
          </a:lstStyle>
          <a:p>
            <a:pPr algn="ctr">
              <a:spcBef>
                <a:spcPct val="50000"/>
              </a:spcBef>
              <a:defRPr/>
            </a:pPr>
            <a:r>
              <a:rPr lang="zh-CN" altLang="en-US" sz="1000" dirty="0" smtClean="0">
                <a:solidFill>
                  <a:srgbClr val="006699"/>
                </a:solidFill>
                <a:latin typeface="Helvetica" pitchFamily="34" charset="0"/>
                <a:ea typeface="ＭＳ Ｐゴシック" pitchFamily="34" charset="-128"/>
              </a:rPr>
              <a:t>智能软件中心</a:t>
            </a:r>
            <a:r>
              <a:rPr lang="en-US" altLang="zh-CN" sz="1000" dirty="0" smtClean="0">
                <a:solidFill>
                  <a:srgbClr val="006699"/>
                </a:solidFill>
                <a:latin typeface="Helvetica" pitchFamily="34" charset="0"/>
                <a:ea typeface="ＭＳ Ｐゴシック" pitchFamily="34" charset="-128"/>
              </a:rPr>
              <a:t>-</a:t>
            </a:r>
            <a:r>
              <a:rPr lang="zh-CN" altLang="en-US" sz="1000" dirty="0" smtClean="0">
                <a:solidFill>
                  <a:srgbClr val="006699"/>
                </a:solidFill>
                <a:latin typeface="Helvetica" pitchFamily="34" charset="0"/>
                <a:ea typeface="ＭＳ Ｐゴシック" pitchFamily="34" charset="-128"/>
              </a:rPr>
              <a:t>曲明成</a:t>
            </a:r>
          </a:p>
        </p:txBody>
      </p:sp>
      <p:sp>
        <p:nvSpPr>
          <p:cNvPr id="146443" name="Text Box 11"/>
          <p:cNvSpPr txBox="1">
            <a:spLocks noChangeArrowheads="1"/>
          </p:cNvSpPr>
          <p:nvPr userDrawn="1"/>
        </p:nvSpPr>
        <p:spPr bwMode="auto">
          <a:xfrm>
            <a:off x="-4763" y="6594475"/>
            <a:ext cx="1338263" cy="246063"/>
          </a:xfrm>
          <a:prstGeom prst="rect">
            <a:avLst/>
          </a:prstGeom>
          <a:noFill/>
          <a:ln w="9525">
            <a:noFill/>
            <a:miter lim="800000"/>
            <a:headEnd/>
            <a:tailEnd/>
          </a:ln>
          <a:effectLst/>
        </p:spPr>
        <p:txBody>
          <a:bodyPr wrap="none">
            <a:spAutoFit/>
          </a:bodyPr>
          <a:lstStyle>
            <a:lvl1pPr>
              <a:defRPr>
                <a:solidFill>
                  <a:schemeClr val="tx1"/>
                </a:solidFill>
                <a:latin typeface="Arial" charset="0"/>
                <a:ea typeface="宋体" pitchFamily="2" charset="-122"/>
              </a:defRPr>
            </a:lvl1pPr>
            <a:lvl2pPr marL="37931725" indent="-37474525">
              <a:defRPr>
                <a:solidFill>
                  <a:schemeClr val="tx1"/>
                </a:solidFill>
                <a:latin typeface="Arial" charset="0"/>
                <a:ea typeface="宋体" pitchFamily="2" charset="-122"/>
              </a:defRPr>
            </a:lvl2pPr>
            <a:lvl3pPr>
              <a:defRPr>
                <a:solidFill>
                  <a:schemeClr val="tx1"/>
                </a:solidFill>
                <a:latin typeface="Arial" charset="0"/>
                <a:ea typeface="宋体" pitchFamily="2" charset="-122"/>
              </a:defRPr>
            </a:lvl3pPr>
            <a:lvl4pPr>
              <a:defRPr>
                <a:solidFill>
                  <a:schemeClr val="tx1"/>
                </a:solidFill>
                <a:latin typeface="Arial" charset="0"/>
                <a:ea typeface="宋体" pitchFamily="2" charset="-122"/>
              </a:defRPr>
            </a:lvl4pPr>
            <a:lvl5pPr>
              <a:defRPr>
                <a:solidFill>
                  <a:schemeClr val="tx1"/>
                </a:solidFill>
                <a:latin typeface="Arial" charset="0"/>
                <a:ea typeface="宋体" pitchFamily="2" charset="-122"/>
              </a:defRPr>
            </a:lvl5pPr>
            <a:lvl6pPr marL="457200" fontAlgn="base">
              <a:spcBef>
                <a:spcPct val="0"/>
              </a:spcBef>
              <a:spcAft>
                <a:spcPct val="0"/>
              </a:spcAft>
              <a:defRPr>
                <a:solidFill>
                  <a:schemeClr val="tx1"/>
                </a:solidFill>
                <a:latin typeface="Arial" charset="0"/>
                <a:ea typeface="宋体" pitchFamily="2" charset="-122"/>
              </a:defRPr>
            </a:lvl6pPr>
            <a:lvl7pPr marL="914400" fontAlgn="base">
              <a:spcBef>
                <a:spcPct val="0"/>
              </a:spcBef>
              <a:spcAft>
                <a:spcPct val="0"/>
              </a:spcAft>
              <a:defRPr>
                <a:solidFill>
                  <a:schemeClr val="tx1"/>
                </a:solidFill>
                <a:latin typeface="Arial" charset="0"/>
                <a:ea typeface="宋体" pitchFamily="2" charset="-122"/>
              </a:defRPr>
            </a:lvl7pPr>
            <a:lvl8pPr marL="1371600" fontAlgn="base">
              <a:spcBef>
                <a:spcPct val="0"/>
              </a:spcBef>
              <a:spcAft>
                <a:spcPct val="0"/>
              </a:spcAft>
              <a:defRPr>
                <a:solidFill>
                  <a:schemeClr val="tx1"/>
                </a:solidFill>
                <a:latin typeface="Arial" charset="0"/>
                <a:ea typeface="宋体" pitchFamily="2" charset="-122"/>
              </a:defRPr>
            </a:lvl8pPr>
            <a:lvl9pPr marL="1828800" fontAlgn="base">
              <a:spcBef>
                <a:spcPct val="0"/>
              </a:spcBef>
              <a:spcAft>
                <a:spcPct val="0"/>
              </a:spcAft>
              <a:defRPr>
                <a:solidFill>
                  <a:schemeClr val="tx1"/>
                </a:solidFill>
                <a:latin typeface="Arial" charset="0"/>
                <a:ea typeface="宋体" pitchFamily="2" charset="-122"/>
              </a:defRPr>
            </a:lvl9pPr>
          </a:lstStyle>
          <a:p>
            <a:pPr>
              <a:spcBef>
                <a:spcPct val="50000"/>
              </a:spcBef>
              <a:defRPr/>
            </a:pPr>
            <a:r>
              <a:rPr lang="zh-CN" altLang="en-US" sz="1000" dirty="0" smtClean="0">
                <a:solidFill>
                  <a:srgbClr val="006699"/>
                </a:solidFill>
                <a:latin typeface="Helvetica" pitchFamily="34" charset="0"/>
                <a:ea typeface="ＭＳ Ｐゴシック" pitchFamily="34" charset="-128"/>
              </a:rPr>
              <a:t>操作系统设计与实现</a:t>
            </a:r>
          </a:p>
        </p:txBody>
      </p:sp>
    </p:spTree>
  </p:cSld>
  <p:clrMap bg1="lt1" tx1="dk1" bg2="lt2" tx2="dk2" accent1="accent1" accent2="accent2" accent3="accent3" accent4="accent4" accent5="accent5" accent6="accent6" hlink="hlink" folHlink="folHlink"/>
  <p:sldLayoutIdLst>
    <p:sldLayoutId id="2147483865"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66" r:id="rId12"/>
  </p:sldLayoutIdLst>
  <p:timing>
    <p:tnLst>
      <p:par>
        <p:cTn id="1" dur="indefinite" restart="never" nodeType="tmRoot"/>
      </p:par>
    </p:tnLst>
  </p:timing>
  <p:txStyles>
    <p:title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rgbClr val="993300"/>
        </a:buClr>
        <a:buSzPct val="90000"/>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anose="05000000000000000000"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anose="05030102010509060703"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anose="02020603050405020304"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png"/><Relationship Id="rId5" Type="http://schemas.openxmlformats.org/officeDocument/2006/relationships/image" Target="../media/image3.w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9.png"/></Relationships>
</file>

<file path=ppt/slides/_rels/slide5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3.jpeg"/></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5"/>
          <p:cNvSpPr>
            <a:spLocks noChangeArrowheads="1"/>
          </p:cNvSpPr>
          <p:nvPr/>
        </p:nvSpPr>
        <p:spPr bwMode="auto">
          <a:xfrm>
            <a:off x="990600" y="152400"/>
            <a:ext cx="6629400" cy="842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4400">
                <a:solidFill>
                  <a:srgbClr val="FF0000"/>
                </a:solidFill>
                <a:latin typeface="Arial Black" panose="020B0A04020102020204" pitchFamily="34" charset="0"/>
                <a:ea typeface="黑体" panose="02010609060101010101" pitchFamily="49" charset="-122"/>
              </a:rPr>
              <a:t>第</a:t>
            </a:r>
            <a:r>
              <a:rPr lang="en-US" altLang="zh-CN" sz="4400">
                <a:solidFill>
                  <a:srgbClr val="FF0000"/>
                </a:solidFill>
                <a:latin typeface="Arial Black" panose="020B0A04020102020204" pitchFamily="34" charset="0"/>
                <a:ea typeface="黑体" panose="02010609060101010101" pitchFamily="49" charset="-122"/>
              </a:rPr>
              <a:t>5</a:t>
            </a:r>
            <a:r>
              <a:rPr lang="zh-CN" altLang="en-US" sz="4400">
                <a:solidFill>
                  <a:srgbClr val="FF0000"/>
                </a:solidFill>
                <a:latin typeface="Arial Black" panose="020B0A04020102020204" pitchFamily="34" charset="0"/>
                <a:ea typeface="黑体" panose="02010609060101010101" pitchFamily="49" charset="-122"/>
              </a:rPr>
              <a:t>章 </a:t>
            </a:r>
            <a:r>
              <a:rPr lang="en-US" altLang="zh-CN" sz="4400">
                <a:solidFill>
                  <a:srgbClr val="FF0000"/>
                </a:solidFill>
                <a:latin typeface="Arial Black" panose="020B0A04020102020204" pitchFamily="34" charset="0"/>
                <a:ea typeface="黑体" panose="02010609060101010101" pitchFamily="49" charset="-122"/>
              </a:rPr>
              <a:t>CPU</a:t>
            </a:r>
            <a:r>
              <a:rPr lang="zh-CN" altLang="en-US" sz="4400">
                <a:solidFill>
                  <a:srgbClr val="FF0000"/>
                </a:solidFill>
                <a:latin typeface="Arial Black" panose="020B0A04020102020204" pitchFamily="34" charset="0"/>
                <a:ea typeface="黑体" panose="02010609060101010101" pitchFamily="49" charset="-122"/>
              </a:rPr>
              <a:t>调度</a:t>
            </a:r>
          </a:p>
        </p:txBody>
      </p:sp>
      <p:sp>
        <p:nvSpPr>
          <p:cNvPr id="4" name="Rectangle 3"/>
          <p:cNvSpPr txBox="1">
            <a:spLocks noChangeArrowheads="1"/>
          </p:cNvSpPr>
          <p:nvPr/>
        </p:nvSpPr>
        <p:spPr bwMode="auto">
          <a:xfrm>
            <a:off x="533400" y="1811338"/>
            <a:ext cx="8305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rgbClr val="993300"/>
              </a:buClr>
              <a:buSzPct val="90000"/>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anose="05000000000000000000"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anose="05030102010509060703"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anose="02020603050405020304"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algn="ctr" eaLnBrk="1" hangingPunct="1">
              <a:lnSpc>
                <a:spcPct val="90000"/>
              </a:lnSpc>
              <a:buFontTx/>
              <a:buNone/>
              <a:defRPr/>
            </a:pPr>
            <a:r>
              <a:rPr lang="zh-CN" altLang="en-US" kern="0" dirty="0" smtClean="0">
                <a:latin typeface="宋体" panose="02010600030101010101" pitchFamily="2" charset="-122"/>
                <a:cs typeface="Times New Roman" panose="02020603050405020304" pitchFamily="18" charset="0"/>
              </a:rPr>
              <a:t>主讲教师：曲明成</a:t>
            </a:r>
            <a:endParaRPr lang="zh-CN" altLang="en-US" sz="20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zh-CN" altLang="en-US" sz="2400" kern="0" dirty="0" smtClean="0">
                <a:latin typeface="宋体" panose="02010600030101010101" pitchFamily="2" charset="-122"/>
                <a:cs typeface="Times New Roman" panose="02020603050405020304" pitchFamily="18" charset="0"/>
              </a:rPr>
              <a:t>电   话：</a:t>
            </a:r>
            <a:r>
              <a:rPr lang="zh-CN" altLang="en-US" sz="2400" kern="0" dirty="0" smtClean="0">
                <a:solidFill>
                  <a:srgbClr val="A50021"/>
                </a:solidFill>
                <a:latin typeface="宋体" panose="02010600030101010101" pitchFamily="2" charset="-122"/>
                <a:cs typeface="Times New Roman" panose="02020603050405020304" pitchFamily="18" charset="0"/>
              </a:rPr>
              <a:t> </a:t>
            </a:r>
            <a:r>
              <a:rPr lang="en-US" altLang="zh-CN" sz="2400" kern="0" dirty="0" smtClean="0">
                <a:solidFill>
                  <a:srgbClr val="A50021"/>
                </a:solidFill>
                <a:latin typeface="宋体" panose="02010600030101010101" pitchFamily="2" charset="-122"/>
                <a:cs typeface="Times New Roman" panose="02020603050405020304" pitchFamily="18" charset="0"/>
              </a:rPr>
              <a:t>15645102418</a:t>
            </a:r>
          </a:p>
          <a:p>
            <a:pPr algn="ctr" eaLnBrk="1" hangingPunct="1">
              <a:lnSpc>
                <a:spcPct val="90000"/>
              </a:lnSpc>
              <a:buFontTx/>
              <a:buNone/>
              <a:defRPr/>
            </a:pPr>
            <a:r>
              <a:rPr lang="en-US" altLang="zh-CN" sz="2400" kern="0" dirty="0" smtClean="0">
                <a:latin typeface="宋体" panose="02010600030101010101" pitchFamily="2" charset="-122"/>
                <a:cs typeface="Times New Roman" panose="02020603050405020304" pitchFamily="18" charset="0"/>
              </a:rPr>
              <a:t>E-mail</a:t>
            </a:r>
            <a:r>
              <a:rPr lang="zh-CN" altLang="en-US" sz="2400" kern="0" dirty="0" smtClean="0">
                <a:latin typeface="宋体" panose="02010600030101010101" pitchFamily="2" charset="-122"/>
                <a:cs typeface="Times New Roman" panose="02020603050405020304" pitchFamily="18" charset="0"/>
              </a:rPr>
              <a:t>： </a:t>
            </a:r>
            <a:r>
              <a:rPr lang="en-US" altLang="zh-CN" sz="2400" kern="0" dirty="0" err="1" smtClean="0">
                <a:latin typeface="宋体" panose="02010600030101010101" pitchFamily="2" charset="-122"/>
                <a:cs typeface="Times New Roman" panose="02020603050405020304" pitchFamily="18" charset="0"/>
              </a:rPr>
              <a:t>qumingcheng@126.com</a:t>
            </a:r>
            <a:endParaRPr lang="en-US" altLang="zh-CN" sz="24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endParaRPr lang="en-US" altLang="zh-CN" sz="24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endParaRPr lang="en-US" altLang="zh-CN" sz="24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zh-CN" altLang="en-US" kern="0" dirty="0" smtClean="0">
                <a:solidFill>
                  <a:srgbClr val="993300"/>
                </a:solidFill>
                <a:latin typeface="宋体" panose="02010600030101010101" pitchFamily="2" charset="-122"/>
                <a:cs typeface="Times New Roman" panose="02020603050405020304" pitchFamily="18" charset="0"/>
              </a:rPr>
              <a:t>哈工大计算学部</a:t>
            </a:r>
            <a:r>
              <a:rPr lang="en-US" altLang="zh-CN" kern="0" dirty="0" smtClean="0">
                <a:solidFill>
                  <a:srgbClr val="993300"/>
                </a:solidFill>
                <a:latin typeface="宋体" panose="02010600030101010101" pitchFamily="2" charset="-122"/>
                <a:cs typeface="Times New Roman" panose="02020603050405020304" pitchFamily="18" charset="0"/>
              </a:rPr>
              <a:t>-</a:t>
            </a:r>
            <a:r>
              <a:rPr lang="zh-CN" altLang="en-US" kern="0" dirty="0" smtClean="0">
                <a:solidFill>
                  <a:srgbClr val="993300"/>
                </a:solidFill>
                <a:latin typeface="宋体" panose="02010600030101010101" pitchFamily="2" charset="-122"/>
                <a:cs typeface="Times New Roman" panose="02020603050405020304" pitchFamily="18" charset="0"/>
              </a:rPr>
              <a:t>智能软件中心</a:t>
            </a:r>
            <a:endParaRPr lang="zh-CN" altLang="en-US" sz="2000"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en-US" altLang="zh-CN" kern="0" dirty="0" smtClean="0">
                <a:latin typeface="宋体" panose="02010600030101010101" pitchFamily="2" charset="-122"/>
                <a:cs typeface="Times New Roman" panose="02020603050405020304" pitchFamily="18" charset="0"/>
              </a:rPr>
              <a:t>2021</a:t>
            </a:r>
            <a:r>
              <a:rPr lang="zh-CN" altLang="en-US" kern="0" dirty="0" smtClean="0">
                <a:latin typeface="宋体" panose="02010600030101010101" pitchFamily="2" charset="-122"/>
                <a:cs typeface="Times New Roman" panose="02020603050405020304" pitchFamily="18" charset="0"/>
              </a:rPr>
              <a:t>年</a:t>
            </a:r>
            <a:r>
              <a:rPr lang="en-US" altLang="zh-CN" kern="0" dirty="0" smtClean="0">
                <a:latin typeface="宋体" panose="02010600030101010101" pitchFamily="2" charset="-122"/>
                <a:cs typeface="Times New Roman" panose="02020603050405020304" pitchFamily="18" charset="0"/>
              </a:rPr>
              <a:t>4</a:t>
            </a:r>
            <a:r>
              <a:rPr lang="zh-CN" altLang="en-US" kern="0" smtClean="0">
                <a:latin typeface="宋体" panose="02010600030101010101" pitchFamily="2" charset="-122"/>
                <a:cs typeface="Times New Roman" panose="02020603050405020304" pitchFamily="18" charset="0"/>
              </a:rPr>
              <a:t>月</a:t>
            </a:r>
            <a:endParaRPr lang="en-US" altLang="zh-CN" kern="0" dirty="0" smtClean="0">
              <a:latin typeface="宋体" panose="02010600030101010101" pitchFamily="2" charset="-122"/>
              <a:cs typeface="Times New Roman" panose="02020603050405020304" pitchFamily="18" charset="0"/>
            </a:endParaRPr>
          </a:p>
          <a:p>
            <a:pPr algn="ctr" eaLnBrk="1" hangingPunct="1">
              <a:lnSpc>
                <a:spcPct val="90000"/>
              </a:lnSpc>
              <a:buFontTx/>
              <a:buNone/>
              <a:defRPr/>
            </a:pPr>
            <a:endParaRPr lang="en-US" altLang="zh-CN" kern="0" dirty="0">
              <a:latin typeface="宋体" panose="02010600030101010101" pitchFamily="2" charset="-122"/>
              <a:cs typeface="Times New Roman" panose="02020603050405020304" pitchFamily="18" charset="0"/>
            </a:endParaRPr>
          </a:p>
          <a:p>
            <a:pPr algn="ctr" eaLnBrk="1" hangingPunct="1">
              <a:lnSpc>
                <a:spcPct val="90000"/>
              </a:lnSpc>
              <a:buFontTx/>
              <a:buNone/>
              <a:defRPr/>
            </a:pPr>
            <a:r>
              <a:rPr lang="zh-CN" altLang="en-US" sz="2400" kern="0" dirty="0" smtClean="0">
                <a:latin typeface="宋体" panose="02010600030101010101" pitchFamily="2" charset="-122"/>
                <a:cs typeface="Times New Roman" panose="02020603050405020304" pitchFamily="18" charset="0"/>
              </a:rPr>
              <a:t>方向：</a:t>
            </a:r>
            <a:r>
              <a:rPr lang="en-US" altLang="zh-CN" sz="2400" kern="0" dirty="0" smtClean="0">
                <a:latin typeface="宋体" panose="02010600030101010101" pitchFamily="2" charset="-122"/>
                <a:cs typeface="Times New Roman" panose="02020603050405020304" pitchFamily="18" charset="0"/>
              </a:rPr>
              <a:t>AI</a:t>
            </a:r>
            <a:r>
              <a:rPr lang="zh-CN" altLang="en-US" sz="2400" kern="0" dirty="0">
                <a:latin typeface="宋体" panose="02010600030101010101" pitchFamily="2" charset="-122"/>
                <a:cs typeface="Times New Roman" panose="02020603050405020304" pitchFamily="18" charset="0"/>
              </a:rPr>
              <a:t>云</a:t>
            </a:r>
            <a:r>
              <a:rPr lang="zh-CN" altLang="en-US" sz="2400" kern="0" dirty="0" smtClean="0">
                <a:latin typeface="宋体" panose="02010600030101010101" pitchFamily="2" charset="-122"/>
                <a:cs typeface="Times New Roman" panose="02020603050405020304" pitchFamily="18" charset="0"/>
              </a:rPr>
              <a:t>脑及自学习对话、</a:t>
            </a:r>
            <a:r>
              <a:rPr lang="zh-CN" altLang="en-US" sz="2400" kern="0" dirty="0">
                <a:latin typeface="宋体" panose="02010600030101010101" pitchFamily="2" charset="-122"/>
                <a:cs typeface="Times New Roman" panose="02020603050405020304" pitchFamily="18" charset="0"/>
              </a:rPr>
              <a:t>物</a:t>
            </a:r>
            <a:r>
              <a:rPr lang="zh-CN" altLang="en-US" sz="2400" kern="0" dirty="0" smtClean="0">
                <a:latin typeface="宋体" panose="02010600030101010101" pitchFamily="2" charset="-122"/>
                <a:cs typeface="Times New Roman" panose="02020603050405020304" pitchFamily="18" charset="0"/>
              </a:rPr>
              <a:t>联网与大数据</a:t>
            </a:r>
            <a:endParaRPr lang="en-US" altLang="zh-CN" sz="2400" kern="0" dirty="0" smtClean="0">
              <a:latin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smtClean="0"/>
              <a:t>大纲</a:t>
            </a:r>
          </a:p>
        </p:txBody>
      </p:sp>
      <p:sp>
        <p:nvSpPr>
          <p:cNvPr id="6147" name="内容占位符 2"/>
          <p:cNvSpPr>
            <a:spLocks noGrp="1"/>
          </p:cNvSpPr>
          <p:nvPr>
            <p:ph idx="1"/>
          </p:nvPr>
        </p:nvSpPr>
        <p:spPr/>
        <p:txBody>
          <a:bodyPr/>
          <a:lstStyle/>
          <a:p>
            <a:r>
              <a:rPr lang="zh-CN" altLang="en-US" dirty="0" smtClean="0"/>
              <a:t>调度基本概念</a:t>
            </a:r>
            <a:endParaRPr lang="en-US" altLang="zh-CN" dirty="0" smtClean="0"/>
          </a:p>
          <a:p>
            <a:r>
              <a:rPr lang="zh-CN" altLang="en-US" dirty="0" smtClean="0"/>
              <a:t>调度准则</a:t>
            </a:r>
            <a:endParaRPr lang="en-US" altLang="zh-CN" dirty="0" smtClean="0"/>
          </a:p>
          <a:p>
            <a:r>
              <a:rPr lang="zh-CN" altLang="en-US" dirty="0" smtClean="0"/>
              <a:t>调度算法</a:t>
            </a:r>
            <a:endParaRPr lang="en-US" altLang="zh-CN" dirty="0" smtClean="0"/>
          </a:p>
          <a:p>
            <a:r>
              <a:rPr lang="zh-CN" altLang="en-US" dirty="0" smtClean="0"/>
              <a:t>案例分析</a:t>
            </a:r>
            <a:endParaRPr lang="en-US" altLang="zh-CN" dirty="0" smtClean="0"/>
          </a:p>
          <a:p>
            <a:endParaRPr lang="zh-CN" alt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124200" y="381000"/>
            <a:ext cx="32321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200">
                <a:latin typeface="黑体" panose="02010609060101010101" pitchFamily="49" charset="-122"/>
                <a:ea typeface="黑体" panose="02010609060101010101" pitchFamily="49" charset="-122"/>
              </a:rPr>
              <a:t>5.1 </a:t>
            </a:r>
            <a:r>
              <a:rPr lang="zh-CN" altLang="en-US" sz="3200">
                <a:latin typeface="黑体" panose="02010609060101010101" pitchFamily="49" charset="-122"/>
                <a:ea typeface="黑体" panose="02010609060101010101" pitchFamily="49" charset="-122"/>
              </a:rPr>
              <a:t>基本概念</a:t>
            </a:r>
          </a:p>
        </p:txBody>
      </p:sp>
      <p:sp>
        <p:nvSpPr>
          <p:cNvPr id="214026" name="Rectangle 10"/>
          <p:cNvSpPr>
            <a:spLocks noChangeArrowheads="1"/>
          </p:cNvSpPr>
          <p:nvPr/>
        </p:nvSpPr>
        <p:spPr bwMode="auto">
          <a:xfrm>
            <a:off x="714375" y="1147763"/>
            <a:ext cx="411480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a:solidFill>
                  <a:srgbClr val="CC0000"/>
                </a:solidFill>
                <a:latin typeface="黑体" panose="02010609060101010101" pitchFamily="49" charset="-122"/>
                <a:ea typeface="黑体" panose="02010609060101010101" pitchFamily="49" charset="-122"/>
              </a:rPr>
              <a:t>（</a:t>
            </a:r>
            <a:r>
              <a:rPr kumimoji="1" lang="en-US" altLang="zh-CN">
                <a:solidFill>
                  <a:srgbClr val="CC0000"/>
                </a:solidFill>
                <a:latin typeface="黑体" panose="02010609060101010101" pitchFamily="49" charset="-122"/>
                <a:ea typeface="黑体" panose="02010609060101010101" pitchFamily="49" charset="-122"/>
              </a:rPr>
              <a:t>1</a:t>
            </a:r>
            <a:r>
              <a:rPr kumimoji="1" lang="zh-CN" altLang="en-US">
                <a:solidFill>
                  <a:srgbClr val="CC0000"/>
                </a:solidFill>
                <a:latin typeface="黑体" panose="02010609060101010101" pitchFamily="49" charset="-122"/>
                <a:ea typeface="黑体" panose="02010609060101010101" pitchFamily="49" charset="-122"/>
              </a:rPr>
              <a:t>）什么是</a:t>
            </a:r>
            <a:r>
              <a:rPr kumimoji="1" lang="en-US" altLang="zh-CN">
                <a:solidFill>
                  <a:srgbClr val="CC0000"/>
                </a:solidFill>
                <a:latin typeface="黑体" panose="02010609060101010101" pitchFamily="49" charset="-122"/>
                <a:ea typeface="黑体" panose="02010609060101010101" pitchFamily="49" charset="-122"/>
              </a:rPr>
              <a:t>CPU</a:t>
            </a:r>
            <a:r>
              <a:rPr kumimoji="1" lang="zh-CN" altLang="en-US">
                <a:solidFill>
                  <a:srgbClr val="CC0000"/>
                </a:solidFill>
                <a:latin typeface="黑体" panose="02010609060101010101" pitchFamily="49" charset="-122"/>
                <a:ea typeface="黑体" panose="02010609060101010101" pitchFamily="49" charset="-122"/>
              </a:rPr>
              <a:t>调度</a:t>
            </a:r>
            <a:r>
              <a:rPr kumimoji="1" lang="zh-CN" altLang="en-US" sz="2400">
                <a:solidFill>
                  <a:srgbClr val="CC0000"/>
                </a:solidFill>
                <a:latin typeface="黑体" panose="02010609060101010101" pitchFamily="49" charset="-122"/>
                <a:ea typeface="黑体" panose="02010609060101010101" pitchFamily="49" charset="-122"/>
              </a:rPr>
              <a:t>？</a:t>
            </a:r>
          </a:p>
        </p:txBody>
      </p:sp>
      <p:sp>
        <p:nvSpPr>
          <p:cNvPr id="214027" name="Rectangle 11"/>
          <p:cNvSpPr>
            <a:spLocks noChangeArrowheads="1"/>
          </p:cNvSpPr>
          <p:nvPr/>
        </p:nvSpPr>
        <p:spPr bwMode="auto">
          <a:xfrm>
            <a:off x="533400" y="1600200"/>
            <a:ext cx="7858125" cy="16002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CC0000"/>
              </a:buClr>
            </a:pPr>
            <a:r>
              <a:rPr lang="en-US" altLang="zh-CN" sz="2200" dirty="0"/>
              <a:t> </a:t>
            </a:r>
            <a:r>
              <a:rPr lang="zh-CN" altLang="en-US" sz="2200" dirty="0"/>
              <a:t>每当</a:t>
            </a:r>
            <a:r>
              <a:rPr lang="en-US" altLang="zh-CN" sz="2200" dirty="0"/>
              <a:t>CPU</a:t>
            </a:r>
            <a:r>
              <a:rPr lang="zh-CN" altLang="en-US" sz="2200" dirty="0"/>
              <a:t>空闲时，操作系统必须按照一定的策略从</a:t>
            </a:r>
            <a:br>
              <a:rPr lang="zh-CN" altLang="en-US" sz="2200" dirty="0"/>
            </a:br>
            <a:r>
              <a:rPr lang="zh-CN" altLang="en-US" sz="2200" dirty="0"/>
              <a:t>    就绪队列当中选择一个进程来执行。</a:t>
            </a:r>
          </a:p>
          <a:p>
            <a:pPr eaLnBrk="1" hangingPunct="1">
              <a:spcBef>
                <a:spcPct val="0"/>
              </a:spcBef>
              <a:buClr>
                <a:srgbClr val="CC0000"/>
              </a:buClr>
            </a:pPr>
            <a:r>
              <a:rPr lang="zh-CN" altLang="en-US" sz="2200" dirty="0"/>
              <a:t> 调度的对象：进程或</a:t>
            </a:r>
            <a:r>
              <a:rPr lang="zh-CN" altLang="en-US" sz="2200" dirty="0" smtClean="0"/>
              <a:t>线程（任务），其</a:t>
            </a:r>
            <a:r>
              <a:rPr lang="zh-CN" altLang="en-US" sz="2200" dirty="0"/>
              <a:t>方式与原则是一样的。</a:t>
            </a:r>
            <a:br>
              <a:rPr lang="zh-CN" altLang="en-US" sz="2200" dirty="0"/>
            </a:br>
            <a:r>
              <a:rPr lang="zh-CN" altLang="en-US" sz="2200" dirty="0"/>
              <a:t>    故经常以进程来说明：</a:t>
            </a:r>
            <a:r>
              <a:rPr lang="zh-CN" altLang="en-US" sz="2200" dirty="0">
                <a:solidFill>
                  <a:srgbClr val="993366"/>
                </a:solidFill>
              </a:rPr>
              <a:t>进程调度 </a:t>
            </a:r>
            <a:r>
              <a:rPr lang="en-US" altLang="zh-CN" sz="2200" dirty="0">
                <a:solidFill>
                  <a:srgbClr val="993366"/>
                </a:solidFill>
              </a:rPr>
              <a:t>&lt;==&gt; CPU</a:t>
            </a:r>
            <a:r>
              <a:rPr lang="zh-CN" altLang="en-US" sz="2200" dirty="0">
                <a:solidFill>
                  <a:srgbClr val="993366"/>
                </a:solidFill>
              </a:rPr>
              <a:t>调度</a:t>
            </a:r>
          </a:p>
        </p:txBody>
      </p:sp>
      <p:sp>
        <p:nvSpPr>
          <p:cNvPr id="214028" name="Rectangle 12"/>
          <p:cNvSpPr>
            <a:spLocks noChangeArrowheads="1"/>
          </p:cNvSpPr>
          <p:nvPr/>
        </p:nvSpPr>
        <p:spPr bwMode="auto">
          <a:xfrm>
            <a:off x="714375" y="3276600"/>
            <a:ext cx="4114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a:solidFill>
                  <a:srgbClr val="CC0000"/>
                </a:solidFill>
                <a:latin typeface="黑体" panose="02010609060101010101" pitchFamily="49" charset="-122"/>
                <a:ea typeface="黑体" panose="02010609060101010101" pitchFamily="49" charset="-122"/>
              </a:rPr>
              <a:t>（</a:t>
            </a:r>
            <a:r>
              <a:rPr kumimoji="1" lang="en-US" altLang="zh-CN">
                <a:solidFill>
                  <a:srgbClr val="CC0000"/>
                </a:solidFill>
                <a:latin typeface="黑体" panose="02010609060101010101" pitchFamily="49" charset="-122"/>
                <a:ea typeface="黑体" panose="02010609060101010101" pitchFamily="49" charset="-122"/>
              </a:rPr>
              <a:t>2</a:t>
            </a:r>
            <a:r>
              <a:rPr kumimoji="1" lang="zh-CN" altLang="en-US">
                <a:solidFill>
                  <a:srgbClr val="CC0000"/>
                </a:solidFill>
                <a:latin typeface="黑体" panose="02010609060101010101" pitchFamily="49" charset="-122"/>
                <a:ea typeface="黑体" panose="02010609060101010101" pitchFamily="49" charset="-122"/>
              </a:rPr>
              <a:t>）</a:t>
            </a:r>
            <a:r>
              <a:rPr kumimoji="1" lang="en-US" altLang="zh-CN">
                <a:solidFill>
                  <a:srgbClr val="CC0000"/>
                </a:solidFill>
                <a:latin typeface="黑体" panose="02010609060101010101" pitchFamily="49" charset="-122"/>
                <a:ea typeface="黑体" panose="02010609060101010101" pitchFamily="49" charset="-122"/>
              </a:rPr>
              <a:t>CPU</a:t>
            </a:r>
            <a:r>
              <a:rPr kumimoji="1" lang="zh-CN" altLang="en-US">
                <a:solidFill>
                  <a:srgbClr val="CC0000"/>
                </a:solidFill>
                <a:latin typeface="黑体" panose="02010609060101010101" pitchFamily="49" charset="-122"/>
                <a:ea typeface="黑体" panose="02010609060101010101" pitchFamily="49" charset="-122"/>
              </a:rPr>
              <a:t>调度遵循什么原则？</a:t>
            </a:r>
          </a:p>
        </p:txBody>
      </p:sp>
      <p:sp>
        <p:nvSpPr>
          <p:cNvPr id="214029" name="Rectangle 13"/>
          <p:cNvSpPr>
            <a:spLocks noChangeArrowheads="1"/>
          </p:cNvSpPr>
          <p:nvPr/>
        </p:nvSpPr>
        <p:spPr bwMode="auto">
          <a:xfrm>
            <a:off x="533400" y="3733800"/>
            <a:ext cx="7858125" cy="28194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
                <a:srgbClr val="CC0000"/>
              </a:buClr>
            </a:pPr>
            <a:r>
              <a:rPr lang="en-US" altLang="zh-CN" sz="2200" dirty="0"/>
              <a:t> </a:t>
            </a:r>
            <a:r>
              <a:rPr lang="zh-CN" altLang="en-US" sz="2200" dirty="0"/>
              <a:t>总原则：资源</a:t>
            </a:r>
            <a:r>
              <a:rPr lang="zh-CN" altLang="en-US" sz="2200" dirty="0" smtClean="0"/>
              <a:t>高效利用、保证公平合理、满足应用时间需求</a:t>
            </a:r>
            <a:endParaRPr lang="zh-CN" altLang="en-US" sz="2200" dirty="0"/>
          </a:p>
          <a:p>
            <a:pPr eaLnBrk="1" hangingPunct="1">
              <a:spcBef>
                <a:spcPct val="0"/>
              </a:spcBef>
              <a:buClr>
                <a:srgbClr val="CC0000"/>
              </a:buClr>
            </a:pPr>
            <a:r>
              <a:rPr lang="zh-CN" altLang="en-US" sz="2200" dirty="0" smtClean="0"/>
              <a:t>一般包括如下度量指标：</a:t>
            </a:r>
            <a:endParaRPr lang="zh-CN" altLang="en-US" sz="2200" dirty="0"/>
          </a:p>
          <a:p>
            <a:pPr lvl="1" eaLnBrk="1" hangingPunct="1">
              <a:spcBef>
                <a:spcPct val="0"/>
              </a:spcBef>
              <a:buClr>
                <a:srgbClr val="CC0000"/>
              </a:buClr>
              <a:buSzPct val="90000"/>
              <a:buFont typeface="Wingdings" panose="05000000000000000000" pitchFamily="2" charset="2"/>
              <a:buChar char="Ø"/>
            </a:pPr>
            <a:r>
              <a:rPr lang="zh-CN" altLang="en-US" sz="2000" dirty="0"/>
              <a:t>  提高</a:t>
            </a:r>
            <a:r>
              <a:rPr lang="en-US" altLang="zh-CN" sz="2000" dirty="0"/>
              <a:t>CPU</a:t>
            </a:r>
            <a:r>
              <a:rPr lang="zh-CN" altLang="en-US" sz="2000" dirty="0"/>
              <a:t>利用率</a:t>
            </a:r>
          </a:p>
          <a:p>
            <a:pPr lvl="1" eaLnBrk="1" hangingPunct="1">
              <a:spcBef>
                <a:spcPct val="0"/>
              </a:spcBef>
              <a:buClr>
                <a:srgbClr val="CC0000"/>
              </a:buClr>
              <a:buSzPct val="90000"/>
              <a:buFont typeface="Wingdings" panose="05000000000000000000" pitchFamily="2" charset="2"/>
              <a:buChar char="Ø"/>
            </a:pPr>
            <a:r>
              <a:rPr lang="zh-CN" altLang="en-US" sz="2000" dirty="0"/>
              <a:t>  提高系统运算的吞吐量</a:t>
            </a:r>
          </a:p>
          <a:p>
            <a:pPr lvl="1" eaLnBrk="1" hangingPunct="1">
              <a:spcBef>
                <a:spcPct val="0"/>
              </a:spcBef>
              <a:buClr>
                <a:srgbClr val="CC0000"/>
              </a:buClr>
              <a:buSzPct val="90000"/>
              <a:buFont typeface="Wingdings" panose="05000000000000000000" pitchFamily="2" charset="2"/>
              <a:buChar char="Ø"/>
            </a:pPr>
            <a:r>
              <a:rPr lang="zh-CN" altLang="en-US" sz="2000" dirty="0"/>
              <a:t>  缩短进程的周转时间</a:t>
            </a:r>
          </a:p>
          <a:p>
            <a:pPr lvl="1" eaLnBrk="1" hangingPunct="1">
              <a:spcBef>
                <a:spcPct val="0"/>
              </a:spcBef>
              <a:buClr>
                <a:srgbClr val="CC0000"/>
              </a:buClr>
              <a:buSzPct val="90000"/>
              <a:buFont typeface="Wingdings" panose="05000000000000000000" pitchFamily="2" charset="2"/>
              <a:buChar char="Ø"/>
            </a:pPr>
            <a:r>
              <a:rPr lang="zh-CN" altLang="en-US" sz="2000" dirty="0"/>
              <a:t>  缩短进程的等待时间</a:t>
            </a:r>
          </a:p>
          <a:p>
            <a:pPr lvl="1" eaLnBrk="1" hangingPunct="1">
              <a:spcBef>
                <a:spcPct val="0"/>
              </a:spcBef>
              <a:buClr>
                <a:srgbClr val="CC0000"/>
              </a:buClr>
              <a:buSzPct val="90000"/>
              <a:buFont typeface="Wingdings" panose="05000000000000000000" pitchFamily="2" charset="2"/>
              <a:buChar char="Ø"/>
            </a:pPr>
            <a:r>
              <a:rPr lang="zh-CN" altLang="en-US" sz="2000" dirty="0"/>
              <a:t>  提高用户的响应满意度</a:t>
            </a:r>
          </a:p>
          <a:p>
            <a:pPr lvl="1" eaLnBrk="1" hangingPunct="1">
              <a:spcBef>
                <a:spcPct val="0"/>
              </a:spcBef>
              <a:buClr>
                <a:srgbClr val="CC0000"/>
              </a:buClr>
              <a:buSzPct val="90000"/>
              <a:buFont typeface="Wingdings" panose="05000000000000000000" pitchFamily="2" charset="2"/>
              <a:buChar char="Ø"/>
            </a:pPr>
            <a:r>
              <a:rPr lang="zh-CN" altLang="en-US" sz="2000" dirty="0"/>
              <a:t>      </a:t>
            </a:r>
            <a:r>
              <a:rPr lang="en-US" altLang="zh-CN" sz="2000"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14026"/>
                                        </p:tgtEl>
                                        <p:attrNameLst>
                                          <p:attrName>style.visibility</p:attrName>
                                        </p:attrNameLst>
                                      </p:cBhvr>
                                      <p:to>
                                        <p:strVal val="visible"/>
                                      </p:to>
                                    </p:set>
                                    <p:animEffect transition="in" filter="wipe(up)">
                                      <p:cBhvr>
                                        <p:cTn id="7" dur="1000"/>
                                        <p:tgtEl>
                                          <p:spTgt spid="214026"/>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14027"/>
                                        </p:tgtEl>
                                        <p:attrNameLst>
                                          <p:attrName>style.visibility</p:attrName>
                                        </p:attrNameLst>
                                      </p:cBhvr>
                                      <p:to>
                                        <p:strVal val="visible"/>
                                      </p:to>
                                    </p:set>
                                    <p:animEffect transition="in" filter="wipe(up)">
                                      <p:cBhvr>
                                        <p:cTn id="11" dur="1000"/>
                                        <p:tgtEl>
                                          <p:spTgt spid="21402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14028"/>
                                        </p:tgtEl>
                                        <p:attrNameLst>
                                          <p:attrName>style.visibility</p:attrName>
                                        </p:attrNameLst>
                                      </p:cBhvr>
                                      <p:to>
                                        <p:strVal val="visible"/>
                                      </p:to>
                                    </p:set>
                                    <p:animEffect transition="in" filter="wipe(up)">
                                      <p:cBhvr>
                                        <p:cTn id="16" dur="1000"/>
                                        <p:tgtEl>
                                          <p:spTgt spid="214028"/>
                                        </p:tgtEl>
                                      </p:cBhvr>
                                    </p:animEffect>
                                  </p:childTnLst>
                                </p:cTn>
                              </p:par>
                            </p:childTnLst>
                          </p:cTn>
                        </p:par>
                        <p:par>
                          <p:cTn id="17" fill="hold" nodeType="afterGroup">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214029"/>
                                        </p:tgtEl>
                                        <p:attrNameLst>
                                          <p:attrName>style.visibility</p:attrName>
                                        </p:attrNameLst>
                                      </p:cBhvr>
                                      <p:to>
                                        <p:strVal val="visible"/>
                                      </p:to>
                                    </p:set>
                                    <p:animEffect transition="in" filter="wipe(up)">
                                      <p:cBhvr>
                                        <p:cTn id="20" dur="1000"/>
                                        <p:tgtEl>
                                          <p:spTgt spid="214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6" grpId="0"/>
      <p:bldP spid="214027" grpId="0" animBg="1"/>
      <p:bldP spid="214028" grpId="0"/>
      <p:bldP spid="2140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124200" y="381000"/>
            <a:ext cx="32321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200">
                <a:latin typeface="黑体" panose="02010609060101010101" pitchFamily="49" charset="-122"/>
                <a:ea typeface="黑体" panose="02010609060101010101" pitchFamily="49" charset="-122"/>
              </a:rPr>
              <a:t>5.1 </a:t>
            </a:r>
            <a:r>
              <a:rPr lang="zh-CN" altLang="en-US" sz="3200">
                <a:latin typeface="黑体" panose="02010609060101010101" pitchFamily="49" charset="-122"/>
                <a:ea typeface="黑体" panose="02010609060101010101" pitchFamily="49" charset="-122"/>
              </a:rPr>
              <a:t>基本概念</a:t>
            </a:r>
          </a:p>
        </p:txBody>
      </p:sp>
      <p:sp>
        <p:nvSpPr>
          <p:cNvPr id="224259" name="Rectangle 3"/>
          <p:cNvSpPr>
            <a:spLocks noChangeArrowheads="1"/>
          </p:cNvSpPr>
          <p:nvPr/>
        </p:nvSpPr>
        <p:spPr bwMode="auto">
          <a:xfrm>
            <a:off x="714375" y="1147763"/>
            <a:ext cx="411480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sz="2400">
                <a:solidFill>
                  <a:srgbClr val="CC0000"/>
                </a:solidFill>
                <a:latin typeface="黑体" panose="02010609060101010101" pitchFamily="49" charset="-122"/>
                <a:ea typeface="黑体" panose="02010609060101010101" pitchFamily="49" charset="-122"/>
              </a:rPr>
              <a:t>（</a:t>
            </a:r>
            <a:r>
              <a:rPr kumimoji="1" lang="en-US" altLang="zh-CN" sz="2400">
                <a:solidFill>
                  <a:srgbClr val="CC0000"/>
                </a:solidFill>
                <a:latin typeface="黑体" panose="02010609060101010101" pitchFamily="49" charset="-122"/>
                <a:ea typeface="黑体" panose="02010609060101010101" pitchFamily="49" charset="-122"/>
              </a:rPr>
              <a:t>3</a:t>
            </a:r>
            <a:r>
              <a:rPr kumimoji="1" lang="zh-CN" altLang="en-US" sz="2400">
                <a:solidFill>
                  <a:srgbClr val="CC0000"/>
                </a:solidFill>
                <a:latin typeface="黑体" panose="02010609060101010101" pitchFamily="49" charset="-122"/>
                <a:ea typeface="黑体" panose="02010609060101010101" pitchFamily="49" charset="-122"/>
              </a:rPr>
              <a:t>）</a:t>
            </a:r>
            <a:r>
              <a:rPr kumimoji="1" lang="en-US" altLang="zh-CN" sz="2400">
                <a:solidFill>
                  <a:srgbClr val="CC0000"/>
                </a:solidFill>
                <a:latin typeface="黑体" panose="02010609060101010101" pitchFamily="49" charset="-122"/>
                <a:ea typeface="黑体" panose="02010609060101010101" pitchFamily="49" charset="-122"/>
              </a:rPr>
              <a:t>CPU-I/O</a:t>
            </a:r>
            <a:r>
              <a:rPr kumimoji="1" lang="zh-CN" altLang="en-US" sz="2400">
                <a:solidFill>
                  <a:srgbClr val="CC0000"/>
                </a:solidFill>
                <a:latin typeface="黑体" panose="02010609060101010101" pitchFamily="49" charset="-122"/>
                <a:ea typeface="黑体" panose="02010609060101010101" pitchFamily="49" charset="-122"/>
              </a:rPr>
              <a:t>区间周期</a:t>
            </a:r>
          </a:p>
        </p:txBody>
      </p:sp>
      <p:sp>
        <p:nvSpPr>
          <p:cNvPr id="224260" name="Rectangle 4"/>
          <p:cNvSpPr>
            <a:spLocks noChangeArrowheads="1"/>
          </p:cNvSpPr>
          <p:nvPr/>
        </p:nvSpPr>
        <p:spPr bwMode="auto">
          <a:xfrm>
            <a:off x="3505200" y="2057400"/>
            <a:ext cx="5410200" cy="38100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0"/>
              </a:spcBef>
              <a:buClr>
                <a:srgbClr val="CC0000"/>
              </a:buClr>
            </a:pPr>
            <a:r>
              <a:rPr lang="en-US" altLang="zh-CN" sz="2000"/>
              <a:t> </a:t>
            </a:r>
            <a:r>
              <a:rPr lang="zh-CN" altLang="en-US" sz="2000"/>
              <a:t>程序代码可以分为计算类代码和</a:t>
            </a:r>
            <a:r>
              <a:rPr lang="en-US" altLang="zh-CN" sz="2000"/>
              <a:t>I/O</a:t>
            </a:r>
            <a:r>
              <a:rPr lang="zh-CN" altLang="en-US" sz="2000"/>
              <a:t>类代码</a:t>
            </a:r>
          </a:p>
          <a:p>
            <a:pPr eaLnBrk="1" hangingPunct="1">
              <a:lnSpc>
                <a:spcPct val="140000"/>
              </a:lnSpc>
              <a:spcBef>
                <a:spcPct val="0"/>
              </a:spcBef>
              <a:buClr>
                <a:srgbClr val="CC0000"/>
              </a:buClr>
            </a:pPr>
            <a:r>
              <a:rPr lang="zh-CN" altLang="en-US" sz="2000"/>
              <a:t> 进程执行过程由</a:t>
            </a:r>
            <a:r>
              <a:rPr lang="en-US" altLang="zh-CN" sz="2000"/>
              <a:t>CPU</a:t>
            </a:r>
            <a:r>
              <a:rPr lang="zh-CN" altLang="en-US" sz="2000"/>
              <a:t>执行和</a:t>
            </a:r>
            <a:r>
              <a:rPr lang="en-US" altLang="zh-CN" sz="2000"/>
              <a:t>I/O</a:t>
            </a:r>
            <a:r>
              <a:rPr lang="zh-CN" altLang="en-US" sz="2000"/>
              <a:t>等待周期组成</a:t>
            </a:r>
          </a:p>
          <a:p>
            <a:pPr eaLnBrk="1" hangingPunct="1">
              <a:lnSpc>
                <a:spcPct val="140000"/>
              </a:lnSpc>
              <a:spcBef>
                <a:spcPct val="0"/>
              </a:spcBef>
              <a:buClr>
                <a:srgbClr val="CC0000"/>
              </a:buClr>
              <a:buFontTx/>
              <a:buNone/>
            </a:pPr>
            <a:r>
              <a:rPr lang="en-US" altLang="zh-CN" sz="2000"/>
              <a:t>CPU</a:t>
            </a:r>
            <a:r>
              <a:rPr lang="zh-CN" altLang="en-US" sz="2000"/>
              <a:t>区间和</a:t>
            </a:r>
            <a:r>
              <a:rPr lang="en-US" altLang="zh-CN" sz="2000"/>
              <a:t>I/O</a:t>
            </a:r>
            <a:r>
              <a:rPr lang="zh-CN" altLang="en-US" sz="2000"/>
              <a:t>区间</a:t>
            </a:r>
          </a:p>
          <a:p>
            <a:pPr eaLnBrk="1" hangingPunct="1">
              <a:lnSpc>
                <a:spcPct val="140000"/>
              </a:lnSpc>
              <a:spcBef>
                <a:spcPct val="0"/>
              </a:spcBef>
              <a:buClr>
                <a:srgbClr val="CC0000"/>
              </a:buClr>
            </a:pPr>
            <a:r>
              <a:rPr lang="zh-CN" altLang="en-US" sz="2000"/>
              <a:t> </a:t>
            </a:r>
            <a:r>
              <a:rPr lang="en-US" altLang="zh-CN" sz="2000"/>
              <a:t>CPU</a:t>
            </a:r>
            <a:r>
              <a:rPr lang="zh-CN" altLang="en-US" sz="2000"/>
              <a:t>约束型程序以计算为主，</a:t>
            </a:r>
            <a:r>
              <a:rPr lang="en-US" altLang="zh-CN" sz="2000"/>
              <a:t>CPU</a:t>
            </a:r>
            <a:r>
              <a:rPr lang="zh-CN" altLang="en-US" sz="2000"/>
              <a:t>区间会较</a:t>
            </a:r>
            <a:br>
              <a:rPr lang="zh-CN" altLang="en-US" sz="2000"/>
            </a:br>
            <a:r>
              <a:rPr lang="zh-CN" altLang="en-US" sz="2000"/>
              <a:t>    多，还会有少量长的</a:t>
            </a:r>
            <a:r>
              <a:rPr lang="en-US" altLang="zh-CN" sz="2000"/>
              <a:t>CPU</a:t>
            </a:r>
            <a:r>
              <a:rPr lang="zh-CN" altLang="en-US" sz="2000"/>
              <a:t>区间</a:t>
            </a:r>
          </a:p>
          <a:p>
            <a:pPr eaLnBrk="1" hangingPunct="1">
              <a:lnSpc>
                <a:spcPct val="140000"/>
              </a:lnSpc>
              <a:spcBef>
                <a:spcPct val="0"/>
              </a:spcBef>
              <a:buClr>
                <a:srgbClr val="CC0000"/>
              </a:buClr>
            </a:pPr>
            <a:r>
              <a:rPr lang="zh-CN" altLang="en-US" sz="2000"/>
              <a:t> </a:t>
            </a:r>
            <a:r>
              <a:rPr lang="en-US" altLang="zh-CN" sz="2000"/>
              <a:t>I/O</a:t>
            </a:r>
            <a:r>
              <a:rPr lang="zh-CN" altLang="en-US" sz="2000"/>
              <a:t>约束型程序以</a:t>
            </a:r>
            <a:r>
              <a:rPr lang="en-US" altLang="zh-CN" sz="2000"/>
              <a:t>I/O</a:t>
            </a:r>
            <a:r>
              <a:rPr lang="zh-CN" altLang="en-US" sz="2000"/>
              <a:t>为主，但配合</a:t>
            </a:r>
            <a:r>
              <a:rPr lang="en-US" altLang="zh-CN" sz="2000"/>
              <a:t>I/O</a:t>
            </a:r>
            <a:r>
              <a:rPr lang="zh-CN" altLang="en-US" sz="2000"/>
              <a:t>处理会</a:t>
            </a:r>
            <a:br>
              <a:rPr lang="zh-CN" altLang="en-US" sz="2000"/>
            </a:br>
            <a:r>
              <a:rPr lang="zh-CN" altLang="en-US" sz="2000"/>
              <a:t>    有大量短的</a:t>
            </a:r>
            <a:r>
              <a:rPr lang="en-US" altLang="zh-CN" sz="2000"/>
              <a:t>CPU</a:t>
            </a:r>
            <a:r>
              <a:rPr lang="zh-CN" altLang="en-US" sz="2000"/>
              <a:t>区间 </a:t>
            </a:r>
            <a:endParaRPr lang="zh-CN" altLang="en-US" sz="2000">
              <a:solidFill>
                <a:srgbClr val="993366"/>
              </a:solidFill>
            </a:endParaRPr>
          </a:p>
        </p:txBody>
      </p:sp>
      <p:grpSp>
        <p:nvGrpSpPr>
          <p:cNvPr id="9221" name="Group 15"/>
          <p:cNvGrpSpPr>
            <a:grpSpLocks/>
          </p:cNvGrpSpPr>
          <p:nvPr/>
        </p:nvGrpSpPr>
        <p:grpSpPr bwMode="auto">
          <a:xfrm>
            <a:off x="457200" y="1600200"/>
            <a:ext cx="2908300" cy="5037138"/>
            <a:chOff x="288" y="1051"/>
            <a:chExt cx="1832" cy="3173"/>
          </a:xfrm>
        </p:grpSpPr>
        <p:pic>
          <p:nvPicPr>
            <p:cNvPr id="9223"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 y="1051"/>
              <a:ext cx="1729" cy="3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Rectangle 9"/>
            <p:cNvSpPr>
              <a:spLocks noChangeArrowheads="1"/>
            </p:cNvSpPr>
            <p:nvPr/>
          </p:nvSpPr>
          <p:spPr bwMode="auto">
            <a:xfrm>
              <a:off x="1776" y="1536"/>
              <a:ext cx="336" cy="19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200"/>
                <a:t>区间</a:t>
              </a:r>
            </a:p>
          </p:txBody>
        </p:sp>
        <p:sp>
          <p:nvSpPr>
            <p:cNvPr id="9225" name="Rectangle 10"/>
            <p:cNvSpPr>
              <a:spLocks noChangeArrowheads="1"/>
            </p:cNvSpPr>
            <p:nvPr/>
          </p:nvSpPr>
          <p:spPr bwMode="auto">
            <a:xfrm>
              <a:off x="1712" y="1992"/>
              <a:ext cx="336" cy="19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200"/>
                <a:t>区间</a:t>
              </a:r>
            </a:p>
          </p:txBody>
        </p:sp>
        <p:sp>
          <p:nvSpPr>
            <p:cNvPr id="9226" name="Rectangle 11"/>
            <p:cNvSpPr>
              <a:spLocks noChangeArrowheads="1"/>
            </p:cNvSpPr>
            <p:nvPr/>
          </p:nvSpPr>
          <p:spPr bwMode="auto">
            <a:xfrm>
              <a:off x="1776" y="2368"/>
              <a:ext cx="336" cy="19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200"/>
                <a:t>区间</a:t>
              </a:r>
            </a:p>
          </p:txBody>
        </p:sp>
        <p:sp>
          <p:nvSpPr>
            <p:cNvPr id="9227" name="Rectangle 12"/>
            <p:cNvSpPr>
              <a:spLocks noChangeArrowheads="1"/>
            </p:cNvSpPr>
            <p:nvPr/>
          </p:nvSpPr>
          <p:spPr bwMode="auto">
            <a:xfrm>
              <a:off x="1712" y="2704"/>
              <a:ext cx="336" cy="19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200"/>
                <a:t>区间</a:t>
              </a:r>
            </a:p>
          </p:txBody>
        </p:sp>
        <p:sp>
          <p:nvSpPr>
            <p:cNvPr id="9228" name="Rectangle 13"/>
            <p:cNvSpPr>
              <a:spLocks noChangeArrowheads="1"/>
            </p:cNvSpPr>
            <p:nvPr/>
          </p:nvSpPr>
          <p:spPr bwMode="auto">
            <a:xfrm>
              <a:off x="1784" y="3176"/>
              <a:ext cx="336" cy="19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200"/>
                <a:t>区间</a:t>
              </a:r>
            </a:p>
          </p:txBody>
        </p:sp>
        <p:sp>
          <p:nvSpPr>
            <p:cNvPr id="9229" name="Rectangle 14"/>
            <p:cNvSpPr>
              <a:spLocks noChangeArrowheads="1"/>
            </p:cNvSpPr>
            <p:nvPr/>
          </p:nvSpPr>
          <p:spPr bwMode="auto">
            <a:xfrm>
              <a:off x="1720" y="3664"/>
              <a:ext cx="336" cy="19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200"/>
                <a:t>区间</a:t>
              </a:r>
            </a:p>
          </p:txBody>
        </p:sp>
      </p:grpSp>
      <p:sp>
        <p:nvSpPr>
          <p:cNvPr id="2" name="矩形 1"/>
          <p:cNvSpPr>
            <a:spLocks noChangeArrowheads="1"/>
          </p:cNvSpPr>
          <p:nvPr/>
        </p:nvSpPr>
        <p:spPr bwMode="auto">
          <a:xfrm>
            <a:off x="3365500" y="6007100"/>
            <a:ext cx="3305713"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0"/>
              </a:spcBef>
              <a:buClr>
                <a:srgbClr val="CC0000"/>
              </a:buClr>
              <a:buSzTx/>
              <a:buFontTx/>
              <a:buNone/>
            </a:pPr>
            <a:r>
              <a:rPr lang="zh-CN" altLang="en-US" sz="2400" dirty="0">
                <a:solidFill>
                  <a:srgbClr val="993366"/>
                </a:solidFill>
              </a:rPr>
              <a:t>比如微信、</a:t>
            </a:r>
            <a:r>
              <a:rPr lang="en-US" altLang="zh-CN" sz="2400" dirty="0">
                <a:solidFill>
                  <a:srgbClr val="993366"/>
                </a:solidFill>
              </a:rPr>
              <a:t>word</a:t>
            </a:r>
            <a:r>
              <a:rPr lang="zh-CN" altLang="en-US" sz="2400" dirty="0" smtClean="0">
                <a:solidFill>
                  <a:srgbClr val="993366"/>
                </a:solidFill>
              </a:rPr>
              <a:t>、</a:t>
            </a:r>
            <a:r>
              <a:rPr lang="en-US" altLang="zh-CN" sz="2400" dirty="0" err="1" smtClean="0">
                <a:solidFill>
                  <a:srgbClr val="993366"/>
                </a:solidFill>
              </a:rPr>
              <a:t>gcc</a:t>
            </a:r>
            <a:endParaRPr lang="zh-CN" altLang="en-US" sz="2400" dirty="0">
              <a:solidFill>
                <a:srgbClr val="993366"/>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24259"/>
                                        </p:tgtEl>
                                        <p:attrNameLst>
                                          <p:attrName>style.visibility</p:attrName>
                                        </p:attrNameLst>
                                      </p:cBhvr>
                                      <p:to>
                                        <p:strVal val="visible"/>
                                      </p:to>
                                    </p:set>
                                    <p:animEffect transition="in" filter="wipe(up)">
                                      <p:cBhvr>
                                        <p:cTn id="7" dur="1000"/>
                                        <p:tgtEl>
                                          <p:spTgt spid="224259"/>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24260"/>
                                        </p:tgtEl>
                                        <p:attrNameLst>
                                          <p:attrName>style.visibility</p:attrName>
                                        </p:attrNameLst>
                                      </p:cBhvr>
                                      <p:to>
                                        <p:strVal val="visible"/>
                                      </p:to>
                                    </p:set>
                                    <p:animEffect transition="in" filter="wipe(up)">
                                      <p:cBhvr>
                                        <p:cTn id="11" dur="1000"/>
                                        <p:tgtEl>
                                          <p:spTgt spid="22426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nodeType="clickEffect">
                                  <p:stCondLst>
                                    <p:cond delay="0"/>
                                  </p:stCondLst>
                                  <p:childTnLst>
                                    <p:set>
                                      <p:cBhvr>
                                        <p:cTn id="15" dur="1" fill="hold">
                                          <p:stCondLst>
                                            <p:cond delay="0"/>
                                          </p:stCondLst>
                                        </p:cTn>
                                        <p:tgtEl>
                                          <p:spTgt spid="224260">
                                            <p:txEl>
                                              <p:pRg st="0" end="0"/>
                                            </p:txEl>
                                          </p:spTgt>
                                        </p:tgtEl>
                                        <p:attrNameLst>
                                          <p:attrName>style.visibility</p:attrName>
                                        </p:attrNameLst>
                                      </p:cBhvr>
                                      <p:to>
                                        <p:strVal val="visible"/>
                                      </p:to>
                                    </p:set>
                                    <p:anim calcmode="lin" valueType="num">
                                      <p:cBhvr additive="base">
                                        <p:cTn id="16" dur="500" fill="hold"/>
                                        <p:tgtEl>
                                          <p:spTgt spid="224260">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2426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224260">
                                            <p:txEl>
                                              <p:pRg st="1" end="1"/>
                                            </p:txEl>
                                          </p:spTgt>
                                        </p:tgtEl>
                                        <p:attrNameLst>
                                          <p:attrName>style.visibility</p:attrName>
                                        </p:attrNameLst>
                                      </p:cBhvr>
                                      <p:to>
                                        <p:strVal val="visible"/>
                                      </p:to>
                                    </p:set>
                                    <p:anim calcmode="lin" valueType="num">
                                      <p:cBhvr additive="base">
                                        <p:cTn id="22" dur="500" fill="hold"/>
                                        <p:tgtEl>
                                          <p:spTgt spid="224260">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24260">
                                            <p:txEl>
                                              <p:pRg st="1" end="1"/>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24260">
                                            <p:txEl>
                                              <p:pRg st="2" end="2"/>
                                            </p:txEl>
                                          </p:spTgt>
                                        </p:tgtEl>
                                        <p:attrNameLst>
                                          <p:attrName>style.visibility</p:attrName>
                                        </p:attrNameLst>
                                      </p:cBhvr>
                                      <p:to>
                                        <p:strVal val="visible"/>
                                      </p:to>
                                    </p:set>
                                    <p:anim calcmode="lin" valueType="num">
                                      <p:cBhvr additive="base">
                                        <p:cTn id="26" dur="500" fill="hold"/>
                                        <p:tgtEl>
                                          <p:spTgt spid="224260">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22426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224260">
                                            <p:txEl>
                                              <p:pRg st="3" end="3"/>
                                            </p:txEl>
                                          </p:spTgt>
                                        </p:tgtEl>
                                        <p:attrNameLst>
                                          <p:attrName>style.visibility</p:attrName>
                                        </p:attrNameLst>
                                      </p:cBhvr>
                                      <p:to>
                                        <p:strVal val="visible"/>
                                      </p:to>
                                    </p:set>
                                    <p:anim calcmode="lin" valueType="num">
                                      <p:cBhvr additive="base">
                                        <p:cTn id="32" dur="500" fill="hold"/>
                                        <p:tgtEl>
                                          <p:spTgt spid="224260">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2426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224260">
                                            <p:txEl>
                                              <p:pRg st="4" end="4"/>
                                            </p:txEl>
                                          </p:spTgt>
                                        </p:tgtEl>
                                        <p:attrNameLst>
                                          <p:attrName>style.visibility</p:attrName>
                                        </p:attrNameLst>
                                      </p:cBhvr>
                                      <p:to>
                                        <p:strVal val="visible"/>
                                      </p:to>
                                    </p:set>
                                    <p:anim calcmode="lin" valueType="num">
                                      <p:cBhvr additive="base">
                                        <p:cTn id="38" dur="500" fill="hold"/>
                                        <p:tgtEl>
                                          <p:spTgt spid="224260">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2426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additive="base">
                                        <p:cTn id="44" dur="500" fill="hold"/>
                                        <p:tgtEl>
                                          <p:spTgt spid="2"/>
                                        </p:tgtEl>
                                        <p:attrNameLst>
                                          <p:attrName>ppt_x</p:attrName>
                                        </p:attrNameLst>
                                      </p:cBhvr>
                                      <p:tavLst>
                                        <p:tav tm="0">
                                          <p:val>
                                            <p:strVal val="#ppt_x"/>
                                          </p:val>
                                        </p:tav>
                                        <p:tav tm="100000">
                                          <p:val>
                                            <p:strVal val="#ppt_x"/>
                                          </p:val>
                                        </p:tav>
                                      </p:tavLst>
                                    </p:anim>
                                    <p:anim calcmode="lin" valueType="num">
                                      <p:cBhvr additive="base">
                                        <p:cTn id="4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p:bldP spid="224260" grpId="0" animBg="1"/>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3124200" y="381000"/>
            <a:ext cx="32321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200">
                <a:latin typeface="黑体" panose="02010609060101010101" pitchFamily="49" charset="-122"/>
                <a:ea typeface="黑体" panose="02010609060101010101" pitchFamily="49" charset="-122"/>
              </a:rPr>
              <a:t>5.1 </a:t>
            </a:r>
            <a:r>
              <a:rPr lang="zh-CN" altLang="en-US" sz="3200">
                <a:latin typeface="黑体" panose="02010609060101010101" pitchFamily="49" charset="-122"/>
                <a:ea typeface="黑体" panose="02010609060101010101" pitchFamily="49" charset="-122"/>
              </a:rPr>
              <a:t>基本概念</a:t>
            </a:r>
          </a:p>
        </p:txBody>
      </p:sp>
      <p:sp>
        <p:nvSpPr>
          <p:cNvPr id="10243" name="Rectangle 3"/>
          <p:cNvSpPr>
            <a:spLocks noChangeArrowheads="1"/>
          </p:cNvSpPr>
          <p:nvPr/>
        </p:nvSpPr>
        <p:spPr bwMode="auto">
          <a:xfrm>
            <a:off x="714375" y="1147763"/>
            <a:ext cx="411480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sz="2400">
                <a:solidFill>
                  <a:srgbClr val="CC0000"/>
                </a:solidFill>
                <a:latin typeface="黑体" panose="02010609060101010101" pitchFamily="49" charset="-122"/>
                <a:ea typeface="黑体" panose="02010609060101010101" pitchFamily="49" charset="-122"/>
              </a:rPr>
              <a:t>（</a:t>
            </a:r>
            <a:r>
              <a:rPr kumimoji="1" lang="en-US" altLang="zh-CN" sz="2400">
                <a:solidFill>
                  <a:srgbClr val="CC0000"/>
                </a:solidFill>
                <a:latin typeface="黑体" panose="02010609060101010101" pitchFamily="49" charset="-122"/>
                <a:ea typeface="黑体" panose="02010609060101010101" pitchFamily="49" charset="-122"/>
              </a:rPr>
              <a:t>3</a:t>
            </a:r>
            <a:r>
              <a:rPr kumimoji="1" lang="zh-CN" altLang="en-US" sz="2400">
                <a:solidFill>
                  <a:srgbClr val="CC0000"/>
                </a:solidFill>
                <a:latin typeface="黑体" panose="02010609060101010101" pitchFamily="49" charset="-122"/>
                <a:ea typeface="黑体" panose="02010609060101010101" pitchFamily="49" charset="-122"/>
              </a:rPr>
              <a:t>）</a:t>
            </a:r>
            <a:r>
              <a:rPr kumimoji="1" lang="en-US" altLang="zh-CN" sz="2400">
                <a:solidFill>
                  <a:srgbClr val="CC0000"/>
                </a:solidFill>
                <a:latin typeface="黑体" panose="02010609060101010101" pitchFamily="49" charset="-122"/>
                <a:ea typeface="黑体" panose="02010609060101010101" pitchFamily="49" charset="-122"/>
              </a:rPr>
              <a:t>CPU-I/O</a:t>
            </a:r>
            <a:r>
              <a:rPr kumimoji="1" lang="zh-CN" altLang="en-US" sz="2400">
                <a:solidFill>
                  <a:srgbClr val="CC0000"/>
                </a:solidFill>
                <a:latin typeface="黑体" panose="02010609060101010101" pitchFamily="49" charset="-122"/>
                <a:ea typeface="黑体" panose="02010609060101010101" pitchFamily="49" charset="-122"/>
              </a:rPr>
              <a:t>区间周期（续）</a:t>
            </a:r>
          </a:p>
        </p:txBody>
      </p:sp>
      <p:sp>
        <p:nvSpPr>
          <p:cNvPr id="227332" name="Rectangle 4"/>
          <p:cNvSpPr>
            <a:spLocks noChangeArrowheads="1"/>
          </p:cNvSpPr>
          <p:nvPr/>
        </p:nvSpPr>
        <p:spPr bwMode="auto">
          <a:xfrm>
            <a:off x="1143000" y="5791200"/>
            <a:ext cx="6705600" cy="4572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0"/>
              </a:spcBef>
              <a:buClr>
                <a:srgbClr val="CC0000"/>
              </a:buClr>
            </a:pPr>
            <a:r>
              <a:rPr lang="en-US" altLang="zh-CN" sz="2000" dirty="0"/>
              <a:t> </a:t>
            </a:r>
            <a:r>
              <a:rPr lang="zh-CN" altLang="en-US" sz="2000" dirty="0" smtClean="0"/>
              <a:t>实验证明</a:t>
            </a:r>
            <a:r>
              <a:rPr lang="zh-CN" altLang="en-US" sz="2000" dirty="0"/>
              <a:t>：进程中短的</a:t>
            </a:r>
            <a:r>
              <a:rPr lang="en-US" altLang="zh-CN" sz="2000" dirty="0"/>
              <a:t>CPU</a:t>
            </a:r>
            <a:r>
              <a:rPr lang="zh-CN" altLang="en-US" sz="2000" dirty="0"/>
              <a:t>区间出现的几率极高</a:t>
            </a:r>
            <a:endParaRPr lang="zh-CN" altLang="en-US" sz="2000" dirty="0">
              <a:solidFill>
                <a:srgbClr val="993366"/>
              </a:solidFill>
            </a:endParaRPr>
          </a:p>
        </p:txBody>
      </p:sp>
      <p:grpSp>
        <p:nvGrpSpPr>
          <p:cNvPr id="10245" name="Group 24"/>
          <p:cNvGrpSpPr>
            <a:grpSpLocks/>
          </p:cNvGrpSpPr>
          <p:nvPr/>
        </p:nvGrpSpPr>
        <p:grpSpPr bwMode="auto">
          <a:xfrm>
            <a:off x="1371600" y="1676400"/>
            <a:ext cx="5797550" cy="3886200"/>
            <a:chOff x="336" y="1104"/>
            <a:chExt cx="3652" cy="2448"/>
          </a:xfrm>
        </p:grpSpPr>
        <p:pic>
          <p:nvPicPr>
            <p:cNvPr id="10246"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 y="1104"/>
              <a:ext cx="3604" cy="2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7" name="Rectangle 22"/>
            <p:cNvSpPr>
              <a:spLocks noChangeArrowheads="1"/>
            </p:cNvSpPr>
            <p:nvPr/>
          </p:nvSpPr>
          <p:spPr bwMode="auto">
            <a:xfrm>
              <a:off x="1584" y="3360"/>
              <a:ext cx="1488" cy="19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a:t>区间持续长度（</a:t>
              </a:r>
              <a:r>
                <a:rPr lang="en-US" altLang="zh-CN" sz="1600"/>
                <a:t>ms</a:t>
              </a:r>
              <a:r>
                <a:rPr lang="zh-CN" altLang="en-US" sz="1600"/>
                <a:t>）</a:t>
              </a:r>
            </a:p>
          </p:txBody>
        </p:sp>
        <p:sp>
          <p:nvSpPr>
            <p:cNvPr id="10248" name="Rectangle 23"/>
            <p:cNvSpPr>
              <a:spLocks noChangeArrowheads="1"/>
            </p:cNvSpPr>
            <p:nvPr/>
          </p:nvSpPr>
          <p:spPr bwMode="auto">
            <a:xfrm rot="-5400000">
              <a:off x="-312" y="2088"/>
              <a:ext cx="1488" cy="19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a:t>出现频率（次数）</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27332"/>
                                        </p:tgtEl>
                                        <p:attrNameLst>
                                          <p:attrName>style.visibility</p:attrName>
                                        </p:attrNameLst>
                                      </p:cBhvr>
                                      <p:to>
                                        <p:strVal val="visible"/>
                                      </p:to>
                                    </p:set>
                                    <p:animEffect transition="in" filter="wipe(up)">
                                      <p:cBhvr>
                                        <p:cTn id="7" dur="1000"/>
                                        <p:tgtEl>
                                          <p:spTgt spid="227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Line 2"/>
          <p:cNvSpPr>
            <a:spLocks noChangeShapeType="1"/>
          </p:cNvSpPr>
          <p:nvPr/>
        </p:nvSpPr>
        <p:spPr bwMode="auto">
          <a:xfrm>
            <a:off x="2590800" y="5351463"/>
            <a:ext cx="2895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15" name="Freeform 3"/>
          <p:cNvSpPr>
            <a:spLocks/>
          </p:cNvSpPr>
          <p:nvPr/>
        </p:nvSpPr>
        <p:spPr bwMode="auto">
          <a:xfrm>
            <a:off x="2667000" y="3446463"/>
            <a:ext cx="3733800" cy="1295400"/>
          </a:xfrm>
          <a:custGeom>
            <a:avLst/>
            <a:gdLst>
              <a:gd name="T0" fmla="*/ 0 w 2544"/>
              <a:gd name="T1" fmla="*/ 2147483646 h 816"/>
              <a:gd name="T2" fmla="*/ 2147483646 w 2544"/>
              <a:gd name="T3" fmla="*/ 2147483646 h 816"/>
              <a:gd name="T4" fmla="*/ 2147483646 w 2544"/>
              <a:gd name="T5" fmla="*/ 2147483646 h 816"/>
              <a:gd name="T6" fmla="*/ 2147483646 w 2544"/>
              <a:gd name="T7" fmla="*/ 0 h 8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44" h="816">
                <a:moveTo>
                  <a:pt x="0" y="96"/>
                </a:moveTo>
                <a:lnTo>
                  <a:pt x="1488" y="816"/>
                </a:lnTo>
                <a:lnTo>
                  <a:pt x="2160" y="816"/>
                </a:lnTo>
                <a:lnTo>
                  <a:pt x="2544"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8" name="Rectangle 4"/>
          <p:cNvSpPr>
            <a:spLocks noGrp="1" noChangeArrowheads="1"/>
          </p:cNvSpPr>
          <p:nvPr>
            <p:ph type="title"/>
          </p:nvPr>
        </p:nvSpPr>
        <p:spPr>
          <a:xfrm>
            <a:off x="304800" y="1676400"/>
            <a:ext cx="6561138" cy="576263"/>
          </a:xfrm>
        </p:spPr>
        <p:txBody>
          <a:bodyPr/>
          <a:lstStyle/>
          <a:p>
            <a:pPr eaLnBrk="1" hangingPunct="1"/>
            <a:r>
              <a:rPr lang="zh-CN" altLang="en-US" sz="2400" smtClean="0">
                <a:solidFill>
                  <a:srgbClr val="CC0000"/>
                </a:solidFill>
                <a:latin typeface="Times New Roman" panose="02020603050405020304" pitchFamily="18" charset="0"/>
              </a:rPr>
              <a:t>调度情况</a:t>
            </a:r>
            <a:r>
              <a:rPr lang="en-US" altLang="zh-CN" sz="2400" smtClean="0">
                <a:solidFill>
                  <a:srgbClr val="CC0000"/>
                </a:solidFill>
                <a:latin typeface="Times New Roman" panose="02020603050405020304" pitchFamily="18" charset="0"/>
              </a:rPr>
              <a:t>1</a:t>
            </a:r>
            <a:r>
              <a:rPr lang="zh-CN" altLang="en-US" sz="2400" smtClean="0">
                <a:solidFill>
                  <a:srgbClr val="CC0000"/>
                </a:solidFill>
                <a:latin typeface="Times New Roman" panose="02020603050405020304" pitchFamily="18" charset="0"/>
              </a:rPr>
              <a:t>： 因等待某些事件而让出</a:t>
            </a:r>
            <a:r>
              <a:rPr lang="en-US" altLang="zh-CN" sz="2400" smtClean="0">
                <a:solidFill>
                  <a:srgbClr val="CC0000"/>
                </a:solidFill>
                <a:latin typeface="Times New Roman" panose="02020603050405020304" pitchFamily="18" charset="0"/>
              </a:rPr>
              <a:t>CPU</a:t>
            </a:r>
          </a:p>
        </p:txBody>
      </p:sp>
      <p:grpSp>
        <p:nvGrpSpPr>
          <p:cNvPr id="11269" name="Group 5"/>
          <p:cNvGrpSpPr>
            <a:grpSpLocks/>
          </p:cNvGrpSpPr>
          <p:nvPr/>
        </p:nvGrpSpPr>
        <p:grpSpPr bwMode="auto">
          <a:xfrm>
            <a:off x="511175" y="2425700"/>
            <a:ext cx="7947025" cy="469900"/>
            <a:chOff x="384" y="2584"/>
            <a:chExt cx="5006" cy="296"/>
          </a:xfrm>
        </p:grpSpPr>
        <p:sp>
          <p:nvSpPr>
            <p:cNvPr id="11335" name="Text Box 6"/>
            <p:cNvSpPr txBox="1">
              <a:spLocks noChangeArrowheads="1"/>
            </p:cNvSpPr>
            <p:nvPr/>
          </p:nvSpPr>
          <p:spPr bwMode="auto">
            <a:xfrm>
              <a:off x="384" y="2584"/>
              <a:ext cx="785" cy="296"/>
            </a:xfrm>
            <a:prstGeom prst="rect">
              <a:avLst/>
            </a:prstGeom>
            <a:solidFill>
              <a:srgbClr val="EAEAEA"/>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a:solidFill>
                    <a:srgbClr val="0F0C19"/>
                  </a:solidFill>
                </a:rPr>
                <a:t>sum</a:t>
              </a:r>
            </a:p>
          </p:txBody>
        </p:sp>
        <p:sp>
          <p:nvSpPr>
            <p:cNvPr id="11336" name="Line 7"/>
            <p:cNvSpPr>
              <a:spLocks noChangeShapeType="1"/>
            </p:cNvSpPr>
            <p:nvPr/>
          </p:nvSpPr>
          <p:spPr bwMode="auto">
            <a:xfrm>
              <a:off x="1169" y="2735"/>
              <a:ext cx="576" cy="0"/>
            </a:xfrm>
            <a:prstGeom prst="line">
              <a:avLst/>
            </a:prstGeom>
            <a:noFill/>
            <a:ln w="38100">
              <a:solidFill>
                <a:srgbClr val="0F0C19"/>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7" name="Text Box 8"/>
            <p:cNvSpPr txBox="1">
              <a:spLocks noChangeArrowheads="1"/>
            </p:cNvSpPr>
            <p:nvPr/>
          </p:nvSpPr>
          <p:spPr bwMode="auto">
            <a:xfrm>
              <a:off x="1748" y="2602"/>
              <a:ext cx="1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0F0C19"/>
                  </a:solidFill>
                </a:rPr>
                <a:t>(</a:t>
              </a:r>
              <a:r>
                <a:rPr lang="zh-CN" altLang="en-US" sz="2000">
                  <a:solidFill>
                    <a:srgbClr val="0F0C19"/>
                  </a:solidFill>
                </a:rPr>
                <a:t>等待文件输出</a:t>
              </a:r>
              <a:r>
                <a:rPr lang="en-US" altLang="zh-CN" sz="2000">
                  <a:solidFill>
                    <a:srgbClr val="0F0C19"/>
                  </a:solidFill>
                </a:rPr>
                <a:t>)</a:t>
              </a:r>
              <a:endParaRPr lang="en-US" altLang="zh-CN" sz="4400" b="0">
                <a:solidFill>
                  <a:srgbClr val="0F0C19"/>
                </a:solidFill>
              </a:endParaRPr>
            </a:p>
          </p:txBody>
        </p:sp>
        <p:sp>
          <p:nvSpPr>
            <p:cNvPr id="11338" name="Line 9"/>
            <p:cNvSpPr>
              <a:spLocks noChangeShapeType="1"/>
            </p:cNvSpPr>
            <p:nvPr/>
          </p:nvSpPr>
          <p:spPr bwMode="auto">
            <a:xfrm flipV="1">
              <a:off x="2945" y="2726"/>
              <a:ext cx="624" cy="4"/>
            </a:xfrm>
            <a:prstGeom prst="line">
              <a:avLst/>
            </a:prstGeom>
            <a:noFill/>
            <a:ln w="38100">
              <a:solidFill>
                <a:srgbClr val="0F0C19"/>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9" name="Line 10"/>
            <p:cNvSpPr>
              <a:spLocks noChangeShapeType="1"/>
            </p:cNvSpPr>
            <p:nvPr/>
          </p:nvSpPr>
          <p:spPr bwMode="auto">
            <a:xfrm>
              <a:off x="2945" y="2604"/>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0" name="Line 11"/>
            <p:cNvSpPr>
              <a:spLocks noChangeShapeType="1"/>
            </p:cNvSpPr>
            <p:nvPr/>
          </p:nvSpPr>
          <p:spPr bwMode="auto">
            <a:xfrm>
              <a:off x="1745" y="2603"/>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1" name="Text Box 12"/>
            <p:cNvSpPr txBox="1">
              <a:spLocks noChangeArrowheads="1"/>
            </p:cNvSpPr>
            <p:nvPr/>
          </p:nvSpPr>
          <p:spPr bwMode="auto">
            <a:xfrm>
              <a:off x="3569" y="2609"/>
              <a:ext cx="11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0F0C19"/>
                  </a:solidFill>
                </a:rPr>
                <a:t>(</a:t>
              </a:r>
              <a:r>
                <a:rPr lang="zh-CN" altLang="en-US" sz="2000">
                  <a:solidFill>
                    <a:srgbClr val="0F0C19"/>
                  </a:solidFill>
                </a:rPr>
                <a:t>等待文件输出</a:t>
              </a:r>
              <a:r>
                <a:rPr lang="en-US" altLang="zh-CN" sz="2000">
                  <a:solidFill>
                    <a:srgbClr val="0F0C19"/>
                  </a:solidFill>
                </a:rPr>
                <a:t>)</a:t>
              </a:r>
              <a:endParaRPr lang="en-US" altLang="zh-CN" sz="4400" b="0">
                <a:solidFill>
                  <a:srgbClr val="0F0C19"/>
                </a:solidFill>
              </a:endParaRPr>
            </a:p>
          </p:txBody>
        </p:sp>
        <p:sp>
          <p:nvSpPr>
            <p:cNvPr id="11342" name="Line 13"/>
            <p:cNvSpPr>
              <a:spLocks noChangeShapeType="1"/>
            </p:cNvSpPr>
            <p:nvPr/>
          </p:nvSpPr>
          <p:spPr bwMode="auto">
            <a:xfrm flipV="1">
              <a:off x="4766" y="2735"/>
              <a:ext cx="624" cy="4"/>
            </a:xfrm>
            <a:prstGeom prst="line">
              <a:avLst/>
            </a:prstGeom>
            <a:noFill/>
            <a:ln w="38100">
              <a:solidFill>
                <a:srgbClr val="0F0C19"/>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3" name="Line 14"/>
            <p:cNvSpPr>
              <a:spLocks noChangeShapeType="1"/>
            </p:cNvSpPr>
            <p:nvPr/>
          </p:nvSpPr>
          <p:spPr bwMode="auto">
            <a:xfrm>
              <a:off x="4766" y="2611"/>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4" name="Line 15"/>
            <p:cNvSpPr>
              <a:spLocks noChangeShapeType="1"/>
            </p:cNvSpPr>
            <p:nvPr/>
          </p:nvSpPr>
          <p:spPr bwMode="auto">
            <a:xfrm>
              <a:off x="3566" y="2610"/>
              <a:ext cx="0" cy="240"/>
            </a:xfrm>
            <a:prstGeom prst="line">
              <a:avLst/>
            </a:prstGeom>
            <a:noFill/>
            <a:ln w="57150">
              <a:solidFill>
                <a:srgbClr val="0F0C19"/>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8128" name="Group 16"/>
          <p:cNvGrpSpPr>
            <a:grpSpLocks/>
          </p:cNvGrpSpPr>
          <p:nvPr/>
        </p:nvGrpSpPr>
        <p:grpSpPr bwMode="auto">
          <a:xfrm>
            <a:off x="4648200" y="3141663"/>
            <a:ext cx="990600" cy="1371600"/>
            <a:chOff x="2208" y="528"/>
            <a:chExt cx="672" cy="1008"/>
          </a:xfrm>
        </p:grpSpPr>
        <p:sp>
          <p:nvSpPr>
            <p:cNvPr id="11332" name="Rectangle 17"/>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1333" name="Rectangle 18"/>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PCB1</a:t>
              </a:r>
            </a:p>
          </p:txBody>
        </p:sp>
        <p:sp>
          <p:nvSpPr>
            <p:cNvPr id="11334" name="Rectangle 19"/>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sp>
        <p:nvSpPr>
          <p:cNvPr id="218132" name="Line 20"/>
          <p:cNvSpPr>
            <a:spLocks noChangeShapeType="1"/>
          </p:cNvSpPr>
          <p:nvPr/>
        </p:nvSpPr>
        <p:spPr bwMode="auto">
          <a:xfrm>
            <a:off x="5638800" y="3294063"/>
            <a:ext cx="838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8133" name="Group 21"/>
          <p:cNvGrpSpPr>
            <a:grpSpLocks/>
          </p:cNvGrpSpPr>
          <p:nvPr/>
        </p:nvGrpSpPr>
        <p:grpSpPr bwMode="auto">
          <a:xfrm>
            <a:off x="6477000" y="3141663"/>
            <a:ext cx="990600" cy="1371600"/>
            <a:chOff x="2208" y="528"/>
            <a:chExt cx="672" cy="1008"/>
          </a:xfrm>
        </p:grpSpPr>
        <p:sp>
          <p:nvSpPr>
            <p:cNvPr id="11329" name="Rectangle 22"/>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1330" name="Rectangle 23"/>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PCB6</a:t>
              </a:r>
            </a:p>
          </p:txBody>
        </p:sp>
        <p:sp>
          <p:nvSpPr>
            <p:cNvPr id="11331" name="Rectangle 24"/>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218137" name="Group 25"/>
          <p:cNvGrpSpPr>
            <a:grpSpLocks/>
          </p:cNvGrpSpPr>
          <p:nvPr/>
        </p:nvGrpSpPr>
        <p:grpSpPr bwMode="auto">
          <a:xfrm>
            <a:off x="5638800" y="3294063"/>
            <a:ext cx="609600" cy="288925"/>
            <a:chOff x="4704" y="3019"/>
            <a:chExt cx="384" cy="182"/>
          </a:xfrm>
        </p:grpSpPr>
        <p:grpSp>
          <p:nvGrpSpPr>
            <p:cNvPr id="11323" name="Group 26"/>
            <p:cNvGrpSpPr>
              <a:grpSpLocks/>
            </p:cNvGrpSpPr>
            <p:nvPr/>
          </p:nvGrpSpPr>
          <p:grpSpPr bwMode="auto">
            <a:xfrm>
              <a:off x="4896" y="3019"/>
              <a:ext cx="192" cy="182"/>
              <a:chOff x="2448" y="2016"/>
              <a:chExt cx="192" cy="192"/>
            </a:xfrm>
          </p:grpSpPr>
          <p:sp>
            <p:nvSpPr>
              <p:cNvPr id="11325" name="Line 27"/>
              <p:cNvSpPr>
                <a:spLocks noChangeShapeType="1"/>
              </p:cNvSpPr>
              <p:nvPr/>
            </p:nvSpPr>
            <p:spPr bwMode="auto">
              <a:xfrm>
                <a:off x="2448" y="2112"/>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6" name="Line 28"/>
              <p:cNvSpPr>
                <a:spLocks noChangeShapeType="1"/>
              </p:cNvSpPr>
              <p:nvPr/>
            </p:nvSpPr>
            <p:spPr bwMode="auto">
              <a:xfrm>
                <a:off x="2496" y="2160"/>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7" name="Line 29"/>
              <p:cNvSpPr>
                <a:spLocks noChangeShapeType="1"/>
              </p:cNvSpPr>
              <p:nvPr/>
            </p:nvSpPr>
            <p:spPr bwMode="auto">
              <a:xfrm>
                <a:off x="2520" y="2208"/>
                <a:ext cx="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8" name="Line 30"/>
              <p:cNvSpPr>
                <a:spLocks noChangeShapeType="1"/>
              </p:cNvSpPr>
              <p:nvPr/>
            </p:nvSpPr>
            <p:spPr bwMode="auto">
              <a:xfrm>
                <a:off x="2544" y="2016"/>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324" name="Line 31"/>
            <p:cNvSpPr>
              <a:spLocks noChangeShapeType="1"/>
            </p:cNvSpPr>
            <p:nvPr/>
          </p:nvSpPr>
          <p:spPr bwMode="auto">
            <a:xfrm>
              <a:off x="4704" y="3019"/>
              <a:ext cx="2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8144" name="Line 32"/>
          <p:cNvSpPr>
            <a:spLocks noChangeShapeType="1"/>
          </p:cNvSpPr>
          <p:nvPr/>
        </p:nvSpPr>
        <p:spPr bwMode="auto">
          <a:xfrm>
            <a:off x="2438400" y="3294063"/>
            <a:ext cx="2209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45" name="Freeform 33"/>
          <p:cNvSpPr>
            <a:spLocks/>
          </p:cNvSpPr>
          <p:nvPr/>
        </p:nvSpPr>
        <p:spPr bwMode="auto">
          <a:xfrm>
            <a:off x="2667000" y="3446463"/>
            <a:ext cx="1905000" cy="1295400"/>
          </a:xfrm>
          <a:custGeom>
            <a:avLst/>
            <a:gdLst>
              <a:gd name="T0" fmla="*/ 0 w 2544"/>
              <a:gd name="T1" fmla="*/ 2147483646 h 816"/>
              <a:gd name="T2" fmla="*/ 2147483646 w 2544"/>
              <a:gd name="T3" fmla="*/ 2147483646 h 816"/>
              <a:gd name="T4" fmla="*/ 2147483646 w 2544"/>
              <a:gd name="T5" fmla="*/ 2147483646 h 816"/>
              <a:gd name="T6" fmla="*/ 2147483646 w 2544"/>
              <a:gd name="T7" fmla="*/ 0 h 8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44" h="816">
                <a:moveTo>
                  <a:pt x="0" y="96"/>
                </a:moveTo>
                <a:lnTo>
                  <a:pt x="1488" y="816"/>
                </a:lnTo>
                <a:lnTo>
                  <a:pt x="2160" y="816"/>
                </a:lnTo>
                <a:lnTo>
                  <a:pt x="2544"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46" name="Rectangle 34"/>
          <p:cNvSpPr>
            <a:spLocks noChangeArrowheads="1"/>
          </p:cNvSpPr>
          <p:nvPr/>
        </p:nvSpPr>
        <p:spPr bwMode="auto">
          <a:xfrm>
            <a:off x="2314575" y="3217863"/>
            <a:ext cx="990600" cy="306387"/>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Head</a:t>
            </a:r>
          </a:p>
        </p:txBody>
      </p:sp>
      <p:sp>
        <p:nvSpPr>
          <p:cNvPr id="218147" name="Rectangle 35"/>
          <p:cNvSpPr>
            <a:spLocks noChangeArrowheads="1"/>
          </p:cNvSpPr>
          <p:nvPr/>
        </p:nvSpPr>
        <p:spPr bwMode="auto">
          <a:xfrm>
            <a:off x="2314575" y="3524250"/>
            <a:ext cx="990600" cy="304800"/>
          </a:xfrm>
          <a:prstGeom prst="rect">
            <a:avLst/>
          </a:prstGeom>
          <a:solidFill>
            <a:srgbClr val="FF66CC"/>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Tail</a:t>
            </a:r>
          </a:p>
        </p:txBody>
      </p:sp>
      <p:sp>
        <p:nvSpPr>
          <p:cNvPr id="218148" name="Text Box 36"/>
          <p:cNvSpPr txBox="1">
            <a:spLocks noChangeArrowheads="1"/>
          </p:cNvSpPr>
          <p:nvPr/>
        </p:nvSpPr>
        <p:spPr bwMode="auto">
          <a:xfrm>
            <a:off x="1295400" y="3217863"/>
            <a:ext cx="9144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latin typeface="Century Gothic" panose="020B0502020202020204" pitchFamily="34" charset="0"/>
              </a:rPr>
              <a:t>磁盘等待队列</a:t>
            </a:r>
          </a:p>
        </p:txBody>
      </p:sp>
      <p:grpSp>
        <p:nvGrpSpPr>
          <p:cNvPr id="218149" name="Group 37"/>
          <p:cNvGrpSpPr>
            <a:grpSpLocks/>
          </p:cNvGrpSpPr>
          <p:nvPr/>
        </p:nvGrpSpPr>
        <p:grpSpPr bwMode="auto">
          <a:xfrm>
            <a:off x="7467600" y="3294063"/>
            <a:ext cx="609600" cy="288925"/>
            <a:chOff x="4704" y="3019"/>
            <a:chExt cx="384" cy="182"/>
          </a:xfrm>
        </p:grpSpPr>
        <p:grpSp>
          <p:nvGrpSpPr>
            <p:cNvPr id="11317" name="Group 38"/>
            <p:cNvGrpSpPr>
              <a:grpSpLocks/>
            </p:cNvGrpSpPr>
            <p:nvPr/>
          </p:nvGrpSpPr>
          <p:grpSpPr bwMode="auto">
            <a:xfrm>
              <a:off x="4896" y="3019"/>
              <a:ext cx="192" cy="182"/>
              <a:chOff x="2448" y="2016"/>
              <a:chExt cx="192" cy="192"/>
            </a:xfrm>
          </p:grpSpPr>
          <p:sp>
            <p:nvSpPr>
              <p:cNvPr id="11319" name="Line 39"/>
              <p:cNvSpPr>
                <a:spLocks noChangeShapeType="1"/>
              </p:cNvSpPr>
              <p:nvPr/>
            </p:nvSpPr>
            <p:spPr bwMode="auto">
              <a:xfrm>
                <a:off x="2448" y="2112"/>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0" name="Line 40"/>
              <p:cNvSpPr>
                <a:spLocks noChangeShapeType="1"/>
              </p:cNvSpPr>
              <p:nvPr/>
            </p:nvSpPr>
            <p:spPr bwMode="auto">
              <a:xfrm>
                <a:off x="2496" y="2160"/>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1" name="Line 41"/>
              <p:cNvSpPr>
                <a:spLocks noChangeShapeType="1"/>
              </p:cNvSpPr>
              <p:nvPr/>
            </p:nvSpPr>
            <p:spPr bwMode="auto">
              <a:xfrm>
                <a:off x="2520" y="2208"/>
                <a:ext cx="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2" name="Line 42"/>
              <p:cNvSpPr>
                <a:spLocks noChangeShapeType="1"/>
              </p:cNvSpPr>
              <p:nvPr/>
            </p:nvSpPr>
            <p:spPr bwMode="auto">
              <a:xfrm>
                <a:off x="2544" y="2016"/>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318" name="Line 43"/>
            <p:cNvSpPr>
              <a:spLocks noChangeShapeType="1"/>
            </p:cNvSpPr>
            <p:nvPr/>
          </p:nvSpPr>
          <p:spPr bwMode="auto">
            <a:xfrm>
              <a:off x="4704" y="3019"/>
              <a:ext cx="2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8156" name="Group 44"/>
          <p:cNvGrpSpPr>
            <a:grpSpLocks/>
          </p:cNvGrpSpPr>
          <p:nvPr/>
        </p:nvGrpSpPr>
        <p:grpSpPr bwMode="auto">
          <a:xfrm>
            <a:off x="4038600" y="5181600"/>
            <a:ext cx="990600" cy="1371600"/>
            <a:chOff x="2208" y="528"/>
            <a:chExt cx="672" cy="1008"/>
          </a:xfrm>
        </p:grpSpPr>
        <p:sp>
          <p:nvSpPr>
            <p:cNvPr id="11314" name="Rectangle 45"/>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1315" name="Rectangle 46"/>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PCB4</a:t>
              </a:r>
            </a:p>
          </p:txBody>
        </p:sp>
        <p:sp>
          <p:nvSpPr>
            <p:cNvPr id="11316" name="Rectangle 47"/>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218160" name="Group 48"/>
          <p:cNvGrpSpPr>
            <a:grpSpLocks/>
          </p:cNvGrpSpPr>
          <p:nvPr/>
        </p:nvGrpSpPr>
        <p:grpSpPr bwMode="auto">
          <a:xfrm>
            <a:off x="5486400" y="5181600"/>
            <a:ext cx="990600" cy="1371600"/>
            <a:chOff x="2208" y="528"/>
            <a:chExt cx="672" cy="1008"/>
          </a:xfrm>
        </p:grpSpPr>
        <p:sp>
          <p:nvSpPr>
            <p:cNvPr id="11311" name="Rectangle 49"/>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1312" name="Rectangle 50"/>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PCB8</a:t>
              </a:r>
            </a:p>
          </p:txBody>
        </p:sp>
        <p:sp>
          <p:nvSpPr>
            <p:cNvPr id="11313" name="Rectangle 51"/>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218164" name="Group 52"/>
          <p:cNvGrpSpPr>
            <a:grpSpLocks/>
          </p:cNvGrpSpPr>
          <p:nvPr/>
        </p:nvGrpSpPr>
        <p:grpSpPr bwMode="auto">
          <a:xfrm>
            <a:off x="7239000" y="5181600"/>
            <a:ext cx="990600" cy="1371600"/>
            <a:chOff x="2208" y="528"/>
            <a:chExt cx="672" cy="1008"/>
          </a:xfrm>
        </p:grpSpPr>
        <p:sp>
          <p:nvSpPr>
            <p:cNvPr id="11308" name="Rectangle 53"/>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1309" name="Rectangle 54"/>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PCB7</a:t>
              </a:r>
            </a:p>
          </p:txBody>
        </p:sp>
        <p:sp>
          <p:nvSpPr>
            <p:cNvPr id="11310" name="Rectangle 55"/>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218168" name="Group 56"/>
          <p:cNvGrpSpPr>
            <a:grpSpLocks/>
          </p:cNvGrpSpPr>
          <p:nvPr/>
        </p:nvGrpSpPr>
        <p:grpSpPr bwMode="auto">
          <a:xfrm>
            <a:off x="8534400" y="5334000"/>
            <a:ext cx="304800" cy="304800"/>
            <a:chOff x="2448" y="2016"/>
            <a:chExt cx="192" cy="192"/>
          </a:xfrm>
        </p:grpSpPr>
        <p:sp>
          <p:nvSpPr>
            <p:cNvPr id="11304" name="Line 57"/>
            <p:cNvSpPr>
              <a:spLocks noChangeShapeType="1"/>
            </p:cNvSpPr>
            <p:nvPr/>
          </p:nvSpPr>
          <p:spPr bwMode="auto">
            <a:xfrm>
              <a:off x="2448" y="2112"/>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5" name="Line 58"/>
            <p:cNvSpPr>
              <a:spLocks noChangeShapeType="1"/>
            </p:cNvSpPr>
            <p:nvPr/>
          </p:nvSpPr>
          <p:spPr bwMode="auto">
            <a:xfrm>
              <a:off x="2496" y="2160"/>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6" name="Line 59"/>
            <p:cNvSpPr>
              <a:spLocks noChangeShapeType="1"/>
            </p:cNvSpPr>
            <p:nvPr/>
          </p:nvSpPr>
          <p:spPr bwMode="auto">
            <a:xfrm>
              <a:off x="2520" y="2208"/>
              <a:ext cx="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7" name="Line 60"/>
            <p:cNvSpPr>
              <a:spLocks noChangeShapeType="1"/>
            </p:cNvSpPr>
            <p:nvPr/>
          </p:nvSpPr>
          <p:spPr bwMode="auto">
            <a:xfrm>
              <a:off x="2544" y="2016"/>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8173" name="Line 61"/>
          <p:cNvSpPr>
            <a:spLocks noChangeShapeType="1"/>
          </p:cNvSpPr>
          <p:nvPr/>
        </p:nvSpPr>
        <p:spPr bwMode="auto">
          <a:xfrm>
            <a:off x="5029200" y="5343525"/>
            <a:ext cx="457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74" name="Line 62"/>
          <p:cNvSpPr>
            <a:spLocks noChangeShapeType="1"/>
          </p:cNvSpPr>
          <p:nvPr/>
        </p:nvSpPr>
        <p:spPr bwMode="auto">
          <a:xfrm>
            <a:off x="6477000" y="5334000"/>
            <a:ext cx="762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75" name="Line 63"/>
          <p:cNvSpPr>
            <a:spLocks noChangeShapeType="1"/>
          </p:cNvSpPr>
          <p:nvPr/>
        </p:nvSpPr>
        <p:spPr bwMode="auto">
          <a:xfrm>
            <a:off x="8229600" y="5334000"/>
            <a:ext cx="457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76" name="Line 64"/>
          <p:cNvSpPr>
            <a:spLocks noChangeShapeType="1"/>
          </p:cNvSpPr>
          <p:nvPr/>
        </p:nvSpPr>
        <p:spPr bwMode="auto">
          <a:xfrm>
            <a:off x="2433638" y="5351463"/>
            <a:ext cx="1600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8177" name="Freeform 65"/>
          <p:cNvSpPr>
            <a:spLocks/>
          </p:cNvSpPr>
          <p:nvPr/>
        </p:nvSpPr>
        <p:spPr bwMode="auto">
          <a:xfrm>
            <a:off x="2819400" y="5410200"/>
            <a:ext cx="4419600" cy="1295400"/>
          </a:xfrm>
          <a:custGeom>
            <a:avLst/>
            <a:gdLst>
              <a:gd name="T0" fmla="*/ 0 w 3024"/>
              <a:gd name="T1" fmla="*/ 2147483646 h 912"/>
              <a:gd name="T2" fmla="*/ 2147483646 w 3024"/>
              <a:gd name="T3" fmla="*/ 2147483646 h 912"/>
              <a:gd name="T4" fmla="*/ 2147483646 w 3024"/>
              <a:gd name="T5" fmla="*/ 2147483646 h 912"/>
              <a:gd name="T6" fmla="*/ 2147483646 w 3024"/>
              <a:gd name="T7" fmla="*/ 0 h 9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24" h="912">
                <a:moveTo>
                  <a:pt x="0" y="192"/>
                </a:moveTo>
                <a:lnTo>
                  <a:pt x="816" y="912"/>
                </a:lnTo>
                <a:lnTo>
                  <a:pt x="2640" y="912"/>
                </a:lnTo>
                <a:lnTo>
                  <a:pt x="3024"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8178" name="Group 66"/>
          <p:cNvGrpSpPr>
            <a:grpSpLocks/>
          </p:cNvGrpSpPr>
          <p:nvPr/>
        </p:nvGrpSpPr>
        <p:grpSpPr bwMode="auto">
          <a:xfrm>
            <a:off x="2314575" y="5168900"/>
            <a:ext cx="990600" cy="611188"/>
            <a:chOff x="672" y="768"/>
            <a:chExt cx="720" cy="480"/>
          </a:xfrm>
        </p:grpSpPr>
        <p:sp>
          <p:nvSpPr>
            <p:cNvPr id="11302" name="Rectangle 67"/>
            <p:cNvSpPr>
              <a:spLocks noChangeArrowheads="1"/>
            </p:cNvSpPr>
            <p:nvPr/>
          </p:nvSpPr>
          <p:spPr bwMode="auto">
            <a:xfrm>
              <a:off x="672" y="768"/>
              <a:ext cx="720"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Head</a:t>
              </a:r>
            </a:p>
          </p:txBody>
        </p:sp>
        <p:sp>
          <p:nvSpPr>
            <p:cNvPr id="11303" name="Rectangle 68"/>
            <p:cNvSpPr>
              <a:spLocks noChangeArrowheads="1"/>
            </p:cNvSpPr>
            <p:nvPr/>
          </p:nvSpPr>
          <p:spPr bwMode="auto">
            <a:xfrm>
              <a:off x="672" y="1008"/>
              <a:ext cx="720" cy="240"/>
            </a:xfrm>
            <a:prstGeom prst="rect">
              <a:avLst/>
            </a:prstGeom>
            <a:solidFill>
              <a:srgbClr val="FF66CC"/>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Tail</a:t>
              </a:r>
            </a:p>
          </p:txBody>
        </p:sp>
      </p:grpSp>
      <p:sp>
        <p:nvSpPr>
          <p:cNvPr id="218181" name="Text Box 69"/>
          <p:cNvSpPr txBox="1">
            <a:spLocks noChangeArrowheads="1"/>
          </p:cNvSpPr>
          <p:nvPr/>
        </p:nvSpPr>
        <p:spPr bwMode="auto">
          <a:xfrm>
            <a:off x="1447800" y="5122863"/>
            <a:ext cx="7620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latin typeface="Century Gothic" panose="020B0502020202020204" pitchFamily="34" charset="0"/>
              </a:rPr>
              <a:t>就绪</a:t>
            </a:r>
          </a:p>
          <a:p>
            <a:pPr algn="ctr">
              <a:spcBef>
                <a:spcPct val="0"/>
              </a:spcBef>
              <a:buClrTx/>
              <a:buSzTx/>
              <a:buFontTx/>
              <a:buNone/>
            </a:pPr>
            <a:r>
              <a:rPr lang="zh-CN" altLang="en-US" sz="1800">
                <a:latin typeface="Century Gothic" panose="020B0502020202020204" pitchFamily="34" charset="0"/>
              </a:rPr>
              <a:t>队列</a:t>
            </a:r>
          </a:p>
        </p:txBody>
      </p:sp>
      <p:sp>
        <p:nvSpPr>
          <p:cNvPr id="11291" name="Rectangle 70"/>
          <p:cNvSpPr>
            <a:spLocks noChangeArrowheads="1"/>
          </p:cNvSpPr>
          <p:nvPr/>
        </p:nvSpPr>
        <p:spPr bwMode="auto">
          <a:xfrm>
            <a:off x="152400" y="3827463"/>
            <a:ext cx="1219200" cy="2057400"/>
          </a:xfrm>
          <a:prstGeom prst="rect">
            <a:avLst/>
          </a:prstGeom>
          <a:solidFill>
            <a:srgbClr val="EAEAEA"/>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r>
              <a:rPr lang="zh-CN" altLang="en-US" sz="1600">
                <a:latin typeface="Century Gothic" panose="020B0502020202020204" pitchFamily="34" charset="0"/>
              </a:rPr>
              <a:t>物理</a:t>
            </a:r>
            <a:r>
              <a:rPr lang="en-US" altLang="zh-CN" sz="1600">
                <a:latin typeface="Century Gothic" panose="020B0502020202020204" pitchFamily="34" charset="0"/>
              </a:rPr>
              <a:t>CPU </a:t>
            </a:r>
          </a:p>
        </p:txBody>
      </p:sp>
      <p:grpSp>
        <p:nvGrpSpPr>
          <p:cNvPr id="218183" name="Group 71"/>
          <p:cNvGrpSpPr>
            <a:grpSpLocks/>
          </p:cNvGrpSpPr>
          <p:nvPr/>
        </p:nvGrpSpPr>
        <p:grpSpPr bwMode="auto">
          <a:xfrm>
            <a:off x="257175" y="4132263"/>
            <a:ext cx="990600" cy="1371600"/>
            <a:chOff x="2208" y="528"/>
            <a:chExt cx="672" cy="1008"/>
          </a:xfrm>
        </p:grpSpPr>
        <p:sp>
          <p:nvSpPr>
            <p:cNvPr id="11299" name="Rectangle 72"/>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1300" name="Rectangle 73"/>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PCB6</a:t>
              </a:r>
            </a:p>
          </p:txBody>
        </p:sp>
        <p:sp>
          <p:nvSpPr>
            <p:cNvPr id="11301" name="Rectangle 74"/>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218187" name="Group 75"/>
          <p:cNvGrpSpPr>
            <a:grpSpLocks/>
          </p:cNvGrpSpPr>
          <p:nvPr/>
        </p:nvGrpSpPr>
        <p:grpSpPr bwMode="auto">
          <a:xfrm>
            <a:off x="261938" y="4117975"/>
            <a:ext cx="990600" cy="1371600"/>
            <a:chOff x="2208" y="528"/>
            <a:chExt cx="672" cy="1008"/>
          </a:xfrm>
        </p:grpSpPr>
        <p:sp>
          <p:nvSpPr>
            <p:cNvPr id="11296" name="Rectangle 76"/>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1297" name="Rectangle 77"/>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PCB4</a:t>
              </a:r>
            </a:p>
          </p:txBody>
        </p:sp>
        <p:sp>
          <p:nvSpPr>
            <p:cNvPr id="11298" name="Rectangle 78"/>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sp>
        <p:nvSpPr>
          <p:cNvPr id="11294" name="Rectangle 2"/>
          <p:cNvSpPr>
            <a:spLocks noChangeArrowheads="1"/>
          </p:cNvSpPr>
          <p:nvPr/>
        </p:nvSpPr>
        <p:spPr bwMode="auto">
          <a:xfrm>
            <a:off x="3124200" y="381000"/>
            <a:ext cx="32321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200">
                <a:latin typeface="黑体" panose="02010609060101010101" pitchFamily="49" charset="-122"/>
                <a:ea typeface="黑体" panose="02010609060101010101" pitchFamily="49" charset="-122"/>
              </a:rPr>
              <a:t>5.1 </a:t>
            </a:r>
            <a:r>
              <a:rPr lang="zh-CN" altLang="en-US" sz="3200">
                <a:latin typeface="黑体" panose="02010609060101010101" pitchFamily="49" charset="-122"/>
                <a:ea typeface="黑体" panose="02010609060101010101" pitchFamily="49" charset="-122"/>
              </a:rPr>
              <a:t>基本概念</a:t>
            </a:r>
          </a:p>
        </p:txBody>
      </p:sp>
      <p:sp>
        <p:nvSpPr>
          <p:cNvPr id="11295" name="Rectangle 81"/>
          <p:cNvSpPr>
            <a:spLocks noChangeArrowheads="1"/>
          </p:cNvSpPr>
          <p:nvPr/>
        </p:nvSpPr>
        <p:spPr bwMode="auto">
          <a:xfrm>
            <a:off x="714375" y="1147763"/>
            <a:ext cx="54578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sz="2400">
                <a:solidFill>
                  <a:srgbClr val="CC0000"/>
                </a:solidFill>
                <a:latin typeface="黑体" panose="02010609060101010101" pitchFamily="49" charset="-122"/>
                <a:ea typeface="黑体" panose="02010609060101010101" pitchFamily="49" charset="-122"/>
              </a:rPr>
              <a:t>（</a:t>
            </a:r>
            <a:r>
              <a:rPr kumimoji="1" lang="en-US" altLang="zh-CN" sz="2400">
                <a:solidFill>
                  <a:srgbClr val="CC0000"/>
                </a:solidFill>
                <a:latin typeface="黑体" panose="02010609060101010101" pitchFamily="49" charset="-122"/>
                <a:ea typeface="黑体" panose="02010609060101010101" pitchFamily="49" charset="-122"/>
              </a:rPr>
              <a:t>4</a:t>
            </a:r>
            <a:r>
              <a:rPr kumimoji="1" lang="zh-CN" altLang="en-US" sz="2400">
                <a:solidFill>
                  <a:srgbClr val="CC0000"/>
                </a:solidFill>
                <a:latin typeface="黑体" panose="02010609060101010101" pitchFamily="49" charset="-122"/>
                <a:ea typeface="黑体" panose="02010609060101010101" pitchFamily="49" charset="-122"/>
              </a:rPr>
              <a:t>）非抢占式调度与抢占式调度</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18128"/>
                                        </p:tgtEl>
                                        <p:attrNameLst>
                                          <p:attrName>style.visibility</p:attrName>
                                        </p:attrNameLst>
                                      </p:cBhvr>
                                      <p:to>
                                        <p:strVal val="visible"/>
                                      </p:to>
                                    </p:set>
                                    <p:animEffect transition="in" filter="dissolve">
                                      <p:cBhvr>
                                        <p:cTn id="7" dur="500"/>
                                        <p:tgtEl>
                                          <p:spTgt spid="218128"/>
                                        </p:tgtEl>
                                      </p:cBhvr>
                                    </p:animEffect>
                                  </p:childTnLst>
                                </p:cTn>
                              </p:par>
                              <p:par>
                                <p:cTn id="8" presetID="9" presetClass="entr" presetSubtype="0" fill="hold" nodeType="withEffect">
                                  <p:stCondLst>
                                    <p:cond delay="0"/>
                                  </p:stCondLst>
                                  <p:childTnLst>
                                    <p:set>
                                      <p:cBhvr>
                                        <p:cTn id="9" dur="1" fill="hold">
                                          <p:stCondLst>
                                            <p:cond delay="0"/>
                                          </p:stCondLst>
                                        </p:cTn>
                                        <p:tgtEl>
                                          <p:spTgt spid="218137"/>
                                        </p:tgtEl>
                                        <p:attrNameLst>
                                          <p:attrName>style.visibility</p:attrName>
                                        </p:attrNameLst>
                                      </p:cBhvr>
                                      <p:to>
                                        <p:strVal val="visible"/>
                                      </p:to>
                                    </p:set>
                                    <p:animEffect transition="in" filter="dissolve">
                                      <p:cBhvr>
                                        <p:cTn id="10" dur="500"/>
                                        <p:tgtEl>
                                          <p:spTgt spid="218137"/>
                                        </p:tgtEl>
                                      </p:cBhvr>
                                    </p:animEffect>
                                  </p:childTnLst>
                                </p:cTn>
                              </p:par>
                              <p:par>
                                <p:cTn id="11" presetID="9" presetClass="entr" presetSubtype="0" fill="hold" nodeType="withEffect">
                                  <p:stCondLst>
                                    <p:cond delay="0"/>
                                  </p:stCondLst>
                                  <p:childTnLst>
                                    <p:set>
                                      <p:cBhvr>
                                        <p:cTn id="12" dur="1" fill="hold">
                                          <p:stCondLst>
                                            <p:cond delay="0"/>
                                          </p:stCondLst>
                                        </p:cTn>
                                        <p:tgtEl>
                                          <p:spTgt spid="218144"/>
                                        </p:tgtEl>
                                        <p:attrNameLst>
                                          <p:attrName>style.visibility</p:attrName>
                                        </p:attrNameLst>
                                      </p:cBhvr>
                                      <p:to>
                                        <p:strVal val="visible"/>
                                      </p:to>
                                    </p:set>
                                    <p:animEffect transition="in" filter="dissolve">
                                      <p:cBhvr>
                                        <p:cTn id="13" dur="500"/>
                                        <p:tgtEl>
                                          <p:spTgt spid="218144"/>
                                        </p:tgtEl>
                                      </p:cBhvr>
                                    </p:animEffect>
                                  </p:childTnLst>
                                </p:cTn>
                              </p:par>
                              <p:par>
                                <p:cTn id="14" presetID="9" presetClass="entr" presetSubtype="0" fill="hold" nodeType="withEffect">
                                  <p:stCondLst>
                                    <p:cond delay="0"/>
                                  </p:stCondLst>
                                  <p:childTnLst>
                                    <p:set>
                                      <p:cBhvr>
                                        <p:cTn id="15" dur="1" fill="hold">
                                          <p:stCondLst>
                                            <p:cond delay="0"/>
                                          </p:stCondLst>
                                        </p:cTn>
                                        <p:tgtEl>
                                          <p:spTgt spid="218145"/>
                                        </p:tgtEl>
                                        <p:attrNameLst>
                                          <p:attrName>style.visibility</p:attrName>
                                        </p:attrNameLst>
                                      </p:cBhvr>
                                      <p:to>
                                        <p:strVal val="visible"/>
                                      </p:to>
                                    </p:set>
                                    <p:animEffect transition="in" filter="dissolve">
                                      <p:cBhvr>
                                        <p:cTn id="16" dur="500"/>
                                        <p:tgtEl>
                                          <p:spTgt spid="218145"/>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18146"/>
                                        </p:tgtEl>
                                        <p:attrNameLst>
                                          <p:attrName>style.visibility</p:attrName>
                                        </p:attrNameLst>
                                      </p:cBhvr>
                                      <p:to>
                                        <p:strVal val="visible"/>
                                      </p:to>
                                    </p:set>
                                    <p:animEffect transition="in" filter="dissolve">
                                      <p:cBhvr>
                                        <p:cTn id="19" dur="500"/>
                                        <p:tgtEl>
                                          <p:spTgt spid="21814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18147"/>
                                        </p:tgtEl>
                                        <p:attrNameLst>
                                          <p:attrName>style.visibility</p:attrName>
                                        </p:attrNameLst>
                                      </p:cBhvr>
                                      <p:to>
                                        <p:strVal val="visible"/>
                                      </p:to>
                                    </p:set>
                                    <p:animEffect transition="in" filter="dissolve">
                                      <p:cBhvr>
                                        <p:cTn id="22" dur="500"/>
                                        <p:tgtEl>
                                          <p:spTgt spid="218147"/>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18148"/>
                                        </p:tgtEl>
                                        <p:attrNameLst>
                                          <p:attrName>style.visibility</p:attrName>
                                        </p:attrNameLst>
                                      </p:cBhvr>
                                      <p:to>
                                        <p:strVal val="visible"/>
                                      </p:to>
                                    </p:set>
                                    <p:animEffect transition="in" filter="dissolve">
                                      <p:cBhvr>
                                        <p:cTn id="25" dur="500"/>
                                        <p:tgtEl>
                                          <p:spTgt spid="21814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xit" presetSubtype="0" fill="hold" nodeType="clickEffect">
                                  <p:stCondLst>
                                    <p:cond delay="0"/>
                                  </p:stCondLst>
                                  <p:childTnLst>
                                    <p:animEffect transition="out" filter="dissolve">
                                      <p:cBhvr>
                                        <p:cTn id="29" dur="500"/>
                                        <p:tgtEl>
                                          <p:spTgt spid="218183"/>
                                        </p:tgtEl>
                                      </p:cBhvr>
                                    </p:animEffect>
                                    <p:set>
                                      <p:cBhvr>
                                        <p:cTn id="30" dur="1" fill="hold">
                                          <p:stCondLst>
                                            <p:cond delay="499"/>
                                          </p:stCondLst>
                                        </p:cTn>
                                        <p:tgtEl>
                                          <p:spTgt spid="218183"/>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218133"/>
                                        </p:tgtEl>
                                        <p:attrNameLst>
                                          <p:attrName>style.visibility</p:attrName>
                                        </p:attrNameLst>
                                      </p:cBhvr>
                                      <p:to>
                                        <p:strVal val="visible"/>
                                      </p:to>
                                    </p:set>
                                    <p:animEffect transition="in" filter="dissolve">
                                      <p:cBhvr>
                                        <p:cTn id="35" dur="500"/>
                                        <p:tgtEl>
                                          <p:spTgt spid="218133"/>
                                        </p:tgtEl>
                                      </p:cBhvr>
                                    </p:animEffect>
                                  </p:childTnLst>
                                </p:cTn>
                              </p:par>
                            </p:childTnLst>
                          </p:cTn>
                        </p:par>
                        <p:par>
                          <p:cTn id="36" fill="hold" nodeType="afterGroup">
                            <p:stCondLst>
                              <p:cond delay="500"/>
                            </p:stCondLst>
                            <p:childTnLst>
                              <p:par>
                                <p:cTn id="37" presetID="9" presetClass="entr" presetSubtype="0" fill="hold" nodeType="afterEffect">
                                  <p:stCondLst>
                                    <p:cond delay="0"/>
                                  </p:stCondLst>
                                  <p:childTnLst>
                                    <p:set>
                                      <p:cBhvr>
                                        <p:cTn id="38" dur="1" fill="hold">
                                          <p:stCondLst>
                                            <p:cond delay="0"/>
                                          </p:stCondLst>
                                        </p:cTn>
                                        <p:tgtEl>
                                          <p:spTgt spid="218149"/>
                                        </p:tgtEl>
                                        <p:attrNameLst>
                                          <p:attrName>style.visibility</p:attrName>
                                        </p:attrNameLst>
                                      </p:cBhvr>
                                      <p:to>
                                        <p:strVal val="visible"/>
                                      </p:to>
                                    </p:set>
                                    <p:animEffect transition="in" filter="dissolve">
                                      <p:cBhvr>
                                        <p:cTn id="39" dur="500"/>
                                        <p:tgtEl>
                                          <p:spTgt spid="21814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xit" presetSubtype="0" fill="hold" nodeType="clickEffect">
                                  <p:stCondLst>
                                    <p:cond delay="0"/>
                                  </p:stCondLst>
                                  <p:childTnLst>
                                    <p:set>
                                      <p:cBhvr>
                                        <p:cTn id="43" dur="1" fill="hold">
                                          <p:stCondLst>
                                            <p:cond delay="0"/>
                                          </p:stCondLst>
                                        </p:cTn>
                                        <p:tgtEl>
                                          <p:spTgt spid="218137"/>
                                        </p:tgtEl>
                                        <p:attrNameLst>
                                          <p:attrName>style.visibility</p:attrName>
                                        </p:attrNameLst>
                                      </p:cBhvr>
                                      <p:to>
                                        <p:strVal val="hidden"/>
                                      </p:to>
                                    </p:set>
                                  </p:childTnLst>
                                </p:cTn>
                              </p:par>
                            </p:childTnLst>
                          </p:cTn>
                        </p:par>
                        <p:par>
                          <p:cTn id="44" fill="hold" nodeType="afterGroup">
                            <p:stCondLst>
                              <p:cond delay="0"/>
                            </p:stCondLst>
                            <p:childTnLst>
                              <p:par>
                                <p:cTn id="45" presetID="17" presetClass="entr" presetSubtype="8" fill="hold" nodeType="afterEffect">
                                  <p:stCondLst>
                                    <p:cond delay="0"/>
                                  </p:stCondLst>
                                  <p:childTnLst>
                                    <p:set>
                                      <p:cBhvr>
                                        <p:cTn id="46" dur="1" fill="hold">
                                          <p:stCondLst>
                                            <p:cond delay="0"/>
                                          </p:stCondLst>
                                        </p:cTn>
                                        <p:tgtEl>
                                          <p:spTgt spid="218132"/>
                                        </p:tgtEl>
                                        <p:attrNameLst>
                                          <p:attrName>style.visibility</p:attrName>
                                        </p:attrNameLst>
                                      </p:cBhvr>
                                      <p:to>
                                        <p:strVal val="visible"/>
                                      </p:to>
                                    </p:set>
                                    <p:anim calcmode="lin" valueType="num">
                                      <p:cBhvr>
                                        <p:cTn id="47" dur="500" fill="hold"/>
                                        <p:tgtEl>
                                          <p:spTgt spid="218132"/>
                                        </p:tgtEl>
                                        <p:attrNameLst>
                                          <p:attrName>ppt_x</p:attrName>
                                        </p:attrNameLst>
                                      </p:cBhvr>
                                      <p:tavLst>
                                        <p:tav tm="0">
                                          <p:val>
                                            <p:strVal val="#ppt_x-#ppt_w/2"/>
                                          </p:val>
                                        </p:tav>
                                        <p:tav tm="100000">
                                          <p:val>
                                            <p:strVal val="#ppt_x"/>
                                          </p:val>
                                        </p:tav>
                                      </p:tavLst>
                                    </p:anim>
                                    <p:anim calcmode="lin" valueType="num">
                                      <p:cBhvr>
                                        <p:cTn id="48" dur="500" fill="hold"/>
                                        <p:tgtEl>
                                          <p:spTgt spid="218132"/>
                                        </p:tgtEl>
                                        <p:attrNameLst>
                                          <p:attrName>ppt_y</p:attrName>
                                        </p:attrNameLst>
                                      </p:cBhvr>
                                      <p:tavLst>
                                        <p:tav tm="0">
                                          <p:val>
                                            <p:strVal val="#ppt_y"/>
                                          </p:val>
                                        </p:tav>
                                        <p:tav tm="100000">
                                          <p:val>
                                            <p:strVal val="#ppt_y"/>
                                          </p:val>
                                        </p:tav>
                                      </p:tavLst>
                                    </p:anim>
                                    <p:anim calcmode="lin" valueType="num">
                                      <p:cBhvr>
                                        <p:cTn id="49" dur="500" fill="hold"/>
                                        <p:tgtEl>
                                          <p:spTgt spid="218132"/>
                                        </p:tgtEl>
                                        <p:attrNameLst>
                                          <p:attrName>ppt_w</p:attrName>
                                        </p:attrNameLst>
                                      </p:cBhvr>
                                      <p:tavLst>
                                        <p:tav tm="0">
                                          <p:val>
                                            <p:fltVal val="0"/>
                                          </p:val>
                                        </p:tav>
                                        <p:tav tm="100000">
                                          <p:val>
                                            <p:strVal val="#ppt_w"/>
                                          </p:val>
                                        </p:tav>
                                      </p:tavLst>
                                    </p:anim>
                                    <p:anim calcmode="lin" valueType="num">
                                      <p:cBhvr>
                                        <p:cTn id="50" dur="500" fill="hold"/>
                                        <p:tgtEl>
                                          <p:spTgt spid="218132"/>
                                        </p:tgtEl>
                                        <p:attrNameLst>
                                          <p:attrName>ppt_h</p:attrName>
                                        </p:attrNameLst>
                                      </p:cBhvr>
                                      <p:tavLst>
                                        <p:tav tm="0">
                                          <p:val>
                                            <p:strVal val="#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xit" presetSubtype="0" fill="hold" nodeType="clickEffect">
                                  <p:stCondLst>
                                    <p:cond delay="0"/>
                                  </p:stCondLst>
                                  <p:childTnLst>
                                    <p:set>
                                      <p:cBhvr>
                                        <p:cTn id="54" dur="1" fill="hold">
                                          <p:stCondLst>
                                            <p:cond delay="0"/>
                                          </p:stCondLst>
                                        </p:cTn>
                                        <p:tgtEl>
                                          <p:spTgt spid="218145"/>
                                        </p:tgtEl>
                                        <p:attrNameLst>
                                          <p:attrName>style.visibility</p:attrName>
                                        </p:attrNameLst>
                                      </p:cBhvr>
                                      <p:to>
                                        <p:strVal val="hidden"/>
                                      </p:to>
                                    </p:set>
                                  </p:childTnLst>
                                </p:cTn>
                              </p:par>
                            </p:childTnLst>
                          </p:cTn>
                        </p:par>
                        <p:par>
                          <p:cTn id="55" fill="hold" nodeType="afterGroup">
                            <p:stCondLst>
                              <p:cond delay="0"/>
                            </p:stCondLst>
                            <p:childTnLst>
                              <p:par>
                                <p:cTn id="56" presetID="22" presetClass="entr" presetSubtype="8" fill="hold" nodeType="afterEffect">
                                  <p:stCondLst>
                                    <p:cond delay="0"/>
                                  </p:stCondLst>
                                  <p:childTnLst>
                                    <p:set>
                                      <p:cBhvr>
                                        <p:cTn id="57" dur="1" fill="hold">
                                          <p:stCondLst>
                                            <p:cond delay="0"/>
                                          </p:stCondLst>
                                        </p:cTn>
                                        <p:tgtEl>
                                          <p:spTgt spid="218115"/>
                                        </p:tgtEl>
                                        <p:attrNameLst>
                                          <p:attrName>style.visibility</p:attrName>
                                        </p:attrNameLst>
                                      </p:cBhvr>
                                      <p:to>
                                        <p:strVal val="visible"/>
                                      </p:to>
                                    </p:set>
                                    <p:animEffect transition="in" filter="wipe(left)">
                                      <p:cBhvr>
                                        <p:cTn id="58" dur="1000"/>
                                        <p:tgtEl>
                                          <p:spTgt spid="21811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9" presetClass="entr" presetSubtype="0" fill="hold" nodeType="clickEffect">
                                  <p:stCondLst>
                                    <p:cond delay="0"/>
                                  </p:stCondLst>
                                  <p:childTnLst>
                                    <p:set>
                                      <p:cBhvr>
                                        <p:cTn id="62" dur="1" fill="hold">
                                          <p:stCondLst>
                                            <p:cond delay="0"/>
                                          </p:stCondLst>
                                        </p:cTn>
                                        <p:tgtEl>
                                          <p:spTgt spid="218156"/>
                                        </p:tgtEl>
                                        <p:attrNameLst>
                                          <p:attrName>style.visibility</p:attrName>
                                        </p:attrNameLst>
                                      </p:cBhvr>
                                      <p:to>
                                        <p:strVal val="visible"/>
                                      </p:to>
                                    </p:set>
                                    <p:animEffect transition="in" filter="dissolve">
                                      <p:cBhvr>
                                        <p:cTn id="63" dur="500"/>
                                        <p:tgtEl>
                                          <p:spTgt spid="218156"/>
                                        </p:tgtEl>
                                      </p:cBhvr>
                                    </p:animEffect>
                                  </p:childTnLst>
                                </p:cTn>
                              </p:par>
                              <p:par>
                                <p:cTn id="64" presetID="9" presetClass="entr" presetSubtype="0" fill="hold" nodeType="withEffect">
                                  <p:stCondLst>
                                    <p:cond delay="0"/>
                                  </p:stCondLst>
                                  <p:childTnLst>
                                    <p:set>
                                      <p:cBhvr>
                                        <p:cTn id="65" dur="1" fill="hold">
                                          <p:stCondLst>
                                            <p:cond delay="0"/>
                                          </p:stCondLst>
                                        </p:cTn>
                                        <p:tgtEl>
                                          <p:spTgt spid="218160"/>
                                        </p:tgtEl>
                                        <p:attrNameLst>
                                          <p:attrName>style.visibility</p:attrName>
                                        </p:attrNameLst>
                                      </p:cBhvr>
                                      <p:to>
                                        <p:strVal val="visible"/>
                                      </p:to>
                                    </p:set>
                                    <p:animEffect transition="in" filter="dissolve">
                                      <p:cBhvr>
                                        <p:cTn id="66" dur="500"/>
                                        <p:tgtEl>
                                          <p:spTgt spid="218160"/>
                                        </p:tgtEl>
                                      </p:cBhvr>
                                    </p:animEffect>
                                  </p:childTnLst>
                                </p:cTn>
                              </p:par>
                              <p:par>
                                <p:cTn id="67" presetID="9" presetClass="entr" presetSubtype="0" fill="hold" nodeType="withEffect">
                                  <p:stCondLst>
                                    <p:cond delay="0"/>
                                  </p:stCondLst>
                                  <p:childTnLst>
                                    <p:set>
                                      <p:cBhvr>
                                        <p:cTn id="68" dur="1" fill="hold">
                                          <p:stCondLst>
                                            <p:cond delay="0"/>
                                          </p:stCondLst>
                                        </p:cTn>
                                        <p:tgtEl>
                                          <p:spTgt spid="218164"/>
                                        </p:tgtEl>
                                        <p:attrNameLst>
                                          <p:attrName>style.visibility</p:attrName>
                                        </p:attrNameLst>
                                      </p:cBhvr>
                                      <p:to>
                                        <p:strVal val="visible"/>
                                      </p:to>
                                    </p:set>
                                    <p:animEffect transition="in" filter="dissolve">
                                      <p:cBhvr>
                                        <p:cTn id="69" dur="500"/>
                                        <p:tgtEl>
                                          <p:spTgt spid="218164"/>
                                        </p:tgtEl>
                                      </p:cBhvr>
                                    </p:animEffect>
                                  </p:childTnLst>
                                </p:cTn>
                              </p:par>
                              <p:par>
                                <p:cTn id="70" presetID="9" presetClass="entr" presetSubtype="0" fill="hold" nodeType="withEffect">
                                  <p:stCondLst>
                                    <p:cond delay="0"/>
                                  </p:stCondLst>
                                  <p:childTnLst>
                                    <p:set>
                                      <p:cBhvr>
                                        <p:cTn id="71" dur="1" fill="hold">
                                          <p:stCondLst>
                                            <p:cond delay="0"/>
                                          </p:stCondLst>
                                        </p:cTn>
                                        <p:tgtEl>
                                          <p:spTgt spid="218168"/>
                                        </p:tgtEl>
                                        <p:attrNameLst>
                                          <p:attrName>style.visibility</p:attrName>
                                        </p:attrNameLst>
                                      </p:cBhvr>
                                      <p:to>
                                        <p:strVal val="visible"/>
                                      </p:to>
                                    </p:set>
                                    <p:animEffect transition="in" filter="dissolve">
                                      <p:cBhvr>
                                        <p:cTn id="72" dur="500"/>
                                        <p:tgtEl>
                                          <p:spTgt spid="218168"/>
                                        </p:tgtEl>
                                      </p:cBhvr>
                                    </p:animEffect>
                                  </p:childTnLst>
                                </p:cTn>
                              </p:par>
                              <p:par>
                                <p:cTn id="73" presetID="9" presetClass="entr" presetSubtype="0" fill="hold" nodeType="withEffect">
                                  <p:stCondLst>
                                    <p:cond delay="0"/>
                                  </p:stCondLst>
                                  <p:childTnLst>
                                    <p:set>
                                      <p:cBhvr>
                                        <p:cTn id="74" dur="1" fill="hold">
                                          <p:stCondLst>
                                            <p:cond delay="0"/>
                                          </p:stCondLst>
                                        </p:cTn>
                                        <p:tgtEl>
                                          <p:spTgt spid="218173"/>
                                        </p:tgtEl>
                                        <p:attrNameLst>
                                          <p:attrName>style.visibility</p:attrName>
                                        </p:attrNameLst>
                                      </p:cBhvr>
                                      <p:to>
                                        <p:strVal val="visible"/>
                                      </p:to>
                                    </p:set>
                                    <p:animEffect transition="in" filter="dissolve">
                                      <p:cBhvr>
                                        <p:cTn id="75" dur="500"/>
                                        <p:tgtEl>
                                          <p:spTgt spid="218173"/>
                                        </p:tgtEl>
                                      </p:cBhvr>
                                    </p:animEffect>
                                  </p:childTnLst>
                                </p:cTn>
                              </p:par>
                              <p:par>
                                <p:cTn id="76" presetID="9" presetClass="entr" presetSubtype="0" fill="hold" nodeType="withEffect">
                                  <p:stCondLst>
                                    <p:cond delay="0"/>
                                  </p:stCondLst>
                                  <p:childTnLst>
                                    <p:set>
                                      <p:cBhvr>
                                        <p:cTn id="77" dur="1" fill="hold">
                                          <p:stCondLst>
                                            <p:cond delay="0"/>
                                          </p:stCondLst>
                                        </p:cTn>
                                        <p:tgtEl>
                                          <p:spTgt spid="218174"/>
                                        </p:tgtEl>
                                        <p:attrNameLst>
                                          <p:attrName>style.visibility</p:attrName>
                                        </p:attrNameLst>
                                      </p:cBhvr>
                                      <p:to>
                                        <p:strVal val="visible"/>
                                      </p:to>
                                    </p:set>
                                    <p:animEffect transition="in" filter="dissolve">
                                      <p:cBhvr>
                                        <p:cTn id="78" dur="500"/>
                                        <p:tgtEl>
                                          <p:spTgt spid="218174"/>
                                        </p:tgtEl>
                                      </p:cBhvr>
                                    </p:animEffect>
                                  </p:childTnLst>
                                </p:cTn>
                              </p:par>
                              <p:par>
                                <p:cTn id="79" presetID="9" presetClass="entr" presetSubtype="0" fill="hold" nodeType="withEffect">
                                  <p:stCondLst>
                                    <p:cond delay="0"/>
                                  </p:stCondLst>
                                  <p:childTnLst>
                                    <p:set>
                                      <p:cBhvr>
                                        <p:cTn id="80" dur="1" fill="hold">
                                          <p:stCondLst>
                                            <p:cond delay="0"/>
                                          </p:stCondLst>
                                        </p:cTn>
                                        <p:tgtEl>
                                          <p:spTgt spid="218175"/>
                                        </p:tgtEl>
                                        <p:attrNameLst>
                                          <p:attrName>style.visibility</p:attrName>
                                        </p:attrNameLst>
                                      </p:cBhvr>
                                      <p:to>
                                        <p:strVal val="visible"/>
                                      </p:to>
                                    </p:set>
                                    <p:animEffect transition="in" filter="dissolve">
                                      <p:cBhvr>
                                        <p:cTn id="81" dur="500"/>
                                        <p:tgtEl>
                                          <p:spTgt spid="218175"/>
                                        </p:tgtEl>
                                      </p:cBhvr>
                                    </p:animEffect>
                                  </p:childTnLst>
                                </p:cTn>
                              </p:par>
                              <p:par>
                                <p:cTn id="82" presetID="9" presetClass="entr" presetSubtype="0" fill="hold" nodeType="withEffect">
                                  <p:stCondLst>
                                    <p:cond delay="0"/>
                                  </p:stCondLst>
                                  <p:childTnLst>
                                    <p:set>
                                      <p:cBhvr>
                                        <p:cTn id="83" dur="1" fill="hold">
                                          <p:stCondLst>
                                            <p:cond delay="0"/>
                                          </p:stCondLst>
                                        </p:cTn>
                                        <p:tgtEl>
                                          <p:spTgt spid="218176"/>
                                        </p:tgtEl>
                                        <p:attrNameLst>
                                          <p:attrName>style.visibility</p:attrName>
                                        </p:attrNameLst>
                                      </p:cBhvr>
                                      <p:to>
                                        <p:strVal val="visible"/>
                                      </p:to>
                                    </p:set>
                                    <p:animEffect transition="in" filter="dissolve">
                                      <p:cBhvr>
                                        <p:cTn id="84" dur="500"/>
                                        <p:tgtEl>
                                          <p:spTgt spid="218176"/>
                                        </p:tgtEl>
                                      </p:cBhvr>
                                    </p:animEffect>
                                  </p:childTnLst>
                                </p:cTn>
                              </p:par>
                              <p:par>
                                <p:cTn id="85" presetID="9" presetClass="entr" presetSubtype="0" fill="hold" nodeType="withEffect">
                                  <p:stCondLst>
                                    <p:cond delay="0"/>
                                  </p:stCondLst>
                                  <p:childTnLst>
                                    <p:set>
                                      <p:cBhvr>
                                        <p:cTn id="86" dur="1" fill="hold">
                                          <p:stCondLst>
                                            <p:cond delay="0"/>
                                          </p:stCondLst>
                                        </p:cTn>
                                        <p:tgtEl>
                                          <p:spTgt spid="218177"/>
                                        </p:tgtEl>
                                        <p:attrNameLst>
                                          <p:attrName>style.visibility</p:attrName>
                                        </p:attrNameLst>
                                      </p:cBhvr>
                                      <p:to>
                                        <p:strVal val="visible"/>
                                      </p:to>
                                    </p:set>
                                    <p:animEffect transition="in" filter="dissolve">
                                      <p:cBhvr>
                                        <p:cTn id="87" dur="500"/>
                                        <p:tgtEl>
                                          <p:spTgt spid="218177"/>
                                        </p:tgtEl>
                                      </p:cBhvr>
                                    </p:animEffect>
                                  </p:childTnLst>
                                </p:cTn>
                              </p:par>
                              <p:par>
                                <p:cTn id="88" presetID="9" presetClass="entr" presetSubtype="0" fill="hold" nodeType="withEffect">
                                  <p:stCondLst>
                                    <p:cond delay="0"/>
                                  </p:stCondLst>
                                  <p:childTnLst>
                                    <p:set>
                                      <p:cBhvr>
                                        <p:cTn id="89" dur="1" fill="hold">
                                          <p:stCondLst>
                                            <p:cond delay="0"/>
                                          </p:stCondLst>
                                        </p:cTn>
                                        <p:tgtEl>
                                          <p:spTgt spid="218178"/>
                                        </p:tgtEl>
                                        <p:attrNameLst>
                                          <p:attrName>style.visibility</p:attrName>
                                        </p:attrNameLst>
                                      </p:cBhvr>
                                      <p:to>
                                        <p:strVal val="visible"/>
                                      </p:to>
                                    </p:set>
                                    <p:animEffect transition="in" filter="dissolve">
                                      <p:cBhvr>
                                        <p:cTn id="90" dur="500"/>
                                        <p:tgtEl>
                                          <p:spTgt spid="218178"/>
                                        </p:tgtEl>
                                      </p:cBhvr>
                                    </p:animEffect>
                                  </p:childTnLst>
                                </p:cTn>
                              </p:par>
                              <p:par>
                                <p:cTn id="91" presetID="9" presetClass="entr" presetSubtype="0" fill="hold" grpId="0" nodeType="withEffect">
                                  <p:stCondLst>
                                    <p:cond delay="0"/>
                                  </p:stCondLst>
                                  <p:childTnLst>
                                    <p:set>
                                      <p:cBhvr>
                                        <p:cTn id="92" dur="1" fill="hold">
                                          <p:stCondLst>
                                            <p:cond delay="0"/>
                                          </p:stCondLst>
                                        </p:cTn>
                                        <p:tgtEl>
                                          <p:spTgt spid="218181"/>
                                        </p:tgtEl>
                                        <p:attrNameLst>
                                          <p:attrName>style.visibility</p:attrName>
                                        </p:attrNameLst>
                                      </p:cBhvr>
                                      <p:to>
                                        <p:strVal val="visible"/>
                                      </p:to>
                                    </p:set>
                                    <p:animEffect transition="in" filter="dissolve">
                                      <p:cBhvr>
                                        <p:cTn id="93" dur="500"/>
                                        <p:tgtEl>
                                          <p:spTgt spid="218181"/>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xit" presetSubtype="0" fill="hold" nodeType="clickEffect">
                                  <p:stCondLst>
                                    <p:cond delay="0"/>
                                  </p:stCondLst>
                                  <p:childTnLst>
                                    <p:set>
                                      <p:cBhvr>
                                        <p:cTn id="97" dur="1" fill="hold">
                                          <p:stCondLst>
                                            <p:cond delay="0"/>
                                          </p:stCondLst>
                                        </p:cTn>
                                        <p:tgtEl>
                                          <p:spTgt spid="218156"/>
                                        </p:tgtEl>
                                        <p:attrNameLst>
                                          <p:attrName>style.visibility</p:attrName>
                                        </p:attrNameLst>
                                      </p:cBhvr>
                                      <p:to>
                                        <p:strVal val="hidden"/>
                                      </p:to>
                                    </p:set>
                                  </p:childTnLst>
                                </p:cTn>
                              </p:par>
                              <p:par>
                                <p:cTn id="98" presetID="1" presetClass="exit" presetSubtype="0" fill="hold" nodeType="withEffect">
                                  <p:stCondLst>
                                    <p:cond delay="0"/>
                                  </p:stCondLst>
                                  <p:childTnLst>
                                    <p:set>
                                      <p:cBhvr>
                                        <p:cTn id="99" dur="1" fill="hold">
                                          <p:stCondLst>
                                            <p:cond delay="0"/>
                                          </p:stCondLst>
                                        </p:cTn>
                                        <p:tgtEl>
                                          <p:spTgt spid="218173"/>
                                        </p:tgtEl>
                                        <p:attrNameLst>
                                          <p:attrName>style.visibility</p:attrName>
                                        </p:attrNameLst>
                                      </p:cBhvr>
                                      <p:to>
                                        <p:strVal val="hidden"/>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 presetClass="exit" presetSubtype="0" fill="hold" nodeType="clickEffect">
                                  <p:stCondLst>
                                    <p:cond delay="0"/>
                                  </p:stCondLst>
                                  <p:childTnLst>
                                    <p:set>
                                      <p:cBhvr>
                                        <p:cTn id="103" dur="1" fill="hold">
                                          <p:stCondLst>
                                            <p:cond delay="0"/>
                                          </p:stCondLst>
                                        </p:cTn>
                                        <p:tgtEl>
                                          <p:spTgt spid="218176"/>
                                        </p:tgtEl>
                                        <p:attrNameLst>
                                          <p:attrName>style.visibility</p:attrName>
                                        </p:attrNameLst>
                                      </p:cBhvr>
                                      <p:to>
                                        <p:strVal val="hidden"/>
                                      </p:to>
                                    </p:set>
                                  </p:childTnLst>
                                </p:cTn>
                              </p:par>
                            </p:childTnLst>
                          </p:cTn>
                        </p:par>
                        <p:par>
                          <p:cTn id="104" fill="hold" nodeType="afterGroup">
                            <p:stCondLst>
                              <p:cond delay="0"/>
                            </p:stCondLst>
                            <p:childTnLst>
                              <p:par>
                                <p:cTn id="105" presetID="22" presetClass="entr" presetSubtype="8" fill="hold" nodeType="afterEffect">
                                  <p:stCondLst>
                                    <p:cond delay="0"/>
                                  </p:stCondLst>
                                  <p:childTnLst>
                                    <p:set>
                                      <p:cBhvr>
                                        <p:cTn id="106" dur="1" fill="hold">
                                          <p:stCondLst>
                                            <p:cond delay="0"/>
                                          </p:stCondLst>
                                        </p:cTn>
                                        <p:tgtEl>
                                          <p:spTgt spid="218114"/>
                                        </p:tgtEl>
                                        <p:attrNameLst>
                                          <p:attrName>style.visibility</p:attrName>
                                        </p:attrNameLst>
                                      </p:cBhvr>
                                      <p:to>
                                        <p:strVal val="visible"/>
                                      </p:to>
                                    </p:set>
                                    <p:animEffect transition="in" filter="wipe(left)">
                                      <p:cBhvr>
                                        <p:cTn id="107" dur="1000"/>
                                        <p:tgtEl>
                                          <p:spTgt spid="21811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9" presetClass="entr" presetSubtype="0" fill="hold" nodeType="clickEffect">
                                  <p:stCondLst>
                                    <p:cond delay="0"/>
                                  </p:stCondLst>
                                  <p:childTnLst>
                                    <p:set>
                                      <p:cBhvr>
                                        <p:cTn id="111" dur="1" fill="hold">
                                          <p:stCondLst>
                                            <p:cond delay="0"/>
                                          </p:stCondLst>
                                        </p:cTn>
                                        <p:tgtEl>
                                          <p:spTgt spid="218187"/>
                                        </p:tgtEl>
                                        <p:attrNameLst>
                                          <p:attrName>style.visibility</p:attrName>
                                        </p:attrNameLst>
                                      </p:cBhvr>
                                      <p:to>
                                        <p:strVal val="visible"/>
                                      </p:to>
                                    </p:set>
                                    <p:animEffect transition="in" filter="dissolve">
                                      <p:cBhvr>
                                        <p:cTn id="112" dur="500"/>
                                        <p:tgtEl>
                                          <p:spTgt spid="218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46" grpId="0" animBg="1"/>
      <p:bldP spid="218147" grpId="0" animBg="1"/>
      <p:bldP spid="218148" grpId="0"/>
      <p:bldP spid="21818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Freeform 2"/>
          <p:cNvSpPr>
            <a:spLocks/>
          </p:cNvSpPr>
          <p:nvPr/>
        </p:nvSpPr>
        <p:spPr bwMode="auto">
          <a:xfrm>
            <a:off x="3000375" y="3686175"/>
            <a:ext cx="4414838" cy="1295400"/>
          </a:xfrm>
          <a:custGeom>
            <a:avLst/>
            <a:gdLst>
              <a:gd name="T0" fmla="*/ 0 w 3024"/>
              <a:gd name="T1" fmla="*/ 2147483646 h 912"/>
              <a:gd name="T2" fmla="*/ 2147483646 w 3024"/>
              <a:gd name="T3" fmla="*/ 2147483646 h 912"/>
              <a:gd name="T4" fmla="*/ 2147483646 w 3024"/>
              <a:gd name="T5" fmla="*/ 2147483646 h 912"/>
              <a:gd name="T6" fmla="*/ 2147483646 w 3024"/>
              <a:gd name="T7" fmla="*/ 0 h 9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24" h="912">
                <a:moveTo>
                  <a:pt x="0" y="192"/>
                </a:moveTo>
                <a:lnTo>
                  <a:pt x="816" y="912"/>
                </a:lnTo>
                <a:lnTo>
                  <a:pt x="2640" y="912"/>
                </a:lnTo>
                <a:lnTo>
                  <a:pt x="3024"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139" name="Line 3"/>
          <p:cNvSpPr>
            <a:spLocks noChangeShapeType="1"/>
          </p:cNvSpPr>
          <p:nvPr/>
        </p:nvSpPr>
        <p:spPr bwMode="auto">
          <a:xfrm>
            <a:off x="2771775" y="3609975"/>
            <a:ext cx="2895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9140" name="Group 4"/>
          <p:cNvGrpSpPr>
            <a:grpSpLocks/>
          </p:cNvGrpSpPr>
          <p:nvPr/>
        </p:nvGrpSpPr>
        <p:grpSpPr bwMode="auto">
          <a:xfrm>
            <a:off x="4219575" y="3440113"/>
            <a:ext cx="990600" cy="1371600"/>
            <a:chOff x="2208" y="528"/>
            <a:chExt cx="672" cy="1008"/>
          </a:xfrm>
        </p:grpSpPr>
        <p:sp>
          <p:nvSpPr>
            <p:cNvPr id="12334" name="Rectangle 5"/>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2335" name="Rectangle 6"/>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PCB4</a:t>
              </a:r>
            </a:p>
          </p:txBody>
        </p:sp>
        <p:sp>
          <p:nvSpPr>
            <p:cNvPr id="12336" name="Rectangle 7"/>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219144" name="Group 8"/>
          <p:cNvGrpSpPr>
            <a:grpSpLocks/>
          </p:cNvGrpSpPr>
          <p:nvPr/>
        </p:nvGrpSpPr>
        <p:grpSpPr bwMode="auto">
          <a:xfrm>
            <a:off x="5667375" y="3440113"/>
            <a:ext cx="990600" cy="1371600"/>
            <a:chOff x="2208" y="528"/>
            <a:chExt cx="672" cy="1008"/>
          </a:xfrm>
        </p:grpSpPr>
        <p:sp>
          <p:nvSpPr>
            <p:cNvPr id="12331" name="Rectangle 9"/>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2332" name="Rectangle 10"/>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PCB8</a:t>
              </a:r>
            </a:p>
          </p:txBody>
        </p:sp>
        <p:sp>
          <p:nvSpPr>
            <p:cNvPr id="12333" name="Rectangle 11"/>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219148" name="Group 12"/>
          <p:cNvGrpSpPr>
            <a:grpSpLocks/>
          </p:cNvGrpSpPr>
          <p:nvPr/>
        </p:nvGrpSpPr>
        <p:grpSpPr bwMode="auto">
          <a:xfrm>
            <a:off x="7419975" y="3429000"/>
            <a:ext cx="990600" cy="1371600"/>
            <a:chOff x="2208" y="528"/>
            <a:chExt cx="672" cy="1008"/>
          </a:xfrm>
        </p:grpSpPr>
        <p:sp>
          <p:nvSpPr>
            <p:cNvPr id="12328" name="Rectangle 13"/>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2329" name="Rectangle 14"/>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PCB7</a:t>
              </a:r>
            </a:p>
          </p:txBody>
        </p:sp>
        <p:sp>
          <p:nvSpPr>
            <p:cNvPr id="12330" name="Rectangle 15"/>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219152" name="Group 16"/>
          <p:cNvGrpSpPr>
            <a:grpSpLocks/>
          </p:cNvGrpSpPr>
          <p:nvPr/>
        </p:nvGrpSpPr>
        <p:grpSpPr bwMode="auto">
          <a:xfrm>
            <a:off x="6962775" y="3609975"/>
            <a:ext cx="304800" cy="304800"/>
            <a:chOff x="2448" y="2016"/>
            <a:chExt cx="192" cy="192"/>
          </a:xfrm>
        </p:grpSpPr>
        <p:sp>
          <p:nvSpPr>
            <p:cNvPr id="12324" name="Line 17"/>
            <p:cNvSpPr>
              <a:spLocks noChangeShapeType="1"/>
            </p:cNvSpPr>
            <p:nvPr/>
          </p:nvSpPr>
          <p:spPr bwMode="auto">
            <a:xfrm>
              <a:off x="2448" y="2112"/>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5" name="Line 18"/>
            <p:cNvSpPr>
              <a:spLocks noChangeShapeType="1"/>
            </p:cNvSpPr>
            <p:nvPr/>
          </p:nvSpPr>
          <p:spPr bwMode="auto">
            <a:xfrm>
              <a:off x="2496" y="2160"/>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6" name="Line 19"/>
            <p:cNvSpPr>
              <a:spLocks noChangeShapeType="1"/>
            </p:cNvSpPr>
            <p:nvPr/>
          </p:nvSpPr>
          <p:spPr bwMode="auto">
            <a:xfrm>
              <a:off x="2520" y="2208"/>
              <a:ext cx="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7" name="Line 20"/>
            <p:cNvSpPr>
              <a:spLocks noChangeShapeType="1"/>
            </p:cNvSpPr>
            <p:nvPr/>
          </p:nvSpPr>
          <p:spPr bwMode="auto">
            <a:xfrm>
              <a:off x="2544" y="2016"/>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9157" name="Line 21"/>
          <p:cNvSpPr>
            <a:spLocks noChangeShapeType="1"/>
          </p:cNvSpPr>
          <p:nvPr/>
        </p:nvSpPr>
        <p:spPr bwMode="auto">
          <a:xfrm>
            <a:off x="5210175" y="3592513"/>
            <a:ext cx="457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158" name="Line 22"/>
          <p:cNvSpPr>
            <a:spLocks noChangeShapeType="1"/>
          </p:cNvSpPr>
          <p:nvPr/>
        </p:nvSpPr>
        <p:spPr bwMode="auto">
          <a:xfrm>
            <a:off x="6657975" y="3609975"/>
            <a:ext cx="762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159" name="Line 23"/>
          <p:cNvSpPr>
            <a:spLocks noChangeShapeType="1"/>
          </p:cNvSpPr>
          <p:nvPr/>
        </p:nvSpPr>
        <p:spPr bwMode="auto">
          <a:xfrm>
            <a:off x="6657975" y="3609975"/>
            <a:ext cx="457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160" name="Line 24"/>
          <p:cNvSpPr>
            <a:spLocks noChangeShapeType="1"/>
          </p:cNvSpPr>
          <p:nvPr/>
        </p:nvSpPr>
        <p:spPr bwMode="auto">
          <a:xfrm>
            <a:off x="2600325" y="3609975"/>
            <a:ext cx="1600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9161" name="Freeform 25"/>
          <p:cNvSpPr>
            <a:spLocks/>
          </p:cNvSpPr>
          <p:nvPr/>
        </p:nvSpPr>
        <p:spPr bwMode="auto">
          <a:xfrm>
            <a:off x="3000375" y="3668713"/>
            <a:ext cx="2590800" cy="1295400"/>
          </a:xfrm>
          <a:custGeom>
            <a:avLst/>
            <a:gdLst>
              <a:gd name="T0" fmla="*/ 0 w 3024"/>
              <a:gd name="T1" fmla="*/ 2147483646 h 912"/>
              <a:gd name="T2" fmla="*/ 2147483646 w 3024"/>
              <a:gd name="T3" fmla="*/ 2147483646 h 912"/>
              <a:gd name="T4" fmla="*/ 2147483646 w 3024"/>
              <a:gd name="T5" fmla="*/ 2147483646 h 912"/>
              <a:gd name="T6" fmla="*/ 2147483646 w 3024"/>
              <a:gd name="T7" fmla="*/ 0 h 9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24" h="912">
                <a:moveTo>
                  <a:pt x="0" y="192"/>
                </a:moveTo>
                <a:lnTo>
                  <a:pt x="816" y="912"/>
                </a:lnTo>
                <a:lnTo>
                  <a:pt x="2640" y="912"/>
                </a:lnTo>
                <a:lnTo>
                  <a:pt x="3024"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9162" name="Group 26"/>
          <p:cNvGrpSpPr>
            <a:grpSpLocks/>
          </p:cNvGrpSpPr>
          <p:nvPr/>
        </p:nvGrpSpPr>
        <p:grpSpPr bwMode="auto">
          <a:xfrm>
            <a:off x="2495550" y="3427413"/>
            <a:ext cx="990600" cy="611187"/>
            <a:chOff x="672" y="768"/>
            <a:chExt cx="720" cy="480"/>
          </a:xfrm>
        </p:grpSpPr>
        <p:sp>
          <p:nvSpPr>
            <p:cNvPr id="12322" name="Rectangle 27"/>
            <p:cNvSpPr>
              <a:spLocks noChangeArrowheads="1"/>
            </p:cNvSpPr>
            <p:nvPr/>
          </p:nvSpPr>
          <p:spPr bwMode="auto">
            <a:xfrm>
              <a:off x="672" y="768"/>
              <a:ext cx="720"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Head</a:t>
              </a:r>
            </a:p>
          </p:txBody>
        </p:sp>
        <p:sp>
          <p:nvSpPr>
            <p:cNvPr id="12323" name="Rectangle 28"/>
            <p:cNvSpPr>
              <a:spLocks noChangeArrowheads="1"/>
            </p:cNvSpPr>
            <p:nvPr/>
          </p:nvSpPr>
          <p:spPr bwMode="auto">
            <a:xfrm>
              <a:off x="672" y="1008"/>
              <a:ext cx="720" cy="240"/>
            </a:xfrm>
            <a:prstGeom prst="rect">
              <a:avLst/>
            </a:prstGeom>
            <a:solidFill>
              <a:srgbClr val="FF66CC"/>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Tail</a:t>
              </a:r>
            </a:p>
          </p:txBody>
        </p:sp>
      </p:grpSp>
      <p:sp>
        <p:nvSpPr>
          <p:cNvPr id="219165" name="Text Box 29"/>
          <p:cNvSpPr txBox="1">
            <a:spLocks noChangeArrowheads="1"/>
          </p:cNvSpPr>
          <p:nvPr/>
        </p:nvSpPr>
        <p:spPr bwMode="auto">
          <a:xfrm>
            <a:off x="1628775" y="3381375"/>
            <a:ext cx="7620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latin typeface="Century Gothic" panose="020B0502020202020204" pitchFamily="34" charset="0"/>
              </a:rPr>
              <a:t>就绪</a:t>
            </a:r>
          </a:p>
          <a:p>
            <a:pPr algn="ctr">
              <a:spcBef>
                <a:spcPct val="0"/>
              </a:spcBef>
              <a:buClrTx/>
              <a:buSzTx/>
              <a:buFontTx/>
              <a:buNone/>
            </a:pPr>
            <a:r>
              <a:rPr lang="zh-CN" altLang="en-US" sz="1800">
                <a:latin typeface="Century Gothic" panose="020B0502020202020204" pitchFamily="34" charset="0"/>
              </a:rPr>
              <a:t>队列</a:t>
            </a:r>
          </a:p>
        </p:txBody>
      </p:sp>
      <p:sp>
        <p:nvSpPr>
          <p:cNvPr id="219166" name="Rectangle 30"/>
          <p:cNvSpPr>
            <a:spLocks noChangeArrowheads="1"/>
          </p:cNvSpPr>
          <p:nvPr/>
        </p:nvSpPr>
        <p:spPr bwMode="auto">
          <a:xfrm>
            <a:off x="180975" y="3152775"/>
            <a:ext cx="1219200" cy="2057400"/>
          </a:xfrm>
          <a:prstGeom prst="rect">
            <a:avLst/>
          </a:prstGeom>
          <a:solidFill>
            <a:srgbClr val="EAEAEA"/>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r>
              <a:rPr lang="zh-CN" altLang="en-US" sz="1600">
                <a:latin typeface="Century Gothic" panose="020B0502020202020204" pitchFamily="34" charset="0"/>
              </a:rPr>
              <a:t>物理</a:t>
            </a:r>
            <a:r>
              <a:rPr lang="en-US" altLang="zh-CN" sz="1600">
                <a:latin typeface="Century Gothic" panose="020B0502020202020204" pitchFamily="34" charset="0"/>
              </a:rPr>
              <a:t>CPU </a:t>
            </a:r>
          </a:p>
        </p:txBody>
      </p:sp>
      <p:grpSp>
        <p:nvGrpSpPr>
          <p:cNvPr id="219167" name="Group 31"/>
          <p:cNvGrpSpPr>
            <a:grpSpLocks/>
          </p:cNvGrpSpPr>
          <p:nvPr/>
        </p:nvGrpSpPr>
        <p:grpSpPr bwMode="auto">
          <a:xfrm>
            <a:off x="285750" y="3457575"/>
            <a:ext cx="990600" cy="1371600"/>
            <a:chOff x="2208" y="528"/>
            <a:chExt cx="672" cy="1008"/>
          </a:xfrm>
        </p:grpSpPr>
        <p:sp>
          <p:nvSpPr>
            <p:cNvPr id="12319" name="Rectangle 32"/>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2320" name="Rectangle 33"/>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PCB7</a:t>
              </a:r>
            </a:p>
          </p:txBody>
        </p:sp>
        <p:sp>
          <p:nvSpPr>
            <p:cNvPr id="12321" name="Rectangle 34"/>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219171" name="Group 35"/>
          <p:cNvGrpSpPr>
            <a:grpSpLocks/>
          </p:cNvGrpSpPr>
          <p:nvPr/>
        </p:nvGrpSpPr>
        <p:grpSpPr bwMode="auto">
          <a:xfrm>
            <a:off x="8410575" y="3609975"/>
            <a:ext cx="609600" cy="304800"/>
            <a:chOff x="4272" y="3216"/>
            <a:chExt cx="384" cy="192"/>
          </a:xfrm>
        </p:grpSpPr>
        <p:grpSp>
          <p:nvGrpSpPr>
            <p:cNvPr id="12313" name="Group 36"/>
            <p:cNvGrpSpPr>
              <a:grpSpLocks/>
            </p:cNvGrpSpPr>
            <p:nvPr/>
          </p:nvGrpSpPr>
          <p:grpSpPr bwMode="auto">
            <a:xfrm>
              <a:off x="4464" y="3216"/>
              <a:ext cx="192" cy="192"/>
              <a:chOff x="2448" y="2016"/>
              <a:chExt cx="192" cy="192"/>
            </a:xfrm>
          </p:grpSpPr>
          <p:sp>
            <p:nvSpPr>
              <p:cNvPr id="12315" name="Line 37"/>
              <p:cNvSpPr>
                <a:spLocks noChangeShapeType="1"/>
              </p:cNvSpPr>
              <p:nvPr/>
            </p:nvSpPr>
            <p:spPr bwMode="auto">
              <a:xfrm>
                <a:off x="2448" y="2112"/>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6" name="Line 38"/>
              <p:cNvSpPr>
                <a:spLocks noChangeShapeType="1"/>
              </p:cNvSpPr>
              <p:nvPr/>
            </p:nvSpPr>
            <p:spPr bwMode="auto">
              <a:xfrm>
                <a:off x="2496" y="2160"/>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7" name="Line 39"/>
              <p:cNvSpPr>
                <a:spLocks noChangeShapeType="1"/>
              </p:cNvSpPr>
              <p:nvPr/>
            </p:nvSpPr>
            <p:spPr bwMode="auto">
              <a:xfrm>
                <a:off x="2520" y="2208"/>
                <a:ext cx="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8" name="Line 40"/>
              <p:cNvSpPr>
                <a:spLocks noChangeShapeType="1"/>
              </p:cNvSpPr>
              <p:nvPr/>
            </p:nvSpPr>
            <p:spPr bwMode="auto">
              <a:xfrm>
                <a:off x="2544" y="2016"/>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314" name="Line 41"/>
            <p:cNvSpPr>
              <a:spLocks noChangeShapeType="1"/>
            </p:cNvSpPr>
            <p:nvPr/>
          </p:nvSpPr>
          <p:spPr bwMode="auto">
            <a:xfrm>
              <a:off x="4272" y="3216"/>
              <a:ext cx="2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9178" name="Group 42"/>
          <p:cNvGrpSpPr>
            <a:grpSpLocks/>
          </p:cNvGrpSpPr>
          <p:nvPr/>
        </p:nvGrpSpPr>
        <p:grpSpPr bwMode="auto">
          <a:xfrm>
            <a:off x="276225" y="3457575"/>
            <a:ext cx="990600" cy="1371600"/>
            <a:chOff x="2208" y="528"/>
            <a:chExt cx="672" cy="1008"/>
          </a:xfrm>
        </p:grpSpPr>
        <p:sp>
          <p:nvSpPr>
            <p:cNvPr id="12310" name="Rectangle 43"/>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2311" name="Rectangle 44"/>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PCB4</a:t>
              </a:r>
            </a:p>
          </p:txBody>
        </p:sp>
        <p:sp>
          <p:nvSpPr>
            <p:cNvPr id="12312" name="Rectangle 45"/>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sp>
        <p:nvSpPr>
          <p:cNvPr id="12307" name="Rectangle 46"/>
          <p:cNvSpPr>
            <a:spLocks noChangeArrowheads="1"/>
          </p:cNvSpPr>
          <p:nvPr/>
        </p:nvSpPr>
        <p:spPr bwMode="auto">
          <a:xfrm>
            <a:off x="296863" y="1895475"/>
            <a:ext cx="65611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ClrTx/>
              <a:buSzTx/>
              <a:buFontTx/>
              <a:buNone/>
            </a:pPr>
            <a:r>
              <a:rPr lang="zh-CN" altLang="en-US" sz="2400">
                <a:solidFill>
                  <a:srgbClr val="CC0000"/>
                </a:solidFill>
                <a:latin typeface="Times New Roman" panose="02020603050405020304" pitchFamily="18" charset="0"/>
              </a:rPr>
              <a:t>调度情况</a:t>
            </a:r>
            <a:r>
              <a:rPr lang="en-US" altLang="zh-CN" sz="2400">
                <a:solidFill>
                  <a:srgbClr val="CC0000"/>
                </a:solidFill>
                <a:latin typeface="Times New Roman" panose="02020603050405020304" pitchFamily="18" charset="0"/>
              </a:rPr>
              <a:t>2</a:t>
            </a:r>
            <a:r>
              <a:rPr lang="zh-CN" altLang="en-US" sz="2400">
                <a:solidFill>
                  <a:srgbClr val="CC0000"/>
                </a:solidFill>
                <a:latin typeface="Times New Roman" panose="02020603050405020304" pitchFamily="18" charset="0"/>
              </a:rPr>
              <a:t>：规定的时间片到了</a:t>
            </a:r>
            <a:br>
              <a:rPr lang="zh-CN" altLang="en-US" sz="2400">
                <a:solidFill>
                  <a:srgbClr val="CC0000"/>
                </a:solidFill>
                <a:latin typeface="Times New Roman" panose="02020603050405020304" pitchFamily="18" charset="0"/>
              </a:rPr>
            </a:br>
            <a:r>
              <a:rPr lang="zh-CN" altLang="en-US" sz="2400">
                <a:solidFill>
                  <a:srgbClr val="CC0000"/>
                </a:solidFill>
                <a:latin typeface="Times New Roman" panose="02020603050405020304" pitchFamily="18" charset="0"/>
              </a:rPr>
              <a:t>调度情况</a:t>
            </a:r>
            <a:r>
              <a:rPr lang="en-US" altLang="zh-CN" sz="2400">
                <a:solidFill>
                  <a:srgbClr val="CC0000"/>
                </a:solidFill>
                <a:latin typeface="Times New Roman" panose="02020603050405020304" pitchFamily="18" charset="0"/>
              </a:rPr>
              <a:t>3</a:t>
            </a:r>
            <a:r>
              <a:rPr lang="zh-CN" altLang="en-US" sz="2400">
                <a:solidFill>
                  <a:srgbClr val="CC0000"/>
                </a:solidFill>
                <a:latin typeface="Times New Roman" panose="02020603050405020304" pitchFamily="18" charset="0"/>
              </a:rPr>
              <a:t>：出现了优先级更高的进程</a:t>
            </a:r>
          </a:p>
        </p:txBody>
      </p:sp>
      <p:sp>
        <p:nvSpPr>
          <p:cNvPr id="12308" name="Rectangle 2"/>
          <p:cNvSpPr>
            <a:spLocks noChangeArrowheads="1"/>
          </p:cNvSpPr>
          <p:nvPr/>
        </p:nvSpPr>
        <p:spPr bwMode="auto">
          <a:xfrm>
            <a:off x="3124200" y="381000"/>
            <a:ext cx="32321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200">
                <a:latin typeface="黑体" panose="02010609060101010101" pitchFamily="49" charset="-122"/>
                <a:ea typeface="黑体" panose="02010609060101010101" pitchFamily="49" charset="-122"/>
              </a:rPr>
              <a:t>5.1 </a:t>
            </a:r>
            <a:r>
              <a:rPr lang="zh-CN" altLang="en-US" sz="3200">
                <a:latin typeface="黑体" panose="02010609060101010101" pitchFamily="49" charset="-122"/>
                <a:ea typeface="黑体" panose="02010609060101010101" pitchFamily="49" charset="-122"/>
              </a:rPr>
              <a:t>基本概念</a:t>
            </a:r>
          </a:p>
        </p:txBody>
      </p:sp>
      <p:sp>
        <p:nvSpPr>
          <p:cNvPr id="12309" name="Rectangle 49"/>
          <p:cNvSpPr>
            <a:spLocks noChangeArrowheads="1"/>
          </p:cNvSpPr>
          <p:nvPr/>
        </p:nvSpPr>
        <p:spPr bwMode="auto">
          <a:xfrm>
            <a:off x="714375" y="1143000"/>
            <a:ext cx="621982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sz="2400">
                <a:solidFill>
                  <a:srgbClr val="CC0000"/>
                </a:solidFill>
                <a:latin typeface="黑体" panose="02010609060101010101" pitchFamily="49" charset="-122"/>
                <a:ea typeface="黑体" panose="02010609060101010101" pitchFamily="49" charset="-122"/>
              </a:rPr>
              <a:t>（</a:t>
            </a:r>
            <a:r>
              <a:rPr kumimoji="1" lang="en-US" altLang="zh-CN" sz="2400">
                <a:solidFill>
                  <a:srgbClr val="CC0000"/>
                </a:solidFill>
                <a:latin typeface="黑体" panose="02010609060101010101" pitchFamily="49" charset="-122"/>
                <a:ea typeface="黑体" panose="02010609060101010101" pitchFamily="49" charset="-122"/>
              </a:rPr>
              <a:t>4</a:t>
            </a:r>
            <a:r>
              <a:rPr kumimoji="1" lang="zh-CN" altLang="en-US" sz="2400">
                <a:solidFill>
                  <a:srgbClr val="CC0000"/>
                </a:solidFill>
                <a:latin typeface="黑体" panose="02010609060101010101" pitchFamily="49" charset="-122"/>
                <a:ea typeface="黑体" panose="02010609060101010101" pitchFamily="49" charset="-122"/>
              </a:rPr>
              <a:t>）非抢占式调度与抢占式调度（续）</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9166"/>
                                        </p:tgtEl>
                                        <p:attrNameLst>
                                          <p:attrName>style.visibility</p:attrName>
                                        </p:attrNameLst>
                                      </p:cBhvr>
                                      <p:to>
                                        <p:strVal val="visible"/>
                                      </p:to>
                                    </p:set>
                                    <p:animEffect transition="in" filter="dissolve">
                                      <p:cBhvr>
                                        <p:cTn id="7" dur="500"/>
                                        <p:tgtEl>
                                          <p:spTgt spid="219166"/>
                                        </p:tgtEl>
                                      </p:cBhvr>
                                    </p:animEffect>
                                  </p:childTnLst>
                                </p:cTn>
                              </p:par>
                              <p:par>
                                <p:cTn id="8" presetID="9" presetClass="entr" presetSubtype="0" fill="hold" nodeType="withEffect">
                                  <p:stCondLst>
                                    <p:cond delay="0"/>
                                  </p:stCondLst>
                                  <p:childTnLst>
                                    <p:set>
                                      <p:cBhvr>
                                        <p:cTn id="9" dur="1" fill="hold">
                                          <p:stCondLst>
                                            <p:cond delay="0"/>
                                          </p:stCondLst>
                                        </p:cTn>
                                        <p:tgtEl>
                                          <p:spTgt spid="219167"/>
                                        </p:tgtEl>
                                        <p:attrNameLst>
                                          <p:attrName>style.visibility</p:attrName>
                                        </p:attrNameLst>
                                      </p:cBhvr>
                                      <p:to>
                                        <p:strVal val="visible"/>
                                      </p:to>
                                    </p:set>
                                    <p:animEffect transition="in" filter="dissolve">
                                      <p:cBhvr>
                                        <p:cTn id="10" dur="500"/>
                                        <p:tgtEl>
                                          <p:spTgt spid="21916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219140"/>
                                        </p:tgtEl>
                                        <p:attrNameLst>
                                          <p:attrName>style.visibility</p:attrName>
                                        </p:attrNameLst>
                                      </p:cBhvr>
                                      <p:to>
                                        <p:strVal val="visible"/>
                                      </p:to>
                                    </p:set>
                                    <p:animEffect transition="in" filter="dissolve">
                                      <p:cBhvr>
                                        <p:cTn id="15" dur="500"/>
                                        <p:tgtEl>
                                          <p:spTgt spid="219140"/>
                                        </p:tgtEl>
                                      </p:cBhvr>
                                    </p:animEffect>
                                  </p:childTnLst>
                                </p:cTn>
                              </p:par>
                              <p:par>
                                <p:cTn id="16" presetID="9" presetClass="entr" presetSubtype="0" fill="hold" nodeType="withEffect">
                                  <p:stCondLst>
                                    <p:cond delay="0"/>
                                  </p:stCondLst>
                                  <p:childTnLst>
                                    <p:set>
                                      <p:cBhvr>
                                        <p:cTn id="17" dur="1" fill="hold">
                                          <p:stCondLst>
                                            <p:cond delay="0"/>
                                          </p:stCondLst>
                                        </p:cTn>
                                        <p:tgtEl>
                                          <p:spTgt spid="219144"/>
                                        </p:tgtEl>
                                        <p:attrNameLst>
                                          <p:attrName>style.visibility</p:attrName>
                                        </p:attrNameLst>
                                      </p:cBhvr>
                                      <p:to>
                                        <p:strVal val="visible"/>
                                      </p:to>
                                    </p:set>
                                    <p:animEffect transition="in" filter="dissolve">
                                      <p:cBhvr>
                                        <p:cTn id="18" dur="500"/>
                                        <p:tgtEl>
                                          <p:spTgt spid="219144"/>
                                        </p:tgtEl>
                                      </p:cBhvr>
                                    </p:animEffect>
                                  </p:childTnLst>
                                </p:cTn>
                              </p:par>
                              <p:par>
                                <p:cTn id="19" presetID="9" presetClass="entr" presetSubtype="0" fill="hold" nodeType="withEffect">
                                  <p:stCondLst>
                                    <p:cond delay="0"/>
                                  </p:stCondLst>
                                  <p:childTnLst>
                                    <p:set>
                                      <p:cBhvr>
                                        <p:cTn id="20" dur="1" fill="hold">
                                          <p:stCondLst>
                                            <p:cond delay="0"/>
                                          </p:stCondLst>
                                        </p:cTn>
                                        <p:tgtEl>
                                          <p:spTgt spid="219152"/>
                                        </p:tgtEl>
                                        <p:attrNameLst>
                                          <p:attrName>style.visibility</p:attrName>
                                        </p:attrNameLst>
                                      </p:cBhvr>
                                      <p:to>
                                        <p:strVal val="visible"/>
                                      </p:to>
                                    </p:set>
                                    <p:animEffect transition="in" filter="dissolve">
                                      <p:cBhvr>
                                        <p:cTn id="21" dur="500"/>
                                        <p:tgtEl>
                                          <p:spTgt spid="219152"/>
                                        </p:tgtEl>
                                      </p:cBhvr>
                                    </p:animEffect>
                                  </p:childTnLst>
                                </p:cTn>
                              </p:par>
                              <p:par>
                                <p:cTn id="22" presetID="9" presetClass="entr" presetSubtype="0" fill="hold" nodeType="withEffect">
                                  <p:stCondLst>
                                    <p:cond delay="0"/>
                                  </p:stCondLst>
                                  <p:childTnLst>
                                    <p:set>
                                      <p:cBhvr>
                                        <p:cTn id="23" dur="1" fill="hold">
                                          <p:stCondLst>
                                            <p:cond delay="0"/>
                                          </p:stCondLst>
                                        </p:cTn>
                                        <p:tgtEl>
                                          <p:spTgt spid="219157"/>
                                        </p:tgtEl>
                                        <p:attrNameLst>
                                          <p:attrName>style.visibility</p:attrName>
                                        </p:attrNameLst>
                                      </p:cBhvr>
                                      <p:to>
                                        <p:strVal val="visible"/>
                                      </p:to>
                                    </p:set>
                                    <p:animEffect transition="in" filter="dissolve">
                                      <p:cBhvr>
                                        <p:cTn id="24" dur="500"/>
                                        <p:tgtEl>
                                          <p:spTgt spid="219157"/>
                                        </p:tgtEl>
                                      </p:cBhvr>
                                    </p:animEffect>
                                  </p:childTnLst>
                                </p:cTn>
                              </p:par>
                              <p:par>
                                <p:cTn id="25" presetID="9" presetClass="entr" presetSubtype="0" fill="hold" nodeType="withEffect">
                                  <p:stCondLst>
                                    <p:cond delay="0"/>
                                  </p:stCondLst>
                                  <p:childTnLst>
                                    <p:set>
                                      <p:cBhvr>
                                        <p:cTn id="26" dur="1" fill="hold">
                                          <p:stCondLst>
                                            <p:cond delay="0"/>
                                          </p:stCondLst>
                                        </p:cTn>
                                        <p:tgtEl>
                                          <p:spTgt spid="219159"/>
                                        </p:tgtEl>
                                        <p:attrNameLst>
                                          <p:attrName>style.visibility</p:attrName>
                                        </p:attrNameLst>
                                      </p:cBhvr>
                                      <p:to>
                                        <p:strVal val="visible"/>
                                      </p:to>
                                    </p:set>
                                    <p:animEffect transition="in" filter="dissolve">
                                      <p:cBhvr>
                                        <p:cTn id="27" dur="500"/>
                                        <p:tgtEl>
                                          <p:spTgt spid="219159"/>
                                        </p:tgtEl>
                                      </p:cBhvr>
                                    </p:animEffect>
                                  </p:childTnLst>
                                </p:cTn>
                              </p:par>
                              <p:par>
                                <p:cTn id="28" presetID="9" presetClass="entr" presetSubtype="0" fill="hold" nodeType="withEffect">
                                  <p:stCondLst>
                                    <p:cond delay="0"/>
                                  </p:stCondLst>
                                  <p:childTnLst>
                                    <p:set>
                                      <p:cBhvr>
                                        <p:cTn id="29" dur="1" fill="hold">
                                          <p:stCondLst>
                                            <p:cond delay="0"/>
                                          </p:stCondLst>
                                        </p:cTn>
                                        <p:tgtEl>
                                          <p:spTgt spid="219160"/>
                                        </p:tgtEl>
                                        <p:attrNameLst>
                                          <p:attrName>style.visibility</p:attrName>
                                        </p:attrNameLst>
                                      </p:cBhvr>
                                      <p:to>
                                        <p:strVal val="visible"/>
                                      </p:to>
                                    </p:set>
                                    <p:animEffect transition="in" filter="dissolve">
                                      <p:cBhvr>
                                        <p:cTn id="30" dur="500"/>
                                        <p:tgtEl>
                                          <p:spTgt spid="219160"/>
                                        </p:tgtEl>
                                      </p:cBhvr>
                                    </p:animEffect>
                                  </p:childTnLst>
                                </p:cTn>
                              </p:par>
                              <p:par>
                                <p:cTn id="31" presetID="9" presetClass="entr" presetSubtype="0" fill="hold" nodeType="withEffect">
                                  <p:stCondLst>
                                    <p:cond delay="0"/>
                                  </p:stCondLst>
                                  <p:childTnLst>
                                    <p:set>
                                      <p:cBhvr>
                                        <p:cTn id="32" dur="1" fill="hold">
                                          <p:stCondLst>
                                            <p:cond delay="0"/>
                                          </p:stCondLst>
                                        </p:cTn>
                                        <p:tgtEl>
                                          <p:spTgt spid="219161"/>
                                        </p:tgtEl>
                                        <p:attrNameLst>
                                          <p:attrName>style.visibility</p:attrName>
                                        </p:attrNameLst>
                                      </p:cBhvr>
                                      <p:to>
                                        <p:strVal val="visible"/>
                                      </p:to>
                                    </p:set>
                                    <p:animEffect transition="in" filter="dissolve">
                                      <p:cBhvr>
                                        <p:cTn id="33" dur="500"/>
                                        <p:tgtEl>
                                          <p:spTgt spid="219161"/>
                                        </p:tgtEl>
                                      </p:cBhvr>
                                    </p:animEffect>
                                  </p:childTnLst>
                                </p:cTn>
                              </p:par>
                              <p:par>
                                <p:cTn id="34" presetID="9" presetClass="entr" presetSubtype="0" fill="hold" nodeType="withEffect">
                                  <p:stCondLst>
                                    <p:cond delay="0"/>
                                  </p:stCondLst>
                                  <p:childTnLst>
                                    <p:set>
                                      <p:cBhvr>
                                        <p:cTn id="35" dur="1" fill="hold">
                                          <p:stCondLst>
                                            <p:cond delay="0"/>
                                          </p:stCondLst>
                                        </p:cTn>
                                        <p:tgtEl>
                                          <p:spTgt spid="219162"/>
                                        </p:tgtEl>
                                        <p:attrNameLst>
                                          <p:attrName>style.visibility</p:attrName>
                                        </p:attrNameLst>
                                      </p:cBhvr>
                                      <p:to>
                                        <p:strVal val="visible"/>
                                      </p:to>
                                    </p:set>
                                    <p:animEffect transition="in" filter="dissolve">
                                      <p:cBhvr>
                                        <p:cTn id="36" dur="500"/>
                                        <p:tgtEl>
                                          <p:spTgt spid="219162"/>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219165"/>
                                        </p:tgtEl>
                                        <p:attrNameLst>
                                          <p:attrName>style.visibility</p:attrName>
                                        </p:attrNameLst>
                                      </p:cBhvr>
                                      <p:to>
                                        <p:strVal val="visible"/>
                                      </p:to>
                                    </p:set>
                                    <p:animEffect transition="in" filter="dissolve">
                                      <p:cBhvr>
                                        <p:cTn id="39" dur="500"/>
                                        <p:tgtEl>
                                          <p:spTgt spid="21916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xit" presetSubtype="0" fill="hold" nodeType="clickEffect">
                                  <p:stCondLst>
                                    <p:cond delay="0"/>
                                  </p:stCondLst>
                                  <p:childTnLst>
                                    <p:animEffect transition="out" filter="dissolve">
                                      <p:cBhvr>
                                        <p:cTn id="43" dur="500"/>
                                        <p:tgtEl>
                                          <p:spTgt spid="219167"/>
                                        </p:tgtEl>
                                      </p:cBhvr>
                                    </p:animEffect>
                                    <p:set>
                                      <p:cBhvr>
                                        <p:cTn id="44" dur="1" fill="hold">
                                          <p:stCondLst>
                                            <p:cond delay="499"/>
                                          </p:stCondLst>
                                        </p:cTn>
                                        <p:tgtEl>
                                          <p:spTgt spid="219167"/>
                                        </p:tgtEl>
                                        <p:attrNameLst>
                                          <p:attrName>style.visibility</p:attrName>
                                        </p:attrNameLst>
                                      </p:cBhvr>
                                      <p:to>
                                        <p:strVal val="hidden"/>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nodeType="clickEffect">
                                  <p:stCondLst>
                                    <p:cond delay="0"/>
                                  </p:stCondLst>
                                  <p:childTnLst>
                                    <p:set>
                                      <p:cBhvr>
                                        <p:cTn id="48" dur="1" fill="hold">
                                          <p:stCondLst>
                                            <p:cond delay="0"/>
                                          </p:stCondLst>
                                        </p:cTn>
                                        <p:tgtEl>
                                          <p:spTgt spid="219148"/>
                                        </p:tgtEl>
                                        <p:attrNameLst>
                                          <p:attrName>style.visibility</p:attrName>
                                        </p:attrNameLst>
                                      </p:cBhvr>
                                      <p:to>
                                        <p:strVal val="visible"/>
                                      </p:to>
                                    </p:set>
                                    <p:animEffect transition="in" filter="dissolve">
                                      <p:cBhvr>
                                        <p:cTn id="49" dur="500"/>
                                        <p:tgtEl>
                                          <p:spTgt spid="219148"/>
                                        </p:tgtEl>
                                      </p:cBhvr>
                                    </p:animEffect>
                                  </p:childTnLst>
                                </p:cTn>
                              </p:par>
                            </p:childTnLst>
                          </p:cTn>
                        </p:par>
                        <p:par>
                          <p:cTn id="50" fill="hold" nodeType="afterGroup">
                            <p:stCondLst>
                              <p:cond delay="500"/>
                            </p:stCondLst>
                            <p:childTnLst>
                              <p:par>
                                <p:cTn id="51" presetID="9" presetClass="entr" presetSubtype="0" fill="hold" nodeType="afterEffect">
                                  <p:stCondLst>
                                    <p:cond delay="0"/>
                                  </p:stCondLst>
                                  <p:childTnLst>
                                    <p:set>
                                      <p:cBhvr>
                                        <p:cTn id="52" dur="1" fill="hold">
                                          <p:stCondLst>
                                            <p:cond delay="0"/>
                                          </p:stCondLst>
                                        </p:cTn>
                                        <p:tgtEl>
                                          <p:spTgt spid="219171"/>
                                        </p:tgtEl>
                                        <p:attrNameLst>
                                          <p:attrName>style.visibility</p:attrName>
                                        </p:attrNameLst>
                                      </p:cBhvr>
                                      <p:to>
                                        <p:strVal val="visible"/>
                                      </p:to>
                                    </p:set>
                                    <p:animEffect transition="in" filter="dissolve">
                                      <p:cBhvr>
                                        <p:cTn id="53" dur="1000"/>
                                        <p:tgtEl>
                                          <p:spTgt spid="21917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xit" presetSubtype="0" fill="hold" nodeType="clickEffect">
                                  <p:stCondLst>
                                    <p:cond delay="0"/>
                                  </p:stCondLst>
                                  <p:childTnLst>
                                    <p:set>
                                      <p:cBhvr>
                                        <p:cTn id="57" dur="1" fill="hold">
                                          <p:stCondLst>
                                            <p:cond delay="0"/>
                                          </p:stCondLst>
                                        </p:cTn>
                                        <p:tgtEl>
                                          <p:spTgt spid="219152"/>
                                        </p:tgtEl>
                                        <p:attrNameLst>
                                          <p:attrName>style.visibility</p:attrName>
                                        </p:attrNameLst>
                                      </p:cBhvr>
                                      <p:to>
                                        <p:strVal val="hidden"/>
                                      </p:to>
                                    </p:set>
                                  </p:childTnLst>
                                </p:cTn>
                              </p:par>
                              <p:par>
                                <p:cTn id="58" presetID="1" presetClass="exit" presetSubtype="0" fill="hold" nodeType="withEffect">
                                  <p:stCondLst>
                                    <p:cond delay="0"/>
                                  </p:stCondLst>
                                  <p:childTnLst>
                                    <p:set>
                                      <p:cBhvr>
                                        <p:cTn id="59" dur="1" fill="hold">
                                          <p:stCondLst>
                                            <p:cond delay="0"/>
                                          </p:stCondLst>
                                        </p:cTn>
                                        <p:tgtEl>
                                          <p:spTgt spid="219159"/>
                                        </p:tgtEl>
                                        <p:attrNameLst>
                                          <p:attrName>style.visibility</p:attrName>
                                        </p:attrNameLst>
                                      </p:cBhvr>
                                      <p:to>
                                        <p:strVal val="hidden"/>
                                      </p:to>
                                    </p:set>
                                  </p:childTnLst>
                                </p:cTn>
                              </p:par>
                            </p:childTnLst>
                          </p:cTn>
                        </p:par>
                        <p:par>
                          <p:cTn id="60" fill="hold" nodeType="afterGroup">
                            <p:stCondLst>
                              <p:cond delay="0"/>
                            </p:stCondLst>
                            <p:childTnLst>
                              <p:par>
                                <p:cTn id="61" presetID="17" presetClass="entr" presetSubtype="8" fill="hold" nodeType="afterEffect">
                                  <p:stCondLst>
                                    <p:cond delay="0"/>
                                  </p:stCondLst>
                                  <p:childTnLst>
                                    <p:set>
                                      <p:cBhvr>
                                        <p:cTn id="62" dur="1" fill="hold">
                                          <p:stCondLst>
                                            <p:cond delay="0"/>
                                          </p:stCondLst>
                                        </p:cTn>
                                        <p:tgtEl>
                                          <p:spTgt spid="219158"/>
                                        </p:tgtEl>
                                        <p:attrNameLst>
                                          <p:attrName>style.visibility</p:attrName>
                                        </p:attrNameLst>
                                      </p:cBhvr>
                                      <p:to>
                                        <p:strVal val="visible"/>
                                      </p:to>
                                    </p:set>
                                    <p:anim calcmode="lin" valueType="num">
                                      <p:cBhvr>
                                        <p:cTn id="63" dur="1000" fill="hold"/>
                                        <p:tgtEl>
                                          <p:spTgt spid="219158"/>
                                        </p:tgtEl>
                                        <p:attrNameLst>
                                          <p:attrName>ppt_x</p:attrName>
                                        </p:attrNameLst>
                                      </p:cBhvr>
                                      <p:tavLst>
                                        <p:tav tm="0">
                                          <p:val>
                                            <p:strVal val="#ppt_x-#ppt_w/2"/>
                                          </p:val>
                                        </p:tav>
                                        <p:tav tm="100000">
                                          <p:val>
                                            <p:strVal val="#ppt_x"/>
                                          </p:val>
                                        </p:tav>
                                      </p:tavLst>
                                    </p:anim>
                                    <p:anim calcmode="lin" valueType="num">
                                      <p:cBhvr>
                                        <p:cTn id="64" dur="1000" fill="hold"/>
                                        <p:tgtEl>
                                          <p:spTgt spid="219158"/>
                                        </p:tgtEl>
                                        <p:attrNameLst>
                                          <p:attrName>ppt_y</p:attrName>
                                        </p:attrNameLst>
                                      </p:cBhvr>
                                      <p:tavLst>
                                        <p:tav tm="0">
                                          <p:val>
                                            <p:strVal val="#ppt_y"/>
                                          </p:val>
                                        </p:tav>
                                        <p:tav tm="100000">
                                          <p:val>
                                            <p:strVal val="#ppt_y"/>
                                          </p:val>
                                        </p:tav>
                                      </p:tavLst>
                                    </p:anim>
                                    <p:anim calcmode="lin" valueType="num">
                                      <p:cBhvr>
                                        <p:cTn id="65" dur="1000" fill="hold"/>
                                        <p:tgtEl>
                                          <p:spTgt spid="219158"/>
                                        </p:tgtEl>
                                        <p:attrNameLst>
                                          <p:attrName>ppt_w</p:attrName>
                                        </p:attrNameLst>
                                      </p:cBhvr>
                                      <p:tavLst>
                                        <p:tav tm="0">
                                          <p:val>
                                            <p:fltVal val="0"/>
                                          </p:val>
                                        </p:tav>
                                        <p:tav tm="100000">
                                          <p:val>
                                            <p:strVal val="#ppt_w"/>
                                          </p:val>
                                        </p:tav>
                                      </p:tavLst>
                                    </p:anim>
                                    <p:anim calcmode="lin" valueType="num">
                                      <p:cBhvr>
                                        <p:cTn id="66" dur="1000" fill="hold"/>
                                        <p:tgtEl>
                                          <p:spTgt spid="219158"/>
                                        </p:tgtEl>
                                        <p:attrNameLst>
                                          <p:attrName>ppt_h</p:attrName>
                                        </p:attrNameLst>
                                      </p:cBhvr>
                                      <p:tavLst>
                                        <p:tav tm="0">
                                          <p:val>
                                            <p:strVal val="#ppt_h"/>
                                          </p:val>
                                        </p:tav>
                                        <p:tav tm="100000">
                                          <p:val>
                                            <p:strVal val="#ppt_h"/>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xit" presetSubtype="0" fill="hold" nodeType="clickEffect">
                                  <p:stCondLst>
                                    <p:cond delay="0"/>
                                  </p:stCondLst>
                                  <p:childTnLst>
                                    <p:set>
                                      <p:cBhvr>
                                        <p:cTn id="70" dur="1" fill="hold">
                                          <p:stCondLst>
                                            <p:cond delay="0"/>
                                          </p:stCondLst>
                                        </p:cTn>
                                        <p:tgtEl>
                                          <p:spTgt spid="219161"/>
                                        </p:tgtEl>
                                        <p:attrNameLst>
                                          <p:attrName>style.visibility</p:attrName>
                                        </p:attrNameLst>
                                      </p:cBhvr>
                                      <p:to>
                                        <p:strVal val="hidden"/>
                                      </p:to>
                                    </p:set>
                                  </p:childTnLst>
                                </p:cTn>
                              </p:par>
                            </p:childTnLst>
                          </p:cTn>
                        </p:par>
                        <p:par>
                          <p:cTn id="71" fill="hold" nodeType="afterGroup">
                            <p:stCondLst>
                              <p:cond delay="0"/>
                            </p:stCondLst>
                            <p:childTnLst>
                              <p:par>
                                <p:cTn id="72" presetID="22" presetClass="entr" presetSubtype="8" fill="hold" nodeType="afterEffect">
                                  <p:stCondLst>
                                    <p:cond delay="0"/>
                                  </p:stCondLst>
                                  <p:childTnLst>
                                    <p:set>
                                      <p:cBhvr>
                                        <p:cTn id="73" dur="1" fill="hold">
                                          <p:stCondLst>
                                            <p:cond delay="0"/>
                                          </p:stCondLst>
                                        </p:cTn>
                                        <p:tgtEl>
                                          <p:spTgt spid="219138"/>
                                        </p:tgtEl>
                                        <p:attrNameLst>
                                          <p:attrName>style.visibility</p:attrName>
                                        </p:attrNameLst>
                                      </p:cBhvr>
                                      <p:to>
                                        <p:strVal val="visible"/>
                                      </p:to>
                                    </p:set>
                                    <p:animEffect transition="in" filter="wipe(left)">
                                      <p:cBhvr>
                                        <p:cTn id="74" dur="2000"/>
                                        <p:tgtEl>
                                          <p:spTgt spid="21913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xit" presetSubtype="0" fill="hold" nodeType="clickEffect">
                                  <p:stCondLst>
                                    <p:cond delay="0"/>
                                  </p:stCondLst>
                                  <p:childTnLst>
                                    <p:set>
                                      <p:cBhvr>
                                        <p:cTn id="78" dur="1" fill="hold">
                                          <p:stCondLst>
                                            <p:cond delay="0"/>
                                          </p:stCondLst>
                                        </p:cTn>
                                        <p:tgtEl>
                                          <p:spTgt spid="219140"/>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219157"/>
                                        </p:tgtEl>
                                        <p:attrNameLst>
                                          <p:attrName>style.visibility</p:attrName>
                                        </p:attrNameLst>
                                      </p:cBhvr>
                                      <p:to>
                                        <p:strVal val="hidden"/>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xit" presetSubtype="0" fill="hold" nodeType="clickEffect">
                                  <p:stCondLst>
                                    <p:cond delay="0"/>
                                  </p:stCondLst>
                                  <p:childTnLst>
                                    <p:set>
                                      <p:cBhvr>
                                        <p:cTn id="84" dur="1" fill="hold">
                                          <p:stCondLst>
                                            <p:cond delay="0"/>
                                          </p:stCondLst>
                                        </p:cTn>
                                        <p:tgtEl>
                                          <p:spTgt spid="219160"/>
                                        </p:tgtEl>
                                        <p:attrNameLst>
                                          <p:attrName>style.visibility</p:attrName>
                                        </p:attrNameLst>
                                      </p:cBhvr>
                                      <p:to>
                                        <p:strVal val="hidden"/>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7" presetClass="entr" presetSubtype="8" fill="hold" nodeType="clickEffect">
                                  <p:stCondLst>
                                    <p:cond delay="0"/>
                                  </p:stCondLst>
                                  <p:childTnLst>
                                    <p:set>
                                      <p:cBhvr>
                                        <p:cTn id="88" dur="1" fill="hold">
                                          <p:stCondLst>
                                            <p:cond delay="0"/>
                                          </p:stCondLst>
                                        </p:cTn>
                                        <p:tgtEl>
                                          <p:spTgt spid="219139"/>
                                        </p:tgtEl>
                                        <p:attrNameLst>
                                          <p:attrName>style.visibility</p:attrName>
                                        </p:attrNameLst>
                                      </p:cBhvr>
                                      <p:to>
                                        <p:strVal val="visible"/>
                                      </p:to>
                                    </p:set>
                                    <p:anim calcmode="lin" valueType="num">
                                      <p:cBhvr>
                                        <p:cTn id="89" dur="500" fill="hold"/>
                                        <p:tgtEl>
                                          <p:spTgt spid="219139"/>
                                        </p:tgtEl>
                                        <p:attrNameLst>
                                          <p:attrName>ppt_x</p:attrName>
                                        </p:attrNameLst>
                                      </p:cBhvr>
                                      <p:tavLst>
                                        <p:tav tm="0">
                                          <p:val>
                                            <p:strVal val="#ppt_x-#ppt_w/2"/>
                                          </p:val>
                                        </p:tav>
                                        <p:tav tm="100000">
                                          <p:val>
                                            <p:strVal val="#ppt_x"/>
                                          </p:val>
                                        </p:tav>
                                      </p:tavLst>
                                    </p:anim>
                                    <p:anim calcmode="lin" valueType="num">
                                      <p:cBhvr>
                                        <p:cTn id="90" dur="500" fill="hold"/>
                                        <p:tgtEl>
                                          <p:spTgt spid="219139"/>
                                        </p:tgtEl>
                                        <p:attrNameLst>
                                          <p:attrName>ppt_y</p:attrName>
                                        </p:attrNameLst>
                                      </p:cBhvr>
                                      <p:tavLst>
                                        <p:tav tm="0">
                                          <p:val>
                                            <p:strVal val="#ppt_y"/>
                                          </p:val>
                                        </p:tav>
                                        <p:tav tm="100000">
                                          <p:val>
                                            <p:strVal val="#ppt_y"/>
                                          </p:val>
                                        </p:tav>
                                      </p:tavLst>
                                    </p:anim>
                                    <p:anim calcmode="lin" valueType="num">
                                      <p:cBhvr>
                                        <p:cTn id="91" dur="500" fill="hold"/>
                                        <p:tgtEl>
                                          <p:spTgt spid="219139"/>
                                        </p:tgtEl>
                                        <p:attrNameLst>
                                          <p:attrName>ppt_w</p:attrName>
                                        </p:attrNameLst>
                                      </p:cBhvr>
                                      <p:tavLst>
                                        <p:tav tm="0">
                                          <p:val>
                                            <p:fltVal val="0"/>
                                          </p:val>
                                        </p:tav>
                                        <p:tav tm="100000">
                                          <p:val>
                                            <p:strVal val="#ppt_w"/>
                                          </p:val>
                                        </p:tav>
                                      </p:tavLst>
                                    </p:anim>
                                    <p:anim calcmode="lin" valueType="num">
                                      <p:cBhvr>
                                        <p:cTn id="92" dur="500" fill="hold"/>
                                        <p:tgtEl>
                                          <p:spTgt spid="219139"/>
                                        </p:tgtEl>
                                        <p:attrNameLst>
                                          <p:attrName>ppt_h</p:attrName>
                                        </p:attrNameLst>
                                      </p:cBhvr>
                                      <p:tavLst>
                                        <p:tav tm="0">
                                          <p:val>
                                            <p:strVal val="#ppt_h"/>
                                          </p:val>
                                        </p:tav>
                                        <p:tav tm="100000">
                                          <p:val>
                                            <p:strVal val="#ppt_h"/>
                                          </p:val>
                                        </p:tav>
                                      </p:tavLst>
                                    </p:anim>
                                  </p:childTnLst>
                                </p:cTn>
                              </p:par>
                            </p:childTnLst>
                          </p:cTn>
                        </p:par>
                      </p:childTnLst>
                    </p:cTn>
                  </p:par>
                  <p:par>
                    <p:cTn id="93" fill="hold" nodeType="clickPar">
                      <p:stCondLst>
                        <p:cond delay="indefinite"/>
                      </p:stCondLst>
                      <p:childTnLst>
                        <p:par>
                          <p:cTn id="94" fill="hold" nodeType="withGroup">
                            <p:stCondLst>
                              <p:cond delay="0"/>
                            </p:stCondLst>
                            <p:childTnLst>
                              <p:par>
                                <p:cTn id="95" presetID="9" presetClass="entr" presetSubtype="0" fill="hold" nodeType="clickEffect">
                                  <p:stCondLst>
                                    <p:cond delay="0"/>
                                  </p:stCondLst>
                                  <p:childTnLst>
                                    <p:set>
                                      <p:cBhvr>
                                        <p:cTn id="96" dur="1" fill="hold">
                                          <p:stCondLst>
                                            <p:cond delay="0"/>
                                          </p:stCondLst>
                                        </p:cTn>
                                        <p:tgtEl>
                                          <p:spTgt spid="219178"/>
                                        </p:tgtEl>
                                        <p:attrNameLst>
                                          <p:attrName>style.visibility</p:attrName>
                                        </p:attrNameLst>
                                      </p:cBhvr>
                                      <p:to>
                                        <p:strVal val="visible"/>
                                      </p:to>
                                    </p:set>
                                    <p:animEffect transition="in" filter="dissolve">
                                      <p:cBhvr>
                                        <p:cTn id="97" dur="500"/>
                                        <p:tgtEl>
                                          <p:spTgt spid="219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65" grpId="0"/>
      <p:bldP spid="21916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Freeform 2"/>
          <p:cNvSpPr>
            <a:spLocks/>
          </p:cNvSpPr>
          <p:nvPr/>
        </p:nvSpPr>
        <p:spPr bwMode="auto">
          <a:xfrm>
            <a:off x="2933700" y="3030538"/>
            <a:ext cx="711200" cy="584200"/>
          </a:xfrm>
          <a:custGeom>
            <a:avLst/>
            <a:gdLst>
              <a:gd name="T0" fmla="*/ 0 w 3024"/>
              <a:gd name="T1" fmla="*/ 2147483646 h 912"/>
              <a:gd name="T2" fmla="*/ 2147483646 w 3024"/>
              <a:gd name="T3" fmla="*/ 2147483646 h 912"/>
              <a:gd name="T4" fmla="*/ 2147483646 w 3024"/>
              <a:gd name="T5" fmla="*/ 2147483646 h 912"/>
              <a:gd name="T6" fmla="*/ 2147483646 w 3024"/>
              <a:gd name="T7" fmla="*/ 0 h 9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24" h="912">
                <a:moveTo>
                  <a:pt x="0" y="192"/>
                </a:moveTo>
                <a:lnTo>
                  <a:pt x="816" y="912"/>
                </a:lnTo>
                <a:lnTo>
                  <a:pt x="2640" y="912"/>
                </a:lnTo>
                <a:lnTo>
                  <a:pt x="3024"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5" name="Freeform 3"/>
          <p:cNvSpPr>
            <a:spLocks/>
          </p:cNvSpPr>
          <p:nvPr/>
        </p:nvSpPr>
        <p:spPr bwMode="auto">
          <a:xfrm>
            <a:off x="2971800" y="4800600"/>
            <a:ext cx="4400550" cy="1295400"/>
          </a:xfrm>
          <a:custGeom>
            <a:avLst/>
            <a:gdLst>
              <a:gd name="T0" fmla="*/ 0 w 3024"/>
              <a:gd name="T1" fmla="*/ 2147483646 h 912"/>
              <a:gd name="T2" fmla="*/ 2147483646 w 3024"/>
              <a:gd name="T3" fmla="*/ 2147483646 h 912"/>
              <a:gd name="T4" fmla="*/ 2147483646 w 3024"/>
              <a:gd name="T5" fmla="*/ 2147483646 h 912"/>
              <a:gd name="T6" fmla="*/ 2147483646 w 3024"/>
              <a:gd name="T7" fmla="*/ 0 h 9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24" h="912">
                <a:moveTo>
                  <a:pt x="0" y="192"/>
                </a:moveTo>
                <a:lnTo>
                  <a:pt x="816" y="912"/>
                </a:lnTo>
                <a:lnTo>
                  <a:pt x="2640" y="912"/>
                </a:lnTo>
                <a:lnTo>
                  <a:pt x="3024"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64" name="Line 4"/>
          <p:cNvSpPr>
            <a:spLocks noChangeShapeType="1"/>
          </p:cNvSpPr>
          <p:nvPr/>
        </p:nvSpPr>
        <p:spPr bwMode="auto">
          <a:xfrm>
            <a:off x="2743200" y="4724400"/>
            <a:ext cx="2895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0165" name="Group 5"/>
          <p:cNvGrpSpPr>
            <a:grpSpLocks/>
          </p:cNvGrpSpPr>
          <p:nvPr/>
        </p:nvGrpSpPr>
        <p:grpSpPr bwMode="auto">
          <a:xfrm>
            <a:off x="4191000" y="4554538"/>
            <a:ext cx="990600" cy="1371600"/>
            <a:chOff x="2208" y="528"/>
            <a:chExt cx="672" cy="1008"/>
          </a:xfrm>
        </p:grpSpPr>
        <p:sp>
          <p:nvSpPr>
            <p:cNvPr id="13375" name="Rectangle 6"/>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3376" name="Rectangle 7"/>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PCB4</a:t>
              </a:r>
            </a:p>
          </p:txBody>
        </p:sp>
        <p:sp>
          <p:nvSpPr>
            <p:cNvPr id="13377" name="Rectangle 8"/>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13318" name="Group 9"/>
          <p:cNvGrpSpPr>
            <a:grpSpLocks/>
          </p:cNvGrpSpPr>
          <p:nvPr/>
        </p:nvGrpSpPr>
        <p:grpSpPr bwMode="auto">
          <a:xfrm>
            <a:off x="5638800" y="4554538"/>
            <a:ext cx="990600" cy="1371600"/>
            <a:chOff x="2208" y="528"/>
            <a:chExt cx="672" cy="1008"/>
          </a:xfrm>
        </p:grpSpPr>
        <p:sp>
          <p:nvSpPr>
            <p:cNvPr id="13372" name="Rectangle 10"/>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3373" name="Rectangle 11"/>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PCB8</a:t>
              </a:r>
            </a:p>
          </p:txBody>
        </p:sp>
        <p:sp>
          <p:nvSpPr>
            <p:cNvPr id="13374" name="Rectangle 12"/>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220173" name="Group 13"/>
          <p:cNvGrpSpPr>
            <a:grpSpLocks/>
          </p:cNvGrpSpPr>
          <p:nvPr/>
        </p:nvGrpSpPr>
        <p:grpSpPr bwMode="auto">
          <a:xfrm>
            <a:off x="5613400" y="2854325"/>
            <a:ext cx="990600" cy="1371600"/>
            <a:chOff x="2208" y="528"/>
            <a:chExt cx="672" cy="1008"/>
          </a:xfrm>
        </p:grpSpPr>
        <p:sp>
          <p:nvSpPr>
            <p:cNvPr id="13369" name="Rectangle 14"/>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3370" name="Rectangle 15"/>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PCB7</a:t>
              </a:r>
            </a:p>
          </p:txBody>
        </p:sp>
        <p:sp>
          <p:nvSpPr>
            <p:cNvPr id="13371" name="Rectangle 16"/>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sp>
        <p:nvSpPr>
          <p:cNvPr id="220177" name="Line 17"/>
          <p:cNvSpPr>
            <a:spLocks noChangeShapeType="1"/>
          </p:cNvSpPr>
          <p:nvPr/>
        </p:nvSpPr>
        <p:spPr bwMode="auto">
          <a:xfrm flipV="1">
            <a:off x="3448050" y="4719638"/>
            <a:ext cx="736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1" name="Line 18"/>
          <p:cNvSpPr>
            <a:spLocks noChangeShapeType="1"/>
          </p:cNvSpPr>
          <p:nvPr/>
        </p:nvSpPr>
        <p:spPr bwMode="auto">
          <a:xfrm>
            <a:off x="6629400" y="4724400"/>
            <a:ext cx="762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0179" name="Freeform 19"/>
          <p:cNvSpPr>
            <a:spLocks/>
          </p:cNvSpPr>
          <p:nvPr/>
        </p:nvSpPr>
        <p:spPr bwMode="auto">
          <a:xfrm>
            <a:off x="2743200" y="3106738"/>
            <a:ext cx="2862263" cy="638175"/>
          </a:xfrm>
          <a:custGeom>
            <a:avLst/>
            <a:gdLst>
              <a:gd name="T0" fmla="*/ 0 w 3024"/>
              <a:gd name="T1" fmla="*/ 2147483646 h 912"/>
              <a:gd name="T2" fmla="*/ 2147483646 w 3024"/>
              <a:gd name="T3" fmla="*/ 2147483646 h 912"/>
              <a:gd name="T4" fmla="*/ 2147483646 w 3024"/>
              <a:gd name="T5" fmla="*/ 2147483646 h 912"/>
              <a:gd name="T6" fmla="*/ 2147483646 w 3024"/>
              <a:gd name="T7" fmla="*/ 0 h 9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24" h="912">
                <a:moveTo>
                  <a:pt x="0" y="192"/>
                </a:moveTo>
                <a:lnTo>
                  <a:pt x="816" y="912"/>
                </a:lnTo>
                <a:lnTo>
                  <a:pt x="2640" y="912"/>
                </a:lnTo>
                <a:lnTo>
                  <a:pt x="3024"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23" name="Group 20"/>
          <p:cNvGrpSpPr>
            <a:grpSpLocks/>
          </p:cNvGrpSpPr>
          <p:nvPr/>
        </p:nvGrpSpPr>
        <p:grpSpPr bwMode="auto">
          <a:xfrm>
            <a:off x="2466975" y="4541838"/>
            <a:ext cx="990600" cy="611187"/>
            <a:chOff x="672" y="768"/>
            <a:chExt cx="720" cy="480"/>
          </a:xfrm>
        </p:grpSpPr>
        <p:sp>
          <p:nvSpPr>
            <p:cNvPr id="13367" name="Rectangle 21"/>
            <p:cNvSpPr>
              <a:spLocks noChangeArrowheads="1"/>
            </p:cNvSpPr>
            <p:nvPr/>
          </p:nvSpPr>
          <p:spPr bwMode="auto">
            <a:xfrm>
              <a:off x="672" y="768"/>
              <a:ext cx="720"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Head</a:t>
              </a:r>
            </a:p>
          </p:txBody>
        </p:sp>
        <p:sp>
          <p:nvSpPr>
            <p:cNvPr id="13368" name="Rectangle 22"/>
            <p:cNvSpPr>
              <a:spLocks noChangeArrowheads="1"/>
            </p:cNvSpPr>
            <p:nvPr/>
          </p:nvSpPr>
          <p:spPr bwMode="auto">
            <a:xfrm>
              <a:off x="672" y="1008"/>
              <a:ext cx="720" cy="240"/>
            </a:xfrm>
            <a:prstGeom prst="rect">
              <a:avLst/>
            </a:prstGeom>
            <a:solidFill>
              <a:srgbClr val="FF66CC"/>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Tail</a:t>
              </a:r>
            </a:p>
          </p:txBody>
        </p:sp>
      </p:grpSp>
      <p:sp>
        <p:nvSpPr>
          <p:cNvPr id="13324" name="Text Box 23"/>
          <p:cNvSpPr txBox="1">
            <a:spLocks noChangeArrowheads="1"/>
          </p:cNvSpPr>
          <p:nvPr/>
        </p:nvSpPr>
        <p:spPr bwMode="auto">
          <a:xfrm>
            <a:off x="1600200" y="4495800"/>
            <a:ext cx="7620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latin typeface="Century Gothic" panose="020B0502020202020204" pitchFamily="34" charset="0"/>
              </a:rPr>
              <a:t>就绪</a:t>
            </a:r>
          </a:p>
          <a:p>
            <a:pPr algn="ctr">
              <a:spcBef>
                <a:spcPct val="0"/>
              </a:spcBef>
              <a:buClrTx/>
              <a:buSzTx/>
              <a:buFontTx/>
              <a:buNone/>
            </a:pPr>
            <a:r>
              <a:rPr lang="zh-CN" altLang="en-US" sz="1800">
                <a:latin typeface="Century Gothic" panose="020B0502020202020204" pitchFamily="34" charset="0"/>
              </a:rPr>
              <a:t>队列</a:t>
            </a:r>
          </a:p>
        </p:txBody>
      </p:sp>
      <p:sp>
        <p:nvSpPr>
          <p:cNvPr id="220184" name="Rectangle 24"/>
          <p:cNvSpPr>
            <a:spLocks noChangeArrowheads="1"/>
          </p:cNvSpPr>
          <p:nvPr/>
        </p:nvSpPr>
        <p:spPr bwMode="auto">
          <a:xfrm>
            <a:off x="152400" y="3276600"/>
            <a:ext cx="1219200" cy="2057400"/>
          </a:xfrm>
          <a:prstGeom prst="rect">
            <a:avLst/>
          </a:prstGeom>
          <a:solidFill>
            <a:srgbClr val="EAEAEA"/>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r>
              <a:rPr lang="zh-CN" altLang="en-US" sz="1600">
                <a:latin typeface="Century Gothic" panose="020B0502020202020204" pitchFamily="34" charset="0"/>
              </a:rPr>
              <a:t>物理</a:t>
            </a:r>
            <a:r>
              <a:rPr lang="en-US" altLang="zh-CN" sz="1600">
                <a:latin typeface="Century Gothic" panose="020B0502020202020204" pitchFamily="34" charset="0"/>
              </a:rPr>
              <a:t>CPU </a:t>
            </a:r>
          </a:p>
        </p:txBody>
      </p:sp>
      <p:grpSp>
        <p:nvGrpSpPr>
          <p:cNvPr id="220185" name="Group 25"/>
          <p:cNvGrpSpPr>
            <a:grpSpLocks/>
          </p:cNvGrpSpPr>
          <p:nvPr/>
        </p:nvGrpSpPr>
        <p:grpSpPr bwMode="auto">
          <a:xfrm>
            <a:off x="257175" y="3581400"/>
            <a:ext cx="990600" cy="1371600"/>
            <a:chOff x="2208" y="528"/>
            <a:chExt cx="672" cy="1008"/>
          </a:xfrm>
        </p:grpSpPr>
        <p:sp>
          <p:nvSpPr>
            <p:cNvPr id="13364" name="Rectangle 26"/>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3365" name="Rectangle 27"/>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PCB7</a:t>
              </a:r>
            </a:p>
          </p:txBody>
        </p:sp>
        <p:sp>
          <p:nvSpPr>
            <p:cNvPr id="13366" name="Rectangle 28"/>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220189" name="Group 29"/>
          <p:cNvGrpSpPr>
            <a:grpSpLocks/>
          </p:cNvGrpSpPr>
          <p:nvPr/>
        </p:nvGrpSpPr>
        <p:grpSpPr bwMode="auto">
          <a:xfrm>
            <a:off x="6604000" y="3022600"/>
            <a:ext cx="609600" cy="304800"/>
            <a:chOff x="4272" y="3216"/>
            <a:chExt cx="384" cy="192"/>
          </a:xfrm>
        </p:grpSpPr>
        <p:grpSp>
          <p:nvGrpSpPr>
            <p:cNvPr id="13358" name="Group 30"/>
            <p:cNvGrpSpPr>
              <a:grpSpLocks/>
            </p:cNvGrpSpPr>
            <p:nvPr/>
          </p:nvGrpSpPr>
          <p:grpSpPr bwMode="auto">
            <a:xfrm>
              <a:off x="4464" y="3216"/>
              <a:ext cx="192" cy="192"/>
              <a:chOff x="2448" y="2016"/>
              <a:chExt cx="192" cy="192"/>
            </a:xfrm>
          </p:grpSpPr>
          <p:sp>
            <p:nvSpPr>
              <p:cNvPr id="13360" name="Line 31"/>
              <p:cNvSpPr>
                <a:spLocks noChangeShapeType="1"/>
              </p:cNvSpPr>
              <p:nvPr/>
            </p:nvSpPr>
            <p:spPr bwMode="auto">
              <a:xfrm>
                <a:off x="2448" y="2112"/>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1" name="Line 32"/>
              <p:cNvSpPr>
                <a:spLocks noChangeShapeType="1"/>
              </p:cNvSpPr>
              <p:nvPr/>
            </p:nvSpPr>
            <p:spPr bwMode="auto">
              <a:xfrm>
                <a:off x="2496" y="2160"/>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2" name="Line 33"/>
              <p:cNvSpPr>
                <a:spLocks noChangeShapeType="1"/>
              </p:cNvSpPr>
              <p:nvPr/>
            </p:nvSpPr>
            <p:spPr bwMode="auto">
              <a:xfrm>
                <a:off x="2520" y="2208"/>
                <a:ext cx="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3" name="Line 34"/>
              <p:cNvSpPr>
                <a:spLocks noChangeShapeType="1"/>
              </p:cNvSpPr>
              <p:nvPr/>
            </p:nvSpPr>
            <p:spPr bwMode="auto">
              <a:xfrm>
                <a:off x="2544" y="2016"/>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359" name="Line 35"/>
            <p:cNvSpPr>
              <a:spLocks noChangeShapeType="1"/>
            </p:cNvSpPr>
            <p:nvPr/>
          </p:nvSpPr>
          <p:spPr bwMode="auto">
            <a:xfrm>
              <a:off x="4272" y="3216"/>
              <a:ext cx="2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0196" name="Group 36"/>
          <p:cNvGrpSpPr>
            <a:grpSpLocks/>
          </p:cNvGrpSpPr>
          <p:nvPr/>
        </p:nvGrpSpPr>
        <p:grpSpPr bwMode="auto">
          <a:xfrm>
            <a:off x="247650" y="3581400"/>
            <a:ext cx="990600" cy="1371600"/>
            <a:chOff x="2208" y="528"/>
            <a:chExt cx="672" cy="1008"/>
          </a:xfrm>
        </p:grpSpPr>
        <p:sp>
          <p:nvSpPr>
            <p:cNvPr id="13355" name="Rectangle 37"/>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3356" name="Rectangle 38"/>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PCB4</a:t>
              </a:r>
            </a:p>
          </p:txBody>
        </p:sp>
        <p:sp>
          <p:nvSpPr>
            <p:cNvPr id="13357" name="Rectangle 39"/>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sp>
        <p:nvSpPr>
          <p:cNvPr id="13329" name="Rectangle 40"/>
          <p:cNvSpPr>
            <a:spLocks noChangeArrowheads="1"/>
          </p:cNvSpPr>
          <p:nvPr/>
        </p:nvSpPr>
        <p:spPr bwMode="auto">
          <a:xfrm>
            <a:off x="296863" y="1906588"/>
            <a:ext cx="6561137"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ClrTx/>
              <a:buSzTx/>
              <a:buFontTx/>
              <a:buNone/>
            </a:pPr>
            <a:r>
              <a:rPr lang="zh-CN" altLang="en-US" sz="2400">
                <a:solidFill>
                  <a:srgbClr val="CC0000"/>
                </a:solidFill>
                <a:latin typeface="Times New Roman" panose="02020603050405020304" pitchFamily="18" charset="0"/>
              </a:rPr>
              <a:t>调度情况</a:t>
            </a:r>
            <a:r>
              <a:rPr lang="en-US" altLang="zh-CN" sz="2400">
                <a:solidFill>
                  <a:srgbClr val="CC0000"/>
                </a:solidFill>
                <a:latin typeface="Times New Roman" panose="02020603050405020304" pitchFamily="18" charset="0"/>
              </a:rPr>
              <a:t>4</a:t>
            </a:r>
            <a:r>
              <a:rPr lang="zh-CN" altLang="en-US" sz="2400">
                <a:solidFill>
                  <a:srgbClr val="CC0000"/>
                </a:solidFill>
                <a:latin typeface="Times New Roman" panose="02020603050405020304" pitchFamily="18" charset="0"/>
              </a:rPr>
              <a:t>：进程的任务完成了，自动终止退出</a:t>
            </a:r>
          </a:p>
        </p:txBody>
      </p:sp>
      <p:sp>
        <p:nvSpPr>
          <p:cNvPr id="220202" name="Text Box 42"/>
          <p:cNvSpPr txBox="1">
            <a:spLocks noChangeArrowheads="1"/>
          </p:cNvSpPr>
          <p:nvPr/>
        </p:nvSpPr>
        <p:spPr bwMode="auto">
          <a:xfrm>
            <a:off x="1612900" y="2832100"/>
            <a:ext cx="762000"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latin typeface="Century Gothic" panose="020B0502020202020204" pitchFamily="34" charset="0"/>
              </a:rPr>
              <a:t>僵死队列</a:t>
            </a:r>
          </a:p>
        </p:txBody>
      </p:sp>
      <p:grpSp>
        <p:nvGrpSpPr>
          <p:cNvPr id="220203" name="Group 43"/>
          <p:cNvGrpSpPr>
            <a:grpSpLocks/>
          </p:cNvGrpSpPr>
          <p:nvPr/>
        </p:nvGrpSpPr>
        <p:grpSpPr bwMode="auto">
          <a:xfrm>
            <a:off x="2416175" y="2878138"/>
            <a:ext cx="990600" cy="611187"/>
            <a:chOff x="672" y="768"/>
            <a:chExt cx="720" cy="480"/>
          </a:xfrm>
        </p:grpSpPr>
        <p:sp>
          <p:nvSpPr>
            <p:cNvPr id="13353" name="Rectangle 44"/>
            <p:cNvSpPr>
              <a:spLocks noChangeArrowheads="1"/>
            </p:cNvSpPr>
            <p:nvPr/>
          </p:nvSpPr>
          <p:spPr bwMode="auto">
            <a:xfrm>
              <a:off x="672" y="768"/>
              <a:ext cx="720"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Head</a:t>
              </a:r>
            </a:p>
          </p:txBody>
        </p:sp>
        <p:sp>
          <p:nvSpPr>
            <p:cNvPr id="13354" name="Rectangle 45"/>
            <p:cNvSpPr>
              <a:spLocks noChangeArrowheads="1"/>
            </p:cNvSpPr>
            <p:nvPr/>
          </p:nvSpPr>
          <p:spPr bwMode="auto">
            <a:xfrm>
              <a:off x="672" y="1008"/>
              <a:ext cx="720" cy="240"/>
            </a:xfrm>
            <a:prstGeom prst="rect">
              <a:avLst/>
            </a:prstGeom>
            <a:solidFill>
              <a:srgbClr val="FF66CC"/>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Tail</a:t>
              </a:r>
            </a:p>
          </p:txBody>
        </p:sp>
      </p:grpSp>
      <p:grpSp>
        <p:nvGrpSpPr>
          <p:cNvPr id="220206" name="Group 46"/>
          <p:cNvGrpSpPr>
            <a:grpSpLocks/>
          </p:cNvGrpSpPr>
          <p:nvPr/>
        </p:nvGrpSpPr>
        <p:grpSpPr bwMode="auto">
          <a:xfrm>
            <a:off x="3403600" y="3035300"/>
            <a:ext cx="609600" cy="304800"/>
            <a:chOff x="4272" y="3216"/>
            <a:chExt cx="384" cy="192"/>
          </a:xfrm>
        </p:grpSpPr>
        <p:grpSp>
          <p:nvGrpSpPr>
            <p:cNvPr id="13347" name="Group 47"/>
            <p:cNvGrpSpPr>
              <a:grpSpLocks/>
            </p:cNvGrpSpPr>
            <p:nvPr/>
          </p:nvGrpSpPr>
          <p:grpSpPr bwMode="auto">
            <a:xfrm>
              <a:off x="4464" y="3216"/>
              <a:ext cx="192" cy="192"/>
              <a:chOff x="2448" y="2016"/>
              <a:chExt cx="192" cy="192"/>
            </a:xfrm>
          </p:grpSpPr>
          <p:sp>
            <p:nvSpPr>
              <p:cNvPr id="13349" name="Line 48"/>
              <p:cNvSpPr>
                <a:spLocks noChangeShapeType="1"/>
              </p:cNvSpPr>
              <p:nvPr/>
            </p:nvSpPr>
            <p:spPr bwMode="auto">
              <a:xfrm>
                <a:off x="2448" y="2112"/>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0" name="Line 49"/>
              <p:cNvSpPr>
                <a:spLocks noChangeShapeType="1"/>
              </p:cNvSpPr>
              <p:nvPr/>
            </p:nvSpPr>
            <p:spPr bwMode="auto">
              <a:xfrm>
                <a:off x="2496" y="2160"/>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1" name="Line 50"/>
              <p:cNvSpPr>
                <a:spLocks noChangeShapeType="1"/>
              </p:cNvSpPr>
              <p:nvPr/>
            </p:nvSpPr>
            <p:spPr bwMode="auto">
              <a:xfrm>
                <a:off x="2520" y="2208"/>
                <a:ext cx="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2" name="Line 51"/>
              <p:cNvSpPr>
                <a:spLocks noChangeShapeType="1"/>
              </p:cNvSpPr>
              <p:nvPr/>
            </p:nvSpPr>
            <p:spPr bwMode="auto">
              <a:xfrm>
                <a:off x="2544" y="2016"/>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348" name="Line 52"/>
            <p:cNvSpPr>
              <a:spLocks noChangeShapeType="1"/>
            </p:cNvSpPr>
            <p:nvPr/>
          </p:nvSpPr>
          <p:spPr bwMode="auto">
            <a:xfrm>
              <a:off x="4272" y="3216"/>
              <a:ext cx="2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0213" name="Line 53"/>
          <p:cNvSpPr>
            <a:spLocks noChangeShapeType="1"/>
          </p:cNvSpPr>
          <p:nvPr/>
        </p:nvSpPr>
        <p:spPr bwMode="auto">
          <a:xfrm>
            <a:off x="3390900" y="3035300"/>
            <a:ext cx="2235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34" name="Group 54"/>
          <p:cNvGrpSpPr>
            <a:grpSpLocks/>
          </p:cNvGrpSpPr>
          <p:nvPr/>
        </p:nvGrpSpPr>
        <p:grpSpPr bwMode="auto">
          <a:xfrm>
            <a:off x="7391400" y="4543425"/>
            <a:ext cx="990600" cy="1371600"/>
            <a:chOff x="2208" y="528"/>
            <a:chExt cx="672" cy="1008"/>
          </a:xfrm>
        </p:grpSpPr>
        <p:sp>
          <p:nvSpPr>
            <p:cNvPr id="13344" name="Rectangle 55"/>
            <p:cNvSpPr>
              <a:spLocks noChangeArrowheads="1"/>
            </p:cNvSpPr>
            <p:nvPr/>
          </p:nvSpPr>
          <p:spPr bwMode="auto">
            <a:xfrm>
              <a:off x="2208" y="528"/>
              <a:ext cx="672" cy="1008"/>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a:p>
              <a:pPr algn="ctr">
                <a:spcBef>
                  <a:spcPct val="0"/>
                </a:spcBef>
                <a:buClrTx/>
                <a:buSzTx/>
                <a:buFontTx/>
                <a:buNone/>
              </a:pPr>
              <a:endParaRPr lang="en-US" altLang="zh-CN" sz="1600">
                <a:latin typeface="Century Gothic" panose="020B0502020202020204" pitchFamily="34" charset="0"/>
              </a:endParaRPr>
            </a:p>
          </p:txBody>
        </p:sp>
        <p:sp>
          <p:nvSpPr>
            <p:cNvPr id="13345" name="Rectangle 56"/>
            <p:cNvSpPr>
              <a:spLocks noChangeArrowheads="1"/>
            </p:cNvSpPr>
            <p:nvPr/>
          </p:nvSpPr>
          <p:spPr bwMode="auto">
            <a:xfrm>
              <a:off x="2208" y="528"/>
              <a:ext cx="672" cy="240"/>
            </a:xfrm>
            <a:prstGeom prst="rect">
              <a:avLst/>
            </a:prstGeom>
            <a:solidFill>
              <a:srgbClr val="00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PCB10</a:t>
              </a:r>
            </a:p>
          </p:txBody>
        </p:sp>
        <p:sp>
          <p:nvSpPr>
            <p:cNvPr id="13346" name="Rectangle 57"/>
            <p:cNvSpPr>
              <a:spLocks noChangeArrowheads="1"/>
            </p:cNvSpPr>
            <p:nvPr/>
          </p:nvSpPr>
          <p:spPr bwMode="auto">
            <a:xfrm>
              <a:off x="2208" y="768"/>
              <a:ext cx="672" cy="192"/>
            </a:xfrm>
            <a:prstGeom prst="rect">
              <a:avLst/>
            </a:prstGeom>
            <a:solidFill>
              <a:srgbClr val="FFFFFF"/>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600">
                  <a:latin typeface="Century Gothic" panose="020B0502020202020204" pitchFamily="34" charset="0"/>
                </a:rPr>
                <a:t>Registers</a:t>
              </a:r>
            </a:p>
          </p:txBody>
        </p:sp>
      </p:grpSp>
      <p:grpSp>
        <p:nvGrpSpPr>
          <p:cNvPr id="13335" name="Group 58"/>
          <p:cNvGrpSpPr>
            <a:grpSpLocks/>
          </p:cNvGrpSpPr>
          <p:nvPr/>
        </p:nvGrpSpPr>
        <p:grpSpPr bwMode="auto">
          <a:xfrm>
            <a:off x="8382000" y="4711700"/>
            <a:ext cx="609600" cy="304800"/>
            <a:chOff x="4272" y="3216"/>
            <a:chExt cx="384" cy="192"/>
          </a:xfrm>
        </p:grpSpPr>
        <p:grpSp>
          <p:nvGrpSpPr>
            <p:cNvPr id="13338" name="Group 59"/>
            <p:cNvGrpSpPr>
              <a:grpSpLocks/>
            </p:cNvGrpSpPr>
            <p:nvPr/>
          </p:nvGrpSpPr>
          <p:grpSpPr bwMode="auto">
            <a:xfrm>
              <a:off x="4464" y="3216"/>
              <a:ext cx="192" cy="192"/>
              <a:chOff x="2448" y="2016"/>
              <a:chExt cx="192" cy="192"/>
            </a:xfrm>
          </p:grpSpPr>
          <p:sp>
            <p:nvSpPr>
              <p:cNvPr id="13340" name="Line 60"/>
              <p:cNvSpPr>
                <a:spLocks noChangeShapeType="1"/>
              </p:cNvSpPr>
              <p:nvPr/>
            </p:nvSpPr>
            <p:spPr bwMode="auto">
              <a:xfrm>
                <a:off x="2448" y="2112"/>
                <a:ext cx="19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1" name="Line 61"/>
              <p:cNvSpPr>
                <a:spLocks noChangeShapeType="1"/>
              </p:cNvSpPr>
              <p:nvPr/>
            </p:nvSpPr>
            <p:spPr bwMode="auto">
              <a:xfrm>
                <a:off x="2496" y="2160"/>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2" name="Line 62"/>
              <p:cNvSpPr>
                <a:spLocks noChangeShapeType="1"/>
              </p:cNvSpPr>
              <p:nvPr/>
            </p:nvSpPr>
            <p:spPr bwMode="auto">
              <a:xfrm>
                <a:off x="2520" y="2208"/>
                <a:ext cx="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43" name="Line 63"/>
              <p:cNvSpPr>
                <a:spLocks noChangeShapeType="1"/>
              </p:cNvSpPr>
              <p:nvPr/>
            </p:nvSpPr>
            <p:spPr bwMode="auto">
              <a:xfrm>
                <a:off x="2544" y="2016"/>
                <a:ext cx="0"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339" name="Line 64"/>
            <p:cNvSpPr>
              <a:spLocks noChangeShapeType="1"/>
            </p:cNvSpPr>
            <p:nvPr/>
          </p:nvSpPr>
          <p:spPr bwMode="auto">
            <a:xfrm>
              <a:off x="4272" y="3216"/>
              <a:ext cx="2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336" name="Rectangle 2"/>
          <p:cNvSpPr>
            <a:spLocks noChangeArrowheads="1"/>
          </p:cNvSpPr>
          <p:nvPr/>
        </p:nvSpPr>
        <p:spPr bwMode="auto">
          <a:xfrm>
            <a:off x="3124200" y="381000"/>
            <a:ext cx="32321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200">
                <a:latin typeface="黑体" panose="02010609060101010101" pitchFamily="49" charset="-122"/>
                <a:ea typeface="黑体" panose="02010609060101010101" pitchFamily="49" charset="-122"/>
              </a:rPr>
              <a:t>5.1 </a:t>
            </a:r>
            <a:r>
              <a:rPr lang="zh-CN" altLang="en-US" sz="3200">
                <a:latin typeface="黑体" panose="02010609060101010101" pitchFamily="49" charset="-122"/>
                <a:ea typeface="黑体" panose="02010609060101010101" pitchFamily="49" charset="-122"/>
              </a:rPr>
              <a:t>基本概念</a:t>
            </a:r>
          </a:p>
        </p:txBody>
      </p:sp>
      <p:sp>
        <p:nvSpPr>
          <p:cNvPr id="13337" name="Rectangle 66"/>
          <p:cNvSpPr>
            <a:spLocks noChangeArrowheads="1"/>
          </p:cNvSpPr>
          <p:nvPr/>
        </p:nvSpPr>
        <p:spPr bwMode="auto">
          <a:xfrm>
            <a:off x="714375" y="1143000"/>
            <a:ext cx="62960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sz="2400">
                <a:solidFill>
                  <a:srgbClr val="CC0000"/>
                </a:solidFill>
                <a:latin typeface="黑体" panose="02010609060101010101" pitchFamily="49" charset="-122"/>
                <a:ea typeface="黑体" panose="02010609060101010101" pitchFamily="49" charset="-122"/>
              </a:rPr>
              <a:t>（</a:t>
            </a:r>
            <a:r>
              <a:rPr kumimoji="1" lang="en-US" altLang="zh-CN" sz="2400">
                <a:solidFill>
                  <a:srgbClr val="CC0000"/>
                </a:solidFill>
                <a:latin typeface="黑体" panose="02010609060101010101" pitchFamily="49" charset="-122"/>
                <a:ea typeface="黑体" panose="02010609060101010101" pitchFamily="49" charset="-122"/>
              </a:rPr>
              <a:t>4</a:t>
            </a:r>
            <a:r>
              <a:rPr kumimoji="1" lang="zh-CN" altLang="en-US" sz="2400">
                <a:solidFill>
                  <a:srgbClr val="CC0000"/>
                </a:solidFill>
                <a:latin typeface="黑体" panose="02010609060101010101" pitchFamily="49" charset="-122"/>
                <a:ea typeface="黑体" panose="02010609060101010101" pitchFamily="49" charset="-122"/>
              </a:rPr>
              <a:t>）非抢占式调度与抢占式调度（续）</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220162"/>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20202"/>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nodeType="afterEffect">
                                  <p:stCondLst>
                                    <p:cond delay="0"/>
                                  </p:stCondLst>
                                  <p:childTnLst>
                                    <p:set>
                                      <p:cBhvr>
                                        <p:cTn id="12" dur="1" fill="hold">
                                          <p:stCondLst>
                                            <p:cond delay="0"/>
                                          </p:stCondLst>
                                        </p:cTn>
                                        <p:tgtEl>
                                          <p:spTgt spid="220203"/>
                                        </p:tgtEl>
                                        <p:attrNameLst>
                                          <p:attrName>style.visibility</p:attrName>
                                        </p:attrNameLst>
                                      </p:cBhvr>
                                      <p:to>
                                        <p:strVal val="visible"/>
                                      </p:to>
                                    </p:set>
                                  </p:childTnLst>
                                </p:cTn>
                              </p:par>
                            </p:childTnLst>
                          </p:cTn>
                        </p:par>
                        <p:par>
                          <p:cTn id="13" fill="hold" nodeType="afterGroup">
                            <p:stCondLst>
                              <p:cond delay="0"/>
                            </p:stCondLst>
                            <p:childTnLst>
                              <p:par>
                                <p:cTn id="14" presetID="1" presetClass="entr" presetSubtype="0" fill="hold" nodeType="afterEffect">
                                  <p:stCondLst>
                                    <p:cond delay="0"/>
                                  </p:stCondLst>
                                  <p:childTnLst>
                                    <p:set>
                                      <p:cBhvr>
                                        <p:cTn id="15" dur="1" fill="hold">
                                          <p:stCondLst>
                                            <p:cond delay="0"/>
                                          </p:stCondLst>
                                        </p:cTn>
                                        <p:tgtEl>
                                          <p:spTgt spid="220206"/>
                                        </p:tgtEl>
                                        <p:attrNameLst>
                                          <p:attrName>style.visibility</p:attrName>
                                        </p:attrNameLst>
                                      </p:cBhvr>
                                      <p:to>
                                        <p:strVal val="visible"/>
                                      </p:to>
                                    </p:set>
                                  </p:childTnLst>
                                </p:cTn>
                              </p:par>
                            </p:childTnLst>
                          </p:cTn>
                        </p:par>
                        <p:par>
                          <p:cTn id="16" fill="hold" nodeType="afterGroup">
                            <p:stCondLst>
                              <p:cond delay="0"/>
                            </p:stCondLst>
                            <p:childTnLst>
                              <p:par>
                                <p:cTn id="17" presetID="9" presetClass="entr" presetSubtype="0" fill="hold" grpId="0" nodeType="afterEffect">
                                  <p:stCondLst>
                                    <p:cond delay="0"/>
                                  </p:stCondLst>
                                  <p:childTnLst>
                                    <p:set>
                                      <p:cBhvr>
                                        <p:cTn id="18" dur="1" fill="hold">
                                          <p:stCondLst>
                                            <p:cond delay="0"/>
                                          </p:stCondLst>
                                        </p:cTn>
                                        <p:tgtEl>
                                          <p:spTgt spid="220184"/>
                                        </p:tgtEl>
                                        <p:attrNameLst>
                                          <p:attrName>style.visibility</p:attrName>
                                        </p:attrNameLst>
                                      </p:cBhvr>
                                      <p:to>
                                        <p:strVal val="visible"/>
                                      </p:to>
                                    </p:set>
                                    <p:animEffect transition="in" filter="dissolve">
                                      <p:cBhvr>
                                        <p:cTn id="19" dur="500"/>
                                        <p:tgtEl>
                                          <p:spTgt spid="220184"/>
                                        </p:tgtEl>
                                      </p:cBhvr>
                                    </p:animEffect>
                                  </p:childTnLst>
                                </p:cTn>
                              </p:par>
                              <p:par>
                                <p:cTn id="20" presetID="9" presetClass="entr" presetSubtype="0" fill="hold" nodeType="withEffect">
                                  <p:stCondLst>
                                    <p:cond delay="0"/>
                                  </p:stCondLst>
                                  <p:childTnLst>
                                    <p:set>
                                      <p:cBhvr>
                                        <p:cTn id="21" dur="1" fill="hold">
                                          <p:stCondLst>
                                            <p:cond delay="0"/>
                                          </p:stCondLst>
                                        </p:cTn>
                                        <p:tgtEl>
                                          <p:spTgt spid="220185"/>
                                        </p:tgtEl>
                                        <p:attrNameLst>
                                          <p:attrName>style.visibility</p:attrName>
                                        </p:attrNameLst>
                                      </p:cBhvr>
                                      <p:to>
                                        <p:strVal val="visible"/>
                                      </p:to>
                                    </p:set>
                                    <p:animEffect transition="in" filter="dissolve">
                                      <p:cBhvr>
                                        <p:cTn id="22" dur="500"/>
                                        <p:tgtEl>
                                          <p:spTgt spid="2201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xit" presetSubtype="0" fill="hold" nodeType="clickEffect">
                                  <p:stCondLst>
                                    <p:cond delay="0"/>
                                  </p:stCondLst>
                                  <p:childTnLst>
                                    <p:animEffect transition="out" filter="dissolve">
                                      <p:cBhvr>
                                        <p:cTn id="26" dur="500"/>
                                        <p:tgtEl>
                                          <p:spTgt spid="220185"/>
                                        </p:tgtEl>
                                      </p:cBhvr>
                                    </p:animEffect>
                                    <p:set>
                                      <p:cBhvr>
                                        <p:cTn id="27" dur="1" fill="hold">
                                          <p:stCondLst>
                                            <p:cond delay="499"/>
                                          </p:stCondLst>
                                        </p:cTn>
                                        <p:tgtEl>
                                          <p:spTgt spid="220185"/>
                                        </p:tgtEl>
                                        <p:attrNameLst>
                                          <p:attrName>style.visibility</p:attrName>
                                        </p:attrNameLst>
                                      </p:cBhvr>
                                      <p:to>
                                        <p:strVal val="hidden"/>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220173"/>
                                        </p:tgtEl>
                                        <p:attrNameLst>
                                          <p:attrName>style.visibility</p:attrName>
                                        </p:attrNameLst>
                                      </p:cBhvr>
                                      <p:to>
                                        <p:strVal val="visible"/>
                                      </p:to>
                                    </p:set>
                                    <p:animEffect transition="in" filter="dissolve">
                                      <p:cBhvr>
                                        <p:cTn id="32" dur="500"/>
                                        <p:tgtEl>
                                          <p:spTgt spid="220173"/>
                                        </p:tgtEl>
                                      </p:cBhvr>
                                    </p:animEffect>
                                  </p:childTnLst>
                                </p:cTn>
                              </p:par>
                            </p:childTnLst>
                          </p:cTn>
                        </p:par>
                        <p:par>
                          <p:cTn id="33" fill="hold" nodeType="afterGroup">
                            <p:stCondLst>
                              <p:cond delay="500"/>
                            </p:stCondLst>
                            <p:childTnLst>
                              <p:par>
                                <p:cTn id="34" presetID="9" presetClass="entr" presetSubtype="0" fill="hold" nodeType="afterEffect">
                                  <p:stCondLst>
                                    <p:cond delay="0"/>
                                  </p:stCondLst>
                                  <p:childTnLst>
                                    <p:set>
                                      <p:cBhvr>
                                        <p:cTn id="35" dur="1" fill="hold">
                                          <p:stCondLst>
                                            <p:cond delay="0"/>
                                          </p:stCondLst>
                                        </p:cTn>
                                        <p:tgtEl>
                                          <p:spTgt spid="220189"/>
                                        </p:tgtEl>
                                        <p:attrNameLst>
                                          <p:attrName>style.visibility</p:attrName>
                                        </p:attrNameLst>
                                      </p:cBhvr>
                                      <p:to>
                                        <p:strVal val="visible"/>
                                      </p:to>
                                    </p:set>
                                    <p:animEffect transition="in" filter="dissolve">
                                      <p:cBhvr>
                                        <p:cTn id="36" dur="500"/>
                                        <p:tgtEl>
                                          <p:spTgt spid="22018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xit" presetSubtype="0" fill="hold" nodeType="clickEffect">
                                  <p:stCondLst>
                                    <p:cond delay="0"/>
                                  </p:stCondLst>
                                  <p:childTnLst>
                                    <p:set>
                                      <p:cBhvr>
                                        <p:cTn id="40" dur="1" fill="hold">
                                          <p:stCondLst>
                                            <p:cond delay="0"/>
                                          </p:stCondLst>
                                        </p:cTn>
                                        <p:tgtEl>
                                          <p:spTgt spid="220206"/>
                                        </p:tgtEl>
                                        <p:attrNameLst>
                                          <p:attrName>style.visibility</p:attrName>
                                        </p:attrNameLst>
                                      </p:cBhvr>
                                      <p:to>
                                        <p:strVal val="hidden"/>
                                      </p:to>
                                    </p:set>
                                  </p:childTnLst>
                                </p:cTn>
                              </p:par>
                            </p:childTnLst>
                          </p:cTn>
                        </p:par>
                        <p:par>
                          <p:cTn id="41" fill="hold" nodeType="afterGroup">
                            <p:stCondLst>
                              <p:cond delay="0"/>
                            </p:stCondLst>
                            <p:childTnLst>
                              <p:par>
                                <p:cTn id="42" presetID="9" presetClass="entr" presetSubtype="0" fill="hold" nodeType="afterEffect">
                                  <p:stCondLst>
                                    <p:cond delay="0"/>
                                  </p:stCondLst>
                                  <p:childTnLst>
                                    <p:set>
                                      <p:cBhvr>
                                        <p:cTn id="43" dur="1" fill="hold">
                                          <p:stCondLst>
                                            <p:cond delay="0"/>
                                          </p:stCondLst>
                                        </p:cTn>
                                        <p:tgtEl>
                                          <p:spTgt spid="220213"/>
                                        </p:tgtEl>
                                        <p:attrNameLst>
                                          <p:attrName>style.visibility</p:attrName>
                                        </p:attrNameLst>
                                      </p:cBhvr>
                                      <p:to>
                                        <p:strVal val="visible"/>
                                      </p:to>
                                    </p:set>
                                    <p:animEffect transition="in" filter="dissolve">
                                      <p:cBhvr>
                                        <p:cTn id="44" dur="500"/>
                                        <p:tgtEl>
                                          <p:spTgt spid="220213"/>
                                        </p:tgtEl>
                                      </p:cBhvr>
                                    </p:animEffect>
                                  </p:childTnLst>
                                </p:cTn>
                              </p:par>
                            </p:childTnLst>
                          </p:cTn>
                        </p:par>
                        <p:par>
                          <p:cTn id="45" fill="hold" nodeType="afterGroup">
                            <p:stCondLst>
                              <p:cond delay="500"/>
                            </p:stCondLst>
                            <p:childTnLst>
                              <p:par>
                                <p:cTn id="46" presetID="1" presetClass="exit" presetSubtype="0" fill="hold" nodeType="afterEffect">
                                  <p:stCondLst>
                                    <p:cond delay="0"/>
                                  </p:stCondLst>
                                  <p:childTnLst>
                                    <p:set>
                                      <p:cBhvr>
                                        <p:cTn id="47" dur="1" fill="hold">
                                          <p:stCondLst>
                                            <p:cond delay="0"/>
                                          </p:stCondLst>
                                        </p:cTn>
                                        <p:tgtEl>
                                          <p:spTgt spid="220162"/>
                                        </p:tgtEl>
                                        <p:attrNameLst>
                                          <p:attrName>style.visibility</p:attrName>
                                        </p:attrNameLst>
                                      </p:cBhvr>
                                      <p:to>
                                        <p:strVal val="hidden"/>
                                      </p:to>
                                    </p:set>
                                  </p:child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220179"/>
                                        </p:tgtEl>
                                        <p:attrNameLst>
                                          <p:attrName>style.visibility</p:attrName>
                                        </p:attrNameLst>
                                      </p:cBhvr>
                                      <p:to>
                                        <p:strVal val="visible"/>
                                      </p:to>
                                    </p:set>
                                    <p:animEffect transition="in" filter="wipe(left)">
                                      <p:cBhvr>
                                        <p:cTn id="51" dur="1000"/>
                                        <p:tgtEl>
                                          <p:spTgt spid="22017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xit" presetSubtype="0" fill="hold" nodeType="clickEffect">
                                  <p:stCondLst>
                                    <p:cond delay="0"/>
                                  </p:stCondLst>
                                  <p:childTnLst>
                                    <p:set>
                                      <p:cBhvr>
                                        <p:cTn id="55" dur="1" fill="hold">
                                          <p:stCondLst>
                                            <p:cond delay="0"/>
                                          </p:stCondLst>
                                        </p:cTn>
                                        <p:tgtEl>
                                          <p:spTgt spid="220165"/>
                                        </p:tgtEl>
                                        <p:attrNameLst>
                                          <p:attrName>style.visibility</p:attrName>
                                        </p:attrNameLst>
                                      </p:cBhvr>
                                      <p:to>
                                        <p:strVal val="hidden"/>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xit" presetSubtype="0" fill="hold" nodeType="clickEffect">
                                  <p:stCondLst>
                                    <p:cond delay="0"/>
                                  </p:stCondLst>
                                  <p:childTnLst>
                                    <p:set>
                                      <p:cBhvr>
                                        <p:cTn id="59" dur="1" fill="hold">
                                          <p:stCondLst>
                                            <p:cond delay="0"/>
                                          </p:stCondLst>
                                        </p:cTn>
                                        <p:tgtEl>
                                          <p:spTgt spid="220177"/>
                                        </p:tgtEl>
                                        <p:attrNameLst>
                                          <p:attrName>style.visibility</p:attrName>
                                        </p:attrNameLst>
                                      </p:cBhvr>
                                      <p:to>
                                        <p:strVal val="hidden"/>
                                      </p:to>
                                    </p:set>
                                  </p:childTnLst>
                                </p:cTn>
                              </p:par>
                            </p:childTnLst>
                          </p:cTn>
                        </p:par>
                        <p:par>
                          <p:cTn id="60" fill="hold" nodeType="afterGroup">
                            <p:stCondLst>
                              <p:cond delay="0"/>
                            </p:stCondLst>
                            <p:childTnLst>
                              <p:par>
                                <p:cTn id="61" presetID="22" presetClass="entr" presetSubtype="8" fill="hold" nodeType="afterEffect">
                                  <p:stCondLst>
                                    <p:cond delay="0"/>
                                  </p:stCondLst>
                                  <p:childTnLst>
                                    <p:set>
                                      <p:cBhvr>
                                        <p:cTn id="62" dur="1" fill="hold">
                                          <p:stCondLst>
                                            <p:cond delay="0"/>
                                          </p:stCondLst>
                                        </p:cTn>
                                        <p:tgtEl>
                                          <p:spTgt spid="220164"/>
                                        </p:tgtEl>
                                        <p:attrNameLst>
                                          <p:attrName>style.visibility</p:attrName>
                                        </p:attrNameLst>
                                      </p:cBhvr>
                                      <p:to>
                                        <p:strVal val="visible"/>
                                      </p:to>
                                    </p:set>
                                    <p:animEffect transition="in" filter="wipe(left)">
                                      <p:cBhvr>
                                        <p:cTn id="63" dur="1000"/>
                                        <p:tgtEl>
                                          <p:spTgt spid="22016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ntr" presetSubtype="0" fill="hold" nodeType="clickEffect">
                                  <p:stCondLst>
                                    <p:cond delay="0"/>
                                  </p:stCondLst>
                                  <p:childTnLst>
                                    <p:set>
                                      <p:cBhvr>
                                        <p:cTn id="67" dur="1" fill="hold">
                                          <p:stCondLst>
                                            <p:cond delay="0"/>
                                          </p:stCondLst>
                                        </p:cTn>
                                        <p:tgtEl>
                                          <p:spTgt spid="220196"/>
                                        </p:tgtEl>
                                        <p:attrNameLst>
                                          <p:attrName>style.visibility</p:attrName>
                                        </p:attrNameLst>
                                      </p:cBhvr>
                                      <p:to>
                                        <p:strVal val="visible"/>
                                      </p:to>
                                    </p:set>
                                    <p:animEffect transition="in" filter="dissolve">
                                      <p:cBhvr>
                                        <p:cTn id="68" dur="500"/>
                                        <p:tgtEl>
                                          <p:spTgt spid="220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84" grpId="0" animBg="1"/>
      <p:bldP spid="22020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0"/>
          <p:cNvSpPr>
            <a:spLocks noChangeArrowheads="1"/>
          </p:cNvSpPr>
          <p:nvPr/>
        </p:nvSpPr>
        <p:spPr bwMode="auto">
          <a:xfrm>
            <a:off x="533400" y="1676400"/>
            <a:ext cx="7467600" cy="1981200"/>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ClrTx/>
              <a:buSzTx/>
              <a:buFontTx/>
              <a:buNone/>
            </a:pPr>
            <a:r>
              <a:rPr lang="zh-CN" altLang="en-US" sz="2200">
                <a:latin typeface="宋体" panose="02010600030101010101" pitchFamily="2" charset="-122"/>
              </a:rPr>
              <a:t>调度情况</a:t>
            </a:r>
            <a:r>
              <a:rPr lang="en-US" altLang="zh-CN" sz="2200">
                <a:latin typeface="宋体" panose="02010600030101010101" pitchFamily="2" charset="-122"/>
              </a:rPr>
              <a:t>1</a:t>
            </a:r>
            <a:r>
              <a:rPr lang="zh-CN" altLang="en-US" sz="2200">
                <a:latin typeface="宋体" panose="02010600030101010101" pitchFamily="2" charset="-122"/>
              </a:rPr>
              <a:t>：因等待某些事件而让出</a:t>
            </a:r>
            <a:r>
              <a:rPr lang="en-US" altLang="zh-CN" sz="2200">
                <a:latin typeface="宋体" panose="02010600030101010101" pitchFamily="2" charset="-122"/>
              </a:rPr>
              <a:t>CPU</a:t>
            </a:r>
            <a:br>
              <a:rPr lang="en-US" altLang="zh-CN" sz="2200">
                <a:latin typeface="宋体" panose="02010600030101010101" pitchFamily="2" charset="-122"/>
              </a:rPr>
            </a:br>
            <a:r>
              <a:rPr lang="zh-CN" altLang="en-US" sz="2200">
                <a:latin typeface="宋体" panose="02010600030101010101" pitchFamily="2" charset="-122"/>
              </a:rPr>
              <a:t>调度情况</a:t>
            </a:r>
            <a:r>
              <a:rPr lang="en-US" altLang="zh-CN" sz="2200">
                <a:latin typeface="宋体" panose="02010600030101010101" pitchFamily="2" charset="-122"/>
              </a:rPr>
              <a:t>4</a:t>
            </a:r>
            <a:r>
              <a:rPr lang="zh-CN" altLang="en-US" sz="2200">
                <a:latin typeface="宋体" panose="02010600030101010101" pitchFamily="2" charset="-122"/>
              </a:rPr>
              <a:t>：进程的任务完成了，自动终止退出</a:t>
            </a:r>
            <a:br>
              <a:rPr lang="zh-CN" altLang="en-US" sz="2200">
                <a:latin typeface="宋体" panose="02010600030101010101" pitchFamily="2" charset="-122"/>
              </a:rPr>
            </a:br>
            <a:r>
              <a:rPr kumimoji="1" lang="zh-CN" altLang="en-US" sz="2200">
                <a:solidFill>
                  <a:srgbClr val="CC0000"/>
                </a:solidFill>
                <a:latin typeface="黑体" panose="02010609060101010101" pitchFamily="49" charset="-122"/>
                <a:ea typeface="黑体" panose="02010609060101010101" pitchFamily="49" charset="-122"/>
              </a:rPr>
              <a:t>非抢占式调度：</a:t>
            </a:r>
            <a:r>
              <a:rPr lang="zh-CN" altLang="en-US" sz="2200">
                <a:latin typeface="宋体" panose="02010600030101010101" pitchFamily="2" charset="-122"/>
              </a:rPr>
              <a:t>由于主动让出</a:t>
            </a:r>
            <a:r>
              <a:rPr lang="en-US" altLang="zh-CN" sz="2200">
                <a:latin typeface="宋体" panose="02010600030101010101" pitchFamily="2" charset="-122"/>
              </a:rPr>
              <a:t>CPU</a:t>
            </a:r>
            <a:r>
              <a:rPr lang="zh-CN" altLang="en-US" sz="2200">
                <a:latin typeface="宋体" panose="02010600030101010101" pitchFamily="2" charset="-122"/>
              </a:rPr>
              <a:t>的情况发生，致使调度程</a:t>
            </a:r>
            <a:br>
              <a:rPr lang="zh-CN" altLang="en-US" sz="2200">
                <a:latin typeface="宋体" panose="02010600030101010101" pitchFamily="2" charset="-122"/>
              </a:rPr>
            </a:br>
            <a:r>
              <a:rPr lang="zh-CN" altLang="en-US" sz="2200">
                <a:latin typeface="宋体" panose="02010600030101010101" pitchFamily="2" charset="-122"/>
              </a:rPr>
              <a:t>              序将</a:t>
            </a:r>
            <a:r>
              <a:rPr lang="en-US" altLang="zh-CN" sz="2200">
                <a:latin typeface="宋体" panose="02010600030101010101" pitchFamily="2" charset="-122"/>
              </a:rPr>
              <a:t>CPU</a:t>
            </a:r>
            <a:r>
              <a:rPr lang="zh-CN" altLang="en-US" sz="2200">
                <a:latin typeface="宋体" panose="02010600030101010101" pitchFamily="2" charset="-122"/>
              </a:rPr>
              <a:t>分配给某就绪进程的调度方式</a:t>
            </a:r>
            <a:br>
              <a:rPr lang="zh-CN" altLang="en-US" sz="2200">
                <a:latin typeface="宋体" panose="02010600030101010101" pitchFamily="2" charset="-122"/>
              </a:rPr>
            </a:br>
            <a:r>
              <a:rPr lang="zh-CN" altLang="en-US" sz="2200">
                <a:solidFill>
                  <a:schemeClr val="accent2"/>
                </a:solidFill>
                <a:latin typeface="宋体" panose="02010600030101010101" pitchFamily="2" charset="-122"/>
              </a:rPr>
              <a:t>早期的多道批处理操作系统；</a:t>
            </a:r>
            <a:r>
              <a:rPr lang="en-US" altLang="zh-CN" sz="2200">
                <a:solidFill>
                  <a:schemeClr val="accent2"/>
                </a:solidFill>
                <a:latin typeface="宋体" panose="02010600030101010101" pitchFamily="2" charset="-122"/>
              </a:rPr>
              <a:t>Windows3.X</a:t>
            </a:r>
            <a:r>
              <a:rPr lang="zh-CN" altLang="en-US" sz="2200">
                <a:solidFill>
                  <a:schemeClr val="accent2"/>
                </a:solidFill>
                <a:latin typeface="宋体" panose="02010600030101010101" pitchFamily="2" charset="-122"/>
              </a:rPr>
              <a:t>版等</a:t>
            </a:r>
          </a:p>
        </p:txBody>
      </p:sp>
      <p:sp>
        <p:nvSpPr>
          <p:cNvPr id="14339" name="Rectangle 2"/>
          <p:cNvSpPr>
            <a:spLocks noChangeArrowheads="1"/>
          </p:cNvSpPr>
          <p:nvPr/>
        </p:nvSpPr>
        <p:spPr bwMode="auto">
          <a:xfrm>
            <a:off x="3124200" y="381000"/>
            <a:ext cx="32321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200">
                <a:latin typeface="黑体" panose="02010609060101010101" pitchFamily="49" charset="-122"/>
                <a:ea typeface="黑体" panose="02010609060101010101" pitchFamily="49" charset="-122"/>
              </a:rPr>
              <a:t>5.1 </a:t>
            </a:r>
            <a:r>
              <a:rPr lang="zh-CN" altLang="en-US" sz="3200">
                <a:latin typeface="黑体" panose="02010609060101010101" pitchFamily="49" charset="-122"/>
                <a:ea typeface="黑体" panose="02010609060101010101" pitchFamily="49" charset="-122"/>
              </a:rPr>
              <a:t>基本概念</a:t>
            </a:r>
          </a:p>
        </p:txBody>
      </p:sp>
      <p:sp>
        <p:nvSpPr>
          <p:cNvPr id="14340" name="Rectangle 65"/>
          <p:cNvSpPr>
            <a:spLocks noChangeArrowheads="1"/>
          </p:cNvSpPr>
          <p:nvPr/>
        </p:nvSpPr>
        <p:spPr bwMode="auto">
          <a:xfrm>
            <a:off x="714375" y="1143000"/>
            <a:ext cx="62960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kumimoji="1" lang="zh-CN" altLang="en-US" sz="2400">
                <a:solidFill>
                  <a:srgbClr val="CC0000"/>
                </a:solidFill>
                <a:latin typeface="黑体" panose="02010609060101010101" pitchFamily="49" charset="-122"/>
                <a:ea typeface="黑体" panose="02010609060101010101" pitchFamily="49" charset="-122"/>
              </a:rPr>
              <a:t>（</a:t>
            </a:r>
            <a:r>
              <a:rPr kumimoji="1" lang="en-US" altLang="zh-CN" sz="2400">
                <a:solidFill>
                  <a:srgbClr val="CC0000"/>
                </a:solidFill>
                <a:latin typeface="黑体" panose="02010609060101010101" pitchFamily="49" charset="-122"/>
                <a:ea typeface="黑体" panose="02010609060101010101" pitchFamily="49" charset="-122"/>
              </a:rPr>
              <a:t>4</a:t>
            </a:r>
            <a:r>
              <a:rPr kumimoji="1" lang="zh-CN" altLang="en-US" sz="2400">
                <a:solidFill>
                  <a:srgbClr val="CC0000"/>
                </a:solidFill>
                <a:latin typeface="黑体" panose="02010609060101010101" pitchFamily="49" charset="-122"/>
                <a:ea typeface="黑体" panose="02010609060101010101" pitchFamily="49" charset="-122"/>
              </a:rPr>
              <a:t>）非抢占式调度与抢占式调度（续）</a:t>
            </a:r>
          </a:p>
        </p:txBody>
      </p:sp>
      <p:sp>
        <p:nvSpPr>
          <p:cNvPr id="14341" name="Rectangle 67"/>
          <p:cNvSpPr>
            <a:spLocks noChangeArrowheads="1"/>
          </p:cNvSpPr>
          <p:nvPr/>
        </p:nvSpPr>
        <p:spPr bwMode="auto">
          <a:xfrm>
            <a:off x="533400" y="3810000"/>
            <a:ext cx="7467600" cy="2362200"/>
          </a:xfrm>
          <a:prstGeom prst="rect">
            <a:avLst/>
          </a:prstGeom>
          <a:noFill/>
          <a:ln w="9525">
            <a:solidFill>
              <a:srgbClr val="C0C0C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0"/>
              </a:spcBef>
              <a:buClrTx/>
              <a:buSzTx/>
              <a:buFontTx/>
              <a:buNone/>
            </a:pPr>
            <a:r>
              <a:rPr lang="zh-CN" altLang="en-US" sz="2200" dirty="0">
                <a:latin typeface="宋体" panose="02010600030101010101" pitchFamily="2" charset="-122"/>
              </a:rPr>
              <a:t>调度情况</a:t>
            </a:r>
            <a:r>
              <a:rPr lang="en-US" altLang="zh-CN" sz="2200" dirty="0">
                <a:latin typeface="宋体" panose="02010600030101010101" pitchFamily="2" charset="-122"/>
              </a:rPr>
              <a:t>2</a:t>
            </a:r>
            <a:r>
              <a:rPr lang="zh-CN" altLang="en-US" sz="2200" dirty="0">
                <a:latin typeface="宋体" panose="02010600030101010101" pitchFamily="2" charset="-122"/>
              </a:rPr>
              <a:t>：规定的时间片到了</a:t>
            </a:r>
            <a:br>
              <a:rPr lang="zh-CN" altLang="en-US" sz="2200" dirty="0">
                <a:latin typeface="宋体" panose="02010600030101010101" pitchFamily="2" charset="-122"/>
              </a:rPr>
            </a:br>
            <a:r>
              <a:rPr lang="zh-CN" altLang="en-US" sz="2200" dirty="0">
                <a:latin typeface="宋体" panose="02010600030101010101" pitchFamily="2" charset="-122"/>
              </a:rPr>
              <a:t>调度情况</a:t>
            </a:r>
            <a:r>
              <a:rPr lang="en-US" altLang="zh-CN" sz="2200" dirty="0">
                <a:latin typeface="宋体" panose="02010600030101010101" pitchFamily="2" charset="-122"/>
              </a:rPr>
              <a:t>3</a:t>
            </a:r>
            <a:r>
              <a:rPr lang="zh-CN" altLang="en-US" sz="2200" dirty="0">
                <a:latin typeface="宋体" panose="02010600030101010101" pitchFamily="2" charset="-122"/>
              </a:rPr>
              <a:t>：出现了优先级更高的进程</a:t>
            </a:r>
            <a:br>
              <a:rPr lang="zh-CN" altLang="en-US" sz="2200" dirty="0">
                <a:latin typeface="宋体" panose="02010600030101010101" pitchFamily="2" charset="-122"/>
              </a:rPr>
            </a:br>
            <a:r>
              <a:rPr kumimoji="1" lang="zh-CN" altLang="en-US" sz="2200" dirty="0">
                <a:solidFill>
                  <a:srgbClr val="CC0000"/>
                </a:solidFill>
                <a:latin typeface="黑体" panose="02010609060101010101" pitchFamily="49" charset="-122"/>
                <a:ea typeface="黑体" panose="02010609060101010101" pitchFamily="49" charset="-122"/>
              </a:rPr>
              <a:t>抢占式调度：</a:t>
            </a:r>
            <a:r>
              <a:rPr lang="zh-CN" altLang="en-US" sz="2200" dirty="0">
                <a:latin typeface="宋体" panose="02010600030101010101" pitchFamily="2" charset="-122"/>
              </a:rPr>
              <a:t>操作系统将正在运行的进程强行暂停，由调</a:t>
            </a:r>
            <a:br>
              <a:rPr lang="zh-CN" altLang="en-US" sz="2200" dirty="0">
                <a:latin typeface="宋体" panose="02010600030101010101" pitchFamily="2" charset="-122"/>
              </a:rPr>
            </a:br>
            <a:r>
              <a:rPr lang="zh-CN" altLang="en-US" sz="2200" dirty="0">
                <a:latin typeface="宋体" panose="02010600030101010101" pitchFamily="2" charset="-122"/>
              </a:rPr>
              <a:t>            度程序将</a:t>
            </a:r>
            <a:r>
              <a:rPr lang="en-US" altLang="zh-CN" sz="2200" dirty="0">
                <a:latin typeface="宋体" panose="02010600030101010101" pitchFamily="2" charset="-122"/>
              </a:rPr>
              <a:t>CPU</a:t>
            </a:r>
            <a:r>
              <a:rPr lang="zh-CN" altLang="en-US" sz="2200" dirty="0">
                <a:latin typeface="宋体" panose="02010600030101010101" pitchFamily="2" charset="-122"/>
              </a:rPr>
              <a:t>分配给其他就绪进程的调度方式</a:t>
            </a:r>
            <a:br>
              <a:rPr lang="zh-CN" altLang="en-US" sz="2200" dirty="0">
                <a:latin typeface="宋体" panose="02010600030101010101" pitchFamily="2" charset="-122"/>
              </a:rPr>
            </a:br>
            <a:r>
              <a:rPr lang="zh-CN" altLang="en-US" sz="2200" dirty="0">
                <a:solidFill>
                  <a:schemeClr val="accent2"/>
                </a:solidFill>
                <a:latin typeface="宋体" panose="02010600030101010101" pitchFamily="2" charset="-122"/>
              </a:rPr>
              <a:t>大多数现代</a:t>
            </a:r>
            <a:r>
              <a:rPr lang="zh-CN" altLang="en-US" sz="2200" dirty="0" smtClean="0">
                <a:solidFill>
                  <a:schemeClr val="accent2"/>
                </a:solidFill>
                <a:latin typeface="宋体" panose="02010600030101010101" pitchFamily="2" charset="-122"/>
              </a:rPr>
              <a:t>操作系统：</a:t>
            </a:r>
            <a:r>
              <a:rPr lang="en-US" altLang="zh-CN" sz="2200" dirty="0" smtClean="0">
                <a:solidFill>
                  <a:schemeClr val="accent2"/>
                </a:solidFill>
                <a:latin typeface="宋体" panose="02010600030101010101" pitchFamily="2" charset="-122"/>
              </a:rPr>
              <a:t>1</a:t>
            </a:r>
            <a:r>
              <a:rPr lang="zh-CN" altLang="en-US" sz="2200" dirty="0" smtClean="0">
                <a:solidFill>
                  <a:schemeClr val="accent2"/>
                </a:solidFill>
                <a:latin typeface="宋体" panose="02010600030101010101" pitchFamily="2" charset="-122"/>
              </a:rPr>
              <a:t>、</a:t>
            </a:r>
            <a:r>
              <a:rPr lang="en-US" altLang="zh-CN" sz="2200" dirty="0" smtClean="0">
                <a:solidFill>
                  <a:schemeClr val="accent2"/>
                </a:solidFill>
                <a:latin typeface="宋体" panose="02010600030101010101" pitchFamily="2" charset="-122"/>
              </a:rPr>
              <a:t>2</a:t>
            </a:r>
            <a:r>
              <a:rPr lang="zh-CN" altLang="en-US" sz="2200" dirty="0" smtClean="0">
                <a:solidFill>
                  <a:schemeClr val="accent2"/>
                </a:solidFill>
                <a:latin typeface="宋体" panose="02010600030101010101" pitchFamily="2" charset="-122"/>
              </a:rPr>
              <a:t>、</a:t>
            </a:r>
            <a:r>
              <a:rPr lang="en-US" altLang="zh-CN" sz="2200" dirty="0" smtClean="0">
                <a:solidFill>
                  <a:schemeClr val="accent2"/>
                </a:solidFill>
                <a:latin typeface="宋体" panose="02010600030101010101" pitchFamily="2" charset="-122"/>
              </a:rPr>
              <a:t>3</a:t>
            </a:r>
            <a:r>
              <a:rPr lang="zh-CN" altLang="en-US" sz="2200" dirty="0" smtClean="0">
                <a:solidFill>
                  <a:schemeClr val="accent2"/>
                </a:solidFill>
                <a:latin typeface="宋体" panose="02010600030101010101" pitchFamily="2" charset="-122"/>
              </a:rPr>
              <a:t>、</a:t>
            </a:r>
            <a:r>
              <a:rPr lang="en-US" altLang="zh-CN" sz="2200" dirty="0" smtClean="0">
                <a:solidFill>
                  <a:schemeClr val="accent2"/>
                </a:solidFill>
                <a:latin typeface="宋体" panose="02010600030101010101" pitchFamily="2" charset="-122"/>
              </a:rPr>
              <a:t>4</a:t>
            </a:r>
            <a:r>
              <a:rPr lang="zh-CN" altLang="en-US" sz="2200" dirty="0" smtClean="0">
                <a:solidFill>
                  <a:schemeClr val="accent2"/>
                </a:solidFill>
                <a:latin typeface="宋体" panose="02010600030101010101" pitchFamily="2" charset="-122"/>
              </a:rPr>
              <a:t>情况都存在且支持</a:t>
            </a:r>
            <a:r>
              <a:rPr lang="zh-CN" altLang="en-US" sz="2200" dirty="0">
                <a:solidFill>
                  <a:schemeClr val="accent2"/>
                </a:solidFill>
                <a:latin typeface="宋体" panose="02010600030101010101" pitchFamily="2" charset="-122"/>
              </a:rPr>
              <a:t/>
            </a:r>
            <a:br>
              <a:rPr lang="zh-CN" altLang="en-US" sz="2200" dirty="0">
                <a:solidFill>
                  <a:schemeClr val="accent2"/>
                </a:solidFill>
                <a:latin typeface="宋体" panose="02010600030101010101" pitchFamily="2" charset="-122"/>
              </a:rPr>
            </a:br>
            <a:r>
              <a:rPr lang="zh-CN" altLang="en-US" sz="2200" dirty="0">
                <a:solidFill>
                  <a:schemeClr val="accent2"/>
                </a:solidFill>
                <a:latin typeface="宋体" panose="02010600030101010101" pitchFamily="2" charset="-122"/>
              </a:rPr>
              <a:t>            </a:t>
            </a:r>
            <a:r>
              <a:rPr lang="en-US" altLang="zh-CN" sz="2200" dirty="0" err="1">
                <a:solidFill>
                  <a:schemeClr val="accent2"/>
                </a:solidFill>
                <a:latin typeface="宋体" panose="02010600030101010101" pitchFamily="2" charset="-122"/>
              </a:rPr>
              <a:t>Windows95</a:t>
            </a:r>
            <a:r>
              <a:rPr lang="zh-CN" altLang="en-US" sz="2200" dirty="0">
                <a:solidFill>
                  <a:schemeClr val="accent2"/>
                </a:solidFill>
                <a:latin typeface="宋体" panose="02010600030101010101" pitchFamily="2" charset="-122"/>
              </a:rPr>
              <a:t>及之后版本；</a:t>
            </a:r>
            <a:r>
              <a:rPr lang="en-US" altLang="zh-CN" sz="2200" dirty="0" err="1">
                <a:solidFill>
                  <a:schemeClr val="accent2"/>
                </a:solidFill>
                <a:latin typeface="宋体" panose="02010600030101010101" pitchFamily="2" charset="-122"/>
              </a:rPr>
              <a:t>MacOS</a:t>
            </a:r>
            <a:r>
              <a:rPr lang="en-US" altLang="zh-CN" sz="2200" dirty="0">
                <a:solidFill>
                  <a:schemeClr val="accent2"/>
                </a:solidFill>
                <a:latin typeface="宋体" panose="02010600030101010101" pitchFamily="2" charset="-122"/>
              </a:rPr>
              <a:t>-X</a:t>
            </a:r>
            <a:r>
              <a:rPr lang="zh-CN" altLang="en-US" sz="2200" dirty="0">
                <a:solidFill>
                  <a:schemeClr val="accent2"/>
                </a:solidFill>
                <a:latin typeface="宋体" panose="02010600030101010101" pitchFamily="2" charset="-122"/>
              </a:rPr>
              <a:t>；</a:t>
            </a:r>
            <a:r>
              <a:rPr lang="en-US" altLang="zh-CN" sz="2200" dirty="0">
                <a:solidFill>
                  <a:schemeClr val="accent2"/>
                </a:solidFill>
                <a:latin typeface="宋体" panose="02010600030101010101" pitchFamily="2" charset="-122"/>
              </a:rPr>
              <a:t>Linux</a:t>
            </a:r>
            <a:r>
              <a:rPr lang="zh-CN" altLang="en-US" sz="2200" dirty="0">
                <a:solidFill>
                  <a:schemeClr val="accent2"/>
                </a:solidFill>
                <a:latin typeface="宋体" panose="02010600030101010101" pitchFamily="2" charset="-122"/>
              </a:rPr>
              <a:t>等</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en-US" smtClean="0"/>
              <a:t>让出</a:t>
            </a:r>
            <a:r>
              <a:rPr lang="en-US" altLang="zh-CN" smtClean="0"/>
              <a:t>CPU</a:t>
            </a:r>
            <a:r>
              <a:rPr lang="zh-CN" altLang="en-US" smtClean="0"/>
              <a:t>的具体实现</a:t>
            </a:r>
          </a:p>
        </p:txBody>
      </p:sp>
      <p:graphicFrame>
        <p:nvGraphicFramePr>
          <p:cNvPr id="15363"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15548" name="剪辑" r:id="rId3" imgW="2166845" imgH="2287575" progId="MS_ClipArt_Gallery.2">
                  <p:embed/>
                </p:oleObj>
              </mc:Choice>
              <mc:Fallback>
                <p:oleObj name="剪辑" r:id="rId3" imgW="2166845" imgH="2287575" progId="MS_ClipArt_Gallery.2">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4" name="Rectangle 4"/>
          <p:cNvSpPr>
            <a:spLocks noChangeArrowheads="1"/>
          </p:cNvSpPr>
          <p:nvPr/>
        </p:nvSpPr>
        <p:spPr bwMode="auto">
          <a:xfrm>
            <a:off x="609600" y="1219200"/>
            <a:ext cx="8534400" cy="5334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buFont typeface="Wingdings" panose="05000000000000000000" pitchFamily="2" charset="2"/>
              <a:buNone/>
            </a:pPr>
            <a:r>
              <a:rPr lang="en-US" altLang="zh-CN">
                <a:latin typeface="Courier New" panose="02070309020205020404" pitchFamily="49" charset="0"/>
              </a:rPr>
              <a:t>extern Queue ReadyQueue;</a:t>
            </a:r>
          </a:p>
          <a:p>
            <a:pPr eaLnBrk="1" hangingPunct="1">
              <a:lnSpc>
                <a:spcPct val="90000"/>
              </a:lnSpc>
              <a:buFont typeface="Wingdings" panose="05000000000000000000" pitchFamily="2" charset="2"/>
              <a:buNone/>
            </a:pPr>
            <a:r>
              <a:rPr lang="en-US" altLang="zh-CN">
                <a:latin typeface="Courier New" panose="02070309020205020404" pitchFamily="49" charset="0"/>
              </a:rPr>
              <a:t>extern Queue DiskWaitQueue;</a:t>
            </a:r>
          </a:p>
          <a:p>
            <a:pPr eaLnBrk="1" hangingPunct="1">
              <a:lnSpc>
                <a:spcPct val="90000"/>
              </a:lnSpc>
              <a:buFont typeface="Wingdings" panose="05000000000000000000" pitchFamily="2" charset="2"/>
              <a:buNone/>
            </a:pPr>
            <a:r>
              <a:rPr lang="en-US" altLang="zh-CN">
                <a:latin typeface="Courier New" panose="02070309020205020404" pitchFamily="49" charset="0"/>
              </a:rPr>
              <a:t>...</a:t>
            </a:r>
          </a:p>
          <a:p>
            <a:pPr eaLnBrk="1" hangingPunct="1">
              <a:lnSpc>
                <a:spcPct val="90000"/>
              </a:lnSpc>
              <a:buFont typeface="Wingdings" panose="05000000000000000000" pitchFamily="2" charset="2"/>
              <a:buNone/>
            </a:pPr>
            <a:r>
              <a:rPr lang="en-US" altLang="zh-CN">
                <a:latin typeface="Courier New" panose="02070309020205020404" pitchFamily="49" charset="0"/>
              </a:rPr>
              <a:t>DiskWaitQueue.EnQueue(pCur);</a:t>
            </a:r>
          </a:p>
          <a:p>
            <a:pPr eaLnBrk="1" hangingPunct="1">
              <a:lnSpc>
                <a:spcPct val="90000"/>
              </a:lnSpc>
              <a:buFont typeface="Wingdings" panose="05000000000000000000" pitchFamily="2" charset="2"/>
              <a:buNone/>
            </a:pPr>
            <a:r>
              <a:rPr lang="en-US" altLang="zh-CN">
                <a:latin typeface="Courier New" panose="02070309020205020404" pitchFamily="49" charset="0"/>
              </a:rPr>
              <a:t>Dispatch();</a:t>
            </a:r>
          </a:p>
          <a:p>
            <a:pPr eaLnBrk="1" hangingPunct="1">
              <a:lnSpc>
                <a:spcPct val="90000"/>
              </a:lnSpc>
              <a:buFont typeface="Wingdings" panose="05000000000000000000" pitchFamily="2" charset="2"/>
              <a:buNone/>
            </a:pPr>
            <a:r>
              <a:rPr lang="en-US" altLang="zh-CN">
                <a:latin typeface="Courier New" panose="02070309020205020404" pitchFamily="49" charset="0"/>
              </a:rPr>
              <a:t>...</a:t>
            </a:r>
          </a:p>
          <a:p>
            <a:pPr eaLnBrk="1" hangingPunct="1">
              <a:lnSpc>
                <a:spcPct val="90000"/>
              </a:lnSpc>
              <a:buFont typeface="Wingdings" panose="05000000000000000000" pitchFamily="2" charset="2"/>
              <a:buNone/>
            </a:pPr>
            <a:r>
              <a:rPr lang="en-US" altLang="zh-CN">
                <a:latin typeface="Courier New" panose="02070309020205020404" pitchFamily="49" charset="0"/>
              </a:rPr>
              <a:t>Dispatch()</a:t>
            </a:r>
          </a:p>
          <a:p>
            <a:pPr eaLnBrk="1" hangingPunct="1">
              <a:lnSpc>
                <a:spcPct val="90000"/>
              </a:lnSpc>
              <a:buFont typeface="Wingdings" panose="05000000000000000000" pitchFamily="2" charset="2"/>
              <a:buNone/>
            </a:pPr>
            <a:r>
              <a:rPr lang="en-US" altLang="zh-CN">
                <a:latin typeface="Courier New" panose="02070309020205020404" pitchFamily="49" charset="0"/>
              </a:rPr>
              <a:t>{</a:t>
            </a:r>
          </a:p>
          <a:p>
            <a:pPr eaLnBrk="1" hangingPunct="1">
              <a:lnSpc>
                <a:spcPct val="90000"/>
              </a:lnSpc>
              <a:buFont typeface="Wingdings" panose="05000000000000000000" pitchFamily="2" charset="2"/>
              <a:buNone/>
            </a:pPr>
            <a:r>
              <a:rPr lang="en-US" altLang="zh-CN">
                <a:latin typeface="Courier New" panose="02070309020205020404" pitchFamily="49" charset="0"/>
              </a:rPr>
              <a:t>   pNew = </a:t>
            </a:r>
            <a:r>
              <a:rPr lang="en-US" altLang="zh-CN">
                <a:solidFill>
                  <a:srgbClr val="FF0000"/>
                </a:solidFill>
                <a:latin typeface="Courier New" panose="02070309020205020404" pitchFamily="49" charset="0"/>
              </a:rPr>
              <a:t>PickNext</a:t>
            </a:r>
            <a:r>
              <a:rPr lang="en-US" altLang="zh-CN">
                <a:latin typeface="Courier New" panose="02070309020205020404" pitchFamily="49" charset="0"/>
              </a:rPr>
              <a:t>(ReadyQueue); </a:t>
            </a:r>
          </a:p>
          <a:p>
            <a:pPr eaLnBrk="1" hangingPunct="1">
              <a:lnSpc>
                <a:spcPct val="90000"/>
              </a:lnSpc>
              <a:buFont typeface="Wingdings" panose="05000000000000000000" pitchFamily="2" charset="2"/>
              <a:buNone/>
            </a:pPr>
            <a:r>
              <a:rPr lang="en-US" altLang="zh-CN">
                <a:latin typeface="Courier New" panose="02070309020205020404" pitchFamily="49" charset="0"/>
              </a:rPr>
              <a:t>   Switch(pCur,pNew);</a:t>
            </a:r>
          </a:p>
          <a:p>
            <a:pPr eaLnBrk="1" hangingPunct="1">
              <a:lnSpc>
                <a:spcPct val="90000"/>
              </a:lnSpc>
              <a:buFont typeface="Wingdings" panose="05000000000000000000" pitchFamily="2" charset="2"/>
              <a:buNone/>
            </a:pPr>
            <a:r>
              <a:rPr lang="en-US" altLang="zh-CN">
                <a:latin typeface="Courier New" panose="02070309020205020404" pitchFamily="49" charset="0"/>
              </a:rPr>
              <a:t>}</a:t>
            </a:r>
          </a:p>
        </p:txBody>
      </p:sp>
      <p:sp>
        <p:nvSpPr>
          <p:cNvPr id="221191" name="AutoShape 7"/>
          <p:cNvSpPr>
            <a:spLocks noChangeArrowheads="1"/>
          </p:cNvSpPr>
          <p:nvPr/>
        </p:nvSpPr>
        <p:spPr bwMode="auto">
          <a:xfrm>
            <a:off x="2743200" y="2133600"/>
            <a:ext cx="6172200" cy="609600"/>
          </a:xfrm>
          <a:prstGeom prst="wedgeRoundRectCallout">
            <a:avLst>
              <a:gd name="adj1" fmla="val -52880"/>
              <a:gd name="adj2" fmla="val 146356"/>
              <a:gd name="adj3" fmla="val 16667"/>
            </a:avLst>
          </a:prstGeom>
          <a:solidFill>
            <a:schemeClr val="bg1"/>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solidFill>
                  <a:srgbClr val="FF0000"/>
                </a:solidFill>
              </a:rPr>
              <a:t>分派程序调用“进程选择函数”完成调度</a:t>
            </a:r>
          </a:p>
        </p:txBody>
      </p:sp>
      <p:sp>
        <p:nvSpPr>
          <p:cNvPr id="221189" name="AutoShape 5"/>
          <p:cNvSpPr>
            <a:spLocks noChangeArrowheads="1"/>
          </p:cNvSpPr>
          <p:nvPr/>
        </p:nvSpPr>
        <p:spPr bwMode="auto">
          <a:xfrm>
            <a:off x="3124200" y="3048000"/>
            <a:ext cx="4038600" cy="1676400"/>
          </a:xfrm>
          <a:prstGeom prst="wedgeRoundRectCallout">
            <a:avLst>
              <a:gd name="adj1" fmla="val -45519"/>
              <a:gd name="adj2" fmla="val 68181"/>
              <a:gd name="adj3" fmla="val 16667"/>
            </a:avLst>
          </a:prstGeom>
          <a:solidFill>
            <a:schemeClr val="bg1"/>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solidFill>
                  <a:srgbClr val="FF0000"/>
                </a:solidFill>
              </a:rPr>
              <a:t>该函数就是</a:t>
            </a:r>
            <a:r>
              <a:rPr lang="en-US" altLang="zh-CN" sz="2400">
                <a:solidFill>
                  <a:srgbClr val="FF0000"/>
                </a:solidFill>
              </a:rPr>
              <a:t>CPU</a:t>
            </a:r>
            <a:r>
              <a:rPr lang="zh-CN" altLang="en-US" sz="2400">
                <a:solidFill>
                  <a:srgbClr val="FF0000"/>
                </a:solidFill>
              </a:rPr>
              <a:t>调度，调度就是下一步该选择哪一个进程或线程来执行</a:t>
            </a:r>
            <a:r>
              <a:rPr lang="en-US" altLang="zh-CN" sz="2400">
                <a:solidFill>
                  <a:srgbClr val="FF0000"/>
                </a:solidFill>
              </a:rPr>
              <a:t>(</a:t>
            </a:r>
            <a:r>
              <a:rPr lang="zh-CN" altLang="en-US" sz="2400">
                <a:solidFill>
                  <a:srgbClr val="FF0000"/>
                </a:solidFill>
              </a:rPr>
              <a:t>分配</a:t>
            </a:r>
            <a:r>
              <a:rPr lang="en-US" altLang="zh-CN" sz="2400">
                <a:solidFill>
                  <a:srgbClr val="FF0000"/>
                </a:solidFill>
              </a:rPr>
              <a:t>CPU</a:t>
            </a:r>
            <a:r>
              <a:rPr lang="zh-CN" altLang="en-US" sz="2400">
                <a:solidFill>
                  <a:srgbClr val="FF0000"/>
                </a:solidFill>
              </a:rPr>
              <a:t>资源</a:t>
            </a:r>
            <a:r>
              <a:rPr lang="en-US" altLang="zh-CN" sz="2400">
                <a:solidFill>
                  <a:srgbClr val="FF0000"/>
                </a:solidFill>
              </a:rPr>
              <a:t>)!</a:t>
            </a:r>
          </a:p>
        </p:txBody>
      </p:sp>
      <p:sp>
        <p:nvSpPr>
          <p:cNvPr id="221190" name="AutoShape 6"/>
          <p:cNvSpPr>
            <a:spLocks/>
          </p:cNvSpPr>
          <p:nvPr/>
        </p:nvSpPr>
        <p:spPr bwMode="auto">
          <a:xfrm>
            <a:off x="5181600" y="5600700"/>
            <a:ext cx="3581400" cy="876300"/>
          </a:xfrm>
          <a:prstGeom prst="borderCallout1">
            <a:avLst>
              <a:gd name="adj1" fmla="val 13042"/>
              <a:gd name="adj2" fmla="val -2222"/>
              <a:gd name="adj3" fmla="val -163042"/>
              <a:gd name="adj4" fmla="val -22917"/>
            </a:avLst>
          </a:prstGeom>
          <a:solidFill>
            <a:schemeClr val="bg1"/>
          </a:solidFill>
          <a:ln w="28575">
            <a:solidFill>
              <a:schemeClr val="accent2"/>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dirty="0">
                <a:solidFill>
                  <a:srgbClr val="000099"/>
                </a:solidFill>
              </a:rPr>
              <a:t>进程和线程都可能是调度单位</a:t>
            </a:r>
            <a:r>
              <a:rPr lang="zh-CN" altLang="en-US" sz="2400" dirty="0" smtClean="0">
                <a:solidFill>
                  <a:srgbClr val="000099"/>
                </a:solidFill>
              </a:rPr>
              <a:t>，有时又称为任务</a:t>
            </a:r>
            <a:endParaRPr lang="zh-CN" altLang="en-US" sz="2400" dirty="0">
              <a:solidFill>
                <a:srgbClr val="0000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1191"/>
                                        </p:tgtEl>
                                        <p:attrNameLst>
                                          <p:attrName>style.visibility</p:attrName>
                                        </p:attrNameLst>
                                      </p:cBhvr>
                                      <p:to>
                                        <p:strVal val="visible"/>
                                      </p:to>
                                    </p:set>
                                    <p:animEffect transition="in" filter="dissolve">
                                      <p:cBhvr>
                                        <p:cTn id="7" dur="500"/>
                                        <p:tgtEl>
                                          <p:spTgt spid="2211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1189"/>
                                        </p:tgtEl>
                                        <p:attrNameLst>
                                          <p:attrName>style.visibility</p:attrName>
                                        </p:attrNameLst>
                                      </p:cBhvr>
                                      <p:to>
                                        <p:strVal val="visible"/>
                                      </p:to>
                                    </p:set>
                                    <p:animEffect transition="in" filter="dissolve">
                                      <p:cBhvr>
                                        <p:cTn id="12" dur="500"/>
                                        <p:tgtEl>
                                          <p:spTgt spid="221189"/>
                                        </p:tgtEl>
                                      </p:cBhvr>
                                    </p:animEffect>
                                  </p:childTnLst>
                                </p:cTn>
                              </p:par>
                            </p:childTnLst>
                          </p:cTn>
                        </p:par>
                        <p:par>
                          <p:cTn id="13" fill="hold" nodeType="afterGroup">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21190"/>
                                        </p:tgtEl>
                                        <p:attrNameLst>
                                          <p:attrName>style.visibility</p:attrName>
                                        </p:attrNameLst>
                                      </p:cBhvr>
                                      <p:to>
                                        <p:strVal val="visible"/>
                                      </p:to>
                                    </p:set>
                                    <p:animEffect transition="in" filter="dissolve">
                                      <p:cBhvr>
                                        <p:cTn id="16" dur="500"/>
                                        <p:tgtEl>
                                          <p:spTgt spid="221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91" grpId="0" animBg="1"/>
      <p:bldP spid="221189" grpId="0" animBg="1"/>
      <p:bldP spid="22119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smtClean="0"/>
              <a:t>PickNext()</a:t>
            </a:r>
            <a:r>
              <a:rPr lang="zh-CN" altLang="en-US" smtClean="0"/>
              <a:t>的直观思考</a:t>
            </a:r>
          </a:p>
        </p:txBody>
      </p:sp>
      <p:graphicFrame>
        <p:nvGraphicFramePr>
          <p:cNvPr id="16387" name="Object 3"/>
          <p:cNvGraphicFramePr>
            <a:graphicFrameLocks noGrp="1" noChangeAspect="1"/>
          </p:cNvGraphicFramePr>
          <p:nvPr>
            <p:ph idx="1"/>
          </p:nvPr>
        </p:nvGraphicFramePr>
        <p:xfrm>
          <a:off x="7988300" y="0"/>
          <a:ext cx="1155700" cy="1219200"/>
        </p:xfrm>
        <a:graphic>
          <a:graphicData uri="http://schemas.openxmlformats.org/presentationml/2006/ole">
            <mc:AlternateContent xmlns:mc="http://schemas.openxmlformats.org/markup-compatibility/2006">
              <mc:Choice xmlns:v="urn:schemas-microsoft-com:vml" Requires="v">
                <p:oleObj spid="_x0000_s16582" name="剪辑" r:id="rId4" imgW="2166845" imgH="2287575" progId="MS_ClipArt_Gallery.2">
                  <p:embed/>
                </p:oleObj>
              </mc:Choice>
              <mc:Fallback>
                <p:oleObj name="剪辑" r:id="rId4" imgW="2166845" imgH="2287575" progId="MS_ClipArt_Gallery.2">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8300" y="0"/>
                        <a:ext cx="1155700"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8" name="Rectangle 6"/>
          <p:cNvSpPr>
            <a:spLocks noChangeArrowheads="1"/>
          </p:cNvSpPr>
          <p:nvPr/>
        </p:nvSpPr>
        <p:spPr bwMode="auto">
          <a:xfrm>
            <a:off x="685800" y="12954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solidFill>
                  <a:srgbClr val="FF0000"/>
                </a:solidFill>
              </a:rPr>
              <a:t>简单想一想</a:t>
            </a:r>
            <a:r>
              <a:rPr lang="en-US" altLang="zh-CN">
                <a:solidFill>
                  <a:srgbClr val="FF0000"/>
                </a:solidFill>
              </a:rPr>
              <a:t>! </a:t>
            </a:r>
            <a:r>
              <a:rPr lang="zh-CN" altLang="en-US">
                <a:solidFill>
                  <a:srgbClr val="FF0000"/>
                </a:solidFill>
              </a:rPr>
              <a:t>应该有很多种策略</a:t>
            </a:r>
          </a:p>
        </p:txBody>
      </p:sp>
      <p:grpSp>
        <p:nvGrpSpPr>
          <p:cNvPr id="182279" name="Group 7"/>
          <p:cNvGrpSpPr>
            <a:grpSpLocks/>
          </p:cNvGrpSpPr>
          <p:nvPr/>
        </p:nvGrpSpPr>
        <p:grpSpPr bwMode="auto">
          <a:xfrm>
            <a:off x="685800" y="4545013"/>
            <a:ext cx="7921625" cy="1246187"/>
            <a:chOff x="432" y="2767"/>
            <a:chExt cx="4990" cy="785"/>
          </a:xfrm>
        </p:grpSpPr>
        <p:grpSp>
          <p:nvGrpSpPr>
            <p:cNvPr id="16398" name="Group 8"/>
            <p:cNvGrpSpPr>
              <a:grpSpLocks/>
            </p:cNvGrpSpPr>
            <p:nvPr/>
          </p:nvGrpSpPr>
          <p:grpSpPr bwMode="auto">
            <a:xfrm>
              <a:off x="619" y="3172"/>
              <a:ext cx="4517" cy="380"/>
              <a:chOff x="619" y="3460"/>
              <a:chExt cx="4517" cy="380"/>
            </a:xfrm>
          </p:grpSpPr>
          <p:sp>
            <p:nvSpPr>
              <p:cNvPr id="16400" name="Rectangle 9"/>
              <p:cNvSpPr>
                <a:spLocks noChangeArrowheads="1"/>
              </p:cNvSpPr>
              <p:nvPr/>
            </p:nvSpPr>
            <p:spPr bwMode="auto">
              <a:xfrm>
                <a:off x="619" y="3460"/>
                <a:ext cx="4517"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优先级该怎么设定</a:t>
                </a:r>
                <a:r>
                  <a:rPr lang="en-US" altLang="zh-CN" sz="2400"/>
                  <a:t>?</a:t>
                </a:r>
                <a:endParaRPr lang="en-US" altLang="zh-CN" sz="2400">
                  <a:solidFill>
                    <a:srgbClr val="FF0000"/>
                  </a:solidFill>
                </a:endParaRPr>
              </a:p>
            </p:txBody>
          </p:sp>
          <p:pic>
            <p:nvPicPr>
              <p:cNvPr id="16401" name="Picture 10" descr="j01158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 y="362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399" name="Rectangle 11"/>
            <p:cNvSpPr>
              <a:spLocks noChangeArrowheads="1"/>
            </p:cNvSpPr>
            <p:nvPr/>
          </p:nvSpPr>
          <p:spPr bwMode="auto">
            <a:xfrm>
              <a:off x="432" y="2767"/>
              <a:ext cx="4990"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a:solidFill>
                    <a:srgbClr val="FF0000"/>
                  </a:solidFill>
                </a:rPr>
                <a:t>Priority?</a:t>
              </a:r>
            </a:p>
          </p:txBody>
        </p:sp>
      </p:grpSp>
      <p:grpSp>
        <p:nvGrpSpPr>
          <p:cNvPr id="182293" name="Group 21"/>
          <p:cNvGrpSpPr>
            <a:grpSpLocks/>
          </p:cNvGrpSpPr>
          <p:nvPr/>
        </p:nvGrpSpPr>
        <p:grpSpPr bwMode="auto">
          <a:xfrm>
            <a:off x="685800" y="2209800"/>
            <a:ext cx="7921625" cy="1752600"/>
            <a:chOff x="432" y="1392"/>
            <a:chExt cx="4990" cy="1104"/>
          </a:xfrm>
        </p:grpSpPr>
        <p:sp>
          <p:nvSpPr>
            <p:cNvPr id="16391" name="Rectangle 16"/>
            <p:cNvSpPr>
              <a:spLocks noChangeArrowheads="1"/>
            </p:cNvSpPr>
            <p:nvPr/>
          </p:nvSpPr>
          <p:spPr bwMode="auto">
            <a:xfrm>
              <a:off x="432" y="1392"/>
              <a:ext cx="4990"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a:solidFill>
                    <a:srgbClr val="FF0000"/>
                  </a:solidFill>
                </a:rPr>
                <a:t>FIFO?</a:t>
              </a:r>
            </a:p>
          </p:txBody>
        </p:sp>
        <p:grpSp>
          <p:nvGrpSpPr>
            <p:cNvPr id="16392" name="Group 20"/>
            <p:cNvGrpSpPr>
              <a:grpSpLocks/>
            </p:cNvGrpSpPr>
            <p:nvPr/>
          </p:nvGrpSpPr>
          <p:grpSpPr bwMode="auto">
            <a:xfrm>
              <a:off x="624" y="1776"/>
              <a:ext cx="4464" cy="720"/>
              <a:chOff x="624" y="1776"/>
              <a:chExt cx="4464" cy="720"/>
            </a:xfrm>
          </p:grpSpPr>
          <p:grpSp>
            <p:nvGrpSpPr>
              <p:cNvPr id="16393" name="Group 13"/>
              <p:cNvGrpSpPr>
                <a:grpSpLocks/>
              </p:cNvGrpSpPr>
              <p:nvPr/>
            </p:nvGrpSpPr>
            <p:grpSpPr bwMode="auto">
              <a:xfrm>
                <a:off x="624" y="1776"/>
                <a:ext cx="3941" cy="380"/>
                <a:chOff x="523" y="1876"/>
                <a:chExt cx="3941" cy="380"/>
              </a:xfrm>
            </p:grpSpPr>
            <p:sp>
              <p:nvSpPr>
                <p:cNvPr id="16396" name="Rectangle 14"/>
                <p:cNvSpPr>
                  <a:spLocks noChangeArrowheads="1"/>
                </p:cNvSpPr>
                <p:nvPr/>
              </p:nvSpPr>
              <p:spPr bwMode="auto">
                <a:xfrm>
                  <a:off x="523" y="1876"/>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en-US" altLang="zh-CN" sz="2400"/>
                    <a:t>FIFO</a:t>
                  </a:r>
                  <a:r>
                    <a:rPr lang="zh-CN" altLang="en-US" sz="2400"/>
                    <a:t>显然是公平的策略</a:t>
                  </a:r>
                  <a:endParaRPr lang="zh-CN" altLang="en-US" sz="2400">
                    <a:solidFill>
                      <a:srgbClr val="FF0000"/>
                    </a:solidFill>
                  </a:endParaRPr>
                </a:p>
              </p:txBody>
            </p:sp>
            <p:pic>
              <p:nvPicPr>
                <p:cNvPr id="16397" name="Picture 15" descr="j01158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394" name="Rectangle 18"/>
              <p:cNvSpPr>
                <a:spLocks noChangeArrowheads="1"/>
              </p:cNvSpPr>
              <p:nvPr/>
            </p:nvSpPr>
            <p:spPr bwMode="auto">
              <a:xfrm>
                <a:off x="624" y="2116"/>
                <a:ext cx="4464"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en-US" altLang="zh-CN" sz="2400"/>
                  <a:t>FIFO</a:t>
                </a:r>
                <a:r>
                  <a:rPr lang="zh-CN" altLang="en-US" sz="2400"/>
                  <a:t>显然没有考虑进程</a:t>
                </a:r>
                <a:r>
                  <a:rPr lang="en-US" altLang="zh-CN" sz="2400"/>
                  <a:t>(</a:t>
                </a:r>
                <a:r>
                  <a:rPr lang="zh-CN" altLang="en-US" sz="2400"/>
                  <a:t>线程</a:t>
                </a:r>
                <a:r>
                  <a:rPr lang="en-US" altLang="zh-CN" sz="2400"/>
                  <a:t>)</a:t>
                </a:r>
                <a:r>
                  <a:rPr lang="zh-CN" altLang="en-US" sz="2400"/>
                  <a:t>执行的任务的区别</a:t>
                </a:r>
                <a:endParaRPr lang="zh-CN" altLang="en-US" sz="2400">
                  <a:solidFill>
                    <a:srgbClr val="FF0000"/>
                  </a:solidFill>
                </a:endParaRPr>
              </a:p>
            </p:txBody>
          </p:sp>
          <p:pic>
            <p:nvPicPr>
              <p:cNvPr id="16395" name="Picture 19" descr="j01158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9" y="226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82293"/>
                                        </p:tgtEl>
                                        <p:attrNameLst>
                                          <p:attrName>style.visibility</p:attrName>
                                        </p:attrNameLst>
                                      </p:cBhvr>
                                      <p:to>
                                        <p:strVal val="visible"/>
                                      </p:to>
                                    </p:set>
                                    <p:animEffect transition="in" filter="dissolve">
                                      <p:cBhvr>
                                        <p:cTn id="7" dur="500"/>
                                        <p:tgtEl>
                                          <p:spTgt spid="1822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82279"/>
                                        </p:tgtEl>
                                        <p:attrNameLst>
                                          <p:attrName>style.visibility</p:attrName>
                                        </p:attrNameLst>
                                      </p:cBhvr>
                                      <p:to>
                                        <p:strVal val="visible"/>
                                      </p:to>
                                    </p:set>
                                    <p:animEffect transition="in" filter="dissolve">
                                      <p:cBhvr>
                                        <p:cTn id="12" dur="500"/>
                                        <p:tgtEl>
                                          <p:spTgt spid="182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304800" y="2492375"/>
            <a:ext cx="8610600"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4800">
                <a:solidFill>
                  <a:srgbClr val="FF0000"/>
                </a:solidFill>
                <a:latin typeface="Arial Black" panose="020B0A04020102020204" pitchFamily="34" charset="0"/>
                <a:ea typeface="黑体" panose="02010609060101010101" pitchFamily="49" charset="-122"/>
              </a:rPr>
              <a:t>许多算法：评价准则是什么</a:t>
            </a:r>
            <a:r>
              <a:rPr lang="en-US" altLang="zh-CN" sz="4800">
                <a:solidFill>
                  <a:srgbClr val="FF0000"/>
                </a:solidFill>
                <a:latin typeface="Arial Black" panose="020B0A04020102020204" pitchFamily="34" charset="0"/>
                <a:ea typeface="黑体" panose="02010609060101010101" pitchFamily="49" charset="-122"/>
              </a:rPr>
              <a:t>?</a:t>
            </a:r>
          </a:p>
        </p:txBody>
      </p:sp>
      <p:sp>
        <p:nvSpPr>
          <p:cNvPr id="18435" name="Rectangle 2"/>
          <p:cNvSpPr>
            <a:spLocks noChangeArrowheads="1"/>
          </p:cNvSpPr>
          <p:nvPr/>
        </p:nvSpPr>
        <p:spPr bwMode="auto">
          <a:xfrm>
            <a:off x="3124200" y="381000"/>
            <a:ext cx="32321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200">
                <a:latin typeface="黑体" panose="02010609060101010101" pitchFamily="49" charset="-122"/>
                <a:ea typeface="黑体" panose="02010609060101010101" pitchFamily="49" charset="-122"/>
              </a:rPr>
              <a:t>5.2 </a:t>
            </a:r>
            <a:r>
              <a:rPr lang="zh-CN" altLang="en-US" sz="3200">
                <a:latin typeface="黑体" panose="02010609060101010101" pitchFamily="49" charset="-122"/>
                <a:ea typeface="黑体" panose="02010609060101010101" pitchFamily="49" charset="-122"/>
              </a:rPr>
              <a:t>调度准则</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304800"/>
            <a:ext cx="8077200" cy="676275"/>
          </a:xfrm>
        </p:spPr>
        <p:txBody>
          <a:bodyPr/>
          <a:lstStyle/>
          <a:p>
            <a:pPr eaLnBrk="1" hangingPunct="1"/>
            <a:r>
              <a:rPr lang="en-US" altLang="zh-CN" smtClean="0"/>
              <a:t>CPU</a:t>
            </a:r>
            <a:r>
              <a:rPr lang="zh-CN" altLang="en-US" smtClean="0"/>
              <a:t>调度策略的设计准则</a:t>
            </a:r>
          </a:p>
        </p:txBody>
      </p:sp>
      <p:sp>
        <p:nvSpPr>
          <p:cNvPr id="157733" name="Rectangle 37"/>
          <p:cNvSpPr>
            <a:spLocks noChangeArrowheads="1"/>
          </p:cNvSpPr>
          <p:nvPr/>
        </p:nvSpPr>
        <p:spPr bwMode="auto">
          <a:xfrm>
            <a:off x="685800" y="12192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solidFill>
                  <a:srgbClr val="FF0000"/>
                </a:solidFill>
              </a:rPr>
              <a:t>公平性：“合理”的分配</a:t>
            </a:r>
            <a:r>
              <a:rPr lang="en-US" altLang="zh-CN">
                <a:solidFill>
                  <a:srgbClr val="FF0000"/>
                </a:solidFill>
              </a:rPr>
              <a:t>CPU</a:t>
            </a:r>
          </a:p>
        </p:txBody>
      </p:sp>
      <p:sp>
        <p:nvSpPr>
          <p:cNvPr id="157734" name="Rectangle 38"/>
          <p:cNvSpPr>
            <a:spLocks noChangeArrowheads="1"/>
          </p:cNvSpPr>
          <p:nvPr/>
        </p:nvSpPr>
        <p:spPr bwMode="auto">
          <a:xfrm>
            <a:off x="685800" y="1954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solidFill>
                  <a:srgbClr val="FF0000"/>
                </a:solidFill>
              </a:rPr>
              <a:t>响应时间短</a:t>
            </a:r>
            <a:r>
              <a:rPr lang="en-US" altLang="zh-CN">
                <a:solidFill>
                  <a:srgbClr val="FF0000"/>
                </a:solidFill>
              </a:rPr>
              <a:t>(</a:t>
            </a:r>
            <a:r>
              <a:rPr lang="zh-CN" altLang="en-US">
                <a:solidFill>
                  <a:srgbClr val="FF0000"/>
                </a:solidFill>
              </a:rPr>
              <a:t>交互式</a:t>
            </a:r>
            <a:r>
              <a:rPr lang="en-US" altLang="zh-CN">
                <a:solidFill>
                  <a:srgbClr val="FF0000"/>
                </a:solidFill>
              </a:rPr>
              <a:t>)</a:t>
            </a:r>
            <a:r>
              <a:rPr lang="zh-CN" altLang="en-US">
                <a:solidFill>
                  <a:srgbClr val="FF0000"/>
                </a:solidFill>
              </a:rPr>
              <a:t>，周转时间短</a:t>
            </a:r>
            <a:r>
              <a:rPr lang="en-US" altLang="zh-CN">
                <a:solidFill>
                  <a:srgbClr val="FF0000"/>
                </a:solidFill>
              </a:rPr>
              <a:t>(</a:t>
            </a:r>
            <a:r>
              <a:rPr lang="zh-CN" altLang="en-US">
                <a:solidFill>
                  <a:srgbClr val="FF0000"/>
                </a:solidFill>
              </a:rPr>
              <a:t>批处理</a:t>
            </a:r>
            <a:r>
              <a:rPr lang="en-US" altLang="zh-CN">
                <a:solidFill>
                  <a:srgbClr val="FF0000"/>
                </a:solidFill>
              </a:rPr>
              <a:t>)</a:t>
            </a:r>
          </a:p>
        </p:txBody>
      </p:sp>
      <p:grpSp>
        <p:nvGrpSpPr>
          <p:cNvPr id="157750" name="Group 54"/>
          <p:cNvGrpSpPr>
            <a:grpSpLocks/>
          </p:cNvGrpSpPr>
          <p:nvPr/>
        </p:nvGrpSpPr>
        <p:grpSpPr bwMode="auto">
          <a:xfrm>
            <a:off x="906463" y="2590800"/>
            <a:ext cx="6256337" cy="603250"/>
            <a:chOff x="571" y="1684"/>
            <a:chExt cx="3941" cy="380"/>
          </a:xfrm>
        </p:grpSpPr>
        <p:sp>
          <p:nvSpPr>
            <p:cNvPr id="19475" name="Rectangle 40"/>
            <p:cNvSpPr>
              <a:spLocks noChangeArrowheads="1"/>
            </p:cNvSpPr>
            <p:nvPr/>
          </p:nvSpPr>
          <p:spPr bwMode="auto">
            <a:xfrm>
              <a:off x="571" y="1684"/>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响应时间</a:t>
              </a:r>
              <a:r>
                <a:rPr lang="en-US" altLang="zh-CN" sz="2400"/>
                <a:t>: </a:t>
              </a:r>
              <a:r>
                <a:rPr lang="zh-CN" altLang="en-US" sz="2400"/>
                <a:t>从用户输入到产生反应的时间</a:t>
              </a:r>
              <a:endParaRPr lang="zh-CN" altLang="en-US" sz="2400">
                <a:solidFill>
                  <a:srgbClr val="FF0000"/>
                </a:solidFill>
              </a:endParaRPr>
            </a:p>
          </p:txBody>
        </p:sp>
        <p:pic>
          <p:nvPicPr>
            <p:cNvPr id="19476" name="Picture 41"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7738" name="Group 42"/>
          <p:cNvGrpSpPr>
            <a:grpSpLocks/>
          </p:cNvGrpSpPr>
          <p:nvPr/>
        </p:nvGrpSpPr>
        <p:grpSpPr bwMode="auto">
          <a:xfrm>
            <a:off x="906463" y="3124200"/>
            <a:ext cx="6256337" cy="609600"/>
            <a:chOff x="523" y="1876"/>
            <a:chExt cx="3941" cy="384"/>
          </a:xfrm>
        </p:grpSpPr>
        <p:sp>
          <p:nvSpPr>
            <p:cNvPr id="19473" name="Rectangle 43"/>
            <p:cNvSpPr>
              <a:spLocks noChangeArrowheads="1"/>
            </p:cNvSpPr>
            <p:nvPr/>
          </p:nvSpPr>
          <p:spPr bwMode="auto">
            <a:xfrm>
              <a:off x="523" y="1876"/>
              <a:ext cx="394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周转时间</a:t>
              </a:r>
              <a:r>
                <a:rPr lang="en-US" altLang="zh-CN" sz="2400"/>
                <a:t>: </a:t>
              </a:r>
              <a:r>
                <a:rPr lang="zh-CN" altLang="en-US" sz="2400"/>
                <a:t>从任务提交到任务结束的时间</a:t>
              </a:r>
              <a:endParaRPr lang="zh-CN" altLang="en-US" sz="2400">
                <a:solidFill>
                  <a:srgbClr val="FF0000"/>
                </a:solidFill>
              </a:endParaRPr>
            </a:p>
          </p:txBody>
        </p:sp>
        <p:pic>
          <p:nvPicPr>
            <p:cNvPr id="19474" name="Picture 44"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 y="202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7741" name="Rectangle 45"/>
          <p:cNvSpPr>
            <a:spLocks noChangeArrowheads="1"/>
          </p:cNvSpPr>
          <p:nvPr/>
        </p:nvSpPr>
        <p:spPr bwMode="auto">
          <a:xfrm>
            <a:off x="685800" y="44196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solidFill>
                  <a:srgbClr val="FF0000"/>
                </a:solidFill>
              </a:rPr>
              <a:t>吞吐量大</a:t>
            </a:r>
          </a:p>
        </p:txBody>
      </p:sp>
      <p:grpSp>
        <p:nvGrpSpPr>
          <p:cNvPr id="157748" name="Group 52"/>
          <p:cNvGrpSpPr>
            <a:grpSpLocks/>
          </p:cNvGrpSpPr>
          <p:nvPr/>
        </p:nvGrpSpPr>
        <p:grpSpPr bwMode="auto">
          <a:xfrm>
            <a:off x="914400" y="5056188"/>
            <a:ext cx="6256338" cy="603250"/>
            <a:chOff x="576" y="2932"/>
            <a:chExt cx="3941" cy="380"/>
          </a:xfrm>
        </p:grpSpPr>
        <p:sp>
          <p:nvSpPr>
            <p:cNvPr id="19471" name="Rectangle 47"/>
            <p:cNvSpPr>
              <a:spLocks noChangeArrowheads="1"/>
            </p:cNvSpPr>
            <p:nvPr/>
          </p:nvSpPr>
          <p:spPr bwMode="auto">
            <a:xfrm>
              <a:off x="576" y="2932"/>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吞吐量</a:t>
              </a:r>
              <a:r>
                <a:rPr lang="en-US" altLang="zh-CN" sz="2400"/>
                <a:t>: </a:t>
              </a:r>
              <a:r>
                <a:rPr lang="zh-CN" altLang="en-US" sz="2400"/>
                <a:t>单位时间完成的任务数量</a:t>
              </a:r>
              <a:endParaRPr lang="zh-CN" altLang="en-US" sz="2400">
                <a:solidFill>
                  <a:srgbClr val="FF0000"/>
                </a:solidFill>
              </a:endParaRPr>
            </a:p>
          </p:txBody>
        </p:sp>
        <p:pic>
          <p:nvPicPr>
            <p:cNvPr id="19472" name="Picture 48"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309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7749" name="Group 53"/>
          <p:cNvGrpSpPr>
            <a:grpSpLocks/>
          </p:cNvGrpSpPr>
          <p:nvPr/>
        </p:nvGrpSpPr>
        <p:grpSpPr bwMode="auto">
          <a:xfrm>
            <a:off x="914400" y="5595938"/>
            <a:ext cx="7162800" cy="603250"/>
            <a:chOff x="576" y="3312"/>
            <a:chExt cx="4512" cy="380"/>
          </a:xfrm>
        </p:grpSpPr>
        <p:sp>
          <p:nvSpPr>
            <p:cNvPr id="19469" name="Rectangle 50"/>
            <p:cNvSpPr>
              <a:spLocks noChangeArrowheads="1"/>
            </p:cNvSpPr>
            <p:nvPr/>
          </p:nvSpPr>
          <p:spPr bwMode="auto">
            <a:xfrm>
              <a:off x="576" y="3312"/>
              <a:ext cx="4512"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吞吐量大 </a:t>
              </a:r>
              <a:r>
                <a:rPr lang="zh-CN" altLang="en-US" sz="2400">
                  <a:sym typeface="Symbol" panose="05050102010706020507" pitchFamily="18" charset="2"/>
                </a:rPr>
                <a:t> </a:t>
              </a:r>
              <a:r>
                <a:rPr lang="en-US" altLang="zh-CN" sz="2400">
                  <a:sym typeface="Symbol" panose="05050102010706020507" pitchFamily="18" charset="2"/>
                </a:rPr>
                <a:t>CPU</a:t>
              </a:r>
              <a:r>
                <a:rPr lang="zh-CN" altLang="en-US" sz="2400">
                  <a:sym typeface="Symbol" panose="05050102010706020507" pitchFamily="18" charset="2"/>
                </a:rPr>
                <a:t>使用率高 </a:t>
              </a:r>
              <a:r>
                <a:rPr lang="en-US" altLang="zh-CN" sz="2400">
                  <a:sym typeface="Symbol" panose="05050102010706020507" pitchFamily="18" charset="2"/>
                </a:rPr>
                <a:t>+ </a:t>
              </a:r>
              <a:r>
                <a:rPr lang="zh-CN" altLang="en-US" sz="2400">
                  <a:sym typeface="Symbol" panose="05050102010706020507" pitchFamily="18" charset="2"/>
                </a:rPr>
                <a:t>上下文切换代价小</a:t>
              </a:r>
              <a:endParaRPr lang="zh-CN" altLang="en-US" sz="2400">
                <a:solidFill>
                  <a:srgbClr val="FF0000"/>
                </a:solidFill>
                <a:sym typeface="Symbol" panose="05050102010706020507" pitchFamily="18" charset="2"/>
              </a:endParaRPr>
            </a:p>
          </p:txBody>
        </p:sp>
        <p:pic>
          <p:nvPicPr>
            <p:cNvPr id="19470" name="Picture 51"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347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57754" name="Group 58"/>
          <p:cNvGrpSpPr>
            <a:grpSpLocks/>
          </p:cNvGrpSpPr>
          <p:nvPr/>
        </p:nvGrpSpPr>
        <p:grpSpPr bwMode="auto">
          <a:xfrm>
            <a:off x="914400" y="3719513"/>
            <a:ext cx="8001000" cy="609600"/>
            <a:chOff x="576" y="2400"/>
            <a:chExt cx="5040" cy="384"/>
          </a:xfrm>
        </p:grpSpPr>
        <p:sp>
          <p:nvSpPr>
            <p:cNvPr id="19467" name="Rectangle 56"/>
            <p:cNvSpPr>
              <a:spLocks noChangeArrowheads="1"/>
            </p:cNvSpPr>
            <p:nvPr/>
          </p:nvSpPr>
          <p:spPr bwMode="auto">
            <a:xfrm>
              <a:off x="576" y="2400"/>
              <a:ext cx="504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dirty="0" smtClean="0"/>
                <a:t>周转时间</a:t>
              </a:r>
              <a:r>
                <a:rPr lang="zh-CN" altLang="en-US" sz="2400" dirty="0"/>
                <a:t>短 </a:t>
              </a:r>
              <a:r>
                <a:rPr lang="zh-CN" altLang="en-US" sz="2400" dirty="0">
                  <a:sym typeface="Symbol" panose="05050102010706020507" pitchFamily="18" charset="2"/>
                </a:rPr>
                <a:t> 等待时间</a:t>
              </a:r>
              <a:r>
                <a:rPr lang="en-US" altLang="zh-CN" sz="2400" dirty="0">
                  <a:sym typeface="Symbol" panose="05050102010706020507" pitchFamily="18" charset="2"/>
                </a:rPr>
                <a:t>(</a:t>
              </a:r>
              <a:r>
                <a:rPr lang="zh-CN" altLang="en-US" sz="2400" dirty="0">
                  <a:sym typeface="Symbol" panose="05050102010706020507" pitchFamily="18" charset="2"/>
                </a:rPr>
                <a:t>在就绪队列中的时间</a:t>
              </a:r>
              <a:r>
                <a:rPr lang="en-US" altLang="zh-CN" sz="2400" dirty="0">
                  <a:sym typeface="Symbol" panose="05050102010706020507" pitchFamily="18" charset="2"/>
                </a:rPr>
                <a:t>)</a:t>
              </a:r>
              <a:r>
                <a:rPr lang="zh-CN" altLang="en-US" sz="2400" dirty="0">
                  <a:sym typeface="Symbol" panose="05050102010706020507" pitchFamily="18" charset="2"/>
                </a:rPr>
                <a:t>短  </a:t>
              </a:r>
              <a:endParaRPr lang="zh-CN" altLang="en-US" sz="2400" dirty="0">
                <a:solidFill>
                  <a:srgbClr val="FF0000"/>
                </a:solidFill>
              </a:endParaRPr>
            </a:p>
          </p:txBody>
        </p:sp>
        <p:pic>
          <p:nvPicPr>
            <p:cNvPr id="19468" name="Picture 5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2549"/>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7733"/>
                                        </p:tgtEl>
                                        <p:attrNameLst>
                                          <p:attrName>style.visibility</p:attrName>
                                        </p:attrNameLst>
                                      </p:cBhvr>
                                      <p:to>
                                        <p:strVal val="visible"/>
                                      </p:to>
                                    </p:set>
                                    <p:animEffect transition="in" filter="dissolve">
                                      <p:cBhvr>
                                        <p:cTn id="7" dur="500"/>
                                        <p:tgtEl>
                                          <p:spTgt spid="1577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7734"/>
                                        </p:tgtEl>
                                        <p:attrNameLst>
                                          <p:attrName>style.visibility</p:attrName>
                                        </p:attrNameLst>
                                      </p:cBhvr>
                                      <p:to>
                                        <p:strVal val="visible"/>
                                      </p:to>
                                    </p:set>
                                    <p:animEffect transition="in" filter="dissolve">
                                      <p:cBhvr>
                                        <p:cTn id="12" dur="500"/>
                                        <p:tgtEl>
                                          <p:spTgt spid="1577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57750"/>
                                        </p:tgtEl>
                                        <p:attrNameLst>
                                          <p:attrName>style.visibility</p:attrName>
                                        </p:attrNameLst>
                                      </p:cBhvr>
                                      <p:to>
                                        <p:strVal val="visible"/>
                                      </p:to>
                                    </p:set>
                                    <p:animEffect transition="in" filter="dissolve">
                                      <p:cBhvr>
                                        <p:cTn id="17" dur="500"/>
                                        <p:tgtEl>
                                          <p:spTgt spid="1577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57738"/>
                                        </p:tgtEl>
                                        <p:attrNameLst>
                                          <p:attrName>style.visibility</p:attrName>
                                        </p:attrNameLst>
                                      </p:cBhvr>
                                      <p:to>
                                        <p:strVal val="visible"/>
                                      </p:to>
                                    </p:set>
                                    <p:animEffect transition="in" filter="dissolve">
                                      <p:cBhvr>
                                        <p:cTn id="22" dur="500"/>
                                        <p:tgtEl>
                                          <p:spTgt spid="15773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57754"/>
                                        </p:tgtEl>
                                        <p:attrNameLst>
                                          <p:attrName>style.visibility</p:attrName>
                                        </p:attrNameLst>
                                      </p:cBhvr>
                                      <p:to>
                                        <p:strVal val="visible"/>
                                      </p:to>
                                    </p:set>
                                    <p:animEffect transition="in" filter="dissolve">
                                      <p:cBhvr>
                                        <p:cTn id="27" dur="500"/>
                                        <p:tgtEl>
                                          <p:spTgt spid="1577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57741"/>
                                        </p:tgtEl>
                                        <p:attrNameLst>
                                          <p:attrName>style.visibility</p:attrName>
                                        </p:attrNameLst>
                                      </p:cBhvr>
                                      <p:to>
                                        <p:strVal val="visible"/>
                                      </p:to>
                                    </p:set>
                                    <p:animEffect transition="in" filter="dissolve">
                                      <p:cBhvr>
                                        <p:cTn id="32" dur="500"/>
                                        <p:tgtEl>
                                          <p:spTgt spid="1577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57748"/>
                                        </p:tgtEl>
                                        <p:attrNameLst>
                                          <p:attrName>style.visibility</p:attrName>
                                        </p:attrNameLst>
                                      </p:cBhvr>
                                      <p:to>
                                        <p:strVal val="visible"/>
                                      </p:to>
                                    </p:set>
                                    <p:animEffect transition="in" filter="dissolve">
                                      <p:cBhvr>
                                        <p:cTn id="37" dur="500"/>
                                        <p:tgtEl>
                                          <p:spTgt spid="15774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157749"/>
                                        </p:tgtEl>
                                        <p:attrNameLst>
                                          <p:attrName>style.visibility</p:attrName>
                                        </p:attrNameLst>
                                      </p:cBhvr>
                                      <p:to>
                                        <p:strVal val="visible"/>
                                      </p:to>
                                    </p:set>
                                    <p:animEffect transition="in" filter="dissolve">
                                      <p:cBhvr>
                                        <p:cTn id="42" dur="500"/>
                                        <p:tgtEl>
                                          <p:spTgt spid="157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33" grpId="0"/>
      <p:bldP spid="157734" grpId="0"/>
      <p:bldP spid="15774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81000" y="304800"/>
            <a:ext cx="8077200" cy="676275"/>
          </a:xfrm>
        </p:spPr>
        <p:txBody>
          <a:bodyPr/>
          <a:lstStyle/>
          <a:p>
            <a:pPr eaLnBrk="1" hangingPunct="1"/>
            <a:r>
              <a:rPr lang="zh-CN" altLang="en-US" smtClean="0"/>
              <a:t>存在矛盾的目标集合</a:t>
            </a:r>
          </a:p>
        </p:txBody>
      </p:sp>
      <p:sp>
        <p:nvSpPr>
          <p:cNvPr id="160773" name="Rectangle 5"/>
          <p:cNvSpPr>
            <a:spLocks noChangeArrowheads="1"/>
          </p:cNvSpPr>
          <p:nvPr/>
        </p:nvSpPr>
        <p:spPr bwMode="auto">
          <a:xfrm>
            <a:off x="685800" y="12192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solidFill>
                  <a:srgbClr val="FF0000"/>
                </a:solidFill>
              </a:rPr>
              <a:t>响应时间短与公平性之间的矛盾</a:t>
            </a:r>
          </a:p>
        </p:txBody>
      </p:sp>
      <p:grpSp>
        <p:nvGrpSpPr>
          <p:cNvPr id="160774" name="Group 6"/>
          <p:cNvGrpSpPr>
            <a:grpSpLocks/>
          </p:cNvGrpSpPr>
          <p:nvPr/>
        </p:nvGrpSpPr>
        <p:grpSpPr bwMode="auto">
          <a:xfrm>
            <a:off x="906463" y="1878013"/>
            <a:ext cx="6256337" cy="603250"/>
            <a:chOff x="571" y="1684"/>
            <a:chExt cx="3941" cy="380"/>
          </a:xfrm>
        </p:grpSpPr>
        <p:sp>
          <p:nvSpPr>
            <p:cNvPr id="20500" name="Rectangle 7"/>
            <p:cNvSpPr>
              <a:spLocks noChangeArrowheads="1"/>
            </p:cNvSpPr>
            <p:nvPr/>
          </p:nvSpPr>
          <p:spPr bwMode="auto">
            <a:xfrm>
              <a:off x="571" y="1684"/>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响应时间短 </a:t>
              </a:r>
              <a:r>
                <a:rPr lang="zh-CN" altLang="en-US" sz="2400">
                  <a:sym typeface="Symbol" panose="05050102010706020507" pitchFamily="18" charset="2"/>
                </a:rPr>
                <a:t> 前台任务的优先级高</a:t>
              </a:r>
              <a:endParaRPr lang="zh-CN" altLang="en-US" sz="2400">
                <a:solidFill>
                  <a:srgbClr val="FF0000"/>
                </a:solidFill>
                <a:sym typeface="Symbol" panose="05050102010706020507" pitchFamily="18" charset="2"/>
              </a:endParaRPr>
            </a:p>
          </p:txBody>
        </p:sp>
        <p:pic>
          <p:nvPicPr>
            <p:cNvPr id="20501" name="Picture 8"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0780" name="Group 12"/>
          <p:cNvGrpSpPr>
            <a:grpSpLocks/>
          </p:cNvGrpSpPr>
          <p:nvPr/>
        </p:nvGrpSpPr>
        <p:grpSpPr bwMode="auto">
          <a:xfrm>
            <a:off x="906463" y="2438400"/>
            <a:ext cx="6865937" cy="603250"/>
            <a:chOff x="571" y="1588"/>
            <a:chExt cx="4325" cy="380"/>
          </a:xfrm>
        </p:grpSpPr>
        <p:sp>
          <p:nvSpPr>
            <p:cNvPr id="20498" name="Rectangle 10"/>
            <p:cNvSpPr>
              <a:spLocks noChangeArrowheads="1"/>
            </p:cNvSpPr>
            <p:nvPr/>
          </p:nvSpPr>
          <p:spPr bwMode="auto">
            <a:xfrm>
              <a:off x="571" y="1588"/>
              <a:ext cx="4325"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sym typeface="Symbol" panose="05050102010706020507" pitchFamily="18" charset="2"/>
                </a:rPr>
                <a:t>前台任务优先调度  后台任务得不到</a:t>
              </a:r>
              <a:r>
                <a:rPr lang="en-US" altLang="zh-CN" sz="2400">
                  <a:sym typeface="Symbol" panose="05050102010706020507" pitchFamily="18" charset="2"/>
                </a:rPr>
                <a:t>CPU</a:t>
              </a:r>
            </a:p>
          </p:txBody>
        </p:sp>
        <p:pic>
          <p:nvPicPr>
            <p:cNvPr id="20499" name="Picture 11"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 y="1751"/>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0781" name="Rectangle 13"/>
          <p:cNvSpPr>
            <a:spLocks noChangeArrowheads="1"/>
          </p:cNvSpPr>
          <p:nvPr/>
        </p:nvSpPr>
        <p:spPr bwMode="auto">
          <a:xfrm>
            <a:off x="685800" y="3124200"/>
            <a:ext cx="7921625"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solidFill>
                  <a:srgbClr val="FF0000"/>
                </a:solidFill>
              </a:rPr>
              <a:t>吞吐量和响应时间之间的矛盾</a:t>
            </a:r>
          </a:p>
        </p:txBody>
      </p:sp>
      <p:grpSp>
        <p:nvGrpSpPr>
          <p:cNvPr id="160789" name="Group 21"/>
          <p:cNvGrpSpPr>
            <a:grpSpLocks/>
          </p:cNvGrpSpPr>
          <p:nvPr/>
        </p:nvGrpSpPr>
        <p:grpSpPr bwMode="auto">
          <a:xfrm>
            <a:off x="906463" y="3810000"/>
            <a:ext cx="7551737" cy="603250"/>
            <a:chOff x="571" y="2431"/>
            <a:chExt cx="4757" cy="380"/>
          </a:xfrm>
        </p:grpSpPr>
        <p:sp>
          <p:nvSpPr>
            <p:cNvPr id="20496" name="Rectangle 15"/>
            <p:cNvSpPr>
              <a:spLocks noChangeArrowheads="1"/>
            </p:cNvSpPr>
            <p:nvPr/>
          </p:nvSpPr>
          <p:spPr bwMode="auto">
            <a:xfrm>
              <a:off x="571" y="2431"/>
              <a:ext cx="4757"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吞吐量大 </a:t>
              </a:r>
              <a:r>
                <a:rPr lang="zh-CN" altLang="en-US" sz="2400">
                  <a:sym typeface="Symbol" panose="05050102010706020507" pitchFamily="18" charset="2"/>
                </a:rPr>
                <a:t> 上下文切换代价小  时间片大</a:t>
              </a:r>
              <a:endParaRPr lang="zh-CN" altLang="en-US" sz="1800">
                <a:sym typeface="Symbol" panose="05050102010706020507" pitchFamily="18" charset="2"/>
              </a:endParaRPr>
            </a:p>
          </p:txBody>
        </p:sp>
        <p:pic>
          <p:nvPicPr>
            <p:cNvPr id="20497" name="Picture 16"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 y="2587"/>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0790" name="Group 22"/>
          <p:cNvGrpSpPr>
            <a:grpSpLocks/>
          </p:cNvGrpSpPr>
          <p:nvPr/>
        </p:nvGrpSpPr>
        <p:grpSpPr bwMode="auto">
          <a:xfrm>
            <a:off x="906463" y="4370388"/>
            <a:ext cx="8237537" cy="609600"/>
            <a:chOff x="571" y="2788"/>
            <a:chExt cx="5189" cy="384"/>
          </a:xfrm>
        </p:grpSpPr>
        <p:sp>
          <p:nvSpPr>
            <p:cNvPr id="20494" name="Rectangle 18"/>
            <p:cNvSpPr>
              <a:spLocks noChangeArrowheads="1"/>
            </p:cNvSpPr>
            <p:nvPr/>
          </p:nvSpPr>
          <p:spPr bwMode="auto">
            <a:xfrm>
              <a:off x="571" y="2788"/>
              <a:ext cx="518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sym typeface="Symbol" panose="05050102010706020507" pitchFamily="18" charset="2"/>
                </a:rPr>
                <a:t>时间片大  响应时间长</a:t>
              </a:r>
              <a:r>
                <a:rPr lang="en-US" altLang="zh-CN" sz="2400">
                  <a:sym typeface="Symbol" panose="05050102010706020507" pitchFamily="18" charset="2"/>
                </a:rPr>
                <a:t>(100  10ms vs. 2  500ms)</a:t>
              </a:r>
              <a:endParaRPr lang="en-US" altLang="zh-CN" sz="1800">
                <a:sym typeface="Symbol" panose="05050102010706020507" pitchFamily="18" charset="2"/>
              </a:endParaRPr>
            </a:p>
          </p:txBody>
        </p:sp>
        <p:pic>
          <p:nvPicPr>
            <p:cNvPr id="20495" name="Picture 19"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 y="2951"/>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0791" name="Rectangle 23"/>
          <p:cNvSpPr>
            <a:spLocks noChangeArrowheads="1"/>
          </p:cNvSpPr>
          <p:nvPr/>
        </p:nvSpPr>
        <p:spPr bwMode="auto">
          <a:xfrm>
            <a:off x="685800" y="5002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a:solidFill>
                  <a:srgbClr val="FF0000"/>
                </a:solidFill>
              </a:rPr>
              <a:t>……</a:t>
            </a:r>
          </a:p>
        </p:txBody>
      </p:sp>
      <p:grpSp>
        <p:nvGrpSpPr>
          <p:cNvPr id="160795" name="Group 27"/>
          <p:cNvGrpSpPr>
            <a:grpSpLocks/>
          </p:cNvGrpSpPr>
          <p:nvPr/>
        </p:nvGrpSpPr>
        <p:grpSpPr bwMode="auto">
          <a:xfrm>
            <a:off x="914400" y="5121275"/>
            <a:ext cx="7543800" cy="1355725"/>
            <a:chOff x="576" y="3226"/>
            <a:chExt cx="4752" cy="854"/>
          </a:xfrm>
        </p:grpSpPr>
        <p:sp>
          <p:nvSpPr>
            <p:cNvPr id="20492" name="Text Box 25"/>
            <p:cNvSpPr txBox="1">
              <a:spLocks noChangeArrowheads="1"/>
            </p:cNvSpPr>
            <p:nvPr/>
          </p:nvSpPr>
          <p:spPr bwMode="auto">
            <a:xfrm>
              <a:off x="576" y="3562"/>
              <a:ext cx="4416" cy="518"/>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a:solidFill>
                    <a:srgbClr val="000099"/>
                  </a:solidFill>
                </a:rPr>
                <a:t>协调多个目标是操作系统之所以复杂的</a:t>
              </a:r>
            </a:p>
            <a:p>
              <a:pPr algn="ctr" eaLnBrk="1" hangingPunct="1">
                <a:spcBef>
                  <a:spcPct val="0"/>
                </a:spcBef>
                <a:buClrTx/>
                <a:buSzTx/>
                <a:buFontTx/>
                <a:buNone/>
              </a:pPr>
              <a:r>
                <a:rPr lang="zh-CN" altLang="en-US" sz="2400">
                  <a:solidFill>
                    <a:srgbClr val="000099"/>
                  </a:solidFill>
                </a:rPr>
                <a:t>一个重要原因，也是复杂系统的一个基本特点</a:t>
              </a:r>
            </a:p>
          </p:txBody>
        </p:sp>
        <p:pic>
          <p:nvPicPr>
            <p:cNvPr id="20493" name="Picture 26" descr="j03012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6" y="3226"/>
              <a:ext cx="912"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矩形 1"/>
          <p:cNvSpPr>
            <a:spLocks noChangeArrowheads="1"/>
          </p:cNvSpPr>
          <p:nvPr/>
        </p:nvSpPr>
        <p:spPr bwMode="auto">
          <a:xfrm>
            <a:off x="5715000" y="146050"/>
            <a:ext cx="31559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2400">
                <a:solidFill>
                  <a:srgbClr val="FF0000"/>
                </a:solidFill>
                <a:sym typeface="Symbol" panose="05050102010706020507" pitchFamily="18" charset="2"/>
              </a:rPr>
              <a:t>通过进程浏览器看看上下文切换代价</a:t>
            </a:r>
            <a:endParaRPr lang="zh-CN" altLang="en-US" sz="24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0773"/>
                                        </p:tgtEl>
                                        <p:attrNameLst>
                                          <p:attrName>style.visibility</p:attrName>
                                        </p:attrNameLst>
                                      </p:cBhvr>
                                      <p:to>
                                        <p:strVal val="visible"/>
                                      </p:to>
                                    </p:set>
                                    <p:animEffect transition="in" filter="dissolve">
                                      <p:cBhvr>
                                        <p:cTn id="7" dur="500"/>
                                        <p:tgtEl>
                                          <p:spTgt spid="1607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0774"/>
                                        </p:tgtEl>
                                        <p:attrNameLst>
                                          <p:attrName>style.visibility</p:attrName>
                                        </p:attrNameLst>
                                      </p:cBhvr>
                                      <p:to>
                                        <p:strVal val="visible"/>
                                      </p:to>
                                    </p:set>
                                    <p:animEffect transition="in" filter="dissolve">
                                      <p:cBhvr>
                                        <p:cTn id="12" dur="500"/>
                                        <p:tgtEl>
                                          <p:spTgt spid="1607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0780"/>
                                        </p:tgtEl>
                                        <p:attrNameLst>
                                          <p:attrName>style.visibility</p:attrName>
                                        </p:attrNameLst>
                                      </p:cBhvr>
                                      <p:to>
                                        <p:strVal val="visible"/>
                                      </p:to>
                                    </p:set>
                                    <p:animEffect transition="in" filter="dissolve">
                                      <p:cBhvr>
                                        <p:cTn id="17" dur="500"/>
                                        <p:tgtEl>
                                          <p:spTgt spid="1607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0781"/>
                                        </p:tgtEl>
                                        <p:attrNameLst>
                                          <p:attrName>style.visibility</p:attrName>
                                        </p:attrNameLst>
                                      </p:cBhvr>
                                      <p:to>
                                        <p:strVal val="visible"/>
                                      </p:to>
                                    </p:set>
                                    <p:animEffect transition="in" filter="dissolve">
                                      <p:cBhvr>
                                        <p:cTn id="22" dur="500"/>
                                        <p:tgtEl>
                                          <p:spTgt spid="16078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60789"/>
                                        </p:tgtEl>
                                        <p:attrNameLst>
                                          <p:attrName>style.visibility</p:attrName>
                                        </p:attrNameLst>
                                      </p:cBhvr>
                                      <p:to>
                                        <p:strVal val="visible"/>
                                      </p:to>
                                    </p:set>
                                    <p:animEffect transition="in" filter="dissolve">
                                      <p:cBhvr>
                                        <p:cTn id="27" dur="500"/>
                                        <p:tgtEl>
                                          <p:spTgt spid="16078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60790"/>
                                        </p:tgtEl>
                                        <p:attrNameLst>
                                          <p:attrName>style.visibility</p:attrName>
                                        </p:attrNameLst>
                                      </p:cBhvr>
                                      <p:to>
                                        <p:strVal val="visible"/>
                                      </p:to>
                                    </p:set>
                                    <p:animEffect transition="in" filter="dissolve">
                                      <p:cBhvr>
                                        <p:cTn id="32" dur="500"/>
                                        <p:tgtEl>
                                          <p:spTgt spid="16079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60791"/>
                                        </p:tgtEl>
                                        <p:attrNameLst>
                                          <p:attrName>style.visibility</p:attrName>
                                        </p:attrNameLst>
                                      </p:cBhvr>
                                      <p:to>
                                        <p:strVal val="visible"/>
                                      </p:to>
                                    </p:set>
                                    <p:animEffect transition="in" filter="dissolve">
                                      <p:cBhvr>
                                        <p:cTn id="37" dur="500"/>
                                        <p:tgtEl>
                                          <p:spTgt spid="16079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160795"/>
                                        </p:tgtEl>
                                        <p:attrNameLst>
                                          <p:attrName>style.visibility</p:attrName>
                                        </p:attrNameLst>
                                      </p:cBhvr>
                                      <p:to>
                                        <p:strVal val="visible"/>
                                      </p:to>
                                    </p:set>
                                    <p:animEffect transition="in" filter="dissolve">
                                      <p:cBhvr>
                                        <p:cTn id="42" dur="500"/>
                                        <p:tgtEl>
                                          <p:spTgt spid="16079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3" grpId="0"/>
      <p:bldP spid="160781" grpId="0"/>
      <p:bldP spid="160791"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smtClean="0"/>
              <a:t>CPU</a:t>
            </a:r>
            <a:r>
              <a:rPr lang="zh-CN" altLang="en-US" smtClean="0"/>
              <a:t>调度应综合考虑 </a:t>
            </a:r>
            <a:r>
              <a:rPr lang="zh-CN" altLang="en-US" smtClean="0">
                <a:sym typeface="Symbol" panose="05050102010706020507" pitchFamily="18" charset="2"/>
              </a:rPr>
              <a:t> 任务特点</a:t>
            </a:r>
            <a:endParaRPr lang="zh-CN" altLang="zh-CN" smtClean="0">
              <a:sym typeface="Symbol" panose="05050102010706020507" pitchFamily="18" charset="2"/>
            </a:endParaRPr>
          </a:p>
        </p:txBody>
      </p:sp>
      <p:sp>
        <p:nvSpPr>
          <p:cNvPr id="72730" name="Rectangle 26"/>
          <p:cNvSpPr>
            <a:spLocks noChangeArrowheads="1"/>
          </p:cNvSpPr>
          <p:nvPr/>
        </p:nvSpPr>
        <p:spPr bwMode="auto">
          <a:xfrm>
            <a:off x="685800" y="12684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solidFill>
                  <a:srgbClr val="FF0000"/>
                </a:solidFill>
              </a:rPr>
              <a:t>任务可以分为交互式任务和批处理任务</a:t>
            </a:r>
          </a:p>
        </p:txBody>
      </p:sp>
      <p:grpSp>
        <p:nvGrpSpPr>
          <p:cNvPr id="72731" name="Group 27"/>
          <p:cNvGrpSpPr>
            <a:grpSpLocks/>
          </p:cNvGrpSpPr>
          <p:nvPr/>
        </p:nvGrpSpPr>
        <p:grpSpPr bwMode="auto">
          <a:xfrm>
            <a:off x="906463" y="1981200"/>
            <a:ext cx="6256337" cy="603250"/>
            <a:chOff x="571" y="1684"/>
            <a:chExt cx="3941" cy="380"/>
          </a:xfrm>
        </p:grpSpPr>
        <p:sp>
          <p:nvSpPr>
            <p:cNvPr id="22540" name="Rectangle 28"/>
            <p:cNvSpPr>
              <a:spLocks noChangeArrowheads="1"/>
            </p:cNvSpPr>
            <p:nvPr/>
          </p:nvSpPr>
          <p:spPr bwMode="auto">
            <a:xfrm>
              <a:off x="571" y="1684"/>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交互式任务注重对用户的响应：如</a:t>
              </a:r>
              <a:r>
                <a:rPr lang="en-US" altLang="zh-CN" sz="2400"/>
                <a:t>WORD</a:t>
              </a:r>
              <a:endParaRPr lang="en-US" altLang="zh-CN" sz="2400">
                <a:solidFill>
                  <a:srgbClr val="FF0000"/>
                </a:solidFill>
              </a:endParaRPr>
            </a:p>
          </p:txBody>
        </p:sp>
        <p:pic>
          <p:nvPicPr>
            <p:cNvPr id="22541" name="Picture 29"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2734" name="Group 30"/>
          <p:cNvGrpSpPr>
            <a:grpSpLocks/>
          </p:cNvGrpSpPr>
          <p:nvPr/>
        </p:nvGrpSpPr>
        <p:grpSpPr bwMode="auto">
          <a:xfrm>
            <a:off x="914400" y="2590800"/>
            <a:ext cx="6256338" cy="603250"/>
            <a:chOff x="571" y="1684"/>
            <a:chExt cx="3941" cy="380"/>
          </a:xfrm>
        </p:grpSpPr>
        <p:sp>
          <p:nvSpPr>
            <p:cNvPr id="22538" name="Rectangle 31"/>
            <p:cNvSpPr>
              <a:spLocks noChangeArrowheads="1"/>
            </p:cNvSpPr>
            <p:nvPr/>
          </p:nvSpPr>
          <p:spPr bwMode="auto">
            <a:xfrm>
              <a:off x="571" y="1684"/>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批处理任务注重对任务吞吐量：如</a:t>
              </a:r>
              <a:r>
                <a:rPr lang="en-US" altLang="zh-CN" sz="2400"/>
                <a:t>gcc</a:t>
              </a:r>
              <a:endParaRPr lang="en-US" altLang="zh-CN" sz="2400">
                <a:solidFill>
                  <a:srgbClr val="FF0000"/>
                </a:solidFill>
              </a:endParaRPr>
            </a:p>
          </p:txBody>
        </p:sp>
        <p:pic>
          <p:nvPicPr>
            <p:cNvPr id="22539" name="Picture 32"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2737" name="Rectangle 33"/>
          <p:cNvSpPr>
            <a:spLocks noChangeArrowheads="1"/>
          </p:cNvSpPr>
          <p:nvPr/>
        </p:nvSpPr>
        <p:spPr bwMode="auto">
          <a:xfrm>
            <a:off x="685800" y="3478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solidFill>
                  <a:srgbClr val="FF0000"/>
                </a:solidFill>
              </a:rPr>
              <a:t>有趣的问题是许多系统中既有交互式任务，又有批处理任务</a:t>
            </a:r>
          </a:p>
        </p:txBody>
      </p:sp>
      <p:grpSp>
        <p:nvGrpSpPr>
          <p:cNvPr id="72738" name="Group 34"/>
          <p:cNvGrpSpPr>
            <a:grpSpLocks/>
          </p:cNvGrpSpPr>
          <p:nvPr/>
        </p:nvGrpSpPr>
        <p:grpSpPr bwMode="auto">
          <a:xfrm>
            <a:off x="914400" y="4730750"/>
            <a:ext cx="6256338" cy="603250"/>
            <a:chOff x="571" y="1684"/>
            <a:chExt cx="3941" cy="380"/>
          </a:xfrm>
        </p:grpSpPr>
        <p:sp>
          <p:nvSpPr>
            <p:cNvPr id="22536" name="Rectangle 35"/>
            <p:cNvSpPr>
              <a:spLocks noChangeArrowheads="1"/>
            </p:cNvSpPr>
            <p:nvPr/>
          </p:nvSpPr>
          <p:spPr bwMode="auto">
            <a:xfrm>
              <a:off x="571" y="1684"/>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前台任务 </a:t>
              </a:r>
              <a:r>
                <a:rPr lang="en-US" altLang="zh-CN" sz="2400"/>
                <a:t>+ </a:t>
              </a:r>
              <a:r>
                <a:rPr lang="zh-CN" altLang="en-US" sz="2400"/>
                <a:t>后台任务</a:t>
              </a:r>
            </a:p>
          </p:txBody>
        </p:sp>
        <p:pic>
          <p:nvPicPr>
            <p:cNvPr id="22537" name="Picture 3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730">
                                            <p:txEl>
                                              <p:pRg st="0" end="0"/>
                                            </p:txEl>
                                          </p:spTgt>
                                        </p:tgtEl>
                                        <p:attrNameLst>
                                          <p:attrName>style.visibility</p:attrName>
                                        </p:attrNameLst>
                                      </p:cBhvr>
                                      <p:to>
                                        <p:strVal val="visible"/>
                                      </p:to>
                                    </p:set>
                                    <p:animEffect transition="in" filter="dissolve">
                                      <p:cBhvr>
                                        <p:cTn id="7" dur="500"/>
                                        <p:tgtEl>
                                          <p:spTgt spid="727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2731"/>
                                        </p:tgtEl>
                                        <p:attrNameLst>
                                          <p:attrName>style.visibility</p:attrName>
                                        </p:attrNameLst>
                                      </p:cBhvr>
                                      <p:to>
                                        <p:strVal val="visible"/>
                                      </p:to>
                                    </p:set>
                                    <p:animEffect transition="in" filter="dissolve">
                                      <p:cBhvr>
                                        <p:cTn id="12" dur="500"/>
                                        <p:tgtEl>
                                          <p:spTgt spid="727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2734"/>
                                        </p:tgtEl>
                                        <p:attrNameLst>
                                          <p:attrName>style.visibility</p:attrName>
                                        </p:attrNameLst>
                                      </p:cBhvr>
                                      <p:to>
                                        <p:strVal val="visible"/>
                                      </p:to>
                                    </p:set>
                                    <p:animEffect transition="in" filter="dissolve">
                                      <p:cBhvr>
                                        <p:cTn id="17" dur="500"/>
                                        <p:tgtEl>
                                          <p:spTgt spid="727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2737">
                                            <p:txEl>
                                              <p:pRg st="0" end="0"/>
                                            </p:txEl>
                                          </p:spTgt>
                                        </p:tgtEl>
                                        <p:attrNameLst>
                                          <p:attrName>style.visibility</p:attrName>
                                        </p:attrNameLst>
                                      </p:cBhvr>
                                      <p:to>
                                        <p:strVal val="visible"/>
                                      </p:to>
                                    </p:set>
                                    <p:animEffect transition="in" filter="dissolve">
                                      <p:cBhvr>
                                        <p:cTn id="22" dur="500"/>
                                        <p:tgtEl>
                                          <p:spTgt spid="7273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72738"/>
                                        </p:tgtEl>
                                        <p:attrNameLst>
                                          <p:attrName>style.visibility</p:attrName>
                                        </p:attrNameLst>
                                      </p:cBhvr>
                                      <p:to>
                                        <p:strVal val="visible"/>
                                      </p:to>
                                    </p:set>
                                    <p:animEffect transition="in" filter="dissolve">
                                      <p:cBhvr>
                                        <p:cTn id="27" dur="500"/>
                                        <p:tgtEl>
                                          <p:spTgt spid="72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30" grpId="0" build="p"/>
      <p:bldP spid="7273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81000" y="304800"/>
            <a:ext cx="8458200" cy="676275"/>
          </a:xfrm>
        </p:spPr>
        <p:txBody>
          <a:bodyPr/>
          <a:lstStyle/>
          <a:p>
            <a:pPr eaLnBrk="1" hangingPunct="1"/>
            <a:r>
              <a:rPr lang="en-US" altLang="zh-CN" smtClean="0"/>
              <a:t>CPU</a:t>
            </a:r>
            <a:r>
              <a:rPr lang="zh-CN" altLang="en-US" smtClean="0"/>
              <a:t>调度应综合考虑 </a:t>
            </a:r>
            <a:r>
              <a:rPr lang="zh-CN" altLang="en-US" smtClean="0">
                <a:sym typeface="Symbol" panose="05050102010706020507" pitchFamily="18" charset="2"/>
              </a:rPr>
              <a:t> 任务特点</a:t>
            </a:r>
            <a:r>
              <a:rPr lang="en-US" altLang="zh-CN" smtClean="0">
                <a:sym typeface="Symbol" panose="05050102010706020507" pitchFamily="18" charset="2"/>
              </a:rPr>
              <a:t>(</a:t>
            </a:r>
            <a:r>
              <a:rPr lang="zh-CN" altLang="en-US" smtClean="0">
                <a:sym typeface="Symbol" panose="05050102010706020507" pitchFamily="18" charset="2"/>
              </a:rPr>
              <a:t>续</a:t>
            </a:r>
            <a:r>
              <a:rPr lang="en-US" altLang="zh-CN" smtClean="0">
                <a:sym typeface="Symbol" panose="05050102010706020507" pitchFamily="18" charset="2"/>
              </a:rPr>
              <a:t>)</a:t>
            </a:r>
            <a:endParaRPr lang="zh-CN" altLang="zh-CN" smtClean="0">
              <a:sym typeface="Symbol" panose="05050102010706020507" pitchFamily="18" charset="2"/>
            </a:endParaRPr>
          </a:p>
        </p:txBody>
      </p:sp>
      <p:sp>
        <p:nvSpPr>
          <p:cNvPr id="23555" name="Rectangle 3"/>
          <p:cNvSpPr>
            <a:spLocks noGrp="1" noChangeArrowheads="1"/>
          </p:cNvSpPr>
          <p:nvPr>
            <p:ph type="body" idx="1"/>
          </p:nvPr>
        </p:nvSpPr>
        <p:spPr>
          <a:xfrm>
            <a:off x="685800" y="1192213"/>
            <a:ext cx="7921625" cy="865187"/>
          </a:xfrm>
          <a:noFill/>
        </p:spPr>
        <p:txBody>
          <a:bodyPr/>
          <a:lstStyle/>
          <a:p>
            <a:pPr eaLnBrk="1" hangingPunct="1">
              <a:lnSpc>
                <a:spcPct val="130000"/>
              </a:lnSpc>
            </a:pPr>
            <a:r>
              <a:rPr lang="zh-CN" altLang="en-US" smtClean="0"/>
              <a:t>任务的</a:t>
            </a:r>
            <a:r>
              <a:rPr lang="en-US" altLang="zh-CN" smtClean="0"/>
              <a:t>CPU-IO</a:t>
            </a:r>
            <a:r>
              <a:rPr lang="zh-CN" altLang="en-US" smtClean="0"/>
              <a:t>区间的周期特性</a:t>
            </a:r>
          </a:p>
        </p:txBody>
      </p:sp>
      <p:grpSp>
        <p:nvGrpSpPr>
          <p:cNvPr id="186377" name="Group 9"/>
          <p:cNvGrpSpPr>
            <a:grpSpLocks/>
          </p:cNvGrpSpPr>
          <p:nvPr/>
        </p:nvGrpSpPr>
        <p:grpSpPr bwMode="auto">
          <a:xfrm>
            <a:off x="906463" y="1835150"/>
            <a:ext cx="8237537" cy="546100"/>
            <a:chOff x="571" y="1632"/>
            <a:chExt cx="5189" cy="344"/>
          </a:xfrm>
        </p:grpSpPr>
        <p:sp>
          <p:nvSpPr>
            <p:cNvPr id="23606" name="Rectangle 7"/>
            <p:cNvSpPr>
              <a:spLocks noChangeArrowheads="1"/>
            </p:cNvSpPr>
            <p:nvPr/>
          </p:nvSpPr>
          <p:spPr bwMode="auto">
            <a:xfrm>
              <a:off x="571" y="1632"/>
              <a:ext cx="5189"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一般任务生存期</a:t>
              </a:r>
              <a:r>
                <a:rPr lang="en-US" altLang="zh-CN" sz="2400"/>
                <a:t>: I/O(</a:t>
              </a:r>
              <a:r>
                <a:rPr lang="zh-CN" altLang="en-US" sz="2400"/>
                <a:t>载入</a:t>
              </a:r>
              <a:r>
                <a:rPr lang="en-US" altLang="zh-CN" sz="2400"/>
                <a:t>), CPU, I/O, .., CPU (exit())</a:t>
              </a:r>
            </a:p>
          </p:txBody>
        </p:sp>
        <p:pic>
          <p:nvPicPr>
            <p:cNvPr id="23607" name="Picture 8"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788"/>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6400" name="Group 32"/>
          <p:cNvGrpSpPr>
            <a:grpSpLocks/>
          </p:cNvGrpSpPr>
          <p:nvPr/>
        </p:nvGrpSpPr>
        <p:grpSpPr bwMode="auto">
          <a:xfrm>
            <a:off x="1143000" y="2514600"/>
            <a:ext cx="7258050" cy="1895475"/>
            <a:chOff x="1132" y="1584"/>
            <a:chExt cx="4572" cy="1194"/>
          </a:xfrm>
        </p:grpSpPr>
        <p:sp>
          <p:nvSpPr>
            <p:cNvPr id="23589" name="Line 11"/>
            <p:cNvSpPr>
              <a:spLocks noChangeShapeType="1"/>
            </p:cNvSpPr>
            <p:nvPr/>
          </p:nvSpPr>
          <p:spPr bwMode="auto">
            <a:xfrm>
              <a:off x="1248" y="2496"/>
              <a:ext cx="408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90" name="Line 12"/>
            <p:cNvSpPr>
              <a:spLocks noChangeShapeType="1"/>
            </p:cNvSpPr>
            <p:nvPr/>
          </p:nvSpPr>
          <p:spPr bwMode="auto">
            <a:xfrm flipV="1">
              <a:off x="1440" y="1584"/>
              <a:ext cx="0" cy="105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91" name="Rectangle 13"/>
            <p:cNvSpPr>
              <a:spLocks noChangeArrowheads="1"/>
            </p:cNvSpPr>
            <p:nvPr/>
          </p:nvSpPr>
          <p:spPr bwMode="auto">
            <a:xfrm>
              <a:off x="4272" y="2528"/>
              <a:ext cx="14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CPU</a:t>
              </a:r>
              <a:r>
                <a:rPr lang="zh-CN" altLang="en-US" sz="2000">
                  <a:solidFill>
                    <a:srgbClr val="FF0000"/>
                  </a:solidFill>
                </a:rPr>
                <a:t>区间长度</a:t>
              </a:r>
              <a:r>
                <a:rPr lang="en-US" altLang="zh-CN" sz="2000">
                  <a:solidFill>
                    <a:srgbClr val="FF0000"/>
                  </a:solidFill>
                </a:rPr>
                <a:t>(ms)</a:t>
              </a:r>
            </a:p>
          </p:txBody>
        </p:sp>
        <p:sp>
          <p:nvSpPr>
            <p:cNvPr id="23592" name="Line 14"/>
            <p:cNvSpPr>
              <a:spLocks noChangeShapeType="1"/>
            </p:cNvSpPr>
            <p:nvPr/>
          </p:nvSpPr>
          <p:spPr bwMode="auto">
            <a:xfrm flipV="1">
              <a:off x="1968" y="2448"/>
              <a:ext cx="0"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93" name="Line 15"/>
            <p:cNvSpPr>
              <a:spLocks noChangeShapeType="1"/>
            </p:cNvSpPr>
            <p:nvPr/>
          </p:nvSpPr>
          <p:spPr bwMode="auto">
            <a:xfrm flipV="1">
              <a:off x="2544" y="2448"/>
              <a:ext cx="0"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94" name="Line 16"/>
            <p:cNvSpPr>
              <a:spLocks noChangeShapeType="1"/>
            </p:cNvSpPr>
            <p:nvPr/>
          </p:nvSpPr>
          <p:spPr bwMode="auto">
            <a:xfrm flipV="1">
              <a:off x="3072" y="2448"/>
              <a:ext cx="0"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95" name="Line 17"/>
            <p:cNvSpPr>
              <a:spLocks noChangeShapeType="1"/>
            </p:cNvSpPr>
            <p:nvPr/>
          </p:nvSpPr>
          <p:spPr bwMode="auto">
            <a:xfrm flipV="1">
              <a:off x="3600" y="2448"/>
              <a:ext cx="0"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96" name="Line 18"/>
            <p:cNvSpPr>
              <a:spLocks noChangeShapeType="1"/>
            </p:cNvSpPr>
            <p:nvPr/>
          </p:nvSpPr>
          <p:spPr bwMode="auto">
            <a:xfrm flipV="1">
              <a:off x="4128" y="2448"/>
              <a:ext cx="0"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97" name="Line 19"/>
            <p:cNvSpPr>
              <a:spLocks noChangeShapeType="1"/>
            </p:cNvSpPr>
            <p:nvPr/>
          </p:nvSpPr>
          <p:spPr bwMode="auto">
            <a:xfrm flipV="1">
              <a:off x="4704" y="2448"/>
              <a:ext cx="0"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98" name="Text Box 22"/>
            <p:cNvSpPr txBox="1">
              <a:spLocks noChangeArrowheads="1"/>
            </p:cNvSpPr>
            <p:nvPr/>
          </p:nvSpPr>
          <p:spPr bwMode="auto">
            <a:xfrm>
              <a:off x="1132" y="1584"/>
              <a:ext cx="308"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000">
                  <a:solidFill>
                    <a:srgbClr val="FF0000"/>
                  </a:solidFill>
                </a:rPr>
                <a:t>频率</a:t>
              </a:r>
            </a:p>
          </p:txBody>
        </p:sp>
        <p:sp>
          <p:nvSpPr>
            <p:cNvPr id="23599" name="Rectangle 23"/>
            <p:cNvSpPr>
              <a:spLocks noChangeArrowheads="1"/>
            </p:cNvSpPr>
            <p:nvPr/>
          </p:nvSpPr>
          <p:spPr bwMode="auto">
            <a:xfrm>
              <a:off x="2112" y="1584"/>
              <a:ext cx="288" cy="912"/>
            </a:xfrm>
            <a:prstGeom prst="rect">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3600" name="Rectangle 24"/>
            <p:cNvSpPr>
              <a:spLocks noChangeArrowheads="1"/>
            </p:cNvSpPr>
            <p:nvPr/>
          </p:nvSpPr>
          <p:spPr bwMode="auto">
            <a:xfrm>
              <a:off x="1554" y="2400"/>
              <a:ext cx="288" cy="96"/>
            </a:xfrm>
            <a:prstGeom prst="rect">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3601" name="Rectangle 25"/>
            <p:cNvSpPr>
              <a:spLocks noChangeArrowheads="1"/>
            </p:cNvSpPr>
            <p:nvPr/>
          </p:nvSpPr>
          <p:spPr bwMode="auto">
            <a:xfrm>
              <a:off x="2670" y="2112"/>
              <a:ext cx="288" cy="384"/>
            </a:xfrm>
            <a:prstGeom prst="rect">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3602" name="Rectangle 26"/>
            <p:cNvSpPr>
              <a:spLocks noChangeArrowheads="1"/>
            </p:cNvSpPr>
            <p:nvPr/>
          </p:nvSpPr>
          <p:spPr bwMode="auto">
            <a:xfrm>
              <a:off x="3186" y="2304"/>
              <a:ext cx="288" cy="192"/>
            </a:xfrm>
            <a:prstGeom prst="rect">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3603" name="Rectangle 27"/>
            <p:cNvSpPr>
              <a:spLocks noChangeArrowheads="1"/>
            </p:cNvSpPr>
            <p:nvPr/>
          </p:nvSpPr>
          <p:spPr bwMode="auto">
            <a:xfrm>
              <a:off x="3723" y="2400"/>
              <a:ext cx="288" cy="96"/>
            </a:xfrm>
            <a:prstGeom prst="rect">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3604" name="Rectangle 28"/>
            <p:cNvSpPr>
              <a:spLocks noChangeArrowheads="1"/>
            </p:cNvSpPr>
            <p:nvPr/>
          </p:nvSpPr>
          <p:spPr bwMode="auto">
            <a:xfrm>
              <a:off x="4272" y="2448"/>
              <a:ext cx="288" cy="48"/>
            </a:xfrm>
            <a:prstGeom prst="rect">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3605" name="Line 31"/>
            <p:cNvSpPr>
              <a:spLocks noChangeShapeType="1"/>
            </p:cNvSpPr>
            <p:nvPr/>
          </p:nvSpPr>
          <p:spPr bwMode="auto">
            <a:xfrm>
              <a:off x="4848" y="2496"/>
              <a:ext cx="288" cy="0"/>
            </a:xfrm>
            <a:prstGeom prst="line">
              <a:avLst/>
            </a:prstGeom>
            <a:noFill/>
            <a:ln w="28575">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6406" name="Group 38"/>
          <p:cNvGrpSpPr>
            <a:grpSpLocks/>
          </p:cNvGrpSpPr>
          <p:nvPr/>
        </p:nvGrpSpPr>
        <p:grpSpPr bwMode="auto">
          <a:xfrm>
            <a:off x="990600" y="4191000"/>
            <a:ext cx="2446338" cy="546100"/>
            <a:chOff x="528" y="2688"/>
            <a:chExt cx="1541" cy="344"/>
          </a:xfrm>
        </p:grpSpPr>
        <p:sp>
          <p:nvSpPr>
            <p:cNvPr id="23587" name="Rectangle 34"/>
            <p:cNvSpPr>
              <a:spLocks noChangeArrowheads="1"/>
            </p:cNvSpPr>
            <p:nvPr/>
          </p:nvSpPr>
          <p:spPr bwMode="auto">
            <a:xfrm>
              <a:off x="528" y="2688"/>
              <a:ext cx="1541"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en-US" altLang="zh-CN" sz="2400"/>
                <a:t>CPU-</a:t>
              </a:r>
              <a:r>
                <a:rPr lang="zh-CN" altLang="en-US" sz="2400"/>
                <a:t>约束型</a:t>
              </a:r>
            </a:p>
          </p:txBody>
        </p:sp>
        <p:pic>
          <p:nvPicPr>
            <p:cNvPr id="23588" name="Picture 35"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 y="2844"/>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6407" name="Group 39"/>
          <p:cNvGrpSpPr>
            <a:grpSpLocks/>
          </p:cNvGrpSpPr>
          <p:nvPr/>
        </p:nvGrpSpPr>
        <p:grpSpPr bwMode="auto">
          <a:xfrm>
            <a:off x="5068888" y="4191000"/>
            <a:ext cx="2446337" cy="546100"/>
            <a:chOff x="3787" y="2736"/>
            <a:chExt cx="1541" cy="344"/>
          </a:xfrm>
        </p:grpSpPr>
        <p:sp>
          <p:nvSpPr>
            <p:cNvPr id="23585" name="Rectangle 36"/>
            <p:cNvSpPr>
              <a:spLocks noChangeArrowheads="1"/>
            </p:cNvSpPr>
            <p:nvPr/>
          </p:nvSpPr>
          <p:spPr bwMode="auto">
            <a:xfrm>
              <a:off x="3787" y="2736"/>
              <a:ext cx="1541"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en-US" altLang="zh-CN" sz="2400"/>
                <a:t>I/O-</a:t>
              </a:r>
              <a:r>
                <a:rPr lang="zh-CN" altLang="en-US" sz="2400"/>
                <a:t>约束型</a:t>
              </a:r>
            </a:p>
          </p:txBody>
        </p:sp>
        <p:pic>
          <p:nvPicPr>
            <p:cNvPr id="23586" name="Picture 3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 y="289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6438" name="AutoShape 70"/>
          <p:cNvSpPr>
            <a:spLocks/>
          </p:cNvSpPr>
          <p:nvPr/>
        </p:nvSpPr>
        <p:spPr bwMode="auto">
          <a:xfrm>
            <a:off x="6248400" y="2628900"/>
            <a:ext cx="1905000" cy="495300"/>
          </a:xfrm>
          <a:prstGeom prst="borderCallout2">
            <a:avLst>
              <a:gd name="adj1" fmla="val 23079"/>
              <a:gd name="adj2" fmla="val -4000"/>
              <a:gd name="adj3" fmla="val 23079"/>
              <a:gd name="adj4" fmla="val -39333"/>
              <a:gd name="adj5" fmla="val 146153"/>
              <a:gd name="adj6" fmla="val -76000"/>
            </a:avLst>
          </a:prstGeom>
          <a:solidFill>
            <a:schemeClr val="bg1"/>
          </a:solidFill>
          <a:ln w="9525">
            <a:solidFill>
              <a:srgbClr val="FF0000"/>
            </a:solidFill>
            <a:miter lim="800000"/>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a:solidFill>
                  <a:srgbClr val="FF0000"/>
                </a:solidFill>
              </a:rPr>
              <a:t>指数衰减</a:t>
            </a:r>
            <a:r>
              <a:rPr lang="en-US" altLang="zh-CN" sz="2400">
                <a:solidFill>
                  <a:srgbClr val="FF0000"/>
                </a:solidFill>
              </a:rPr>
              <a:t>!</a:t>
            </a:r>
          </a:p>
        </p:txBody>
      </p:sp>
      <p:grpSp>
        <p:nvGrpSpPr>
          <p:cNvPr id="186442" name="Group 74"/>
          <p:cNvGrpSpPr>
            <a:grpSpLocks/>
          </p:cNvGrpSpPr>
          <p:nvPr/>
        </p:nvGrpSpPr>
        <p:grpSpPr bwMode="auto">
          <a:xfrm>
            <a:off x="5137150" y="4800600"/>
            <a:ext cx="3930650" cy="1905000"/>
            <a:chOff x="2900" y="3072"/>
            <a:chExt cx="2476" cy="1200"/>
          </a:xfrm>
        </p:grpSpPr>
        <p:grpSp>
          <p:nvGrpSpPr>
            <p:cNvPr id="23575" name="Group 69"/>
            <p:cNvGrpSpPr>
              <a:grpSpLocks/>
            </p:cNvGrpSpPr>
            <p:nvPr/>
          </p:nvGrpSpPr>
          <p:grpSpPr bwMode="auto">
            <a:xfrm>
              <a:off x="2900" y="3072"/>
              <a:ext cx="2476" cy="1056"/>
              <a:chOff x="3024" y="3072"/>
              <a:chExt cx="2476" cy="1056"/>
            </a:xfrm>
          </p:grpSpPr>
          <p:sp>
            <p:nvSpPr>
              <p:cNvPr id="23577" name="Line 59"/>
              <p:cNvSpPr>
                <a:spLocks noChangeShapeType="1"/>
              </p:cNvSpPr>
              <p:nvPr/>
            </p:nvSpPr>
            <p:spPr bwMode="auto">
              <a:xfrm flipV="1">
                <a:off x="3024" y="3978"/>
                <a:ext cx="2476" cy="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8" name="Line 60"/>
              <p:cNvSpPr>
                <a:spLocks noChangeShapeType="1"/>
              </p:cNvSpPr>
              <p:nvPr/>
            </p:nvSpPr>
            <p:spPr bwMode="auto">
              <a:xfrm flipV="1">
                <a:off x="3216" y="3072"/>
                <a:ext cx="1" cy="105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9" name="Line 61"/>
              <p:cNvSpPr>
                <a:spLocks noChangeShapeType="1"/>
              </p:cNvSpPr>
              <p:nvPr/>
            </p:nvSpPr>
            <p:spPr bwMode="auto">
              <a:xfrm flipV="1">
                <a:off x="3744" y="3936"/>
                <a:ext cx="1"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0" name="Line 62"/>
              <p:cNvSpPr>
                <a:spLocks noChangeShapeType="1"/>
              </p:cNvSpPr>
              <p:nvPr/>
            </p:nvSpPr>
            <p:spPr bwMode="auto">
              <a:xfrm flipV="1">
                <a:off x="4320" y="3936"/>
                <a:ext cx="1"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1" name="Line 63"/>
              <p:cNvSpPr>
                <a:spLocks noChangeShapeType="1"/>
              </p:cNvSpPr>
              <p:nvPr/>
            </p:nvSpPr>
            <p:spPr bwMode="auto">
              <a:xfrm flipV="1">
                <a:off x="4848" y="3936"/>
                <a:ext cx="1"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2" name="Line 64"/>
              <p:cNvSpPr>
                <a:spLocks noChangeShapeType="1"/>
              </p:cNvSpPr>
              <p:nvPr/>
            </p:nvSpPr>
            <p:spPr bwMode="auto">
              <a:xfrm flipV="1">
                <a:off x="5376" y="3936"/>
                <a:ext cx="1"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3" name="Rectangle 65"/>
              <p:cNvSpPr>
                <a:spLocks noChangeArrowheads="1"/>
              </p:cNvSpPr>
              <p:nvPr/>
            </p:nvSpPr>
            <p:spPr bwMode="auto">
              <a:xfrm>
                <a:off x="3360" y="3072"/>
                <a:ext cx="288" cy="912"/>
              </a:xfrm>
              <a:prstGeom prst="rect">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3584" name="Rectangle 66"/>
              <p:cNvSpPr>
                <a:spLocks noChangeArrowheads="1"/>
              </p:cNvSpPr>
              <p:nvPr/>
            </p:nvSpPr>
            <p:spPr bwMode="auto">
              <a:xfrm>
                <a:off x="3888" y="3936"/>
                <a:ext cx="288" cy="48"/>
              </a:xfrm>
              <a:prstGeom prst="rect">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23576" name="Rectangle 71"/>
            <p:cNvSpPr>
              <a:spLocks noChangeArrowheads="1"/>
            </p:cNvSpPr>
            <p:nvPr/>
          </p:nvSpPr>
          <p:spPr bwMode="auto">
            <a:xfrm>
              <a:off x="4608" y="4041"/>
              <a:ext cx="59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solidFill>
                    <a:srgbClr val="FF0000"/>
                  </a:solidFill>
                </a:rPr>
                <a:t>CPU</a:t>
              </a:r>
              <a:r>
                <a:rPr lang="zh-CN" altLang="en-US" sz="1800">
                  <a:solidFill>
                    <a:srgbClr val="FF0000"/>
                  </a:solidFill>
                </a:rPr>
                <a:t>区间</a:t>
              </a:r>
            </a:p>
          </p:txBody>
        </p:sp>
      </p:grpSp>
      <p:grpSp>
        <p:nvGrpSpPr>
          <p:cNvPr id="186443" name="Group 75"/>
          <p:cNvGrpSpPr>
            <a:grpSpLocks/>
          </p:cNvGrpSpPr>
          <p:nvPr/>
        </p:nvGrpSpPr>
        <p:grpSpPr bwMode="auto">
          <a:xfrm>
            <a:off x="1066800" y="4800600"/>
            <a:ext cx="3930650" cy="1905000"/>
            <a:chOff x="336" y="3072"/>
            <a:chExt cx="2476" cy="1200"/>
          </a:xfrm>
        </p:grpSpPr>
        <p:grpSp>
          <p:nvGrpSpPr>
            <p:cNvPr id="23563" name="Group 58"/>
            <p:cNvGrpSpPr>
              <a:grpSpLocks/>
            </p:cNvGrpSpPr>
            <p:nvPr/>
          </p:nvGrpSpPr>
          <p:grpSpPr bwMode="auto">
            <a:xfrm>
              <a:off x="336" y="3072"/>
              <a:ext cx="2476" cy="1062"/>
              <a:chOff x="788" y="3120"/>
              <a:chExt cx="2476" cy="1062"/>
            </a:xfrm>
          </p:grpSpPr>
          <p:sp>
            <p:nvSpPr>
              <p:cNvPr id="23565" name="Line 41"/>
              <p:cNvSpPr>
                <a:spLocks noChangeShapeType="1"/>
              </p:cNvSpPr>
              <p:nvPr/>
            </p:nvSpPr>
            <p:spPr bwMode="auto">
              <a:xfrm flipV="1">
                <a:off x="788" y="4032"/>
                <a:ext cx="2476" cy="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6" name="Line 42"/>
              <p:cNvSpPr>
                <a:spLocks noChangeShapeType="1"/>
              </p:cNvSpPr>
              <p:nvPr/>
            </p:nvSpPr>
            <p:spPr bwMode="auto">
              <a:xfrm flipV="1">
                <a:off x="980" y="3126"/>
                <a:ext cx="0" cy="105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7" name="Line 44"/>
              <p:cNvSpPr>
                <a:spLocks noChangeShapeType="1"/>
              </p:cNvSpPr>
              <p:nvPr/>
            </p:nvSpPr>
            <p:spPr bwMode="auto">
              <a:xfrm flipV="1">
                <a:off x="1508" y="3990"/>
                <a:ext cx="0"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8" name="Line 45"/>
              <p:cNvSpPr>
                <a:spLocks noChangeShapeType="1"/>
              </p:cNvSpPr>
              <p:nvPr/>
            </p:nvSpPr>
            <p:spPr bwMode="auto">
              <a:xfrm flipV="1">
                <a:off x="2084" y="3990"/>
                <a:ext cx="0"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9" name="Line 46"/>
              <p:cNvSpPr>
                <a:spLocks noChangeShapeType="1"/>
              </p:cNvSpPr>
              <p:nvPr/>
            </p:nvSpPr>
            <p:spPr bwMode="auto">
              <a:xfrm flipV="1">
                <a:off x="2612" y="3990"/>
                <a:ext cx="0"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0" name="Line 47"/>
              <p:cNvSpPr>
                <a:spLocks noChangeShapeType="1"/>
              </p:cNvSpPr>
              <p:nvPr/>
            </p:nvSpPr>
            <p:spPr bwMode="auto">
              <a:xfrm flipV="1">
                <a:off x="3140" y="3990"/>
                <a:ext cx="0" cy="9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1" name="Rectangle 51"/>
              <p:cNvSpPr>
                <a:spLocks noChangeArrowheads="1"/>
              </p:cNvSpPr>
              <p:nvPr/>
            </p:nvSpPr>
            <p:spPr bwMode="auto">
              <a:xfrm>
                <a:off x="2736" y="3120"/>
                <a:ext cx="288" cy="912"/>
              </a:xfrm>
              <a:prstGeom prst="rect">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3572" name="Rectangle 52"/>
              <p:cNvSpPr>
                <a:spLocks noChangeArrowheads="1"/>
              </p:cNvSpPr>
              <p:nvPr/>
            </p:nvSpPr>
            <p:spPr bwMode="auto">
              <a:xfrm>
                <a:off x="1094" y="3942"/>
                <a:ext cx="288" cy="96"/>
              </a:xfrm>
              <a:prstGeom prst="rect">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3573" name="Rectangle 54"/>
              <p:cNvSpPr>
                <a:spLocks noChangeArrowheads="1"/>
              </p:cNvSpPr>
              <p:nvPr/>
            </p:nvSpPr>
            <p:spPr bwMode="auto">
              <a:xfrm>
                <a:off x="2208" y="3846"/>
                <a:ext cx="288" cy="192"/>
              </a:xfrm>
              <a:prstGeom prst="rect">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3574" name="Rectangle 55"/>
              <p:cNvSpPr>
                <a:spLocks noChangeArrowheads="1"/>
              </p:cNvSpPr>
              <p:nvPr/>
            </p:nvSpPr>
            <p:spPr bwMode="auto">
              <a:xfrm>
                <a:off x="1584" y="3936"/>
                <a:ext cx="288" cy="96"/>
              </a:xfrm>
              <a:prstGeom prst="rect">
                <a:avLst/>
              </a:prstGeom>
              <a:solidFill>
                <a:srgbClr val="3399FF"/>
              </a:solidFill>
              <a:ln w="9525">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23564" name="Rectangle 73"/>
            <p:cNvSpPr>
              <a:spLocks noChangeArrowheads="1"/>
            </p:cNvSpPr>
            <p:nvPr/>
          </p:nvSpPr>
          <p:spPr bwMode="auto">
            <a:xfrm>
              <a:off x="2016" y="4041"/>
              <a:ext cx="59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solidFill>
                    <a:srgbClr val="FF0000"/>
                  </a:solidFill>
                </a:rPr>
                <a:t>CPU</a:t>
              </a:r>
              <a:r>
                <a:rPr lang="zh-CN" altLang="en-US" sz="1800">
                  <a:solidFill>
                    <a:srgbClr val="FF0000"/>
                  </a:solidFill>
                </a:rPr>
                <a:t>区间</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86377"/>
                                        </p:tgtEl>
                                        <p:attrNameLst>
                                          <p:attrName>style.visibility</p:attrName>
                                        </p:attrNameLst>
                                      </p:cBhvr>
                                      <p:to>
                                        <p:strVal val="visible"/>
                                      </p:to>
                                    </p:set>
                                    <p:animEffect transition="in" filter="dissolve">
                                      <p:cBhvr>
                                        <p:cTn id="7" dur="500"/>
                                        <p:tgtEl>
                                          <p:spTgt spid="1863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86400"/>
                                        </p:tgtEl>
                                        <p:attrNameLst>
                                          <p:attrName>style.visibility</p:attrName>
                                        </p:attrNameLst>
                                      </p:cBhvr>
                                      <p:to>
                                        <p:strVal val="visible"/>
                                      </p:to>
                                    </p:set>
                                    <p:animEffect transition="in" filter="dissolve">
                                      <p:cBhvr>
                                        <p:cTn id="12" dur="500"/>
                                        <p:tgtEl>
                                          <p:spTgt spid="1864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6438"/>
                                        </p:tgtEl>
                                        <p:attrNameLst>
                                          <p:attrName>style.visibility</p:attrName>
                                        </p:attrNameLst>
                                      </p:cBhvr>
                                      <p:to>
                                        <p:strVal val="visible"/>
                                      </p:to>
                                    </p:set>
                                    <p:animEffect transition="in" filter="dissolve">
                                      <p:cBhvr>
                                        <p:cTn id="17" dur="500"/>
                                        <p:tgtEl>
                                          <p:spTgt spid="1864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86406"/>
                                        </p:tgtEl>
                                        <p:attrNameLst>
                                          <p:attrName>style.visibility</p:attrName>
                                        </p:attrNameLst>
                                      </p:cBhvr>
                                      <p:to>
                                        <p:strVal val="visible"/>
                                      </p:to>
                                    </p:set>
                                    <p:animEffect transition="in" filter="dissolve">
                                      <p:cBhvr>
                                        <p:cTn id="22" dur="500"/>
                                        <p:tgtEl>
                                          <p:spTgt spid="1864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86443"/>
                                        </p:tgtEl>
                                        <p:attrNameLst>
                                          <p:attrName>style.visibility</p:attrName>
                                        </p:attrNameLst>
                                      </p:cBhvr>
                                      <p:to>
                                        <p:strVal val="visible"/>
                                      </p:to>
                                    </p:set>
                                    <p:animEffect transition="in" filter="dissolve">
                                      <p:cBhvr>
                                        <p:cTn id="27" dur="500"/>
                                        <p:tgtEl>
                                          <p:spTgt spid="18644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86407"/>
                                        </p:tgtEl>
                                        <p:attrNameLst>
                                          <p:attrName>style.visibility</p:attrName>
                                        </p:attrNameLst>
                                      </p:cBhvr>
                                      <p:to>
                                        <p:strVal val="visible"/>
                                      </p:to>
                                    </p:set>
                                    <p:animEffect transition="in" filter="dissolve">
                                      <p:cBhvr>
                                        <p:cTn id="32" dur="500"/>
                                        <p:tgtEl>
                                          <p:spTgt spid="1864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186442"/>
                                        </p:tgtEl>
                                        <p:attrNameLst>
                                          <p:attrName>style.visibility</p:attrName>
                                        </p:attrNameLst>
                                      </p:cBhvr>
                                      <p:to>
                                        <p:strVal val="visible"/>
                                      </p:to>
                                    </p:set>
                                    <p:animEffect transition="in" filter="dissolve">
                                      <p:cBhvr>
                                        <p:cTn id="37" dur="500"/>
                                        <p:tgtEl>
                                          <p:spTgt spid="186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43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81000" y="304800"/>
            <a:ext cx="8382000" cy="676275"/>
          </a:xfrm>
        </p:spPr>
        <p:txBody>
          <a:bodyPr/>
          <a:lstStyle/>
          <a:p>
            <a:pPr eaLnBrk="1" hangingPunct="1"/>
            <a:r>
              <a:rPr lang="en-US" altLang="zh-CN" smtClean="0"/>
              <a:t>CPU</a:t>
            </a:r>
            <a:r>
              <a:rPr lang="zh-CN" altLang="en-US" smtClean="0"/>
              <a:t>调度应综合考虑 </a:t>
            </a:r>
            <a:r>
              <a:rPr lang="zh-CN" altLang="en-US" smtClean="0">
                <a:sym typeface="Symbol" panose="05050102010706020507" pitchFamily="18" charset="2"/>
              </a:rPr>
              <a:t> 调度算法的实现</a:t>
            </a:r>
            <a:endParaRPr lang="zh-CN" altLang="zh-CN" smtClean="0">
              <a:sym typeface="Symbol" panose="05050102010706020507" pitchFamily="18" charset="2"/>
            </a:endParaRPr>
          </a:p>
        </p:txBody>
      </p:sp>
      <p:sp>
        <p:nvSpPr>
          <p:cNvPr id="188419" name="Rectangle 3"/>
          <p:cNvSpPr>
            <a:spLocks noGrp="1" noChangeArrowheads="1"/>
          </p:cNvSpPr>
          <p:nvPr>
            <p:ph type="body" idx="1"/>
          </p:nvPr>
        </p:nvSpPr>
        <p:spPr>
          <a:xfrm>
            <a:off x="685800" y="1295400"/>
            <a:ext cx="7921625" cy="865188"/>
          </a:xfrm>
          <a:noFill/>
        </p:spPr>
        <p:txBody>
          <a:bodyPr/>
          <a:lstStyle/>
          <a:p>
            <a:pPr eaLnBrk="1" hangingPunct="1">
              <a:lnSpc>
                <a:spcPct val="130000"/>
              </a:lnSpc>
            </a:pPr>
            <a:r>
              <a:rPr lang="zh-CN" altLang="en-US" smtClean="0">
                <a:solidFill>
                  <a:srgbClr val="FF0000"/>
                </a:solidFill>
              </a:rPr>
              <a:t>复杂调度算法 </a:t>
            </a:r>
            <a:r>
              <a:rPr lang="en-US" altLang="zh-CN" smtClean="0">
                <a:solidFill>
                  <a:srgbClr val="FF0000"/>
                </a:solidFill>
              </a:rPr>
              <a:t>vs. </a:t>
            </a:r>
            <a:r>
              <a:rPr lang="zh-CN" altLang="en-US" smtClean="0">
                <a:solidFill>
                  <a:srgbClr val="FF0000"/>
                </a:solidFill>
              </a:rPr>
              <a:t>调度程序执行时间</a:t>
            </a:r>
          </a:p>
        </p:txBody>
      </p:sp>
      <p:grpSp>
        <p:nvGrpSpPr>
          <p:cNvPr id="188421" name="Group 5"/>
          <p:cNvGrpSpPr>
            <a:grpSpLocks/>
          </p:cNvGrpSpPr>
          <p:nvPr/>
        </p:nvGrpSpPr>
        <p:grpSpPr bwMode="auto">
          <a:xfrm>
            <a:off x="906463" y="1981200"/>
            <a:ext cx="6256337" cy="603250"/>
            <a:chOff x="571" y="1684"/>
            <a:chExt cx="3941" cy="380"/>
          </a:xfrm>
        </p:grpSpPr>
        <p:sp>
          <p:nvSpPr>
            <p:cNvPr id="24591" name="Rectangle 6"/>
            <p:cNvSpPr>
              <a:spLocks noChangeArrowheads="1"/>
            </p:cNvSpPr>
            <p:nvPr/>
          </p:nvSpPr>
          <p:spPr bwMode="auto">
            <a:xfrm>
              <a:off x="571" y="1684"/>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兼顾许多特点会造成复杂的调度算法</a:t>
              </a:r>
            </a:p>
          </p:txBody>
        </p:sp>
        <p:pic>
          <p:nvPicPr>
            <p:cNvPr id="24592" name="Picture 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8424" name="Group 8"/>
          <p:cNvGrpSpPr>
            <a:grpSpLocks/>
          </p:cNvGrpSpPr>
          <p:nvPr/>
        </p:nvGrpSpPr>
        <p:grpSpPr bwMode="auto">
          <a:xfrm>
            <a:off x="914400" y="2520950"/>
            <a:ext cx="6256338" cy="603250"/>
            <a:chOff x="576" y="1588"/>
            <a:chExt cx="3941" cy="380"/>
          </a:xfrm>
        </p:grpSpPr>
        <p:sp>
          <p:nvSpPr>
            <p:cNvPr id="24589" name="Rectangle 9"/>
            <p:cNvSpPr>
              <a:spLocks noChangeArrowheads="1"/>
            </p:cNvSpPr>
            <p:nvPr/>
          </p:nvSpPr>
          <p:spPr bwMode="auto">
            <a:xfrm>
              <a:off x="576" y="1588"/>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调度程序执行时间应尽量短</a:t>
              </a:r>
            </a:p>
          </p:txBody>
        </p:sp>
        <p:pic>
          <p:nvPicPr>
            <p:cNvPr id="24590" name="Picture 10"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1758"/>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8442" name="Group 26"/>
          <p:cNvGrpSpPr>
            <a:grpSpLocks/>
          </p:cNvGrpSpPr>
          <p:nvPr/>
        </p:nvGrpSpPr>
        <p:grpSpPr bwMode="auto">
          <a:xfrm>
            <a:off x="914400" y="3124200"/>
            <a:ext cx="7924800" cy="603250"/>
            <a:chOff x="576" y="1968"/>
            <a:chExt cx="4992" cy="380"/>
          </a:xfrm>
        </p:grpSpPr>
        <p:sp>
          <p:nvSpPr>
            <p:cNvPr id="24587" name="Rectangle 12"/>
            <p:cNvSpPr>
              <a:spLocks noChangeArrowheads="1"/>
            </p:cNvSpPr>
            <p:nvPr/>
          </p:nvSpPr>
          <p:spPr bwMode="auto">
            <a:xfrm>
              <a:off x="576" y="1968"/>
              <a:ext cx="4992"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就绪队列的数据结构</a:t>
              </a:r>
              <a:r>
                <a:rPr lang="en-US" altLang="zh-CN" sz="2400"/>
                <a:t>: </a:t>
              </a:r>
              <a:r>
                <a:rPr lang="zh-CN" altLang="en-US" sz="2400"/>
                <a:t>队列、多级队列、树、无序链表</a:t>
              </a:r>
              <a:endParaRPr lang="zh-CN" altLang="en-US" sz="2400">
                <a:solidFill>
                  <a:srgbClr val="FF0000"/>
                </a:solidFill>
              </a:endParaRPr>
            </a:p>
          </p:txBody>
        </p:sp>
        <p:pic>
          <p:nvPicPr>
            <p:cNvPr id="24588" name="Picture 13"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2135"/>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8447" name="Group 31"/>
          <p:cNvGrpSpPr>
            <a:grpSpLocks/>
          </p:cNvGrpSpPr>
          <p:nvPr/>
        </p:nvGrpSpPr>
        <p:grpSpPr bwMode="auto">
          <a:xfrm>
            <a:off x="304800" y="4800600"/>
            <a:ext cx="8686800" cy="1355725"/>
            <a:chOff x="144" y="2928"/>
            <a:chExt cx="5472" cy="854"/>
          </a:xfrm>
        </p:grpSpPr>
        <p:sp>
          <p:nvSpPr>
            <p:cNvPr id="24585" name="Text Box 28"/>
            <p:cNvSpPr txBox="1">
              <a:spLocks noChangeArrowheads="1"/>
            </p:cNvSpPr>
            <p:nvPr/>
          </p:nvSpPr>
          <p:spPr bwMode="auto">
            <a:xfrm>
              <a:off x="144" y="3264"/>
              <a:ext cx="4848" cy="518"/>
            </a:xfrm>
            <a:prstGeom prst="rect">
              <a:avLst/>
            </a:prstGeom>
            <a:solidFill>
              <a:srgbClr val="EAEAE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a:solidFill>
                    <a:srgbClr val="000099"/>
                  </a:solidFill>
                </a:rPr>
                <a:t>不可能设计完美的调度算法，只能根据应用的特征</a:t>
              </a:r>
            </a:p>
            <a:p>
              <a:pPr algn="ctr" eaLnBrk="1" hangingPunct="1">
                <a:spcBef>
                  <a:spcPct val="0"/>
                </a:spcBef>
                <a:buClrTx/>
                <a:buSzTx/>
                <a:buFontTx/>
                <a:buNone/>
              </a:pPr>
              <a:r>
                <a:rPr lang="zh-CN" altLang="en-US" sz="2400">
                  <a:solidFill>
                    <a:srgbClr val="000099"/>
                  </a:solidFill>
                </a:rPr>
                <a:t>进行折中权衡。这是操作系统等复杂系统的设计精髓</a:t>
              </a:r>
              <a:r>
                <a:rPr lang="en-US" altLang="zh-CN" sz="2400">
                  <a:solidFill>
                    <a:srgbClr val="000099"/>
                  </a:solidFill>
                </a:rPr>
                <a:t>!</a:t>
              </a:r>
            </a:p>
          </p:txBody>
        </p:sp>
        <p:pic>
          <p:nvPicPr>
            <p:cNvPr id="24586" name="Picture 29" descr="j03012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4" y="2928"/>
              <a:ext cx="912"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88446" name="Rectangle 30"/>
          <p:cNvSpPr>
            <a:spLocks noChangeArrowheads="1"/>
          </p:cNvSpPr>
          <p:nvPr/>
        </p:nvSpPr>
        <p:spPr bwMode="auto">
          <a:xfrm>
            <a:off x="685800" y="42402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a:solidFill>
                  <a:srgbClr val="FF0000"/>
                </a:solidFill>
              </a:rPr>
              <a:t>CPU</a:t>
            </a:r>
            <a:r>
              <a:rPr lang="zh-CN" altLang="en-US">
                <a:solidFill>
                  <a:srgbClr val="FF0000"/>
                </a:solidFill>
              </a:rPr>
              <a:t>调度应综合考虑</a:t>
            </a:r>
            <a:r>
              <a:rPr lang="en-US" altLang="zh-CN">
                <a:solidFill>
                  <a:srgbClr val="FF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8419">
                                            <p:txEl>
                                              <p:pRg st="0" end="0"/>
                                            </p:txEl>
                                          </p:spTgt>
                                        </p:tgtEl>
                                        <p:attrNameLst>
                                          <p:attrName>style.visibility</p:attrName>
                                        </p:attrNameLst>
                                      </p:cBhvr>
                                      <p:to>
                                        <p:strVal val="visible"/>
                                      </p:to>
                                    </p:set>
                                    <p:animEffect transition="in" filter="dissolve">
                                      <p:cBhvr>
                                        <p:cTn id="7" dur="500"/>
                                        <p:tgtEl>
                                          <p:spTgt spid="1884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88421"/>
                                        </p:tgtEl>
                                        <p:attrNameLst>
                                          <p:attrName>style.visibility</p:attrName>
                                        </p:attrNameLst>
                                      </p:cBhvr>
                                      <p:to>
                                        <p:strVal val="visible"/>
                                      </p:to>
                                    </p:set>
                                    <p:animEffect transition="in" filter="dissolve">
                                      <p:cBhvr>
                                        <p:cTn id="12" dur="500"/>
                                        <p:tgtEl>
                                          <p:spTgt spid="1884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88424"/>
                                        </p:tgtEl>
                                        <p:attrNameLst>
                                          <p:attrName>style.visibility</p:attrName>
                                        </p:attrNameLst>
                                      </p:cBhvr>
                                      <p:to>
                                        <p:strVal val="visible"/>
                                      </p:to>
                                    </p:set>
                                    <p:animEffect transition="in" filter="dissolve">
                                      <p:cBhvr>
                                        <p:cTn id="17" dur="500"/>
                                        <p:tgtEl>
                                          <p:spTgt spid="1884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88442"/>
                                        </p:tgtEl>
                                        <p:attrNameLst>
                                          <p:attrName>style.visibility</p:attrName>
                                        </p:attrNameLst>
                                      </p:cBhvr>
                                      <p:to>
                                        <p:strVal val="visible"/>
                                      </p:to>
                                    </p:set>
                                    <p:animEffect transition="in" filter="dissolve">
                                      <p:cBhvr>
                                        <p:cTn id="22" dur="500"/>
                                        <p:tgtEl>
                                          <p:spTgt spid="1884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8446">
                                            <p:txEl>
                                              <p:pRg st="0" end="0"/>
                                            </p:txEl>
                                          </p:spTgt>
                                        </p:tgtEl>
                                        <p:attrNameLst>
                                          <p:attrName>style.visibility</p:attrName>
                                        </p:attrNameLst>
                                      </p:cBhvr>
                                      <p:to>
                                        <p:strVal val="visible"/>
                                      </p:to>
                                    </p:set>
                                    <p:animEffect transition="in" filter="dissolve">
                                      <p:cBhvr>
                                        <p:cTn id="27" dur="500"/>
                                        <p:tgtEl>
                                          <p:spTgt spid="188446">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88447"/>
                                        </p:tgtEl>
                                        <p:attrNameLst>
                                          <p:attrName>style.visibility</p:attrName>
                                        </p:attrNameLst>
                                      </p:cBhvr>
                                      <p:to>
                                        <p:strVal val="visible"/>
                                      </p:to>
                                    </p:set>
                                    <p:animEffect transition="in" filter="dissolve">
                                      <p:cBhvr>
                                        <p:cTn id="32" dur="500"/>
                                        <p:tgtEl>
                                          <p:spTgt spid="188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build="p"/>
      <p:bldP spid="18844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ChangeArrowheads="1"/>
          </p:cNvSpPr>
          <p:nvPr/>
        </p:nvSpPr>
        <p:spPr bwMode="auto">
          <a:xfrm>
            <a:off x="1371600" y="1371600"/>
            <a:ext cx="6705600" cy="419100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en-US" altLang="zh-CN">
                <a:solidFill>
                  <a:srgbClr val="FF0000"/>
                </a:solidFill>
                <a:latin typeface="Arial Black" panose="020B0A04020102020204" pitchFamily="34" charset="0"/>
                <a:ea typeface="黑体" panose="02010609060101010101" pitchFamily="49" charset="-122"/>
              </a:rPr>
              <a:t>CPU</a:t>
            </a:r>
            <a:r>
              <a:rPr lang="zh-CN" altLang="en-US">
                <a:solidFill>
                  <a:srgbClr val="FF0000"/>
                </a:solidFill>
                <a:latin typeface="Arial Black" panose="020B0A04020102020204" pitchFamily="34" charset="0"/>
                <a:ea typeface="黑体" panose="02010609060101010101" pitchFamily="49" charset="-122"/>
              </a:rPr>
              <a:t>调度算法</a:t>
            </a:r>
            <a:r>
              <a:rPr lang="zh-CN" altLang="en-US">
                <a:latin typeface="Arial Black" panose="020B0A04020102020204" pitchFamily="34" charset="0"/>
                <a:ea typeface="黑体" panose="02010609060101010101" pitchFamily="49" charset="-122"/>
              </a:rPr>
              <a:t/>
            </a:r>
            <a:br>
              <a:rPr lang="zh-CN" altLang="en-US">
                <a:latin typeface="Arial Black" panose="020B0A04020102020204" pitchFamily="34" charset="0"/>
                <a:ea typeface="黑体" panose="02010609060101010101" pitchFamily="49" charset="-122"/>
              </a:rPr>
            </a:br>
            <a:r>
              <a:rPr lang="zh-CN" altLang="en-US">
                <a:latin typeface="Arial Black" panose="020B0A04020102020204" pitchFamily="34" charset="0"/>
                <a:ea typeface="黑体" panose="02010609060101010101" pitchFamily="49" charset="-122"/>
              </a:rPr>
              <a:t>    </a:t>
            </a:r>
            <a:r>
              <a:rPr lang="zh-CN" altLang="en-US" sz="2400">
                <a:latin typeface="Arial Black" panose="020B0A04020102020204" pitchFamily="34" charset="0"/>
                <a:ea typeface="黑体" panose="02010609060101010101" pitchFamily="49" charset="-122"/>
              </a:rPr>
              <a:t>（</a:t>
            </a:r>
            <a:r>
              <a:rPr lang="en-US" altLang="zh-CN" sz="2400">
                <a:latin typeface="Arial Black" panose="020B0A04020102020204" pitchFamily="34" charset="0"/>
                <a:ea typeface="黑体" panose="02010609060101010101" pitchFamily="49" charset="-122"/>
              </a:rPr>
              <a:t>1</a:t>
            </a:r>
            <a:r>
              <a:rPr lang="zh-CN" altLang="en-US" sz="2400">
                <a:latin typeface="Arial Black" panose="020B0A04020102020204" pitchFamily="34" charset="0"/>
                <a:ea typeface="黑体" panose="02010609060101010101" pitchFamily="49" charset="-122"/>
              </a:rPr>
              <a:t>）先到先服务调度 </a:t>
            </a:r>
            <a:r>
              <a:rPr lang="en-US" altLang="zh-CN" sz="2400">
                <a:latin typeface="Arial Black" panose="020B0A04020102020204" pitchFamily="34" charset="0"/>
                <a:ea typeface="黑体" panose="02010609060101010101" pitchFamily="49" charset="-122"/>
              </a:rPr>
              <a:t>FCFS</a:t>
            </a:r>
            <a:br>
              <a:rPr lang="en-US" altLang="zh-CN" sz="2400">
                <a:latin typeface="Arial Black" panose="020B0A04020102020204" pitchFamily="34" charset="0"/>
                <a:ea typeface="黑体" panose="02010609060101010101" pitchFamily="49" charset="-122"/>
              </a:rPr>
            </a:br>
            <a:r>
              <a:rPr lang="en-US" altLang="zh-CN" sz="2400">
                <a:latin typeface="Arial Black" panose="020B0A04020102020204" pitchFamily="34" charset="0"/>
                <a:ea typeface="黑体" panose="02010609060101010101" pitchFamily="49" charset="-122"/>
              </a:rPr>
              <a:t>     </a:t>
            </a:r>
            <a:r>
              <a:rPr lang="zh-CN" altLang="en-US" sz="2400">
                <a:latin typeface="Arial Black" panose="020B0A04020102020204" pitchFamily="34" charset="0"/>
                <a:ea typeface="黑体" panose="02010609060101010101" pitchFamily="49" charset="-122"/>
              </a:rPr>
              <a:t>（</a:t>
            </a:r>
            <a:r>
              <a:rPr lang="en-US" altLang="zh-CN" sz="2400">
                <a:latin typeface="Arial Black" panose="020B0A04020102020204" pitchFamily="34" charset="0"/>
                <a:ea typeface="黑体" panose="02010609060101010101" pitchFamily="49" charset="-122"/>
              </a:rPr>
              <a:t>2</a:t>
            </a:r>
            <a:r>
              <a:rPr lang="zh-CN" altLang="en-US" sz="2400">
                <a:latin typeface="Arial Black" panose="020B0A04020102020204" pitchFamily="34" charset="0"/>
                <a:ea typeface="黑体" panose="02010609060101010101" pitchFamily="49" charset="-122"/>
              </a:rPr>
              <a:t>）最短作业优先调度 </a:t>
            </a:r>
            <a:r>
              <a:rPr lang="en-US" altLang="zh-CN" sz="2400">
                <a:latin typeface="Arial Black" panose="020B0A04020102020204" pitchFamily="34" charset="0"/>
                <a:ea typeface="黑体" panose="02010609060101010101" pitchFamily="49" charset="-122"/>
              </a:rPr>
              <a:t>SJF</a:t>
            </a:r>
            <a:br>
              <a:rPr lang="en-US" altLang="zh-CN" sz="2400">
                <a:latin typeface="Arial Black" panose="020B0A04020102020204" pitchFamily="34" charset="0"/>
                <a:ea typeface="黑体" panose="02010609060101010101" pitchFamily="49" charset="-122"/>
              </a:rPr>
            </a:br>
            <a:r>
              <a:rPr lang="en-US" altLang="zh-CN" sz="2400">
                <a:latin typeface="Arial Black" panose="020B0A04020102020204" pitchFamily="34" charset="0"/>
                <a:ea typeface="黑体" panose="02010609060101010101" pitchFamily="49" charset="-122"/>
              </a:rPr>
              <a:t>     </a:t>
            </a:r>
            <a:r>
              <a:rPr lang="zh-CN" altLang="en-US" sz="2400">
                <a:latin typeface="Arial Black" panose="020B0A04020102020204" pitchFamily="34" charset="0"/>
                <a:ea typeface="黑体" panose="02010609060101010101" pitchFamily="49" charset="-122"/>
              </a:rPr>
              <a:t>（</a:t>
            </a:r>
            <a:r>
              <a:rPr lang="en-US" altLang="zh-CN" sz="2400">
                <a:latin typeface="Arial Black" panose="020B0A04020102020204" pitchFamily="34" charset="0"/>
                <a:ea typeface="黑体" panose="02010609060101010101" pitchFamily="49" charset="-122"/>
              </a:rPr>
              <a:t>3</a:t>
            </a:r>
            <a:r>
              <a:rPr lang="zh-CN" altLang="en-US" sz="2400">
                <a:latin typeface="Arial Black" panose="020B0A04020102020204" pitchFamily="34" charset="0"/>
                <a:ea typeface="黑体" panose="02010609060101010101" pitchFamily="49" charset="-122"/>
              </a:rPr>
              <a:t>）优先级调度 </a:t>
            </a:r>
            <a:br>
              <a:rPr lang="zh-CN" altLang="en-US" sz="2400">
                <a:latin typeface="Arial Black" panose="020B0A04020102020204" pitchFamily="34" charset="0"/>
                <a:ea typeface="黑体" panose="02010609060101010101" pitchFamily="49" charset="-122"/>
              </a:rPr>
            </a:br>
            <a:r>
              <a:rPr lang="zh-CN" altLang="en-US" sz="2400">
                <a:latin typeface="Arial Black" panose="020B0A04020102020204" pitchFamily="34" charset="0"/>
                <a:ea typeface="黑体" panose="02010609060101010101" pitchFamily="49" charset="-122"/>
              </a:rPr>
              <a:t>     （</a:t>
            </a:r>
            <a:r>
              <a:rPr lang="en-US" altLang="zh-CN" sz="2400">
                <a:latin typeface="Arial Black" panose="020B0A04020102020204" pitchFamily="34" charset="0"/>
                <a:ea typeface="黑体" panose="02010609060101010101" pitchFamily="49" charset="-122"/>
              </a:rPr>
              <a:t>4</a:t>
            </a:r>
            <a:r>
              <a:rPr lang="zh-CN" altLang="en-US" sz="2400">
                <a:latin typeface="Arial Black" panose="020B0A04020102020204" pitchFamily="34" charset="0"/>
                <a:ea typeface="黑体" panose="02010609060101010101" pitchFamily="49" charset="-122"/>
              </a:rPr>
              <a:t>）转轮法调度 </a:t>
            </a:r>
            <a:r>
              <a:rPr lang="en-US" altLang="zh-CN" sz="2400">
                <a:latin typeface="Arial Black" panose="020B0A04020102020204" pitchFamily="34" charset="0"/>
                <a:ea typeface="黑体" panose="02010609060101010101" pitchFamily="49" charset="-122"/>
              </a:rPr>
              <a:t>RR</a:t>
            </a:r>
            <a:br>
              <a:rPr lang="en-US" altLang="zh-CN" sz="2400">
                <a:latin typeface="Arial Black" panose="020B0A04020102020204" pitchFamily="34" charset="0"/>
                <a:ea typeface="黑体" panose="02010609060101010101" pitchFamily="49" charset="-122"/>
              </a:rPr>
            </a:br>
            <a:r>
              <a:rPr lang="en-US" altLang="zh-CN" sz="2400">
                <a:latin typeface="Arial Black" panose="020B0A04020102020204" pitchFamily="34" charset="0"/>
                <a:ea typeface="黑体" panose="02010609060101010101" pitchFamily="49" charset="-122"/>
              </a:rPr>
              <a:t>     </a:t>
            </a:r>
            <a:r>
              <a:rPr lang="zh-CN" altLang="en-US" sz="2400">
                <a:latin typeface="Arial Black" panose="020B0A04020102020204" pitchFamily="34" charset="0"/>
                <a:ea typeface="黑体" panose="02010609060101010101" pitchFamily="49" charset="-122"/>
              </a:rPr>
              <a:t>（</a:t>
            </a:r>
            <a:r>
              <a:rPr lang="en-US" altLang="zh-CN" sz="2400">
                <a:latin typeface="Arial Black" panose="020B0A04020102020204" pitchFamily="34" charset="0"/>
                <a:ea typeface="黑体" panose="02010609060101010101" pitchFamily="49" charset="-122"/>
              </a:rPr>
              <a:t>5</a:t>
            </a:r>
            <a:r>
              <a:rPr lang="zh-CN" altLang="en-US" sz="2400">
                <a:latin typeface="Arial Black" panose="020B0A04020102020204" pitchFamily="34" charset="0"/>
                <a:ea typeface="黑体" panose="02010609060101010101" pitchFamily="49" charset="-122"/>
              </a:rPr>
              <a:t>）多级队列调度</a:t>
            </a:r>
            <a:br>
              <a:rPr lang="zh-CN" altLang="en-US" sz="2400">
                <a:latin typeface="Arial Black" panose="020B0A04020102020204" pitchFamily="34" charset="0"/>
                <a:ea typeface="黑体" panose="02010609060101010101" pitchFamily="49" charset="-122"/>
              </a:rPr>
            </a:br>
            <a:r>
              <a:rPr lang="zh-CN" altLang="en-US" sz="2400">
                <a:latin typeface="Arial Black" panose="020B0A04020102020204" pitchFamily="34" charset="0"/>
                <a:ea typeface="黑体" panose="02010609060101010101" pitchFamily="49" charset="-122"/>
              </a:rPr>
              <a:t>     （</a:t>
            </a:r>
            <a:r>
              <a:rPr lang="en-US" altLang="zh-CN" sz="2400">
                <a:latin typeface="Arial Black" panose="020B0A04020102020204" pitchFamily="34" charset="0"/>
                <a:ea typeface="黑体" panose="02010609060101010101" pitchFamily="49" charset="-122"/>
              </a:rPr>
              <a:t>6</a:t>
            </a:r>
            <a:r>
              <a:rPr lang="zh-CN" altLang="en-US" sz="2400">
                <a:latin typeface="Arial Black" panose="020B0A04020102020204" pitchFamily="34" charset="0"/>
                <a:ea typeface="黑体" panose="02010609060101010101" pitchFamily="49" charset="-122"/>
              </a:rPr>
              <a:t>）多级反馈队列调度</a:t>
            </a:r>
            <a:endParaRPr lang="en-US" altLang="zh-CN" sz="2400">
              <a:latin typeface="Arial Black" panose="020B0A04020102020204" pitchFamily="34" charset="0"/>
              <a:ea typeface="黑体" panose="02010609060101010101" pitchFamily="49" charset="-122"/>
            </a:endParaRPr>
          </a:p>
          <a:p>
            <a:pPr eaLnBrk="1" hangingPunct="1">
              <a:lnSpc>
                <a:spcPct val="120000"/>
              </a:lnSpc>
              <a:spcBef>
                <a:spcPct val="0"/>
              </a:spcBef>
              <a:buClrTx/>
              <a:buSzTx/>
              <a:buFont typeface="Wingdings" panose="05000000000000000000" pitchFamily="2" charset="2"/>
              <a:buNone/>
            </a:pPr>
            <a:r>
              <a:rPr lang="zh-CN" altLang="en-US" sz="2400">
                <a:latin typeface="Arial Black" panose="020B0A04020102020204" pitchFamily="34" charset="0"/>
                <a:ea typeface="黑体" panose="02010609060101010101" pitchFamily="49" charset="-122"/>
              </a:rPr>
              <a:t>     （</a:t>
            </a:r>
            <a:r>
              <a:rPr lang="en-US" altLang="zh-CN" sz="2400">
                <a:latin typeface="Arial Black" panose="020B0A04020102020204" pitchFamily="34" charset="0"/>
                <a:ea typeface="黑体" panose="02010609060101010101" pitchFamily="49" charset="-122"/>
              </a:rPr>
              <a:t>7</a:t>
            </a:r>
            <a:r>
              <a:rPr lang="zh-CN" altLang="en-US" sz="2400">
                <a:latin typeface="Arial Black" panose="020B0A04020102020204" pitchFamily="34" charset="0"/>
                <a:ea typeface="黑体" panose="02010609060101010101" pitchFamily="49" charset="-122"/>
              </a:rPr>
              <a:t>）多核</a:t>
            </a:r>
            <a:r>
              <a:rPr lang="en-US" altLang="zh-CN" sz="2400">
                <a:latin typeface="Arial Black" panose="020B0A04020102020204" pitchFamily="34" charset="0"/>
                <a:ea typeface="黑体" panose="02010609060101010101" pitchFamily="49" charset="-122"/>
              </a:rPr>
              <a:t>/</a:t>
            </a:r>
            <a:r>
              <a:rPr lang="zh-CN" altLang="en-US" sz="2400">
                <a:latin typeface="Arial Black" panose="020B0A04020102020204" pitchFamily="34" charset="0"/>
                <a:ea typeface="黑体" panose="02010609060101010101" pitchFamily="49" charset="-122"/>
              </a:rPr>
              <a:t>多处理器调度</a:t>
            </a:r>
          </a:p>
          <a:p>
            <a:pPr eaLnBrk="1" hangingPunct="1">
              <a:lnSpc>
                <a:spcPct val="120000"/>
              </a:lnSpc>
              <a:spcBef>
                <a:spcPct val="0"/>
              </a:spcBef>
              <a:buClrTx/>
              <a:buSzTx/>
              <a:buFontTx/>
              <a:buNone/>
            </a:pPr>
            <a:endParaRPr lang="zh-CN" altLang="en-US" sz="2400">
              <a:latin typeface="Arial Black" panose="020B0A04020102020204" pitchFamily="34" charset="0"/>
              <a:ea typeface="黑体" panose="02010609060101010101" pitchFamily="49" charset="-122"/>
            </a:endParaRPr>
          </a:p>
        </p:txBody>
      </p:sp>
      <p:sp>
        <p:nvSpPr>
          <p:cNvPr id="25603" name="Rectangle 2"/>
          <p:cNvSpPr>
            <a:spLocks noChangeArrowheads="1"/>
          </p:cNvSpPr>
          <p:nvPr/>
        </p:nvSpPr>
        <p:spPr bwMode="auto">
          <a:xfrm>
            <a:off x="3124200" y="381000"/>
            <a:ext cx="32321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3200">
                <a:latin typeface="黑体" panose="02010609060101010101" pitchFamily="49" charset="-122"/>
                <a:ea typeface="黑体" panose="02010609060101010101" pitchFamily="49" charset="-122"/>
              </a:rPr>
              <a:t>5.3 </a:t>
            </a:r>
            <a:r>
              <a:rPr lang="zh-CN" altLang="en-US" sz="3200">
                <a:latin typeface="黑体" panose="02010609060101010101" pitchFamily="49" charset="-122"/>
                <a:ea typeface="黑体" panose="02010609060101010101" pitchFamily="49" charset="-122"/>
              </a:rPr>
              <a:t>调度算法</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304800"/>
            <a:ext cx="9144000" cy="676275"/>
          </a:xfrm>
        </p:spPr>
        <p:txBody>
          <a:bodyPr/>
          <a:lstStyle/>
          <a:p>
            <a:pPr eaLnBrk="1" hangingPunct="1"/>
            <a:r>
              <a:rPr lang="zh-CN" altLang="en-US" sz="3200" smtClean="0"/>
              <a:t>（</a:t>
            </a:r>
            <a:r>
              <a:rPr lang="en-US" altLang="zh-CN" sz="3200" smtClean="0"/>
              <a:t>1</a:t>
            </a:r>
            <a:r>
              <a:rPr lang="zh-CN" altLang="en-US" sz="3200" smtClean="0"/>
              <a:t>）</a:t>
            </a:r>
            <a:r>
              <a:rPr lang="en-US" altLang="zh-CN" sz="3200" smtClean="0"/>
              <a:t>FIFO</a:t>
            </a:r>
            <a:r>
              <a:rPr lang="zh-CN" altLang="en-US" sz="3200" smtClean="0"/>
              <a:t>或</a:t>
            </a:r>
            <a:r>
              <a:rPr lang="en-US" altLang="zh-CN" sz="3200" smtClean="0">
                <a:sym typeface="Symbol" panose="05050102010706020507" pitchFamily="18" charset="2"/>
              </a:rPr>
              <a:t>First Come, First Served (FCFS)</a:t>
            </a:r>
          </a:p>
        </p:txBody>
      </p:sp>
      <p:sp>
        <p:nvSpPr>
          <p:cNvPr id="190467" name="Rectangle 3"/>
          <p:cNvSpPr>
            <a:spLocks noGrp="1" noChangeArrowheads="1"/>
          </p:cNvSpPr>
          <p:nvPr>
            <p:ph type="body" idx="1"/>
          </p:nvPr>
        </p:nvSpPr>
        <p:spPr>
          <a:xfrm>
            <a:off x="700088" y="1099560"/>
            <a:ext cx="7921625" cy="865188"/>
          </a:xfrm>
          <a:noFill/>
        </p:spPr>
        <p:txBody>
          <a:bodyPr/>
          <a:lstStyle/>
          <a:p>
            <a:pPr eaLnBrk="1" hangingPunct="1">
              <a:lnSpc>
                <a:spcPct val="130000"/>
              </a:lnSpc>
            </a:pPr>
            <a:r>
              <a:rPr lang="zh-CN" altLang="en-US" dirty="0" smtClean="0">
                <a:solidFill>
                  <a:srgbClr val="FF0000"/>
                </a:solidFill>
              </a:rPr>
              <a:t>调度的顺序就是任务到达就绪队列的顺序</a:t>
            </a:r>
            <a:endParaRPr lang="en-US" altLang="zh-CN" dirty="0" smtClean="0">
              <a:solidFill>
                <a:srgbClr val="FF0000"/>
              </a:solidFill>
            </a:endParaRPr>
          </a:p>
          <a:p>
            <a:pPr marL="0" indent="0" eaLnBrk="1" hangingPunct="1">
              <a:lnSpc>
                <a:spcPct val="130000"/>
              </a:lnSpc>
              <a:buNone/>
            </a:pPr>
            <a:r>
              <a:rPr lang="zh-CN" altLang="en-US" sz="1800" dirty="0" smtClean="0">
                <a:solidFill>
                  <a:srgbClr val="0070C0"/>
                </a:solidFill>
              </a:rPr>
              <a:t>比如：同优先级任务按照进入就绪队列先后顺序执行</a:t>
            </a:r>
            <a:endParaRPr lang="en-US" altLang="zh-CN" sz="1800" dirty="0" smtClean="0">
              <a:solidFill>
                <a:srgbClr val="0070C0"/>
              </a:solidFill>
            </a:endParaRPr>
          </a:p>
          <a:p>
            <a:pPr eaLnBrk="1" hangingPunct="1">
              <a:lnSpc>
                <a:spcPct val="130000"/>
              </a:lnSpc>
            </a:pPr>
            <a:endParaRPr lang="zh-CN" altLang="en-US" dirty="0" smtClean="0">
              <a:solidFill>
                <a:srgbClr val="FF0000"/>
              </a:solidFill>
            </a:endParaRPr>
          </a:p>
        </p:txBody>
      </p:sp>
      <p:grpSp>
        <p:nvGrpSpPr>
          <p:cNvPr id="190532" name="Group 68"/>
          <p:cNvGrpSpPr>
            <a:grpSpLocks/>
          </p:cNvGrpSpPr>
          <p:nvPr/>
        </p:nvGrpSpPr>
        <p:grpSpPr bwMode="auto">
          <a:xfrm>
            <a:off x="685800" y="4572000"/>
            <a:ext cx="7086600" cy="1981200"/>
            <a:chOff x="432" y="2880"/>
            <a:chExt cx="4464" cy="1248"/>
          </a:xfrm>
        </p:grpSpPr>
        <p:sp>
          <p:nvSpPr>
            <p:cNvPr id="26664" name="Rectangle 54"/>
            <p:cNvSpPr>
              <a:spLocks noChangeArrowheads="1"/>
            </p:cNvSpPr>
            <p:nvPr/>
          </p:nvSpPr>
          <p:spPr bwMode="auto">
            <a:xfrm>
              <a:off x="432" y="2880"/>
              <a:ext cx="2304"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调度结果</a:t>
              </a:r>
            </a:p>
          </p:txBody>
        </p:sp>
        <p:grpSp>
          <p:nvGrpSpPr>
            <p:cNvPr id="26665" name="Group 67"/>
            <p:cNvGrpSpPr>
              <a:grpSpLocks/>
            </p:cNvGrpSpPr>
            <p:nvPr/>
          </p:nvGrpSpPr>
          <p:grpSpPr bwMode="auto">
            <a:xfrm>
              <a:off x="816" y="3360"/>
              <a:ext cx="4080" cy="768"/>
              <a:chOff x="816" y="3360"/>
              <a:chExt cx="4080" cy="768"/>
            </a:xfrm>
          </p:grpSpPr>
          <p:sp>
            <p:nvSpPr>
              <p:cNvPr id="26666" name="Rectangle 40"/>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6667" name="Text Box 41"/>
              <p:cNvSpPr txBox="1">
                <a:spLocks noChangeArrowheads="1"/>
              </p:cNvSpPr>
              <p:nvPr/>
            </p:nvSpPr>
            <p:spPr bwMode="auto">
              <a:xfrm>
                <a:off x="1152"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26668" name="Text Box 42"/>
              <p:cNvSpPr txBox="1">
                <a:spLocks noChangeArrowheads="1"/>
              </p:cNvSpPr>
              <p:nvPr/>
            </p:nvSpPr>
            <p:spPr bwMode="auto">
              <a:xfrm>
                <a:off x="2085"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26669" name="Text Box 43"/>
              <p:cNvSpPr txBox="1">
                <a:spLocks noChangeArrowheads="1"/>
              </p:cNvSpPr>
              <p:nvPr/>
            </p:nvSpPr>
            <p:spPr bwMode="auto">
              <a:xfrm>
                <a:off x="2880"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26670" name="Line 44"/>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71" name="Line 46"/>
              <p:cNvSpPr>
                <a:spLocks noChangeShapeType="1"/>
              </p:cNvSpPr>
              <p:nvPr/>
            </p:nvSpPr>
            <p:spPr bwMode="auto">
              <a:xfrm>
                <a:off x="168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72" name="Line 48"/>
              <p:cNvSpPr>
                <a:spLocks noChangeShapeType="1"/>
              </p:cNvSpPr>
              <p:nvPr/>
            </p:nvSpPr>
            <p:spPr bwMode="auto">
              <a:xfrm>
                <a:off x="168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73" name="Text Box 50"/>
              <p:cNvSpPr txBox="1">
                <a:spLocks noChangeArrowheads="1"/>
              </p:cNvSpPr>
              <p:nvPr/>
            </p:nvSpPr>
            <p:spPr bwMode="auto">
              <a:xfrm>
                <a:off x="149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10</a:t>
                </a:r>
              </a:p>
            </p:txBody>
          </p:sp>
          <p:sp>
            <p:nvSpPr>
              <p:cNvPr id="26674" name="Text Box 52"/>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26675" name="Text Box 53"/>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26676" name="Line 55"/>
              <p:cNvSpPr>
                <a:spLocks noChangeShapeType="1"/>
              </p:cNvSpPr>
              <p:nvPr/>
            </p:nvSpPr>
            <p:spPr bwMode="auto">
              <a:xfrm>
                <a:off x="2838"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77" name="Line 56"/>
              <p:cNvSpPr>
                <a:spLocks noChangeShapeType="1"/>
              </p:cNvSpPr>
              <p:nvPr/>
            </p:nvSpPr>
            <p:spPr bwMode="auto">
              <a:xfrm>
                <a:off x="2838"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78" name="Text Box 57"/>
              <p:cNvSpPr txBox="1">
                <a:spLocks noChangeArrowheads="1"/>
              </p:cNvSpPr>
              <p:nvPr/>
            </p:nvSpPr>
            <p:spPr bwMode="auto">
              <a:xfrm>
                <a:off x="264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39</a:t>
                </a:r>
              </a:p>
            </p:txBody>
          </p:sp>
          <p:sp>
            <p:nvSpPr>
              <p:cNvPr id="26679" name="Line 58"/>
              <p:cNvSpPr>
                <a:spLocks noChangeShapeType="1"/>
              </p:cNvSpPr>
              <p:nvPr/>
            </p:nvSpPr>
            <p:spPr bwMode="auto">
              <a:xfrm>
                <a:off x="322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80" name="Line 59"/>
              <p:cNvSpPr>
                <a:spLocks noChangeShapeType="1"/>
              </p:cNvSpPr>
              <p:nvPr/>
            </p:nvSpPr>
            <p:spPr bwMode="auto">
              <a:xfrm>
                <a:off x="322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81" name="Text Box 60"/>
              <p:cNvSpPr txBox="1">
                <a:spLocks noChangeArrowheads="1"/>
              </p:cNvSpPr>
              <p:nvPr/>
            </p:nvSpPr>
            <p:spPr bwMode="auto">
              <a:xfrm>
                <a:off x="3030"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42</a:t>
                </a:r>
              </a:p>
            </p:txBody>
          </p:sp>
          <p:sp>
            <p:nvSpPr>
              <p:cNvPr id="26682" name="Text Box 61"/>
              <p:cNvSpPr txBox="1">
                <a:spLocks noChangeArrowheads="1"/>
              </p:cNvSpPr>
              <p:nvPr/>
            </p:nvSpPr>
            <p:spPr bwMode="auto">
              <a:xfrm>
                <a:off x="338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26683" name="Line 62"/>
              <p:cNvSpPr>
                <a:spLocks noChangeShapeType="1"/>
              </p:cNvSpPr>
              <p:nvPr/>
            </p:nvSpPr>
            <p:spPr bwMode="auto">
              <a:xfrm>
                <a:off x="384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84" name="Line 63"/>
              <p:cNvSpPr>
                <a:spLocks noChangeShapeType="1"/>
              </p:cNvSpPr>
              <p:nvPr/>
            </p:nvSpPr>
            <p:spPr bwMode="auto">
              <a:xfrm>
                <a:off x="384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85" name="Text Box 64"/>
              <p:cNvSpPr txBox="1">
                <a:spLocks noChangeArrowheads="1"/>
              </p:cNvSpPr>
              <p:nvPr/>
            </p:nvSpPr>
            <p:spPr bwMode="auto">
              <a:xfrm>
                <a:off x="365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49</a:t>
                </a:r>
              </a:p>
            </p:txBody>
          </p:sp>
          <p:sp>
            <p:nvSpPr>
              <p:cNvPr id="26686" name="Line 65"/>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687" name="Text Box 66"/>
              <p:cNvSpPr txBox="1">
                <a:spLocks noChangeArrowheads="1"/>
              </p:cNvSpPr>
              <p:nvPr/>
            </p:nvSpPr>
            <p:spPr bwMode="auto">
              <a:xfrm>
                <a:off x="419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grpSp>
      </p:grpSp>
      <p:grpSp>
        <p:nvGrpSpPr>
          <p:cNvPr id="190537" name="Group 73"/>
          <p:cNvGrpSpPr>
            <a:grpSpLocks/>
          </p:cNvGrpSpPr>
          <p:nvPr/>
        </p:nvGrpSpPr>
        <p:grpSpPr bwMode="auto">
          <a:xfrm>
            <a:off x="685800" y="2133600"/>
            <a:ext cx="8153400" cy="2895600"/>
            <a:chOff x="432" y="1344"/>
            <a:chExt cx="5136" cy="1824"/>
          </a:xfrm>
        </p:grpSpPr>
        <p:sp>
          <p:nvSpPr>
            <p:cNvPr id="26642" name="Rectangle 16"/>
            <p:cNvSpPr>
              <a:spLocks noChangeArrowheads="1"/>
            </p:cNvSpPr>
            <p:nvPr/>
          </p:nvSpPr>
          <p:spPr bwMode="auto">
            <a:xfrm>
              <a:off x="432" y="1344"/>
              <a:ext cx="4990"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一个实例</a:t>
              </a:r>
            </a:p>
          </p:txBody>
        </p:sp>
        <p:sp>
          <p:nvSpPr>
            <p:cNvPr id="26643" name="Line 17"/>
            <p:cNvSpPr>
              <a:spLocks noChangeShapeType="1"/>
            </p:cNvSpPr>
            <p:nvPr/>
          </p:nvSpPr>
          <p:spPr bwMode="auto">
            <a:xfrm>
              <a:off x="3216" y="1632"/>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4" name="Line 18"/>
            <p:cNvSpPr>
              <a:spLocks noChangeShapeType="1"/>
            </p:cNvSpPr>
            <p:nvPr/>
          </p:nvSpPr>
          <p:spPr bwMode="auto">
            <a:xfrm>
              <a:off x="3216"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6645" name="Group 23"/>
            <p:cNvGrpSpPr>
              <a:grpSpLocks/>
            </p:cNvGrpSpPr>
            <p:nvPr/>
          </p:nvGrpSpPr>
          <p:grpSpPr bwMode="auto">
            <a:xfrm>
              <a:off x="768" y="1796"/>
              <a:ext cx="2256" cy="886"/>
              <a:chOff x="768" y="1796"/>
              <a:chExt cx="2256" cy="886"/>
            </a:xfrm>
          </p:grpSpPr>
          <p:sp>
            <p:nvSpPr>
              <p:cNvPr id="26662" name="Rectangle 21"/>
              <p:cNvSpPr>
                <a:spLocks noChangeArrowheads="1"/>
              </p:cNvSpPr>
              <p:nvPr/>
            </p:nvSpPr>
            <p:spPr bwMode="auto">
              <a:xfrm>
                <a:off x="912" y="1796"/>
                <a:ext cx="2112" cy="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Tx/>
                  <a:buSzTx/>
                  <a:buFontTx/>
                  <a:buNone/>
                </a:pPr>
                <a:r>
                  <a:rPr lang="zh-CN" altLang="en-US" sz="2400"/>
                  <a:t>假定任务的到达顺序为</a:t>
                </a:r>
                <a:r>
                  <a:rPr lang="en-US" altLang="zh-CN" sz="2400"/>
                  <a:t>: P</a:t>
                </a:r>
                <a:r>
                  <a:rPr lang="en-US" altLang="zh-CN" sz="2400" baseline="-25000"/>
                  <a:t>1</a:t>
                </a:r>
                <a:r>
                  <a:rPr lang="zh-CN" altLang="en-US" sz="2400"/>
                  <a:t>，</a:t>
                </a:r>
                <a:r>
                  <a:rPr lang="en-US" altLang="zh-CN" sz="2400"/>
                  <a:t>P</a:t>
                </a:r>
                <a:r>
                  <a:rPr lang="en-US" altLang="zh-CN" sz="2400" baseline="-25000"/>
                  <a:t>2</a:t>
                </a:r>
                <a:r>
                  <a:rPr lang="zh-CN" altLang="en-US" sz="2400"/>
                  <a:t>，</a:t>
                </a:r>
                <a:r>
                  <a:rPr lang="en-US" altLang="zh-CN" sz="2400"/>
                  <a:t>P</a:t>
                </a:r>
                <a:r>
                  <a:rPr lang="en-US" altLang="zh-CN" sz="2400" baseline="-25000"/>
                  <a:t>3</a:t>
                </a:r>
                <a:r>
                  <a:rPr lang="zh-CN" altLang="en-US" sz="2400"/>
                  <a:t>，</a:t>
                </a:r>
                <a:r>
                  <a:rPr lang="en-US" altLang="zh-CN" sz="2400"/>
                  <a:t>P</a:t>
                </a:r>
                <a:r>
                  <a:rPr lang="en-US" altLang="zh-CN" sz="2400" baseline="-25000"/>
                  <a:t>4</a:t>
                </a:r>
                <a:r>
                  <a:rPr lang="zh-CN" altLang="en-US" sz="2400"/>
                  <a:t>，</a:t>
                </a:r>
                <a:r>
                  <a:rPr lang="en-US" altLang="zh-CN" sz="2400"/>
                  <a:t>P</a:t>
                </a:r>
                <a:r>
                  <a:rPr lang="en-US" altLang="zh-CN" sz="2400" baseline="-25000"/>
                  <a:t>5</a:t>
                </a:r>
                <a:r>
                  <a:rPr lang="zh-CN" altLang="en-US" sz="2400"/>
                  <a:t>；到达时刻都为</a:t>
                </a:r>
                <a:r>
                  <a:rPr lang="en-US" altLang="zh-CN" sz="2400"/>
                  <a:t>0</a:t>
                </a:r>
                <a:r>
                  <a:rPr lang="zh-CN" altLang="en-US" sz="2400"/>
                  <a:t>。</a:t>
                </a:r>
              </a:p>
            </p:txBody>
          </p:sp>
          <p:pic>
            <p:nvPicPr>
              <p:cNvPr id="26663" name="Picture 22"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 y="187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646" name="Line 24"/>
            <p:cNvSpPr>
              <a:spLocks noChangeShapeType="1"/>
            </p:cNvSpPr>
            <p:nvPr/>
          </p:nvSpPr>
          <p:spPr bwMode="auto">
            <a:xfrm>
              <a:off x="4080"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47" name="Rectangle 25"/>
            <p:cNvSpPr>
              <a:spLocks noChangeArrowheads="1"/>
            </p:cNvSpPr>
            <p:nvPr/>
          </p:nvSpPr>
          <p:spPr bwMode="auto">
            <a:xfrm>
              <a:off x="3386" y="1344"/>
              <a:ext cx="6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任务</a:t>
              </a:r>
            </a:p>
          </p:txBody>
        </p:sp>
        <p:sp>
          <p:nvSpPr>
            <p:cNvPr id="26648" name="Rectangle 26"/>
            <p:cNvSpPr>
              <a:spLocks noChangeArrowheads="1"/>
            </p:cNvSpPr>
            <p:nvPr/>
          </p:nvSpPr>
          <p:spPr bwMode="auto">
            <a:xfrm>
              <a:off x="4208" y="1356"/>
              <a:ext cx="13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t>CPU</a:t>
              </a:r>
              <a:r>
                <a:rPr lang="zh-CN" altLang="en-US" sz="2400"/>
                <a:t>区间</a:t>
              </a:r>
              <a:r>
                <a:rPr lang="en-US" altLang="zh-CN" sz="2400"/>
                <a:t>(ms)</a:t>
              </a:r>
            </a:p>
          </p:txBody>
        </p:sp>
        <p:sp>
          <p:nvSpPr>
            <p:cNvPr id="26649" name="Rectangle 27"/>
            <p:cNvSpPr>
              <a:spLocks noChangeArrowheads="1"/>
            </p:cNvSpPr>
            <p:nvPr/>
          </p:nvSpPr>
          <p:spPr bwMode="auto">
            <a:xfrm>
              <a:off x="3504" y="169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1</a:t>
              </a:r>
            </a:p>
          </p:txBody>
        </p:sp>
        <p:sp>
          <p:nvSpPr>
            <p:cNvPr id="26650" name="Rectangle 28"/>
            <p:cNvSpPr>
              <a:spLocks noChangeArrowheads="1"/>
            </p:cNvSpPr>
            <p:nvPr/>
          </p:nvSpPr>
          <p:spPr bwMode="auto">
            <a:xfrm>
              <a:off x="4629" y="1680"/>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10</a:t>
              </a:r>
              <a:endParaRPr lang="en-US" altLang="zh-CN" sz="2400" baseline="-25000">
                <a:solidFill>
                  <a:srgbClr val="FF0000"/>
                </a:solidFill>
              </a:endParaRPr>
            </a:p>
          </p:txBody>
        </p:sp>
        <p:sp>
          <p:nvSpPr>
            <p:cNvPr id="26651" name="Rectangle 29"/>
            <p:cNvSpPr>
              <a:spLocks noChangeArrowheads="1"/>
            </p:cNvSpPr>
            <p:nvPr/>
          </p:nvSpPr>
          <p:spPr bwMode="auto">
            <a:xfrm>
              <a:off x="3504" y="1968"/>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2</a:t>
              </a:r>
            </a:p>
          </p:txBody>
        </p:sp>
        <p:sp>
          <p:nvSpPr>
            <p:cNvPr id="26652" name="Rectangle 30"/>
            <p:cNvSpPr>
              <a:spLocks noChangeArrowheads="1"/>
            </p:cNvSpPr>
            <p:nvPr/>
          </p:nvSpPr>
          <p:spPr bwMode="auto">
            <a:xfrm>
              <a:off x="4629" y="1968"/>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29</a:t>
              </a:r>
              <a:endParaRPr lang="en-US" altLang="zh-CN" sz="2400" baseline="-25000">
                <a:solidFill>
                  <a:srgbClr val="FF0000"/>
                </a:solidFill>
              </a:endParaRPr>
            </a:p>
          </p:txBody>
        </p:sp>
        <p:sp>
          <p:nvSpPr>
            <p:cNvPr id="26653" name="Rectangle 31"/>
            <p:cNvSpPr>
              <a:spLocks noChangeArrowheads="1"/>
            </p:cNvSpPr>
            <p:nvPr/>
          </p:nvSpPr>
          <p:spPr bwMode="auto">
            <a:xfrm>
              <a:off x="3504" y="2256"/>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3</a:t>
              </a:r>
            </a:p>
          </p:txBody>
        </p:sp>
        <p:sp>
          <p:nvSpPr>
            <p:cNvPr id="26654" name="Rectangle 32"/>
            <p:cNvSpPr>
              <a:spLocks noChangeArrowheads="1"/>
            </p:cNvSpPr>
            <p:nvPr/>
          </p:nvSpPr>
          <p:spPr bwMode="auto">
            <a:xfrm>
              <a:off x="4674" y="2277"/>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3</a:t>
              </a:r>
              <a:endParaRPr lang="en-US" altLang="zh-CN" sz="2400" baseline="-25000">
                <a:solidFill>
                  <a:srgbClr val="FF0000"/>
                </a:solidFill>
              </a:endParaRPr>
            </a:p>
          </p:txBody>
        </p:sp>
        <p:sp>
          <p:nvSpPr>
            <p:cNvPr id="26655" name="Line 33"/>
            <p:cNvSpPr>
              <a:spLocks noChangeShapeType="1"/>
            </p:cNvSpPr>
            <p:nvPr/>
          </p:nvSpPr>
          <p:spPr bwMode="auto">
            <a:xfrm>
              <a:off x="3216" y="3168"/>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56" name="Rectangle 34"/>
            <p:cNvSpPr>
              <a:spLocks noChangeArrowheads="1"/>
            </p:cNvSpPr>
            <p:nvPr/>
          </p:nvSpPr>
          <p:spPr bwMode="auto">
            <a:xfrm>
              <a:off x="3504" y="256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4</a:t>
              </a:r>
            </a:p>
          </p:txBody>
        </p:sp>
        <p:sp>
          <p:nvSpPr>
            <p:cNvPr id="26657" name="Rectangle 35"/>
            <p:cNvSpPr>
              <a:spLocks noChangeArrowheads="1"/>
            </p:cNvSpPr>
            <p:nvPr/>
          </p:nvSpPr>
          <p:spPr bwMode="auto">
            <a:xfrm>
              <a:off x="4674" y="256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7</a:t>
              </a:r>
              <a:endParaRPr lang="en-US" altLang="zh-CN" sz="2400" baseline="-25000">
                <a:solidFill>
                  <a:srgbClr val="FF0000"/>
                </a:solidFill>
              </a:endParaRPr>
            </a:p>
          </p:txBody>
        </p:sp>
        <p:sp>
          <p:nvSpPr>
            <p:cNvPr id="26658" name="Rectangle 36"/>
            <p:cNvSpPr>
              <a:spLocks noChangeArrowheads="1"/>
            </p:cNvSpPr>
            <p:nvPr/>
          </p:nvSpPr>
          <p:spPr bwMode="auto">
            <a:xfrm>
              <a:off x="3504" y="2850"/>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5</a:t>
              </a:r>
            </a:p>
          </p:txBody>
        </p:sp>
        <p:sp>
          <p:nvSpPr>
            <p:cNvPr id="26659" name="Rectangle 37"/>
            <p:cNvSpPr>
              <a:spLocks noChangeArrowheads="1"/>
            </p:cNvSpPr>
            <p:nvPr/>
          </p:nvSpPr>
          <p:spPr bwMode="auto">
            <a:xfrm>
              <a:off x="4629" y="2880"/>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12</a:t>
              </a:r>
              <a:endParaRPr lang="en-US" altLang="zh-CN" sz="2400" baseline="-25000">
                <a:solidFill>
                  <a:srgbClr val="FF0000"/>
                </a:solidFill>
              </a:endParaRPr>
            </a:p>
          </p:txBody>
        </p:sp>
        <p:sp>
          <p:nvSpPr>
            <p:cNvPr id="26660" name="Line 69"/>
            <p:cNvSpPr>
              <a:spLocks noChangeShapeType="1"/>
            </p:cNvSpPr>
            <p:nvPr/>
          </p:nvSpPr>
          <p:spPr bwMode="auto">
            <a:xfrm>
              <a:off x="5568"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661" name="Line 71"/>
            <p:cNvSpPr>
              <a:spLocks noChangeShapeType="1"/>
            </p:cNvSpPr>
            <p:nvPr/>
          </p:nvSpPr>
          <p:spPr bwMode="auto">
            <a:xfrm>
              <a:off x="3216" y="1344"/>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0550" name="Group 86"/>
          <p:cNvGrpSpPr>
            <a:grpSpLocks/>
          </p:cNvGrpSpPr>
          <p:nvPr/>
        </p:nvGrpSpPr>
        <p:grpSpPr bwMode="auto">
          <a:xfrm>
            <a:off x="6138863" y="5257800"/>
            <a:ext cx="2482850" cy="1219200"/>
            <a:chOff x="1680" y="3312"/>
            <a:chExt cx="3202" cy="768"/>
          </a:xfrm>
        </p:grpSpPr>
        <p:sp>
          <p:nvSpPr>
            <p:cNvPr id="26640" name="Rectangle 87"/>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6641" name="Rectangle 88"/>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0547" name="Group 83"/>
          <p:cNvGrpSpPr>
            <a:grpSpLocks/>
          </p:cNvGrpSpPr>
          <p:nvPr/>
        </p:nvGrpSpPr>
        <p:grpSpPr bwMode="auto">
          <a:xfrm>
            <a:off x="5138738" y="5257800"/>
            <a:ext cx="3352800" cy="1219200"/>
            <a:chOff x="1680" y="3312"/>
            <a:chExt cx="3202" cy="768"/>
          </a:xfrm>
        </p:grpSpPr>
        <p:sp>
          <p:nvSpPr>
            <p:cNvPr id="26638" name="Rectangle 84"/>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6639" name="Rectangle 85"/>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0544" name="Group 80"/>
          <p:cNvGrpSpPr>
            <a:grpSpLocks/>
          </p:cNvGrpSpPr>
          <p:nvPr/>
        </p:nvGrpSpPr>
        <p:grpSpPr bwMode="auto">
          <a:xfrm>
            <a:off x="4529138" y="5257800"/>
            <a:ext cx="4168775" cy="1219200"/>
            <a:chOff x="1680" y="3312"/>
            <a:chExt cx="3202" cy="768"/>
          </a:xfrm>
        </p:grpSpPr>
        <p:sp>
          <p:nvSpPr>
            <p:cNvPr id="26636" name="Rectangle 81"/>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6637" name="Rectangle 82"/>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0540" name="Group 76"/>
          <p:cNvGrpSpPr>
            <a:grpSpLocks/>
          </p:cNvGrpSpPr>
          <p:nvPr/>
        </p:nvGrpSpPr>
        <p:grpSpPr bwMode="auto">
          <a:xfrm>
            <a:off x="2700338" y="5246688"/>
            <a:ext cx="5083175" cy="1219200"/>
            <a:chOff x="1680" y="3312"/>
            <a:chExt cx="3202" cy="768"/>
          </a:xfrm>
        </p:grpSpPr>
        <p:sp>
          <p:nvSpPr>
            <p:cNvPr id="26634" name="Rectangle 74"/>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6635" name="Rectangle 75"/>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0467">
                                            <p:txEl>
                                              <p:pRg st="0" end="0"/>
                                            </p:txEl>
                                          </p:spTgt>
                                        </p:tgtEl>
                                        <p:attrNameLst>
                                          <p:attrName>style.visibility</p:attrName>
                                        </p:attrNameLst>
                                      </p:cBhvr>
                                      <p:to>
                                        <p:strVal val="visible"/>
                                      </p:to>
                                    </p:set>
                                    <p:animEffect transition="in" filter="dissolve">
                                      <p:cBhvr>
                                        <p:cTn id="7" dur="500"/>
                                        <p:tgtEl>
                                          <p:spTgt spid="190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0467">
                                            <p:txEl>
                                              <p:pRg st="1" end="1"/>
                                            </p:txEl>
                                          </p:spTgt>
                                        </p:tgtEl>
                                        <p:attrNameLst>
                                          <p:attrName>style.visibility</p:attrName>
                                        </p:attrNameLst>
                                      </p:cBhvr>
                                      <p:to>
                                        <p:strVal val="visible"/>
                                      </p:to>
                                    </p:set>
                                    <p:animEffect transition="in" filter="dissolve">
                                      <p:cBhvr>
                                        <p:cTn id="12" dur="500"/>
                                        <p:tgtEl>
                                          <p:spTgt spid="1904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90537"/>
                                        </p:tgtEl>
                                        <p:attrNameLst>
                                          <p:attrName>style.visibility</p:attrName>
                                        </p:attrNameLst>
                                      </p:cBhvr>
                                      <p:to>
                                        <p:strVal val="visible"/>
                                      </p:to>
                                    </p:set>
                                    <p:animEffect transition="in" filter="dissolve">
                                      <p:cBhvr>
                                        <p:cTn id="17" dur="500"/>
                                        <p:tgtEl>
                                          <p:spTgt spid="1905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90532"/>
                                        </p:tgtEl>
                                        <p:attrNameLst>
                                          <p:attrName>style.visibility</p:attrName>
                                        </p:attrNameLst>
                                      </p:cBhvr>
                                      <p:to>
                                        <p:strVal val="visible"/>
                                      </p:to>
                                    </p:set>
                                    <p:animEffect transition="in" filter="dissolve">
                                      <p:cBhvr>
                                        <p:cTn id="22" dur="500"/>
                                        <p:tgtEl>
                                          <p:spTgt spid="190532"/>
                                        </p:tgtEl>
                                      </p:cBhvr>
                                    </p:animEffect>
                                  </p:childTnLst>
                                </p:cTn>
                              </p:par>
                              <p:par>
                                <p:cTn id="23" presetID="1" presetClass="entr" presetSubtype="0" fill="hold" nodeType="withEffect">
                                  <p:stCondLst>
                                    <p:cond delay="0"/>
                                  </p:stCondLst>
                                  <p:childTnLst>
                                    <p:set>
                                      <p:cBhvr>
                                        <p:cTn id="24" dur="1" fill="hold">
                                          <p:stCondLst>
                                            <p:cond delay="0"/>
                                          </p:stCondLst>
                                        </p:cTn>
                                        <p:tgtEl>
                                          <p:spTgt spid="190540"/>
                                        </p:tgtEl>
                                        <p:attrNameLst>
                                          <p:attrName>style.visibility</p:attrName>
                                        </p:attrNameLst>
                                      </p:cBhvr>
                                      <p:to>
                                        <p:strVal val="visible"/>
                                      </p:to>
                                    </p:set>
                                  </p:childTnLst>
                                  <p:subTnLst>
                                    <p:set>
                                      <p:cBhvr override="childStyle">
                                        <p:cTn dur="1" fill="hold" display="0" masterRel="nextClick" afterEffect="1"/>
                                        <p:tgtEl>
                                          <p:spTgt spid="190540"/>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90544"/>
                                        </p:tgtEl>
                                        <p:attrNameLst>
                                          <p:attrName>style.visibility</p:attrName>
                                        </p:attrNameLst>
                                      </p:cBhvr>
                                      <p:to>
                                        <p:strVal val="visible"/>
                                      </p:to>
                                    </p:set>
                                  </p:childTnLst>
                                  <p:subTnLst>
                                    <p:set>
                                      <p:cBhvr override="childStyle">
                                        <p:cTn dur="1" fill="hold" display="0" masterRel="nextClick" afterEffect="1"/>
                                        <p:tgtEl>
                                          <p:spTgt spid="190544"/>
                                        </p:tgtEl>
                                        <p:attrNameLst>
                                          <p:attrName>style.visibility</p:attrName>
                                        </p:attrNameLst>
                                      </p:cBhvr>
                                      <p:to>
                                        <p:strVal val="hidden"/>
                                      </p:to>
                                    </p:set>
                                  </p:sub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90547"/>
                                        </p:tgtEl>
                                        <p:attrNameLst>
                                          <p:attrName>style.visibility</p:attrName>
                                        </p:attrNameLst>
                                      </p:cBhvr>
                                      <p:to>
                                        <p:strVal val="visible"/>
                                      </p:to>
                                    </p:set>
                                  </p:childTnLst>
                                  <p:subTnLst>
                                    <p:set>
                                      <p:cBhvr override="childStyle">
                                        <p:cTn dur="1" fill="hold" display="0" masterRel="nextClick" afterEffect="1"/>
                                        <p:tgtEl>
                                          <p:spTgt spid="190547"/>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90550"/>
                                        </p:tgtEl>
                                        <p:attrNameLst>
                                          <p:attrName>style.visibility</p:attrName>
                                        </p:attrNameLst>
                                      </p:cBhvr>
                                      <p:to>
                                        <p:strVal val="visible"/>
                                      </p:to>
                                    </p:set>
                                  </p:childTnLst>
                                  <p:subTnLst>
                                    <p:set>
                                      <p:cBhvr override="childStyle">
                                        <p:cTn dur="1" fill="hold" display="0" masterRel="nextClick" afterEffect="1"/>
                                        <p:tgtEl>
                                          <p:spTgt spid="19055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304800"/>
            <a:ext cx="9144000" cy="676275"/>
          </a:xfrm>
        </p:spPr>
        <p:txBody>
          <a:bodyPr/>
          <a:lstStyle/>
          <a:p>
            <a:pPr eaLnBrk="1" hangingPunct="1"/>
            <a:r>
              <a:rPr lang="zh-CN" altLang="en-US" sz="3200" smtClean="0"/>
              <a:t>（</a:t>
            </a:r>
            <a:r>
              <a:rPr lang="en-US" altLang="zh-CN" sz="3200" smtClean="0"/>
              <a:t>1</a:t>
            </a:r>
            <a:r>
              <a:rPr lang="zh-CN" altLang="en-US" sz="3200" smtClean="0"/>
              <a:t>）</a:t>
            </a:r>
            <a:r>
              <a:rPr lang="en-US" altLang="zh-CN" sz="3200" smtClean="0"/>
              <a:t>FIFO</a:t>
            </a:r>
            <a:r>
              <a:rPr lang="zh-CN" altLang="en-US" sz="3200" smtClean="0"/>
              <a:t>或</a:t>
            </a:r>
            <a:r>
              <a:rPr lang="en-US" altLang="zh-CN" sz="3200" smtClean="0">
                <a:sym typeface="Symbol" panose="05050102010706020507" pitchFamily="18" charset="2"/>
              </a:rPr>
              <a:t>First Come, First Served (FCFS)</a:t>
            </a:r>
          </a:p>
        </p:txBody>
      </p:sp>
      <p:sp>
        <p:nvSpPr>
          <p:cNvPr id="27651" name="Rectangle 3"/>
          <p:cNvSpPr>
            <a:spLocks noGrp="1" noChangeArrowheads="1"/>
          </p:cNvSpPr>
          <p:nvPr>
            <p:ph type="body" idx="1"/>
          </p:nvPr>
        </p:nvSpPr>
        <p:spPr>
          <a:xfrm>
            <a:off x="685800" y="1295400"/>
            <a:ext cx="7921625" cy="865188"/>
          </a:xfrm>
          <a:noFill/>
        </p:spPr>
        <p:txBody>
          <a:bodyPr/>
          <a:lstStyle/>
          <a:p>
            <a:pPr eaLnBrk="1" hangingPunct="1">
              <a:lnSpc>
                <a:spcPct val="130000"/>
              </a:lnSpc>
            </a:pPr>
            <a:r>
              <a:rPr lang="zh-CN" altLang="en-US" smtClean="0">
                <a:solidFill>
                  <a:srgbClr val="FF0000"/>
                </a:solidFill>
              </a:rPr>
              <a:t>调度的顺序就是任务到达就绪队列的顺序</a:t>
            </a:r>
          </a:p>
        </p:txBody>
      </p:sp>
      <p:grpSp>
        <p:nvGrpSpPr>
          <p:cNvPr id="27652" name="Group 4"/>
          <p:cNvGrpSpPr>
            <a:grpSpLocks/>
          </p:cNvGrpSpPr>
          <p:nvPr/>
        </p:nvGrpSpPr>
        <p:grpSpPr bwMode="auto">
          <a:xfrm>
            <a:off x="685800" y="4572000"/>
            <a:ext cx="7086600" cy="1981200"/>
            <a:chOff x="432" y="2880"/>
            <a:chExt cx="4464" cy="1248"/>
          </a:xfrm>
        </p:grpSpPr>
        <p:sp>
          <p:nvSpPr>
            <p:cNvPr id="27676" name="Rectangle 5"/>
            <p:cNvSpPr>
              <a:spLocks noChangeArrowheads="1"/>
            </p:cNvSpPr>
            <p:nvPr/>
          </p:nvSpPr>
          <p:spPr bwMode="auto">
            <a:xfrm>
              <a:off x="432" y="2880"/>
              <a:ext cx="2304"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调度结果</a:t>
              </a:r>
            </a:p>
          </p:txBody>
        </p:sp>
        <p:grpSp>
          <p:nvGrpSpPr>
            <p:cNvPr id="27677" name="Group 6"/>
            <p:cNvGrpSpPr>
              <a:grpSpLocks/>
            </p:cNvGrpSpPr>
            <p:nvPr/>
          </p:nvGrpSpPr>
          <p:grpSpPr bwMode="auto">
            <a:xfrm>
              <a:off x="816" y="3360"/>
              <a:ext cx="4080" cy="768"/>
              <a:chOff x="816" y="3360"/>
              <a:chExt cx="4080" cy="768"/>
            </a:xfrm>
          </p:grpSpPr>
          <p:sp>
            <p:nvSpPr>
              <p:cNvPr id="27678" name="Rectangle 7"/>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7679" name="Text Box 8"/>
              <p:cNvSpPr txBox="1">
                <a:spLocks noChangeArrowheads="1"/>
              </p:cNvSpPr>
              <p:nvPr/>
            </p:nvSpPr>
            <p:spPr bwMode="auto">
              <a:xfrm>
                <a:off x="1152"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27680" name="Text Box 9"/>
              <p:cNvSpPr txBox="1">
                <a:spLocks noChangeArrowheads="1"/>
              </p:cNvSpPr>
              <p:nvPr/>
            </p:nvSpPr>
            <p:spPr bwMode="auto">
              <a:xfrm>
                <a:off x="2085"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27681" name="Text Box 10"/>
              <p:cNvSpPr txBox="1">
                <a:spLocks noChangeArrowheads="1"/>
              </p:cNvSpPr>
              <p:nvPr/>
            </p:nvSpPr>
            <p:spPr bwMode="auto">
              <a:xfrm>
                <a:off x="2880"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27682" name="Line 11"/>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3" name="Line 12"/>
              <p:cNvSpPr>
                <a:spLocks noChangeShapeType="1"/>
              </p:cNvSpPr>
              <p:nvPr/>
            </p:nvSpPr>
            <p:spPr bwMode="auto">
              <a:xfrm>
                <a:off x="168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4" name="Line 13"/>
              <p:cNvSpPr>
                <a:spLocks noChangeShapeType="1"/>
              </p:cNvSpPr>
              <p:nvPr/>
            </p:nvSpPr>
            <p:spPr bwMode="auto">
              <a:xfrm>
                <a:off x="168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5" name="Text Box 14"/>
              <p:cNvSpPr txBox="1">
                <a:spLocks noChangeArrowheads="1"/>
              </p:cNvSpPr>
              <p:nvPr/>
            </p:nvSpPr>
            <p:spPr bwMode="auto">
              <a:xfrm>
                <a:off x="149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10</a:t>
                </a:r>
              </a:p>
            </p:txBody>
          </p:sp>
          <p:sp>
            <p:nvSpPr>
              <p:cNvPr id="27686" name="Text Box 15"/>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27687" name="Text Box 16"/>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27688" name="Line 17"/>
              <p:cNvSpPr>
                <a:spLocks noChangeShapeType="1"/>
              </p:cNvSpPr>
              <p:nvPr/>
            </p:nvSpPr>
            <p:spPr bwMode="auto">
              <a:xfrm>
                <a:off x="2838"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89" name="Line 18"/>
              <p:cNvSpPr>
                <a:spLocks noChangeShapeType="1"/>
              </p:cNvSpPr>
              <p:nvPr/>
            </p:nvSpPr>
            <p:spPr bwMode="auto">
              <a:xfrm>
                <a:off x="2838"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0" name="Text Box 19"/>
              <p:cNvSpPr txBox="1">
                <a:spLocks noChangeArrowheads="1"/>
              </p:cNvSpPr>
              <p:nvPr/>
            </p:nvSpPr>
            <p:spPr bwMode="auto">
              <a:xfrm>
                <a:off x="264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39</a:t>
                </a:r>
              </a:p>
            </p:txBody>
          </p:sp>
          <p:sp>
            <p:nvSpPr>
              <p:cNvPr id="27691" name="Line 20"/>
              <p:cNvSpPr>
                <a:spLocks noChangeShapeType="1"/>
              </p:cNvSpPr>
              <p:nvPr/>
            </p:nvSpPr>
            <p:spPr bwMode="auto">
              <a:xfrm>
                <a:off x="322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2" name="Line 21"/>
              <p:cNvSpPr>
                <a:spLocks noChangeShapeType="1"/>
              </p:cNvSpPr>
              <p:nvPr/>
            </p:nvSpPr>
            <p:spPr bwMode="auto">
              <a:xfrm>
                <a:off x="322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3" name="Text Box 22"/>
              <p:cNvSpPr txBox="1">
                <a:spLocks noChangeArrowheads="1"/>
              </p:cNvSpPr>
              <p:nvPr/>
            </p:nvSpPr>
            <p:spPr bwMode="auto">
              <a:xfrm>
                <a:off x="3030"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42</a:t>
                </a:r>
              </a:p>
            </p:txBody>
          </p:sp>
          <p:sp>
            <p:nvSpPr>
              <p:cNvPr id="27694" name="Text Box 23"/>
              <p:cNvSpPr txBox="1">
                <a:spLocks noChangeArrowheads="1"/>
              </p:cNvSpPr>
              <p:nvPr/>
            </p:nvSpPr>
            <p:spPr bwMode="auto">
              <a:xfrm>
                <a:off x="338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27695" name="Line 24"/>
              <p:cNvSpPr>
                <a:spLocks noChangeShapeType="1"/>
              </p:cNvSpPr>
              <p:nvPr/>
            </p:nvSpPr>
            <p:spPr bwMode="auto">
              <a:xfrm>
                <a:off x="384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6" name="Line 25"/>
              <p:cNvSpPr>
                <a:spLocks noChangeShapeType="1"/>
              </p:cNvSpPr>
              <p:nvPr/>
            </p:nvSpPr>
            <p:spPr bwMode="auto">
              <a:xfrm>
                <a:off x="384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7" name="Text Box 26"/>
              <p:cNvSpPr txBox="1">
                <a:spLocks noChangeArrowheads="1"/>
              </p:cNvSpPr>
              <p:nvPr/>
            </p:nvSpPr>
            <p:spPr bwMode="auto">
              <a:xfrm>
                <a:off x="365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49</a:t>
                </a:r>
              </a:p>
            </p:txBody>
          </p:sp>
          <p:sp>
            <p:nvSpPr>
              <p:cNvPr id="27698" name="Line 27"/>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99" name="Text Box 28"/>
              <p:cNvSpPr txBox="1">
                <a:spLocks noChangeArrowheads="1"/>
              </p:cNvSpPr>
              <p:nvPr/>
            </p:nvSpPr>
            <p:spPr bwMode="auto">
              <a:xfrm>
                <a:off x="419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grpSp>
      </p:grpSp>
      <p:grpSp>
        <p:nvGrpSpPr>
          <p:cNvPr id="27653" name="Group 29"/>
          <p:cNvGrpSpPr>
            <a:grpSpLocks/>
          </p:cNvGrpSpPr>
          <p:nvPr/>
        </p:nvGrpSpPr>
        <p:grpSpPr bwMode="auto">
          <a:xfrm>
            <a:off x="685800" y="2133600"/>
            <a:ext cx="8153400" cy="2895600"/>
            <a:chOff x="432" y="1344"/>
            <a:chExt cx="5136" cy="1824"/>
          </a:xfrm>
        </p:grpSpPr>
        <p:sp>
          <p:nvSpPr>
            <p:cNvPr id="27654" name="Rectangle 30"/>
            <p:cNvSpPr>
              <a:spLocks noChangeArrowheads="1"/>
            </p:cNvSpPr>
            <p:nvPr/>
          </p:nvSpPr>
          <p:spPr bwMode="auto">
            <a:xfrm>
              <a:off x="432" y="1344"/>
              <a:ext cx="4990"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一个实例</a:t>
              </a:r>
            </a:p>
          </p:txBody>
        </p:sp>
        <p:sp>
          <p:nvSpPr>
            <p:cNvPr id="27655" name="Line 31"/>
            <p:cNvSpPr>
              <a:spLocks noChangeShapeType="1"/>
            </p:cNvSpPr>
            <p:nvPr/>
          </p:nvSpPr>
          <p:spPr bwMode="auto">
            <a:xfrm>
              <a:off x="3216" y="1632"/>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6" name="Line 32"/>
            <p:cNvSpPr>
              <a:spLocks noChangeShapeType="1"/>
            </p:cNvSpPr>
            <p:nvPr/>
          </p:nvSpPr>
          <p:spPr bwMode="auto">
            <a:xfrm>
              <a:off x="3216"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7657" name="Group 33"/>
            <p:cNvGrpSpPr>
              <a:grpSpLocks/>
            </p:cNvGrpSpPr>
            <p:nvPr/>
          </p:nvGrpSpPr>
          <p:grpSpPr bwMode="auto">
            <a:xfrm>
              <a:off x="768" y="1796"/>
              <a:ext cx="2256" cy="886"/>
              <a:chOff x="768" y="1796"/>
              <a:chExt cx="2256" cy="886"/>
            </a:xfrm>
          </p:grpSpPr>
          <p:sp>
            <p:nvSpPr>
              <p:cNvPr id="27674" name="Rectangle 34"/>
              <p:cNvSpPr>
                <a:spLocks noChangeArrowheads="1"/>
              </p:cNvSpPr>
              <p:nvPr/>
            </p:nvSpPr>
            <p:spPr bwMode="auto">
              <a:xfrm>
                <a:off x="912" y="1796"/>
                <a:ext cx="2112" cy="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Tx/>
                  <a:buSzTx/>
                  <a:buFontTx/>
                  <a:buNone/>
                </a:pPr>
                <a:r>
                  <a:rPr lang="zh-CN" altLang="en-US" sz="2400"/>
                  <a:t>假定任务的到达顺序为</a:t>
                </a:r>
                <a:r>
                  <a:rPr lang="en-US" altLang="zh-CN" sz="2400"/>
                  <a:t>: P</a:t>
                </a:r>
                <a:r>
                  <a:rPr lang="en-US" altLang="zh-CN" sz="2400" baseline="-25000"/>
                  <a:t>1</a:t>
                </a:r>
                <a:r>
                  <a:rPr lang="zh-CN" altLang="en-US" sz="2400"/>
                  <a:t>，</a:t>
                </a:r>
                <a:r>
                  <a:rPr lang="en-US" altLang="zh-CN" sz="2400"/>
                  <a:t>P</a:t>
                </a:r>
                <a:r>
                  <a:rPr lang="en-US" altLang="zh-CN" sz="2400" baseline="-25000"/>
                  <a:t>2</a:t>
                </a:r>
                <a:r>
                  <a:rPr lang="zh-CN" altLang="en-US" sz="2400"/>
                  <a:t>，</a:t>
                </a:r>
                <a:r>
                  <a:rPr lang="en-US" altLang="zh-CN" sz="2400"/>
                  <a:t>P</a:t>
                </a:r>
                <a:r>
                  <a:rPr lang="en-US" altLang="zh-CN" sz="2400" baseline="-25000"/>
                  <a:t>3</a:t>
                </a:r>
                <a:r>
                  <a:rPr lang="zh-CN" altLang="en-US" sz="2400"/>
                  <a:t>，</a:t>
                </a:r>
                <a:r>
                  <a:rPr lang="en-US" altLang="zh-CN" sz="2400"/>
                  <a:t>P</a:t>
                </a:r>
                <a:r>
                  <a:rPr lang="en-US" altLang="zh-CN" sz="2400" baseline="-25000"/>
                  <a:t>4</a:t>
                </a:r>
                <a:r>
                  <a:rPr lang="zh-CN" altLang="en-US" sz="2400"/>
                  <a:t>，</a:t>
                </a:r>
                <a:r>
                  <a:rPr lang="en-US" altLang="zh-CN" sz="2400"/>
                  <a:t>P</a:t>
                </a:r>
                <a:r>
                  <a:rPr lang="en-US" altLang="zh-CN" sz="2400" baseline="-25000"/>
                  <a:t>5</a:t>
                </a:r>
                <a:r>
                  <a:rPr lang="zh-CN" altLang="en-US" sz="2400"/>
                  <a:t>；到达时刻都为</a:t>
                </a:r>
                <a:r>
                  <a:rPr lang="en-US" altLang="zh-CN" sz="2400"/>
                  <a:t>0</a:t>
                </a:r>
                <a:r>
                  <a:rPr lang="zh-CN" altLang="en-US" sz="2400"/>
                  <a:t>。</a:t>
                </a:r>
              </a:p>
            </p:txBody>
          </p:sp>
          <p:pic>
            <p:nvPicPr>
              <p:cNvPr id="27675" name="Picture 35"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 y="187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658" name="Line 36"/>
            <p:cNvSpPr>
              <a:spLocks noChangeShapeType="1"/>
            </p:cNvSpPr>
            <p:nvPr/>
          </p:nvSpPr>
          <p:spPr bwMode="auto">
            <a:xfrm>
              <a:off x="4080"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9" name="Rectangle 37"/>
            <p:cNvSpPr>
              <a:spLocks noChangeArrowheads="1"/>
            </p:cNvSpPr>
            <p:nvPr/>
          </p:nvSpPr>
          <p:spPr bwMode="auto">
            <a:xfrm>
              <a:off x="3386" y="1344"/>
              <a:ext cx="6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任务</a:t>
              </a:r>
            </a:p>
          </p:txBody>
        </p:sp>
        <p:sp>
          <p:nvSpPr>
            <p:cNvPr id="27660" name="Rectangle 38"/>
            <p:cNvSpPr>
              <a:spLocks noChangeArrowheads="1"/>
            </p:cNvSpPr>
            <p:nvPr/>
          </p:nvSpPr>
          <p:spPr bwMode="auto">
            <a:xfrm>
              <a:off x="4208" y="1356"/>
              <a:ext cx="13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t>CPU</a:t>
              </a:r>
              <a:r>
                <a:rPr lang="zh-CN" altLang="en-US" sz="2400"/>
                <a:t>区间</a:t>
              </a:r>
              <a:r>
                <a:rPr lang="en-US" altLang="zh-CN" sz="2400"/>
                <a:t>(ms)</a:t>
              </a:r>
            </a:p>
          </p:txBody>
        </p:sp>
        <p:sp>
          <p:nvSpPr>
            <p:cNvPr id="27661" name="Rectangle 39"/>
            <p:cNvSpPr>
              <a:spLocks noChangeArrowheads="1"/>
            </p:cNvSpPr>
            <p:nvPr/>
          </p:nvSpPr>
          <p:spPr bwMode="auto">
            <a:xfrm>
              <a:off x="3504" y="169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1</a:t>
              </a:r>
            </a:p>
          </p:txBody>
        </p:sp>
        <p:sp>
          <p:nvSpPr>
            <p:cNvPr id="27662" name="Rectangle 40"/>
            <p:cNvSpPr>
              <a:spLocks noChangeArrowheads="1"/>
            </p:cNvSpPr>
            <p:nvPr/>
          </p:nvSpPr>
          <p:spPr bwMode="auto">
            <a:xfrm>
              <a:off x="4629" y="1680"/>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10</a:t>
              </a:r>
              <a:endParaRPr lang="en-US" altLang="zh-CN" sz="2400" baseline="-25000">
                <a:solidFill>
                  <a:srgbClr val="FF0000"/>
                </a:solidFill>
              </a:endParaRPr>
            </a:p>
          </p:txBody>
        </p:sp>
        <p:sp>
          <p:nvSpPr>
            <p:cNvPr id="27663" name="Rectangle 41"/>
            <p:cNvSpPr>
              <a:spLocks noChangeArrowheads="1"/>
            </p:cNvSpPr>
            <p:nvPr/>
          </p:nvSpPr>
          <p:spPr bwMode="auto">
            <a:xfrm>
              <a:off x="3504" y="1968"/>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2</a:t>
              </a:r>
            </a:p>
          </p:txBody>
        </p:sp>
        <p:sp>
          <p:nvSpPr>
            <p:cNvPr id="27664" name="Rectangle 42"/>
            <p:cNvSpPr>
              <a:spLocks noChangeArrowheads="1"/>
            </p:cNvSpPr>
            <p:nvPr/>
          </p:nvSpPr>
          <p:spPr bwMode="auto">
            <a:xfrm>
              <a:off x="4629" y="1968"/>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29</a:t>
              </a:r>
              <a:endParaRPr lang="en-US" altLang="zh-CN" sz="2400" baseline="-25000">
                <a:solidFill>
                  <a:srgbClr val="FF0000"/>
                </a:solidFill>
              </a:endParaRPr>
            </a:p>
          </p:txBody>
        </p:sp>
        <p:sp>
          <p:nvSpPr>
            <p:cNvPr id="27665" name="Rectangle 43"/>
            <p:cNvSpPr>
              <a:spLocks noChangeArrowheads="1"/>
            </p:cNvSpPr>
            <p:nvPr/>
          </p:nvSpPr>
          <p:spPr bwMode="auto">
            <a:xfrm>
              <a:off x="3504" y="2256"/>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3</a:t>
              </a:r>
            </a:p>
          </p:txBody>
        </p:sp>
        <p:sp>
          <p:nvSpPr>
            <p:cNvPr id="27666" name="Rectangle 44"/>
            <p:cNvSpPr>
              <a:spLocks noChangeArrowheads="1"/>
            </p:cNvSpPr>
            <p:nvPr/>
          </p:nvSpPr>
          <p:spPr bwMode="auto">
            <a:xfrm>
              <a:off x="4674" y="2277"/>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3</a:t>
              </a:r>
              <a:endParaRPr lang="en-US" altLang="zh-CN" sz="2400" baseline="-25000">
                <a:solidFill>
                  <a:srgbClr val="FF0000"/>
                </a:solidFill>
              </a:endParaRPr>
            </a:p>
          </p:txBody>
        </p:sp>
        <p:sp>
          <p:nvSpPr>
            <p:cNvPr id="27667" name="Line 45"/>
            <p:cNvSpPr>
              <a:spLocks noChangeShapeType="1"/>
            </p:cNvSpPr>
            <p:nvPr/>
          </p:nvSpPr>
          <p:spPr bwMode="auto">
            <a:xfrm>
              <a:off x="3216" y="3168"/>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68" name="Rectangle 46"/>
            <p:cNvSpPr>
              <a:spLocks noChangeArrowheads="1"/>
            </p:cNvSpPr>
            <p:nvPr/>
          </p:nvSpPr>
          <p:spPr bwMode="auto">
            <a:xfrm>
              <a:off x="3504" y="256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4</a:t>
              </a:r>
            </a:p>
          </p:txBody>
        </p:sp>
        <p:sp>
          <p:nvSpPr>
            <p:cNvPr id="27669" name="Rectangle 47"/>
            <p:cNvSpPr>
              <a:spLocks noChangeArrowheads="1"/>
            </p:cNvSpPr>
            <p:nvPr/>
          </p:nvSpPr>
          <p:spPr bwMode="auto">
            <a:xfrm>
              <a:off x="4674" y="256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7</a:t>
              </a:r>
              <a:endParaRPr lang="en-US" altLang="zh-CN" sz="2400" baseline="-25000">
                <a:solidFill>
                  <a:srgbClr val="FF0000"/>
                </a:solidFill>
              </a:endParaRPr>
            </a:p>
          </p:txBody>
        </p:sp>
        <p:sp>
          <p:nvSpPr>
            <p:cNvPr id="27670" name="Rectangle 48"/>
            <p:cNvSpPr>
              <a:spLocks noChangeArrowheads="1"/>
            </p:cNvSpPr>
            <p:nvPr/>
          </p:nvSpPr>
          <p:spPr bwMode="auto">
            <a:xfrm>
              <a:off x="3504" y="2850"/>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5</a:t>
              </a:r>
            </a:p>
          </p:txBody>
        </p:sp>
        <p:sp>
          <p:nvSpPr>
            <p:cNvPr id="27671" name="Rectangle 49"/>
            <p:cNvSpPr>
              <a:spLocks noChangeArrowheads="1"/>
            </p:cNvSpPr>
            <p:nvPr/>
          </p:nvSpPr>
          <p:spPr bwMode="auto">
            <a:xfrm>
              <a:off x="4629" y="2880"/>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12</a:t>
              </a:r>
              <a:endParaRPr lang="en-US" altLang="zh-CN" sz="2400" baseline="-25000">
                <a:solidFill>
                  <a:srgbClr val="FF0000"/>
                </a:solidFill>
              </a:endParaRPr>
            </a:p>
          </p:txBody>
        </p:sp>
        <p:sp>
          <p:nvSpPr>
            <p:cNvPr id="27672" name="Line 50"/>
            <p:cNvSpPr>
              <a:spLocks noChangeShapeType="1"/>
            </p:cNvSpPr>
            <p:nvPr/>
          </p:nvSpPr>
          <p:spPr bwMode="auto">
            <a:xfrm>
              <a:off x="5568"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73" name="Line 51"/>
            <p:cNvSpPr>
              <a:spLocks noChangeShapeType="1"/>
            </p:cNvSpPr>
            <p:nvPr/>
          </p:nvSpPr>
          <p:spPr bwMode="auto">
            <a:xfrm>
              <a:off x="3216" y="1344"/>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81000" y="304800"/>
            <a:ext cx="8763000" cy="676275"/>
          </a:xfrm>
        </p:spPr>
        <p:txBody>
          <a:bodyPr/>
          <a:lstStyle/>
          <a:p>
            <a:pPr eaLnBrk="1" hangingPunct="1"/>
            <a:r>
              <a:rPr lang="en-US" altLang="zh-CN" smtClean="0">
                <a:sym typeface="Symbol" panose="05050102010706020507" pitchFamily="18" charset="2"/>
              </a:rPr>
              <a:t>FCFS</a:t>
            </a:r>
            <a:r>
              <a:rPr lang="zh-CN" altLang="en-US" smtClean="0">
                <a:sym typeface="Symbol" panose="05050102010706020507" pitchFamily="18" charset="2"/>
              </a:rPr>
              <a:t>的分析</a:t>
            </a:r>
          </a:p>
        </p:txBody>
      </p:sp>
      <p:grpSp>
        <p:nvGrpSpPr>
          <p:cNvPr id="28675" name="Group 6"/>
          <p:cNvGrpSpPr>
            <a:grpSpLocks/>
          </p:cNvGrpSpPr>
          <p:nvPr/>
        </p:nvGrpSpPr>
        <p:grpSpPr bwMode="auto">
          <a:xfrm>
            <a:off x="1295400" y="1371600"/>
            <a:ext cx="6477000" cy="1219200"/>
            <a:chOff x="816" y="3360"/>
            <a:chExt cx="4080" cy="768"/>
          </a:xfrm>
        </p:grpSpPr>
        <p:sp>
          <p:nvSpPr>
            <p:cNvPr id="28706" name="Rectangle 7"/>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8707" name="Text Box 8"/>
            <p:cNvSpPr txBox="1">
              <a:spLocks noChangeArrowheads="1"/>
            </p:cNvSpPr>
            <p:nvPr/>
          </p:nvSpPr>
          <p:spPr bwMode="auto">
            <a:xfrm>
              <a:off x="1152"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28708" name="Text Box 9"/>
            <p:cNvSpPr txBox="1">
              <a:spLocks noChangeArrowheads="1"/>
            </p:cNvSpPr>
            <p:nvPr/>
          </p:nvSpPr>
          <p:spPr bwMode="auto">
            <a:xfrm>
              <a:off x="2085"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28709" name="Text Box 10"/>
            <p:cNvSpPr txBox="1">
              <a:spLocks noChangeArrowheads="1"/>
            </p:cNvSpPr>
            <p:nvPr/>
          </p:nvSpPr>
          <p:spPr bwMode="auto">
            <a:xfrm>
              <a:off x="2880"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28710" name="Line 11"/>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11" name="Line 12"/>
            <p:cNvSpPr>
              <a:spLocks noChangeShapeType="1"/>
            </p:cNvSpPr>
            <p:nvPr/>
          </p:nvSpPr>
          <p:spPr bwMode="auto">
            <a:xfrm>
              <a:off x="168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12" name="Line 13"/>
            <p:cNvSpPr>
              <a:spLocks noChangeShapeType="1"/>
            </p:cNvSpPr>
            <p:nvPr/>
          </p:nvSpPr>
          <p:spPr bwMode="auto">
            <a:xfrm>
              <a:off x="168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13" name="Text Box 14"/>
            <p:cNvSpPr txBox="1">
              <a:spLocks noChangeArrowheads="1"/>
            </p:cNvSpPr>
            <p:nvPr/>
          </p:nvSpPr>
          <p:spPr bwMode="auto">
            <a:xfrm>
              <a:off x="149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10</a:t>
              </a:r>
            </a:p>
          </p:txBody>
        </p:sp>
        <p:sp>
          <p:nvSpPr>
            <p:cNvPr id="28714" name="Text Box 15"/>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28715" name="Text Box 16"/>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28716" name="Line 17"/>
            <p:cNvSpPr>
              <a:spLocks noChangeShapeType="1"/>
            </p:cNvSpPr>
            <p:nvPr/>
          </p:nvSpPr>
          <p:spPr bwMode="auto">
            <a:xfrm>
              <a:off x="2838"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17" name="Line 18"/>
            <p:cNvSpPr>
              <a:spLocks noChangeShapeType="1"/>
            </p:cNvSpPr>
            <p:nvPr/>
          </p:nvSpPr>
          <p:spPr bwMode="auto">
            <a:xfrm>
              <a:off x="2838"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18" name="Text Box 19"/>
            <p:cNvSpPr txBox="1">
              <a:spLocks noChangeArrowheads="1"/>
            </p:cNvSpPr>
            <p:nvPr/>
          </p:nvSpPr>
          <p:spPr bwMode="auto">
            <a:xfrm>
              <a:off x="264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39</a:t>
              </a:r>
            </a:p>
          </p:txBody>
        </p:sp>
        <p:sp>
          <p:nvSpPr>
            <p:cNvPr id="28719" name="Line 20"/>
            <p:cNvSpPr>
              <a:spLocks noChangeShapeType="1"/>
            </p:cNvSpPr>
            <p:nvPr/>
          </p:nvSpPr>
          <p:spPr bwMode="auto">
            <a:xfrm>
              <a:off x="322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20" name="Line 21"/>
            <p:cNvSpPr>
              <a:spLocks noChangeShapeType="1"/>
            </p:cNvSpPr>
            <p:nvPr/>
          </p:nvSpPr>
          <p:spPr bwMode="auto">
            <a:xfrm>
              <a:off x="322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21" name="Text Box 22"/>
            <p:cNvSpPr txBox="1">
              <a:spLocks noChangeArrowheads="1"/>
            </p:cNvSpPr>
            <p:nvPr/>
          </p:nvSpPr>
          <p:spPr bwMode="auto">
            <a:xfrm>
              <a:off x="3030"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42</a:t>
              </a:r>
            </a:p>
          </p:txBody>
        </p:sp>
        <p:sp>
          <p:nvSpPr>
            <p:cNvPr id="28722" name="Text Box 23"/>
            <p:cNvSpPr txBox="1">
              <a:spLocks noChangeArrowheads="1"/>
            </p:cNvSpPr>
            <p:nvPr/>
          </p:nvSpPr>
          <p:spPr bwMode="auto">
            <a:xfrm>
              <a:off x="338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28723" name="Line 24"/>
            <p:cNvSpPr>
              <a:spLocks noChangeShapeType="1"/>
            </p:cNvSpPr>
            <p:nvPr/>
          </p:nvSpPr>
          <p:spPr bwMode="auto">
            <a:xfrm>
              <a:off x="384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24" name="Line 25"/>
            <p:cNvSpPr>
              <a:spLocks noChangeShapeType="1"/>
            </p:cNvSpPr>
            <p:nvPr/>
          </p:nvSpPr>
          <p:spPr bwMode="auto">
            <a:xfrm>
              <a:off x="384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25" name="Text Box 26"/>
            <p:cNvSpPr txBox="1">
              <a:spLocks noChangeArrowheads="1"/>
            </p:cNvSpPr>
            <p:nvPr/>
          </p:nvSpPr>
          <p:spPr bwMode="auto">
            <a:xfrm>
              <a:off x="365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49</a:t>
              </a:r>
            </a:p>
          </p:txBody>
        </p:sp>
        <p:sp>
          <p:nvSpPr>
            <p:cNvPr id="28726" name="Line 27"/>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27" name="Text Box 28"/>
            <p:cNvSpPr txBox="1">
              <a:spLocks noChangeArrowheads="1"/>
            </p:cNvSpPr>
            <p:nvPr/>
          </p:nvSpPr>
          <p:spPr bwMode="auto">
            <a:xfrm>
              <a:off x="419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grpSp>
      <p:grpSp>
        <p:nvGrpSpPr>
          <p:cNvPr id="191540" name="Group 52"/>
          <p:cNvGrpSpPr>
            <a:grpSpLocks/>
          </p:cNvGrpSpPr>
          <p:nvPr/>
        </p:nvGrpSpPr>
        <p:grpSpPr bwMode="auto">
          <a:xfrm>
            <a:off x="906463" y="2514600"/>
            <a:ext cx="6256337" cy="603250"/>
            <a:chOff x="571" y="1684"/>
            <a:chExt cx="3941" cy="380"/>
          </a:xfrm>
        </p:grpSpPr>
        <p:sp>
          <p:nvSpPr>
            <p:cNvPr id="28704" name="Rectangle 53"/>
            <p:cNvSpPr>
              <a:spLocks noChangeArrowheads="1"/>
            </p:cNvSpPr>
            <p:nvPr/>
          </p:nvSpPr>
          <p:spPr bwMode="auto">
            <a:xfrm>
              <a:off x="571" y="1684"/>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solidFill>
                    <a:srgbClr val="FF0000"/>
                  </a:solidFill>
                </a:rPr>
                <a:t>平均等待时间</a:t>
              </a:r>
              <a:r>
                <a:rPr lang="en-US" altLang="zh-CN" sz="2400">
                  <a:solidFill>
                    <a:srgbClr val="FF0000"/>
                  </a:solidFill>
                </a:rPr>
                <a:t>: (0+10+39+42+49)/5 = 28</a:t>
              </a:r>
            </a:p>
          </p:txBody>
        </p:sp>
        <p:pic>
          <p:nvPicPr>
            <p:cNvPr id="28705" name="Picture 54"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1546" name="Rectangle 58"/>
          <p:cNvSpPr>
            <a:spLocks noGrp="1" noChangeArrowheads="1"/>
          </p:cNvSpPr>
          <p:nvPr>
            <p:ph type="body" idx="1"/>
          </p:nvPr>
        </p:nvSpPr>
        <p:spPr>
          <a:xfrm>
            <a:off x="685800" y="3124200"/>
            <a:ext cx="8229600" cy="865188"/>
          </a:xfrm>
          <a:noFill/>
        </p:spPr>
        <p:txBody>
          <a:bodyPr/>
          <a:lstStyle/>
          <a:p>
            <a:pPr eaLnBrk="1" hangingPunct="1">
              <a:lnSpc>
                <a:spcPct val="130000"/>
              </a:lnSpc>
            </a:pPr>
            <a:r>
              <a:rPr lang="zh-CN" altLang="en-US" smtClean="0"/>
              <a:t>公平、简单</a:t>
            </a:r>
            <a:r>
              <a:rPr lang="en-US" altLang="zh-CN" smtClean="0"/>
              <a:t>(FIFO</a:t>
            </a:r>
            <a:r>
              <a:rPr lang="zh-CN" altLang="en-US" smtClean="0"/>
              <a:t>队列</a:t>
            </a:r>
            <a:r>
              <a:rPr lang="en-US" altLang="zh-CN" smtClean="0"/>
              <a:t>)</a:t>
            </a:r>
            <a:r>
              <a:rPr lang="zh-CN" altLang="en-US" smtClean="0"/>
              <a:t>、非抢占、不适合交互式</a:t>
            </a:r>
          </a:p>
        </p:txBody>
      </p:sp>
      <p:grpSp>
        <p:nvGrpSpPr>
          <p:cNvPr id="191574" name="Group 86"/>
          <p:cNvGrpSpPr>
            <a:grpSpLocks/>
          </p:cNvGrpSpPr>
          <p:nvPr/>
        </p:nvGrpSpPr>
        <p:grpSpPr bwMode="auto">
          <a:xfrm>
            <a:off x="1371600" y="4724400"/>
            <a:ext cx="6477000" cy="1219200"/>
            <a:chOff x="912" y="2976"/>
            <a:chExt cx="4080" cy="768"/>
          </a:xfrm>
        </p:grpSpPr>
        <p:sp>
          <p:nvSpPr>
            <p:cNvPr id="28682" name="Rectangle 60"/>
            <p:cNvSpPr>
              <a:spLocks noChangeArrowheads="1"/>
            </p:cNvSpPr>
            <p:nvPr/>
          </p:nvSpPr>
          <p:spPr bwMode="auto">
            <a:xfrm>
              <a:off x="1016" y="2976"/>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8683" name="Text Box 61"/>
            <p:cNvSpPr txBox="1">
              <a:spLocks noChangeArrowheads="1"/>
            </p:cNvSpPr>
            <p:nvPr/>
          </p:nvSpPr>
          <p:spPr bwMode="auto">
            <a:xfrm>
              <a:off x="1248" y="3024"/>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28684" name="Text Box 62"/>
            <p:cNvSpPr txBox="1">
              <a:spLocks noChangeArrowheads="1"/>
            </p:cNvSpPr>
            <p:nvPr/>
          </p:nvSpPr>
          <p:spPr bwMode="auto">
            <a:xfrm>
              <a:off x="1824" y="3024"/>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28685" name="Text Box 63"/>
            <p:cNvSpPr txBox="1">
              <a:spLocks noChangeArrowheads="1"/>
            </p:cNvSpPr>
            <p:nvPr/>
          </p:nvSpPr>
          <p:spPr bwMode="auto">
            <a:xfrm>
              <a:off x="2661" y="3024"/>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28686" name="Line 64"/>
            <p:cNvSpPr>
              <a:spLocks noChangeShapeType="1"/>
            </p:cNvSpPr>
            <p:nvPr/>
          </p:nvSpPr>
          <p:spPr bwMode="auto">
            <a:xfrm>
              <a:off x="1016" y="3360"/>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7" name="Line 65"/>
            <p:cNvSpPr>
              <a:spLocks noChangeShapeType="1"/>
            </p:cNvSpPr>
            <p:nvPr/>
          </p:nvSpPr>
          <p:spPr bwMode="auto">
            <a:xfrm>
              <a:off x="1782" y="2976"/>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8" name="Line 66"/>
            <p:cNvSpPr>
              <a:spLocks noChangeShapeType="1"/>
            </p:cNvSpPr>
            <p:nvPr/>
          </p:nvSpPr>
          <p:spPr bwMode="auto">
            <a:xfrm>
              <a:off x="1782" y="3360"/>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89" name="Text Box 67"/>
            <p:cNvSpPr txBox="1">
              <a:spLocks noChangeArrowheads="1"/>
            </p:cNvSpPr>
            <p:nvPr/>
          </p:nvSpPr>
          <p:spPr bwMode="auto">
            <a:xfrm>
              <a:off x="1590" y="3456"/>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10</a:t>
              </a:r>
            </a:p>
          </p:txBody>
        </p:sp>
        <p:sp>
          <p:nvSpPr>
            <p:cNvPr id="28690" name="Text Box 68"/>
            <p:cNvSpPr txBox="1">
              <a:spLocks noChangeArrowheads="1"/>
            </p:cNvSpPr>
            <p:nvPr/>
          </p:nvSpPr>
          <p:spPr bwMode="auto">
            <a:xfrm>
              <a:off x="4662" y="3456"/>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28691" name="Text Box 69"/>
            <p:cNvSpPr txBox="1">
              <a:spLocks noChangeArrowheads="1"/>
            </p:cNvSpPr>
            <p:nvPr/>
          </p:nvSpPr>
          <p:spPr bwMode="auto">
            <a:xfrm>
              <a:off x="912" y="3456"/>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28692" name="Line 70"/>
            <p:cNvSpPr>
              <a:spLocks noChangeShapeType="1"/>
            </p:cNvSpPr>
            <p:nvPr/>
          </p:nvSpPr>
          <p:spPr bwMode="auto">
            <a:xfrm>
              <a:off x="2208" y="2976"/>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93" name="Line 71"/>
            <p:cNvSpPr>
              <a:spLocks noChangeShapeType="1"/>
            </p:cNvSpPr>
            <p:nvPr/>
          </p:nvSpPr>
          <p:spPr bwMode="auto">
            <a:xfrm>
              <a:off x="2208" y="3360"/>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94" name="Text Box 72"/>
            <p:cNvSpPr txBox="1">
              <a:spLocks noChangeArrowheads="1"/>
            </p:cNvSpPr>
            <p:nvPr/>
          </p:nvSpPr>
          <p:spPr bwMode="auto">
            <a:xfrm>
              <a:off x="2016" y="3456"/>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13</a:t>
              </a:r>
            </a:p>
          </p:txBody>
        </p:sp>
        <p:sp>
          <p:nvSpPr>
            <p:cNvPr id="28695" name="Line 73"/>
            <p:cNvSpPr>
              <a:spLocks noChangeShapeType="1"/>
            </p:cNvSpPr>
            <p:nvPr/>
          </p:nvSpPr>
          <p:spPr bwMode="auto">
            <a:xfrm>
              <a:off x="3318" y="2976"/>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96" name="Line 74"/>
            <p:cNvSpPr>
              <a:spLocks noChangeShapeType="1"/>
            </p:cNvSpPr>
            <p:nvPr/>
          </p:nvSpPr>
          <p:spPr bwMode="auto">
            <a:xfrm>
              <a:off x="3318" y="3360"/>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697" name="Text Box 75"/>
            <p:cNvSpPr txBox="1">
              <a:spLocks noChangeArrowheads="1"/>
            </p:cNvSpPr>
            <p:nvPr/>
          </p:nvSpPr>
          <p:spPr bwMode="auto">
            <a:xfrm>
              <a:off x="3126" y="3456"/>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42</a:t>
              </a:r>
            </a:p>
          </p:txBody>
        </p:sp>
        <p:sp>
          <p:nvSpPr>
            <p:cNvPr id="28698" name="Text Box 76"/>
            <p:cNvSpPr txBox="1">
              <a:spLocks noChangeArrowheads="1"/>
            </p:cNvSpPr>
            <p:nvPr/>
          </p:nvSpPr>
          <p:spPr bwMode="auto">
            <a:xfrm>
              <a:off x="3477" y="3024"/>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28699" name="Line 77"/>
            <p:cNvSpPr>
              <a:spLocks noChangeShapeType="1"/>
            </p:cNvSpPr>
            <p:nvPr/>
          </p:nvSpPr>
          <p:spPr bwMode="auto">
            <a:xfrm>
              <a:off x="3942" y="2976"/>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00" name="Line 78"/>
            <p:cNvSpPr>
              <a:spLocks noChangeShapeType="1"/>
            </p:cNvSpPr>
            <p:nvPr/>
          </p:nvSpPr>
          <p:spPr bwMode="auto">
            <a:xfrm>
              <a:off x="3942" y="3360"/>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01" name="Text Box 79"/>
            <p:cNvSpPr txBox="1">
              <a:spLocks noChangeArrowheads="1"/>
            </p:cNvSpPr>
            <p:nvPr/>
          </p:nvSpPr>
          <p:spPr bwMode="auto">
            <a:xfrm>
              <a:off x="3750" y="3456"/>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49</a:t>
              </a:r>
            </a:p>
          </p:txBody>
        </p:sp>
        <p:sp>
          <p:nvSpPr>
            <p:cNvPr id="28702" name="Line 80"/>
            <p:cNvSpPr>
              <a:spLocks noChangeShapeType="1"/>
            </p:cNvSpPr>
            <p:nvPr/>
          </p:nvSpPr>
          <p:spPr bwMode="auto">
            <a:xfrm>
              <a:off x="4848" y="3360"/>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703" name="Text Box 81"/>
            <p:cNvSpPr txBox="1">
              <a:spLocks noChangeArrowheads="1"/>
            </p:cNvSpPr>
            <p:nvPr/>
          </p:nvSpPr>
          <p:spPr bwMode="auto">
            <a:xfrm>
              <a:off x="4293" y="3024"/>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grpSp>
      <p:sp>
        <p:nvSpPr>
          <p:cNvPr id="191571" name="Rectangle 83"/>
          <p:cNvSpPr>
            <a:spLocks noChangeArrowheads="1"/>
          </p:cNvSpPr>
          <p:nvPr/>
        </p:nvSpPr>
        <p:spPr bwMode="auto">
          <a:xfrm>
            <a:off x="990600" y="5949950"/>
            <a:ext cx="7170738"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solidFill>
                  <a:srgbClr val="FF0000"/>
                </a:solidFill>
              </a:rPr>
              <a:t>平均等待时间</a:t>
            </a:r>
            <a:r>
              <a:rPr lang="en-US" altLang="zh-CN" sz="2400">
                <a:solidFill>
                  <a:srgbClr val="FF0000"/>
                </a:solidFill>
              </a:rPr>
              <a:t>: (0+10+13+42+49)/5 = 22.8</a:t>
            </a:r>
          </a:p>
        </p:txBody>
      </p:sp>
      <p:pic>
        <p:nvPicPr>
          <p:cNvPr id="28680" name="Picture 84"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2538" y="6197600"/>
            <a:ext cx="188912" cy="1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573" name="Rectangle 85"/>
          <p:cNvSpPr>
            <a:spLocks noChangeArrowheads="1"/>
          </p:cNvSpPr>
          <p:nvPr/>
        </p:nvSpPr>
        <p:spPr bwMode="auto">
          <a:xfrm>
            <a:off x="685800" y="3886200"/>
            <a:ext cx="8229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未考虑任务特性，平均等待时间可以缩短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91540"/>
                                        </p:tgtEl>
                                        <p:attrNameLst>
                                          <p:attrName>style.visibility</p:attrName>
                                        </p:attrNameLst>
                                      </p:cBhvr>
                                      <p:to>
                                        <p:strVal val="visible"/>
                                      </p:to>
                                    </p:set>
                                    <p:animEffect transition="in" filter="dissolve">
                                      <p:cBhvr>
                                        <p:cTn id="7" dur="500"/>
                                        <p:tgtEl>
                                          <p:spTgt spid="1915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1546">
                                            <p:txEl>
                                              <p:pRg st="0" end="0"/>
                                            </p:txEl>
                                          </p:spTgt>
                                        </p:tgtEl>
                                        <p:attrNameLst>
                                          <p:attrName>style.visibility</p:attrName>
                                        </p:attrNameLst>
                                      </p:cBhvr>
                                      <p:to>
                                        <p:strVal val="visible"/>
                                      </p:to>
                                    </p:set>
                                    <p:animEffect transition="in" filter="dissolve">
                                      <p:cBhvr>
                                        <p:cTn id="12" dur="500"/>
                                        <p:tgtEl>
                                          <p:spTgt spid="19154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1573">
                                            <p:txEl>
                                              <p:pRg st="0" end="0"/>
                                            </p:txEl>
                                          </p:spTgt>
                                        </p:tgtEl>
                                        <p:attrNameLst>
                                          <p:attrName>style.visibility</p:attrName>
                                        </p:attrNameLst>
                                      </p:cBhvr>
                                      <p:to>
                                        <p:strVal val="visible"/>
                                      </p:to>
                                    </p:set>
                                    <p:animEffect transition="in" filter="dissolve">
                                      <p:cBhvr>
                                        <p:cTn id="17" dur="500"/>
                                        <p:tgtEl>
                                          <p:spTgt spid="19157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19157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91571"/>
                                        </p:tgtEl>
                                        <p:attrNameLst>
                                          <p:attrName>style.visibility</p:attrName>
                                        </p:attrNameLst>
                                      </p:cBhvr>
                                      <p:to>
                                        <p:strVal val="visible"/>
                                      </p:to>
                                    </p:set>
                                    <p:animEffect transition="in" filter="wipe(left)">
                                      <p:cBhvr>
                                        <p:cTn id="26" dur="500"/>
                                        <p:tgtEl>
                                          <p:spTgt spid="191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546" grpId="0" build="p"/>
      <p:bldP spid="191571" grpId="0"/>
      <p:bldP spid="19157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0" y="304800"/>
            <a:ext cx="9144000" cy="676275"/>
          </a:xfrm>
        </p:spPr>
        <p:txBody>
          <a:bodyPr/>
          <a:lstStyle/>
          <a:p>
            <a:pPr eaLnBrk="1" hangingPunct="1"/>
            <a:r>
              <a:rPr lang="zh-CN" altLang="en-US" smtClean="0"/>
              <a:t>（</a:t>
            </a:r>
            <a:r>
              <a:rPr lang="en-US" altLang="zh-CN" smtClean="0"/>
              <a:t>2</a:t>
            </a:r>
            <a:r>
              <a:rPr lang="zh-CN" altLang="en-US" smtClean="0"/>
              <a:t>）</a:t>
            </a:r>
            <a:r>
              <a:rPr lang="en-US" altLang="zh-CN" smtClean="0"/>
              <a:t>Shortest Job First </a:t>
            </a:r>
            <a:r>
              <a:rPr lang="en-US" altLang="zh-CN" smtClean="0">
                <a:sym typeface="Symbol" panose="05050102010706020507" pitchFamily="18" charset="2"/>
              </a:rPr>
              <a:t>(SJF)</a:t>
            </a:r>
          </a:p>
        </p:txBody>
      </p:sp>
      <p:sp>
        <p:nvSpPr>
          <p:cNvPr id="236547" name="Rectangle 3"/>
          <p:cNvSpPr>
            <a:spLocks noGrp="1" noChangeArrowheads="1"/>
          </p:cNvSpPr>
          <p:nvPr>
            <p:ph type="body" idx="1"/>
          </p:nvPr>
        </p:nvSpPr>
        <p:spPr>
          <a:xfrm>
            <a:off x="685800" y="1295400"/>
            <a:ext cx="7921625" cy="865188"/>
          </a:xfrm>
          <a:noFill/>
        </p:spPr>
        <p:txBody>
          <a:bodyPr/>
          <a:lstStyle/>
          <a:p>
            <a:pPr eaLnBrk="1" hangingPunct="1">
              <a:lnSpc>
                <a:spcPct val="130000"/>
              </a:lnSpc>
            </a:pPr>
            <a:r>
              <a:rPr lang="zh-CN" altLang="en-US" smtClean="0">
                <a:solidFill>
                  <a:srgbClr val="FF0000"/>
                </a:solidFill>
              </a:rPr>
              <a:t>最短的作业</a:t>
            </a:r>
            <a:r>
              <a:rPr lang="en-US" altLang="zh-CN" smtClean="0">
                <a:solidFill>
                  <a:srgbClr val="FF0000"/>
                </a:solidFill>
              </a:rPr>
              <a:t>(CPU</a:t>
            </a:r>
            <a:r>
              <a:rPr lang="zh-CN" altLang="en-US" smtClean="0">
                <a:solidFill>
                  <a:srgbClr val="FF0000"/>
                </a:solidFill>
              </a:rPr>
              <a:t>区间长度最小</a:t>
            </a:r>
            <a:r>
              <a:rPr lang="en-US" altLang="zh-CN" smtClean="0">
                <a:solidFill>
                  <a:srgbClr val="FF0000"/>
                </a:solidFill>
              </a:rPr>
              <a:t>)</a:t>
            </a:r>
            <a:r>
              <a:rPr lang="zh-CN" altLang="en-US" smtClean="0">
                <a:solidFill>
                  <a:srgbClr val="FF0000"/>
                </a:solidFill>
              </a:rPr>
              <a:t>最先调度</a:t>
            </a:r>
          </a:p>
        </p:txBody>
      </p:sp>
      <p:grpSp>
        <p:nvGrpSpPr>
          <p:cNvPr id="236548" name="Group 4"/>
          <p:cNvGrpSpPr>
            <a:grpSpLocks/>
          </p:cNvGrpSpPr>
          <p:nvPr/>
        </p:nvGrpSpPr>
        <p:grpSpPr bwMode="auto">
          <a:xfrm>
            <a:off x="685800" y="4572000"/>
            <a:ext cx="7086600" cy="1981200"/>
            <a:chOff x="432" y="2880"/>
            <a:chExt cx="4464" cy="1248"/>
          </a:xfrm>
        </p:grpSpPr>
        <p:sp>
          <p:nvSpPr>
            <p:cNvPr id="29739" name="Rectangle 5"/>
            <p:cNvSpPr>
              <a:spLocks noChangeArrowheads="1"/>
            </p:cNvSpPr>
            <p:nvPr/>
          </p:nvSpPr>
          <p:spPr bwMode="auto">
            <a:xfrm>
              <a:off x="432" y="2880"/>
              <a:ext cx="2304"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调度结果</a:t>
              </a:r>
            </a:p>
          </p:txBody>
        </p:sp>
        <p:grpSp>
          <p:nvGrpSpPr>
            <p:cNvPr id="29740" name="Group 6"/>
            <p:cNvGrpSpPr>
              <a:grpSpLocks/>
            </p:cNvGrpSpPr>
            <p:nvPr/>
          </p:nvGrpSpPr>
          <p:grpSpPr bwMode="auto">
            <a:xfrm>
              <a:off x="816" y="3360"/>
              <a:ext cx="4080" cy="768"/>
              <a:chOff x="816" y="3360"/>
              <a:chExt cx="4080" cy="768"/>
            </a:xfrm>
          </p:grpSpPr>
          <p:sp>
            <p:nvSpPr>
              <p:cNvPr id="29741" name="Rectangle 7"/>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9742" name="Text Box 8"/>
              <p:cNvSpPr txBox="1">
                <a:spLocks noChangeArrowheads="1"/>
              </p:cNvSpPr>
              <p:nvPr/>
            </p:nvSpPr>
            <p:spPr bwMode="auto">
              <a:xfrm>
                <a:off x="960"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29743" name="Text Box 9"/>
              <p:cNvSpPr txBox="1">
                <a:spLocks noChangeArrowheads="1"/>
              </p:cNvSpPr>
              <p:nvPr/>
            </p:nvSpPr>
            <p:spPr bwMode="auto">
              <a:xfrm>
                <a:off x="146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29744" name="Text Box 10"/>
              <p:cNvSpPr txBox="1">
                <a:spLocks noChangeArrowheads="1"/>
              </p:cNvSpPr>
              <p:nvPr/>
            </p:nvSpPr>
            <p:spPr bwMode="auto">
              <a:xfrm>
                <a:off x="218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29745" name="Line 11"/>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6" name="Line 12"/>
              <p:cNvSpPr>
                <a:spLocks noChangeShapeType="1"/>
              </p:cNvSpPr>
              <p:nvPr/>
            </p:nvSpPr>
            <p:spPr bwMode="auto">
              <a:xfrm>
                <a:off x="130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7" name="Line 13"/>
              <p:cNvSpPr>
                <a:spLocks noChangeShapeType="1"/>
              </p:cNvSpPr>
              <p:nvPr/>
            </p:nvSpPr>
            <p:spPr bwMode="auto">
              <a:xfrm>
                <a:off x="130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48" name="Text Box 14"/>
              <p:cNvSpPr txBox="1">
                <a:spLocks noChangeArrowheads="1"/>
              </p:cNvSpPr>
              <p:nvPr/>
            </p:nvSpPr>
            <p:spPr bwMode="auto">
              <a:xfrm>
                <a:off x="1163"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a:t>
                </a:r>
              </a:p>
            </p:txBody>
          </p:sp>
          <p:sp>
            <p:nvSpPr>
              <p:cNvPr id="29749" name="Text Box 15"/>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29750" name="Text Box 16"/>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29751" name="Line 17"/>
              <p:cNvSpPr>
                <a:spLocks noChangeShapeType="1"/>
              </p:cNvSpPr>
              <p:nvPr/>
            </p:nvSpPr>
            <p:spPr bwMode="auto">
              <a:xfrm>
                <a:off x="192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2" name="Line 18"/>
              <p:cNvSpPr>
                <a:spLocks noChangeShapeType="1"/>
              </p:cNvSpPr>
              <p:nvPr/>
            </p:nvSpPr>
            <p:spPr bwMode="auto">
              <a:xfrm>
                <a:off x="192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3" name="Text Box 19"/>
              <p:cNvSpPr txBox="1">
                <a:spLocks noChangeArrowheads="1"/>
              </p:cNvSpPr>
              <p:nvPr/>
            </p:nvSpPr>
            <p:spPr bwMode="auto">
              <a:xfrm>
                <a:off x="173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10</a:t>
                </a:r>
              </a:p>
            </p:txBody>
          </p:sp>
          <p:sp>
            <p:nvSpPr>
              <p:cNvPr id="29754" name="Line 20"/>
              <p:cNvSpPr>
                <a:spLocks noChangeShapeType="1"/>
              </p:cNvSpPr>
              <p:nvPr/>
            </p:nvSpPr>
            <p:spPr bwMode="auto">
              <a:xfrm>
                <a:off x="2694"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5" name="Line 21"/>
              <p:cNvSpPr>
                <a:spLocks noChangeShapeType="1"/>
              </p:cNvSpPr>
              <p:nvPr/>
            </p:nvSpPr>
            <p:spPr bwMode="auto">
              <a:xfrm>
                <a:off x="2694"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6" name="Text Box 22"/>
              <p:cNvSpPr txBox="1">
                <a:spLocks noChangeArrowheads="1"/>
              </p:cNvSpPr>
              <p:nvPr/>
            </p:nvSpPr>
            <p:spPr bwMode="auto">
              <a:xfrm>
                <a:off x="2502"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20</a:t>
                </a:r>
              </a:p>
            </p:txBody>
          </p:sp>
          <p:sp>
            <p:nvSpPr>
              <p:cNvPr id="29757" name="Text Box 23"/>
              <p:cNvSpPr txBox="1">
                <a:spLocks noChangeArrowheads="1"/>
              </p:cNvSpPr>
              <p:nvPr/>
            </p:nvSpPr>
            <p:spPr bwMode="auto">
              <a:xfrm>
                <a:off x="2928"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29758" name="Line 24"/>
              <p:cNvSpPr>
                <a:spLocks noChangeShapeType="1"/>
              </p:cNvSpPr>
              <p:nvPr/>
            </p:nvSpPr>
            <p:spPr bwMode="auto">
              <a:xfrm>
                <a:off x="351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59" name="Line 25"/>
              <p:cNvSpPr>
                <a:spLocks noChangeShapeType="1"/>
              </p:cNvSpPr>
              <p:nvPr/>
            </p:nvSpPr>
            <p:spPr bwMode="auto">
              <a:xfrm>
                <a:off x="351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60" name="Text Box 26"/>
              <p:cNvSpPr txBox="1">
                <a:spLocks noChangeArrowheads="1"/>
              </p:cNvSpPr>
              <p:nvPr/>
            </p:nvSpPr>
            <p:spPr bwMode="auto">
              <a:xfrm>
                <a:off x="3318"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32</a:t>
                </a:r>
              </a:p>
            </p:txBody>
          </p:sp>
          <p:sp>
            <p:nvSpPr>
              <p:cNvPr id="29761" name="Line 27"/>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62" name="Text Box 28"/>
              <p:cNvSpPr txBox="1">
                <a:spLocks noChangeArrowheads="1"/>
              </p:cNvSpPr>
              <p:nvPr/>
            </p:nvSpPr>
            <p:spPr bwMode="auto">
              <a:xfrm>
                <a:off x="419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grpSp>
      </p:grpSp>
      <p:grpSp>
        <p:nvGrpSpPr>
          <p:cNvPr id="236573" name="Group 29"/>
          <p:cNvGrpSpPr>
            <a:grpSpLocks/>
          </p:cNvGrpSpPr>
          <p:nvPr/>
        </p:nvGrpSpPr>
        <p:grpSpPr bwMode="auto">
          <a:xfrm>
            <a:off x="685800" y="2133600"/>
            <a:ext cx="8153400" cy="2895600"/>
            <a:chOff x="432" y="1344"/>
            <a:chExt cx="5136" cy="1824"/>
          </a:xfrm>
        </p:grpSpPr>
        <p:sp>
          <p:nvSpPr>
            <p:cNvPr id="29717" name="Rectangle 30"/>
            <p:cNvSpPr>
              <a:spLocks noChangeArrowheads="1"/>
            </p:cNvSpPr>
            <p:nvPr/>
          </p:nvSpPr>
          <p:spPr bwMode="auto">
            <a:xfrm>
              <a:off x="432" y="1344"/>
              <a:ext cx="4990"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一个实例</a:t>
              </a:r>
            </a:p>
          </p:txBody>
        </p:sp>
        <p:sp>
          <p:nvSpPr>
            <p:cNvPr id="29718" name="Line 31"/>
            <p:cNvSpPr>
              <a:spLocks noChangeShapeType="1"/>
            </p:cNvSpPr>
            <p:nvPr/>
          </p:nvSpPr>
          <p:spPr bwMode="auto">
            <a:xfrm>
              <a:off x="3216" y="1632"/>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9" name="Line 32"/>
            <p:cNvSpPr>
              <a:spLocks noChangeShapeType="1"/>
            </p:cNvSpPr>
            <p:nvPr/>
          </p:nvSpPr>
          <p:spPr bwMode="auto">
            <a:xfrm>
              <a:off x="3216"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9720" name="Group 33"/>
            <p:cNvGrpSpPr>
              <a:grpSpLocks/>
            </p:cNvGrpSpPr>
            <p:nvPr/>
          </p:nvGrpSpPr>
          <p:grpSpPr bwMode="auto">
            <a:xfrm>
              <a:off x="768" y="1796"/>
              <a:ext cx="2256" cy="886"/>
              <a:chOff x="768" y="1796"/>
              <a:chExt cx="2256" cy="886"/>
            </a:xfrm>
          </p:grpSpPr>
          <p:sp>
            <p:nvSpPr>
              <p:cNvPr id="29737" name="Rectangle 34"/>
              <p:cNvSpPr>
                <a:spLocks noChangeArrowheads="1"/>
              </p:cNvSpPr>
              <p:nvPr/>
            </p:nvSpPr>
            <p:spPr bwMode="auto">
              <a:xfrm>
                <a:off x="912" y="1796"/>
                <a:ext cx="2112" cy="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Tx/>
                  <a:buSzTx/>
                  <a:buFontTx/>
                  <a:buNone/>
                </a:pPr>
                <a:r>
                  <a:rPr lang="zh-CN" altLang="en-US" sz="2400"/>
                  <a:t>假定任务的到达顺序为</a:t>
                </a:r>
                <a:r>
                  <a:rPr lang="en-US" altLang="zh-CN" sz="2400"/>
                  <a:t>: P</a:t>
                </a:r>
                <a:r>
                  <a:rPr lang="en-US" altLang="zh-CN" sz="2400" baseline="-25000"/>
                  <a:t>1</a:t>
                </a:r>
                <a:r>
                  <a:rPr lang="zh-CN" altLang="en-US" sz="2400"/>
                  <a:t>，</a:t>
                </a:r>
                <a:r>
                  <a:rPr lang="en-US" altLang="zh-CN" sz="2400"/>
                  <a:t>P</a:t>
                </a:r>
                <a:r>
                  <a:rPr lang="en-US" altLang="zh-CN" sz="2400" baseline="-25000"/>
                  <a:t>2</a:t>
                </a:r>
                <a:r>
                  <a:rPr lang="zh-CN" altLang="en-US" sz="2400"/>
                  <a:t>，</a:t>
                </a:r>
                <a:r>
                  <a:rPr lang="en-US" altLang="zh-CN" sz="2400"/>
                  <a:t>P</a:t>
                </a:r>
                <a:r>
                  <a:rPr lang="en-US" altLang="zh-CN" sz="2400" baseline="-25000"/>
                  <a:t>3</a:t>
                </a:r>
                <a:r>
                  <a:rPr lang="zh-CN" altLang="en-US" sz="2400"/>
                  <a:t>，</a:t>
                </a:r>
                <a:r>
                  <a:rPr lang="en-US" altLang="zh-CN" sz="2400"/>
                  <a:t>P</a:t>
                </a:r>
                <a:r>
                  <a:rPr lang="en-US" altLang="zh-CN" sz="2400" baseline="-25000"/>
                  <a:t>4</a:t>
                </a:r>
                <a:r>
                  <a:rPr lang="zh-CN" altLang="en-US" sz="2400"/>
                  <a:t>，</a:t>
                </a:r>
                <a:r>
                  <a:rPr lang="en-US" altLang="zh-CN" sz="2400"/>
                  <a:t>P</a:t>
                </a:r>
                <a:r>
                  <a:rPr lang="en-US" altLang="zh-CN" sz="2400" baseline="-25000"/>
                  <a:t>5</a:t>
                </a:r>
                <a:r>
                  <a:rPr lang="zh-CN" altLang="en-US" sz="2400"/>
                  <a:t>；到达时刻都为</a:t>
                </a:r>
                <a:r>
                  <a:rPr lang="en-US" altLang="zh-CN" sz="2400"/>
                  <a:t>0</a:t>
                </a:r>
                <a:r>
                  <a:rPr lang="zh-CN" altLang="en-US" sz="2400"/>
                  <a:t>。</a:t>
                </a:r>
              </a:p>
            </p:txBody>
          </p:sp>
          <p:pic>
            <p:nvPicPr>
              <p:cNvPr id="29738" name="Picture 35"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 y="187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21" name="Line 36"/>
            <p:cNvSpPr>
              <a:spLocks noChangeShapeType="1"/>
            </p:cNvSpPr>
            <p:nvPr/>
          </p:nvSpPr>
          <p:spPr bwMode="auto">
            <a:xfrm>
              <a:off x="4080"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22" name="Rectangle 37"/>
            <p:cNvSpPr>
              <a:spLocks noChangeArrowheads="1"/>
            </p:cNvSpPr>
            <p:nvPr/>
          </p:nvSpPr>
          <p:spPr bwMode="auto">
            <a:xfrm>
              <a:off x="3386" y="1344"/>
              <a:ext cx="69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任务</a:t>
              </a:r>
            </a:p>
          </p:txBody>
        </p:sp>
        <p:sp>
          <p:nvSpPr>
            <p:cNvPr id="29723" name="Rectangle 38"/>
            <p:cNvSpPr>
              <a:spLocks noChangeArrowheads="1"/>
            </p:cNvSpPr>
            <p:nvPr/>
          </p:nvSpPr>
          <p:spPr bwMode="auto">
            <a:xfrm>
              <a:off x="4176" y="1356"/>
              <a:ext cx="13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t>CPU</a:t>
              </a:r>
              <a:r>
                <a:rPr lang="zh-CN" altLang="en-US" sz="2400"/>
                <a:t>区间</a:t>
              </a:r>
              <a:r>
                <a:rPr lang="en-US" altLang="zh-CN" sz="2400"/>
                <a:t>(ms)</a:t>
              </a:r>
            </a:p>
          </p:txBody>
        </p:sp>
        <p:sp>
          <p:nvSpPr>
            <p:cNvPr id="29724" name="Rectangle 39"/>
            <p:cNvSpPr>
              <a:spLocks noChangeArrowheads="1"/>
            </p:cNvSpPr>
            <p:nvPr/>
          </p:nvSpPr>
          <p:spPr bwMode="auto">
            <a:xfrm>
              <a:off x="3504" y="169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1</a:t>
              </a:r>
            </a:p>
          </p:txBody>
        </p:sp>
        <p:sp>
          <p:nvSpPr>
            <p:cNvPr id="29725" name="Rectangle 40"/>
            <p:cNvSpPr>
              <a:spLocks noChangeArrowheads="1"/>
            </p:cNvSpPr>
            <p:nvPr/>
          </p:nvSpPr>
          <p:spPr bwMode="auto">
            <a:xfrm>
              <a:off x="4629" y="1680"/>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10</a:t>
              </a:r>
              <a:endParaRPr lang="en-US" altLang="zh-CN" sz="2400" baseline="-25000">
                <a:solidFill>
                  <a:srgbClr val="FF0000"/>
                </a:solidFill>
              </a:endParaRPr>
            </a:p>
          </p:txBody>
        </p:sp>
        <p:sp>
          <p:nvSpPr>
            <p:cNvPr id="29726" name="Rectangle 41"/>
            <p:cNvSpPr>
              <a:spLocks noChangeArrowheads="1"/>
            </p:cNvSpPr>
            <p:nvPr/>
          </p:nvSpPr>
          <p:spPr bwMode="auto">
            <a:xfrm>
              <a:off x="3504" y="1968"/>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2</a:t>
              </a:r>
            </a:p>
          </p:txBody>
        </p:sp>
        <p:sp>
          <p:nvSpPr>
            <p:cNvPr id="29727" name="Rectangle 42"/>
            <p:cNvSpPr>
              <a:spLocks noChangeArrowheads="1"/>
            </p:cNvSpPr>
            <p:nvPr/>
          </p:nvSpPr>
          <p:spPr bwMode="auto">
            <a:xfrm>
              <a:off x="4629" y="1968"/>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29</a:t>
              </a:r>
              <a:endParaRPr lang="en-US" altLang="zh-CN" sz="2400" baseline="-25000">
                <a:solidFill>
                  <a:srgbClr val="FF0000"/>
                </a:solidFill>
              </a:endParaRPr>
            </a:p>
          </p:txBody>
        </p:sp>
        <p:sp>
          <p:nvSpPr>
            <p:cNvPr id="29728" name="Rectangle 43"/>
            <p:cNvSpPr>
              <a:spLocks noChangeArrowheads="1"/>
            </p:cNvSpPr>
            <p:nvPr/>
          </p:nvSpPr>
          <p:spPr bwMode="auto">
            <a:xfrm>
              <a:off x="3504" y="2256"/>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3</a:t>
              </a:r>
            </a:p>
          </p:txBody>
        </p:sp>
        <p:sp>
          <p:nvSpPr>
            <p:cNvPr id="29729" name="Rectangle 44"/>
            <p:cNvSpPr>
              <a:spLocks noChangeArrowheads="1"/>
            </p:cNvSpPr>
            <p:nvPr/>
          </p:nvSpPr>
          <p:spPr bwMode="auto">
            <a:xfrm>
              <a:off x="4674" y="2277"/>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3</a:t>
              </a:r>
              <a:endParaRPr lang="en-US" altLang="zh-CN" sz="2400" baseline="-25000">
                <a:solidFill>
                  <a:srgbClr val="FF0000"/>
                </a:solidFill>
              </a:endParaRPr>
            </a:p>
          </p:txBody>
        </p:sp>
        <p:sp>
          <p:nvSpPr>
            <p:cNvPr id="29730" name="Line 45"/>
            <p:cNvSpPr>
              <a:spLocks noChangeShapeType="1"/>
            </p:cNvSpPr>
            <p:nvPr/>
          </p:nvSpPr>
          <p:spPr bwMode="auto">
            <a:xfrm>
              <a:off x="3216" y="3168"/>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1" name="Rectangle 46"/>
            <p:cNvSpPr>
              <a:spLocks noChangeArrowheads="1"/>
            </p:cNvSpPr>
            <p:nvPr/>
          </p:nvSpPr>
          <p:spPr bwMode="auto">
            <a:xfrm>
              <a:off x="3504" y="256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4</a:t>
              </a:r>
            </a:p>
          </p:txBody>
        </p:sp>
        <p:sp>
          <p:nvSpPr>
            <p:cNvPr id="29732" name="Rectangle 47"/>
            <p:cNvSpPr>
              <a:spLocks noChangeArrowheads="1"/>
            </p:cNvSpPr>
            <p:nvPr/>
          </p:nvSpPr>
          <p:spPr bwMode="auto">
            <a:xfrm>
              <a:off x="4674" y="256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7</a:t>
              </a:r>
              <a:endParaRPr lang="en-US" altLang="zh-CN" sz="2400" baseline="-25000">
                <a:solidFill>
                  <a:srgbClr val="FF0000"/>
                </a:solidFill>
              </a:endParaRPr>
            </a:p>
          </p:txBody>
        </p:sp>
        <p:sp>
          <p:nvSpPr>
            <p:cNvPr id="29733" name="Rectangle 48"/>
            <p:cNvSpPr>
              <a:spLocks noChangeArrowheads="1"/>
            </p:cNvSpPr>
            <p:nvPr/>
          </p:nvSpPr>
          <p:spPr bwMode="auto">
            <a:xfrm>
              <a:off x="3504" y="2850"/>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5</a:t>
              </a:r>
            </a:p>
          </p:txBody>
        </p:sp>
        <p:sp>
          <p:nvSpPr>
            <p:cNvPr id="29734" name="Rectangle 49"/>
            <p:cNvSpPr>
              <a:spLocks noChangeArrowheads="1"/>
            </p:cNvSpPr>
            <p:nvPr/>
          </p:nvSpPr>
          <p:spPr bwMode="auto">
            <a:xfrm>
              <a:off x="4629" y="2880"/>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12</a:t>
              </a:r>
              <a:endParaRPr lang="en-US" altLang="zh-CN" sz="2400" baseline="-25000">
                <a:solidFill>
                  <a:srgbClr val="FF0000"/>
                </a:solidFill>
              </a:endParaRPr>
            </a:p>
          </p:txBody>
        </p:sp>
        <p:sp>
          <p:nvSpPr>
            <p:cNvPr id="29735" name="Line 50"/>
            <p:cNvSpPr>
              <a:spLocks noChangeShapeType="1"/>
            </p:cNvSpPr>
            <p:nvPr/>
          </p:nvSpPr>
          <p:spPr bwMode="auto">
            <a:xfrm>
              <a:off x="5568"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36" name="Line 51"/>
            <p:cNvSpPr>
              <a:spLocks noChangeShapeType="1"/>
            </p:cNvSpPr>
            <p:nvPr/>
          </p:nvSpPr>
          <p:spPr bwMode="auto">
            <a:xfrm>
              <a:off x="3216" y="1344"/>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36596" name="Group 52"/>
          <p:cNvGrpSpPr>
            <a:grpSpLocks/>
          </p:cNvGrpSpPr>
          <p:nvPr/>
        </p:nvGrpSpPr>
        <p:grpSpPr bwMode="auto">
          <a:xfrm>
            <a:off x="4289425" y="5246688"/>
            <a:ext cx="3700463" cy="1219200"/>
            <a:chOff x="1680" y="3312"/>
            <a:chExt cx="3202" cy="768"/>
          </a:xfrm>
        </p:grpSpPr>
        <p:sp>
          <p:nvSpPr>
            <p:cNvPr id="29715" name="Rectangle 53"/>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9716" name="Rectangle 54"/>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36599" name="Group 55"/>
          <p:cNvGrpSpPr>
            <a:grpSpLocks/>
          </p:cNvGrpSpPr>
          <p:nvPr/>
        </p:nvGrpSpPr>
        <p:grpSpPr bwMode="auto">
          <a:xfrm>
            <a:off x="3070225" y="5246688"/>
            <a:ext cx="4724400" cy="1219200"/>
            <a:chOff x="1680" y="3312"/>
            <a:chExt cx="3202" cy="768"/>
          </a:xfrm>
        </p:grpSpPr>
        <p:sp>
          <p:nvSpPr>
            <p:cNvPr id="29713" name="Rectangle 56"/>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9714" name="Rectangle 57"/>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36602" name="Group 58"/>
          <p:cNvGrpSpPr>
            <a:grpSpLocks/>
          </p:cNvGrpSpPr>
          <p:nvPr/>
        </p:nvGrpSpPr>
        <p:grpSpPr bwMode="auto">
          <a:xfrm>
            <a:off x="2079625" y="5246688"/>
            <a:ext cx="6248400" cy="1219200"/>
            <a:chOff x="1680" y="3312"/>
            <a:chExt cx="3202" cy="768"/>
          </a:xfrm>
        </p:grpSpPr>
        <p:sp>
          <p:nvSpPr>
            <p:cNvPr id="29711" name="Rectangle 59"/>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9712" name="Rectangle 60"/>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36605" name="Group 61"/>
          <p:cNvGrpSpPr>
            <a:grpSpLocks/>
          </p:cNvGrpSpPr>
          <p:nvPr/>
        </p:nvGrpSpPr>
        <p:grpSpPr bwMode="auto">
          <a:xfrm>
            <a:off x="5584825" y="5246688"/>
            <a:ext cx="2482850" cy="1219200"/>
            <a:chOff x="1680" y="3312"/>
            <a:chExt cx="3202" cy="768"/>
          </a:xfrm>
        </p:grpSpPr>
        <p:sp>
          <p:nvSpPr>
            <p:cNvPr id="29709" name="Rectangle 62"/>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9710" name="Rectangle 63"/>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36608" name="Group 64"/>
          <p:cNvGrpSpPr>
            <a:grpSpLocks/>
          </p:cNvGrpSpPr>
          <p:nvPr/>
        </p:nvGrpSpPr>
        <p:grpSpPr bwMode="auto">
          <a:xfrm>
            <a:off x="1524000" y="5257800"/>
            <a:ext cx="6477000" cy="1219200"/>
            <a:chOff x="960" y="3312"/>
            <a:chExt cx="4080" cy="768"/>
          </a:xfrm>
        </p:grpSpPr>
        <p:sp>
          <p:nvSpPr>
            <p:cNvPr id="29707" name="Rectangle 65"/>
            <p:cNvSpPr>
              <a:spLocks noChangeArrowheads="1"/>
            </p:cNvSpPr>
            <p:nvPr/>
          </p:nvSpPr>
          <p:spPr bwMode="auto">
            <a:xfrm>
              <a:off x="1152" y="3312"/>
              <a:ext cx="3888"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9708" name="Rectangle 66"/>
            <p:cNvSpPr>
              <a:spLocks noChangeArrowheads="1"/>
            </p:cNvSpPr>
            <p:nvPr/>
          </p:nvSpPr>
          <p:spPr bwMode="auto">
            <a:xfrm>
              <a:off x="960" y="3312"/>
              <a:ext cx="455"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36547">
                                            <p:txEl>
                                              <p:pRg st="0" end="0"/>
                                            </p:txEl>
                                          </p:spTgt>
                                        </p:tgtEl>
                                        <p:attrNameLst>
                                          <p:attrName>style.visibility</p:attrName>
                                        </p:attrNameLst>
                                      </p:cBhvr>
                                      <p:to>
                                        <p:strVal val="visible"/>
                                      </p:to>
                                    </p:set>
                                    <p:animEffect transition="in" filter="dissolve">
                                      <p:cBhvr>
                                        <p:cTn id="7" dur="500"/>
                                        <p:tgtEl>
                                          <p:spTgt spid="2365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36573"/>
                                        </p:tgtEl>
                                        <p:attrNameLst>
                                          <p:attrName>style.visibility</p:attrName>
                                        </p:attrNameLst>
                                      </p:cBhvr>
                                      <p:to>
                                        <p:strVal val="visible"/>
                                      </p:to>
                                    </p:set>
                                    <p:animEffect transition="in" filter="dissolve">
                                      <p:cBhvr>
                                        <p:cTn id="12" dur="500"/>
                                        <p:tgtEl>
                                          <p:spTgt spid="2365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36548"/>
                                        </p:tgtEl>
                                        <p:attrNameLst>
                                          <p:attrName>style.visibility</p:attrName>
                                        </p:attrNameLst>
                                      </p:cBhvr>
                                      <p:to>
                                        <p:strVal val="visible"/>
                                      </p:to>
                                    </p:set>
                                    <p:animEffect transition="in" filter="dissolve">
                                      <p:cBhvr>
                                        <p:cTn id="17" dur="500"/>
                                        <p:tgtEl>
                                          <p:spTgt spid="236548"/>
                                        </p:tgtEl>
                                      </p:cBhvr>
                                    </p:animEffect>
                                  </p:childTnLst>
                                </p:cTn>
                              </p:par>
                              <p:par>
                                <p:cTn id="18" presetID="1" presetClass="entr" presetSubtype="0" fill="hold" nodeType="withEffect">
                                  <p:stCondLst>
                                    <p:cond delay="0"/>
                                  </p:stCondLst>
                                  <p:childTnLst>
                                    <p:set>
                                      <p:cBhvr>
                                        <p:cTn id="19" dur="1" fill="hold">
                                          <p:stCondLst>
                                            <p:cond delay="0"/>
                                          </p:stCondLst>
                                        </p:cTn>
                                        <p:tgtEl>
                                          <p:spTgt spid="236608"/>
                                        </p:tgtEl>
                                        <p:attrNameLst>
                                          <p:attrName>style.visibility</p:attrName>
                                        </p:attrNameLst>
                                      </p:cBhvr>
                                      <p:to>
                                        <p:strVal val="visible"/>
                                      </p:to>
                                    </p:set>
                                  </p:childTnLst>
                                  <p:subTnLst>
                                    <p:set>
                                      <p:cBhvr override="childStyle">
                                        <p:cTn dur="1" fill="hold" display="0" masterRel="nextClick" afterEffect="1"/>
                                        <p:tgtEl>
                                          <p:spTgt spid="236608"/>
                                        </p:tgtEl>
                                        <p:attrNameLst>
                                          <p:attrName>style.visibility</p:attrName>
                                        </p:attrNameLst>
                                      </p:cBhvr>
                                      <p:to>
                                        <p:strVal val="hidden"/>
                                      </p:to>
                                    </p:set>
                                  </p:sub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236602"/>
                                        </p:tgtEl>
                                        <p:attrNameLst>
                                          <p:attrName>style.visibility</p:attrName>
                                        </p:attrNameLst>
                                      </p:cBhvr>
                                      <p:to>
                                        <p:strVal val="visible"/>
                                      </p:to>
                                    </p:set>
                                  </p:childTnLst>
                                  <p:subTnLst>
                                    <p:set>
                                      <p:cBhvr override="childStyle">
                                        <p:cTn dur="1" fill="hold" display="0" masterRel="nextClick" afterEffect="1"/>
                                        <p:tgtEl>
                                          <p:spTgt spid="236602"/>
                                        </p:tgtEl>
                                        <p:attrNameLst>
                                          <p:attrName>style.visibility</p:attrName>
                                        </p:attrNameLst>
                                      </p:cBhvr>
                                      <p:to>
                                        <p:strVal val="hidden"/>
                                      </p:to>
                                    </p:set>
                                  </p:sub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236599"/>
                                        </p:tgtEl>
                                        <p:attrNameLst>
                                          <p:attrName>style.visibility</p:attrName>
                                        </p:attrNameLst>
                                      </p:cBhvr>
                                      <p:to>
                                        <p:strVal val="visible"/>
                                      </p:to>
                                    </p:set>
                                  </p:childTnLst>
                                  <p:subTnLst>
                                    <p:set>
                                      <p:cBhvr override="childStyle">
                                        <p:cTn dur="1" fill="hold" display="0" masterRel="nextClick" afterEffect="1"/>
                                        <p:tgtEl>
                                          <p:spTgt spid="236599"/>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236596"/>
                                        </p:tgtEl>
                                        <p:attrNameLst>
                                          <p:attrName>style.visibility</p:attrName>
                                        </p:attrNameLst>
                                      </p:cBhvr>
                                      <p:to>
                                        <p:strVal val="visible"/>
                                      </p:to>
                                    </p:set>
                                  </p:childTnLst>
                                  <p:subTnLst>
                                    <p:set>
                                      <p:cBhvr override="childStyle">
                                        <p:cTn dur="1" fill="hold" display="0" masterRel="nextClick" afterEffect="1"/>
                                        <p:tgtEl>
                                          <p:spTgt spid="236596"/>
                                        </p:tgtEl>
                                        <p:attrNameLst>
                                          <p:attrName>style.visibility</p:attrName>
                                        </p:attrNameLst>
                                      </p:cBhvr>
                                      <p:to>
                                        <p:strVal val="hidden"/>
                                      </p:to>
                                    </p:set>
                                  </p:sub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236605"/>
                                        </p:tgtEl>
                                        <p:attrNameLst>
                                          <p:attrName>style.visibility</p:attrName>
                                        </p:attrNameLst>
                                      </p:cBhvr>
                                      <p:to>
                                        <p:strVal val="visible"/>
                                      </p:to>
                                    </p:set>
                                  </p:childTnLst>
                                  <p:subTnLst>
                                    <p:set>
                                      <p:cBhvr override="childStyle">
                                        <p:cTn dur="1" fill="hold" display="0" masterRel="nextClick" afterEffect="1"/>
                                        <p:tgtEl>
                                          <p:spTgt spid="23660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0" y="304800"/>
            <a:ext cx="9144000" cy="676275"/>
          </a:xfrm>
        </p:spPr>
        <p:txBody>
          <a:bodyPr/>
          <a:lstStyle/>
          <a:p>
            <a:pPr eaLnBrk="1" hangingPunct="1"/>
            <a:r>
              <a:rPr lang="zh-CN" altLang="en-US" smtClean="0"/>
              <a:t>（</a:t>
            </a:r>
            <a:r>
              <a:rPr lang="en-US" altLang="zh-CN" smtClean="0"/>
              <a:t>2</a:t>
            </a:r>
            <a:r>
              <a:rPr lang="zh-CN" altLang="en-US" smtClean="0"/>
              <a:t>）</a:t>
            </a:r>
            <a:r>
              <a:rPr lang="en-US" altLang="zh-CN" smtClean="0"/>
              <a:t>Shortest Job First </a:t>
            </a:r>
            <a:r>
              <a:rPr lang="en-US" altLang="zh-CN" smtClean="0">
                <a:sym typeface="Symbol" panose="05050102010706020507" pitchFamily="18" charset="2"/>
              </a:rPr>
              <a:t>(SJF)</a:t>
            </a:r>
          </a:p>
        </p:txBody>
      </p:sp>
      <p:sp>
        <p:nvSpPr>
          <p:cNvPr id="30723" name="Rectangle 3"/>
          <p:cNvSpPr>
            <a:spLocks noGrp="1" noChangeArrowheads="1"/>
          </p:cNvSpPr>
          <p:nvPr>
            <p:ph type="body" idx="1"/>
          </p:nvPr>
        </p:nvSpPr>
        <p:spPr>
          <a:xfrm>
            <a:off x="685800" y="963035"/>
            <a:ext cx="7921625" cy="1141990"/>
          </a:xfrm>
          <a:noFill/>
        </p:spPr>
        <p:txBody>
          <a:bodyPr/>
          <a:lstStyle/>
          <a:p>
            <a:pPr eaLnBrk="1" hangingPunct="1">
              <a:lnSpc>
                <a:spcPct val="130000"/>
              </a:lnSpc>
            </a:pPr>
            <a:r>
              <a:rPr lang="zh-CN" altLang="en-US" dirty="0" smtClean="0">
                <a:solidFill>
                  <a:srgbClr val="FF0000"/>
                </a:solidFill>
              </a:rPr>
              <a:t>最短的作业</a:t>
            </a:r>
            <a:r>
              <a:rPr lang="en-US" altLang="zh-CN" dirty="0" smtClean="0">
                <a:solidFill>
                  <a:srgbClr val="FF0000"/>
                </a:solidFill>
              </a:rPr>
              <a:t>(CPU</a:t>
            </a:r>
            <a:r>
              <a:rPr lang="zh-CN" altLang="en-US" dirty="0" smtClean="0">
                <a:solidFill>
                  <a:srgbClr val="FF0000"/>
                </a:solidFill>
              </a:rPr>
              <a:t>区间长度最小</a:t>
            </a:r>
            <a:r>
              <a:rPr lang="en-US" altLang="zh-CN" dirty="0" smtClean="0">
                <a:solidFill>
                  <a:srgbClr val="FF0000"/>
                </a:solidFill>
              </a:rPr>
              <a:t>)</a:t>
            </a:r>
            <a:r>
              <a:rPr lang="zh-CN" altLang="en-US" dirty="0" smtClean="0">
                <a:solidFill>
                  <a:srgbClr val="FF0000"/>
                </a:solidFill>
              </a:rPr>
              <a:t>最先调度</a:t>
            </a:r>
            <a:endParaRPr lang="en-US" altLang="zh-CN" dirty="0" smtClean="0">
              <a:solidFill>
                <a:srgbClr val="FF0000"/>
              </a:solidFill>
            </a:endParaRPr>
          </a:p>
          <a:p>
            <a:pPr marL="0" indent="0" eaLnBrk="1" hangingPunct="1">
              <a:lnSpc>
                <a:spcPct val="130000"/>
              </a:lnSpc>
              <a:buNone/>
            </a:pPr>
            <a:r>
              <a:rPr lang="zh-CN" altLang="en-US" sz="2000" dirty="0" smtClean="0">
                <a:solidFill>
                  <a:srgbClr val="0070C0"/>
                </a:solidFill>
              </a:rPr>
              <a:t>根据历史信息判定某类应用的执行时间，</a:t>
            </a:r>
            <a:r>
              <a:rPr lang="zh-CN" altLang="en-US" sz="2000" dirty="0">
                <a:solidFill>
                  <a:srgbClr val="0070C0"/>
                </a:solidFill>
              </a:rPr>
              <a:t>优先</a:t>
            </a:r>
            <a:r>
              <a:rPr lang="zh-CN" altLang="en-US" sz="2000" dirty="0" smtClean="0">
                <a:solidFill>
                  <a:srgbClr val="0070C0"/>
                </a:solidFill>
              </a:rPr>
              <a:t>执行较短的。</a:t>
            </a:r>
          </a:p>
        </p:txBody>
      </p:sp>
      <p:grpSp>
        <p:nvGrpSpPr>
          <p:cNvPr id="30724" name="Group 52"/>
          <p:cNvGrpSpPr>
            <a:grpSpLocks/>
          </p:cNvGrpSpPr>
          <p:nvPr/>
        </p:nvGrpSpPr>
        <p:grpSpPr bwMode="auto">
          <a:xfrm>
            <a:off x="685800" y="4572000"/>
            <a:ext cx="7086600" cy="1981200"/>
            <a:chOff x="432" y="2880"/>
            <a:chExt cx="4464" cy="1248"/>
          </a:xfrm>
        </p:grpSpPr>
        <p:sp>
          <p:nvSpPr>
            <p:cNvPr id="30748" name="Rectangle 5"/>
            <p:cNvSpPr>
              <a:spLocks noChangeArrowheads="1"/>
            </p:cNvSpPr>
            <p:nvPr/>
          </p:nvSpPr>
          <p:spPr bwMode="auto">
            <a:xfrm>
              <a:off x="432" y="2880"/>
              <a:ext cx="2304"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调度结果</a:t>
              </a:r>
            </a:p>
          </p:txBody>
        </p:sp>
        <p:grpSp>
          <p:nvGrpSpPr>
            <p:cNvPr id="30749" name="Group 51"/>
            <p:cNvGrpSpPr>
              <a:grpSpLocks/>
            </p:cNvGrpSpPr>
            <p:nvPr/>
          </p:nvGrpSpPr>
          <p:grpSpPr bwMode="auto">
            <a:xfrm>
              <a:off x="816" y="3360"/>
              <a:ext cx="4080" cy="768"/>
              <a:chOff x="816" y="3360"/>
              <a:chExt cx="4080" cy="768"/>
            </a:xfrm>
          </p:grpSpPr>
          <p:sp>
            <p:nvSpPr>
              <p:cNvPr id="30750" name="Rectangle 7"/>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0751" name="Text Box 8"/>
              <p:cNvSpPr txBox="1">
                <a:spLocks noChangeArrowheads="1"/>
              </p:cNvSpPr>
              <p:nvPr/>
            </p:nvSpPr>
            <p:spPr bwMode="auto">
              <a:xfrm>
                <a:off x="960"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30752" name="Text Box 9"/>
              <p:cNvSpPr txBox="1">
                <a:spLocks noChangeArrowheads="1"/>
              </p:cNvSpPr>
              <p:nvPr/>
            </p:nvSpPr>
            <p:spPr bwMode="auto">
              <a:xfrm>
                <a:off x="146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30753" name="Text Box 10"/>
              <p:cNvSpPr txBox="1">
                <a:spLocks noChangeArrowheads="1"/>
              </p:cNvSpPr>
              <p:nvPr/>
            </p:nvSpPr>
            <p:spPr bwMode="auto">
              <a:xfrm>
                <a:off x="218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30754" name="Line 11"/>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5" name="Line 12"/>
              <p:cNvSpPr>
                <a:spLocks noChangeShapeType="1"/>
              </p:cNvSpPr>
              <p:nvPr/>
            </p:nvSpPr>
            <p:spPr bwMode="auto">
              <a:xfrm>
                <a:off x="130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6" name="Line 13"/>
              <p:cNvSpPr>
                <a:spLocks noChangeShapeType="1"/>
              </p:cNvSpPr>
              <p:nvPr/>
            </p:nvSpPr>
            <p:spPr bwMode="auto">
              <a:xfrm>
                <a:off x="130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57" name="Text Box 14"/>
              <p:cNvSpPr txBox="1">
                <a:spLocks noChangeArrowheads="1"/>
              </p:cNvSpPr>
              <p:nvPr/>
            </p:nvSpPr>
            <p:spPr bwMode="auto">
              <a:xfrm>
                <a:off x="1163"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a:t>
                </a:r>
              </a:p>
            </p:txBody>
          </p:sp>
          <p:sp>
            <p:nvSpPr>
              <p:cNvPr id="30758" name="Text Box 15"/>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30759" name="Text Box 16"/>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30760" name="Line 17"/>
              <p:cNvSpPr>
                <a:spLocks noChangeShapeType="1"/>
              </p:cNvSpPr>
              <p:nvPr/>
            </p:nvSpPr>
            <p:spPr bwMode="auto">
              <a:xfrm>
                <a:off x="192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1" name="Line 18"/>
              <p:cNvSpPr>
                <a:spLocks noChangeShapeType="1"/>
              </p:cNvSpPr>
              <p:nvPr/>
            </p:nvSpPr>
            <p:spPr bwMode="auto">
              <a:xfrm>
                <a:off x="192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2" name="Text Box 19"/>
              <p:cNvSpPr txBox="1">
                <a:spLocks noChangeArrowheads="1"/>
              </p:cNvSpPr>
              <p:nvPr/>
            </p:nvSpPr>
            <p:spPr bwMode="auto">
              <a:xfrm>
                <a:off x="173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10</a:t>
                </a:r>
              </a:p>
            </p:txBody>
          </p:sp>
          <p:sp>
            <p:nvSpPr>
              <p:cNvPr id="30763" name="Line 20"/>
              <p:cNvSpPr>
                <a:spLocks noChangeShapeType="1"/>
              </p:cNvSpPr>
              <p:nvPr/>
            </p:nvSpPr>
            <p:spPr bwMode="auto">
              <a:xfrm>
                <a:off x="2694"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4" name="Line 21"/>
              <p:cNvSpPr>
                <a:spLocks noChangeShapeType="1"/>
              </p:cNvSpPr>
              <p:nvPr/>
            </p:nvSpPr>
            <p:spPr bwMode="auto">
              <a:xfrm>
                <a:off x="2694"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5" name="Text Box 22"/>
              <p:cNvSpPr txBox="1">
                <a:spLocks noChangeArrowheads="1"/>
              </p:cNvSpPr>
              <p:nvPr/>
            </p:nvSpPr>
            <p:spPr bwMode="auto">
              <a:xfrm>
                <a:off x="2502"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20</a:t>
                </a:r>
              </a:p>
            </p:txBody>
          </p:sp>
          <p:sp>
            <p:nvSpPr>
              <p:cNvPr id="30766" name="Text Box 23"/>
              <p:cNvSpPr txBox="1">
                <a:spLocks noChangeArrowheads="1"/>
              </p:cNvSpPr>
              <p:nvPr/>
            </p:nvSpPr>
            <p:spPr bwMode="auto">
              <a:xfrm>
                <a:off x="2928"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30767" name="Line 24"/>
              <p:cNvSpPr>
                <a:spLocks noChangeShapeType="1"/>
              </p:cNvSpPr>
              <p:nvPr/>
            </p:nvSpPr>
            <p:spPr bwMode="auto">
              <a:xfrm>
                <a:off x="351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8" name="Line 25"/>
              <p:cNvSpPr>
                <a:spLocks noChangeShapeType="1"/>
              </p:cNvSpPr>
              <p:nvPr/>
            </p:nvSpPr>
            <p:spPr bwMode="auto">
              <a:xfrm>
                <a:off x="351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69" name="Text Box 26"/>
              <p:cNvSpPr txBox="1">
                <a:spLocks noChangeArrowheads="1"/>
              </p:cNvSpPr>
              <p:nvPr/>
            </p:nvSpPr>
            <p:spPr bwMode="auto">
              <a:xfrm>
                <a:off x="3318"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32</a:t>
                </a:r>
              </a:p>
            </p:txBody>
          </p:sp>
          <p:sp>
            <p:nvSpPr>
              <p:cNvPr id="30770" name="Line 27"/>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771" name="Text Box 28"/>
              <p:cNvSpPr txBox="1">
                <a:spLocks noChangeArrowheads="1"/>
              </p:cNvSpPr>
              <p:nvPr/>
            </p:nvSpPr>
            <p:spPr bwMode="auto">
              <a:xfrm>
                <a:off x="419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grpSp>
      </p:grpSp>
      <p:grpSp>
        <p:nvGrpSpPr>
          <p:cNvPr id="30725" name="Group 56"/>
          <p:cNvGrpSpPr>
            <a:grpSpLocks/>
          </p:cNvGrpSpPr>
          <p:nvPr/>
        </p:nvGrpSpPr>
        <p:grpSpPr bwMode="auto">
          <a:xfrm>
            <a:off x="685800" y="2133600"/>
            <a:ext cx="8153400" cy="2895600"/>
            <a:chOff x="432" y="1344"/>
            <a:chExt cx="5136" cy="1824"/>
          </a:xfrm>
        </p:grpSpPr>
        <p:sp>
          <p:nvSpPr>
            <p:cNvPr id="30726" name="Rectangle 30"/>
            <p:cNvSpPr>
              <a:spLocks noChangeArrowheads="1"/>
            </p:cNvSpPr>
            <p:nvPr/>
          </p:nvSpPr>
          <p:spPr bwMode="auto">
            <a:xfrm>
              <a:off x="432" y="1344"/>
              <a:ext cx="4990"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一个实例</a:t>
              </a:r>
            </a:p>
          </p:txBody>
        </p:sp>
        <p:sp>
          <p:nvSpPr>
            <p:cNvPr id="30727" name="Line 31"/>
            <p:cNvSpPr>
              <a:spLocks noChangeShapeType="1"/>
            </p:cNvSpPr>
            <p:nvPr/>
          </p:nvSpPr>
          <p:spPr bwMode="auto">
            <a:xfrm>
              <a:off x="3216" y="1632"/>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28" name="Line 32"/>
            <p:cNvSpPr>
              <a:spLocks noChangeShapeType="1"/>
            </p:cNvSpPr>
            <p:nvPr/>
          </p:nvSpPr>
          <p:spPr bwMode="auto">
            <a:xfrm>
              <a:off x="3216"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0729" name="Group 33"/>
            <p:cNvGrpSpPr>
              <a:grpSpLocks/>
            </p:cNvGrpSpPr>
            <p:nvPr/>
          </p:nvGrpSpPr>
          <p:grpSpPr bwMode="auto">
            <a:xfrm>
              <a:off x="768" y="1796"/>
              <a:ext cx="2256" cy="886"/>
              <a:chOff x="768" y="1796"/>
              <a:chExt cx="2256" cy="886"/>
            </a:xfrm>
          </p:grpSpPr>
          <p:sp>
            <p:nvSpPr>
              <p:cNvPr id="30746" name="Rectangle 34"/>
              <p:cNvSpPr>
                <a:spLocks noChangeArrowheads="1"/>
              </p:cNvSpPr>
              <p:nvPr/>
            </p:nvSpPr>
            <p:spPr bwMode="auto">
              <a:xfrm>
                <a:off x="912" y="1796"/>
                <a:ext cx="2112" cy="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Tx/>
                  <a:buSzTx/>
                  <a:buFontTx/>
                  <a:buNone/>
                </a:pPr>
                <a:r>
                  <a:rPr lang="zh-CN" altLang="en-US" sz="2400"/>
                  <a:t>假定任务的到达顺序为</a:t>
                </a:r>
                <a:r>
                  <a:rPr lang="en-US" altLang="zh-CN" sz="2400"/>
                  <a:t>: P</a:t>
                </a:r>
                <a:r>
                  <a:rPr lang="en-US" altLang="zh-CN" sz="2400" baseline="-25000"/>
                  <a:t>1</a:t>
                </a:r>
                <a:r>
                  <a:rPr lang="zh-CN" altLang="en-US" sz="2400"/>
                  <a:t>，</a:t>
                </a:r>
                <a:r>
                  <a:rPr lang="en-US" altLang="zh-CN" sz="2400"/>
                  <a:t>P</a:t>
                </a:r>
                <a:r>
                  <a:rPr lang="en-US" altLang="zh-CN" sz="2400" baseline="-25000"/>
                  <a:t>2</a:t>
                </a:r>
                <a:r>
                  <a:rPr lang="zh-CN" altLang="en-US" sz="2400"/>
                  <a:t>，</a:t>
                </a:r>
                <a:r>
                  <a:rPr lang="en-US" altLang="zh-CN" sz="2400"/>
                  <a:t>P</a:t>
                </a:r>
                <a:r>
                  <a:rPr lang="en-US" altLang="zh-CN" sz="2400" baseline="-25000"/>
                  <a:t>3</a:t>
                </a:r>
                <a:r>
                  <a:rPr lang="zh-CN" altLang="en-US" sz="2400"/>
                  <a:t>，</a:t>
                </a:r>
                <a:r>
                  <a:rPr lang="en-US" altLang="zh-CN" sz="2400"/>
                  <a:t>P</a:t>
                </a:r>
                <a:r>
                  <a:rPr lang="en-US" altLang="zh-CN" sz="2400" baseline="-25000"/>
                  <a:t>4</a:t>
                </a:r>
                <a:r>
                  <a:rPr lang="zh-CN" altLang="en-US" sz="2400"/>
                  <a:t>，</a:t>
                </a:r>
                <a:r>
                  <a:rPr lang="en-US" altLang="zh-CN" sz="2400"/>
                  <a:t>P</a:t>
                </a:r>
                <a:r>
                  <a:rPr lang="en-US" altLang="zh-CN" sz="2400" baseline="-25000"/>
                  <a:t>5</a:t>
                </a:r>
                <a:r>
                  <a:rPr lang="zh-CN" altLang="en-US" sz="2400"/>
                  <a:t>；到达时刻都为</a:t>
                </a:r>
                <a:r>
                  <a:rPr lang="en-US" altLang="zh-CN" sz="2400"/>
                  <a:t>0</a:t>
                </a:r>
                <a:r>
                  <a:rPr lang="zh-CN" altLang="en-US" sz="2400"/>
                  <a:t>。</a:t>
                </a:r>
              </a:p>
            </p:txBody>
          </p:sp>
          <p:pic>
            <p:nvPicPr>
              <p:cNvPr id="30747" name="Picture 35"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 y="187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730" name="Line 36"/>
            <p:cNvSpPr>
              <a:spLocks noChangeShapeType="1"/>
            </p:cNvSpPr>
            <p:nvPr/>
          </p:nvSpPr>
          <p:spPr bwMode="auto">
            <a:xfrm>
              <a:off x="4080"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1" name="Rectangle 37"/>
            <p:cNvSpPr>
              <a:spLocks noChangeArrowheads="1"/>
            </p:cNvSpPr>
            <p:nvPr/>
          </p:nvSpPr>
          <p:spPr bwMode="auto">
            <a:xfrm>
              <a:off x="3386" y="1344"/>
              <a:ext cx="69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任务</a:t>
              </a:r>
            </a:p>
          </p:txBody>
        </p:sp>
        <p:sp>
          <p:nvSpPr>
            <p:cNvPr id="30732" name="Rectangle 38"/>
            <p:cNvSpPr>
              <a:spLocks noChangeArrowheads="1"/>
            </p:cNvSpPr>
            <p:nvPr/>
          </p:nvSpPr>
          <p:spPr bwMode="auto">
            <a:xfrm>
              <a:off x="4176" y="1356"/>
              <a:ext cx="13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t>CPU</a:t>
              </a:r>
              <a:r>
                <a:rPr lang="zh-CN" altLang="en-US" sz="2400"/>
                <a:t>区间</a:t>
              </a:r>
              <a:r>
                <a:rPr lang="en-US" altLang="zh-CN" sz="2400"/>
                <a:t>(ms)</a:t>
              </a:r>
            </a:p>
          </p:txBody>
        </p:sp>
        <p:sp>
          <p:nvSpPr>
            <p:cNvPr id="30733" name="Rectangle 39"/>
            <p:cNvSpPr>
              <a:spLocks noChangeArrowheads="1"/>
            </p:cNvSpPr>
            <p:nvPr/>
          </p:nvSpPr>
          <p:spPr bwMode="auto">
            <a:xfrm>
              <a:off x="3504" y="169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1</a:t>
              </a:r>
            </a:p>
          </p:txBody>
        </p:sp>
        <p:sp>
          <p:nvSpPr>
            <p:cNvPr id="30734" name="Rectangle 40"/>
            <p:cNvSpPr>
              <a:spLocks noChangeArrowheads="1"/>
            </p:cNvSpPr>
            <p:nvPr/>
          </p:nvSpPr>
          <p:spPr bwMode="auto">
            <a:xfrm>
              <a:off x="4629" y="1680"/>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10</a:t>
              </a:r>
              <a:endParaRPr lang="en-US" altLang="zh-CN" sz="2400" baseline="-25000">
                <a:solidFill>
                  <a:srgbClr val="FF0000"/>
                </a:solidFill>
              </a:endParaRPr>
            </a:p>
          </p:txBody>
        </p:sp>
        <p:sp>
          <p:nvSpPr>
            <p:cNvPr id="30735" name="Rectangle 41"/>
            <p:cNvSpPr>
              <a:spLocks noChangeArrowheads="1"/>
            </p:cNvSpPr>
            <p:nvPr/>
          </p:nvSpPr>
          <p:spPr bwMode="auto">
            <a:xfrm>
              <a:off x="3504" y="1968"/>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2</a:t>
              </a:r>
            </a:p>
          </p:txBody>
        </p:sp>
        <p:sp>
          <p:nvSpPr>
            <p:cNvPr id="30736" name="Rectangle 42"/>
            <p:cNvSpPr>
              <a:spLocks noChangeArrowheads="1"/>
            </p:cNvSpPr>
            <p:nvPr/>
          </p:nvSpPr>
          <p:spPr bwMode="auto">
            <a:xfrm>
              <a:off x="4629" y="1968"/>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29</a:t>
              </a:r>
              <a:endParaRPr lang="en-US" altLang="zh-CN" sz="2400" baseline="-25000">
                <a:solidFill>
                  <a:srgbClr val="FF0000"/>
                </a:solidFill>
              </a:endParaRPr>
            </a:p>
          </p:txBody>
        </p:sp>
        <p:sp>
          <p:nvSpPr>
            <p:cNvPr id="30737" name="Rectangle 43"/>
            <p:cNvSpPr>
              <a:spLocks noChangeArrowheads="1"/>
            </p:cNvSpPr>
            <p:nvPr/>
          </p:nvSpPr>
          <p:spPr bwMode="auto">
            <a:xfrm>
              <a:off x="3504" y="2256"/>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3</a:t>
              </a:r>
            </a:p>
          </p:txBody>
        </p:sp>
        <p:sp>
          <p:nvSpPr>
            <p:cNvPr id="30738" name="Rectangle 44"/>
            <p:cNvSpPr>
              <a:spLocks noChangeArrowheads="1"/>
            </p:cNvSpPr>
            <p:nvPr/>
          </p:nvSpPr>
          <p:spPr bwMode="auto">
            <a:xfrm>
              <a:off x="4674" y="2277"/>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3</a:t>
              </a:r>
              <a:endParaRPr lang="en-US" altLang="zh-CN" sz="2400" baseline="-25000">
                <a:solidFill>
                  <a:srgbClr val="FF0000"/>
                </a:solidFill>
              </a:endParaRPr>
            </a:p>
          </p:txBody>
        </p:sp>
        <p:sp>
          <p:nvSpPr>
            <p:cNvPr id="30739" name="Line 45"/>
            <p:cNvSpPr>
              <a:spLocks noChangeShapeType="1"/>
            </p:cNvSpPr>
            <p:nvPr/>
          </p:nvSpPr>
          <p:spPr bwMode="auto">
            <a:xfrm>
              <a:off x="3216" y="3168"/>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40" name="Rectangle 46"/>
            <p:cNvSpPr>
              <a:spLocks noChangeArrowheads="1"/>
            </p:cNvSpPr>
            <p:nvPr/>
          </p:nvSpPr>
          <p:spPr bwMode="auto">
            <a:xfrm>
              <a:off x="3504" y="256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4</a:t>
              </a:r>
            </a:p>
          </p:txBody>
        </p:sp>
        <p:sp>
          <p:nvSpPr>
            <p:cNvPr id="30741" name="Rectangle 47"/>
            <p:cNvSpPr>
              <a:spLocks noChangeArrowheads="1"/>
            </p:cNvSpPr>
            <p:nvPr/>
          </p:nvSpPr>
          <p:spPr bwMode="auto">
            <a:xfrm>
              <a:off x="4674" y="256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7</a:t>
              </a:r>
              <a:endParaRPr lang="en-US" altLang="zh-CN" sz="2400" baseline="-25000">
                <a:solidFill>
                  <a:srgbClr val="FF0000"/>
                </a:solidFill>
              </a:endParaRPr>
            </a:p>
          </p:txBody>
        </p:sp>
        <p:sp>
          <p:nvSpPr>
            <p:cNvPr id="30742" name="Rectangle 48"/>
            <p:cNvSpPr>
              <a:spLocks noChangeArrowheads="1"/>
            </p:cNvSpPr>
            <p:nvPr/>
          </p:nvSpPr>
          <p:spPr bwMode="auto">
            <a:xfrm>
              <a:off x="3504" y="2850"/>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5</a:t>
              </a:r>
            </a:p>
          </p:txBody>
        </p:sp>
        <p:sp>
          <p:nvSpPr>
            <p:cNvPr id="30743" name="Rectangle 49"/>
            <p:cNvSpPr>
              <a:spLocks noChangeArrowheads="1"/>
            </p:cNvSpPr>
            <p:nvPr/>
          </p:nvSpPr>
          <p:spPr bwMode="auto">
            <a:xfrm>
              <a:off x="4629" y="2880"/>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12</a:t>
              </a:r>
              <a:endParaRPr lang="en-US" altLang="zh-CN" sz="2400" baseline="-25000">
                <a:solidFill>
                  <a:srgbClr val="FF0000"/>
                </a:solidFill>
              </a:endParaRPr>
            </a:p>
          </p:txBody>
        </p:sp>
        <p:sp>
          <p:nvSpPr>
            <p:cNvPr id="30744" name="Line 50"/>
            <p:cNvSpPr>
              <a:spLocks noChangeShapeType="1"/>
            </p:cNvSpPr>
            <p:nvPr/>
          </p:nvSpPr>
          <p:spPr bwMode="auto">
            <a:xfrm>
              <a:off x="5568"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45" name="Line 54"/>
            <p:cNvSpPr>
              <a:spLocks noChangeShapeType="1"/>
            </p:cNvSpPr>
            <p:nvPr/>
          </p:nvSpPr>
          <p:spPr bwMode="auto">
            <a:xfrm>
              <a:off x="3216" y="1344"/>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381000" y="304800"/>
            <a:ext cx="8763000" cy="676275"/>
          </a:xfrm>
        </p:spPr>
        <p:txBody>
          <a:bodyPr/>
          <a:lstStyle/>
          <a:p>
            <a:pPr eaLnBrk="1" hangingPunct="1"/>
            <a:r>
              <a:rPr lang="en-US" altLang="zh-CN" smtClean="0">
                <a:sym typeface="Symbol" panose="05050102010706020507" pitchFamily="18" charset="2"/>
              </a:rPr>
              <a:t>SJF</a:t>
            </a:r>
            <a:r>
              <a:rPr lang="zh-CN" altLang="en-US" smtClean="0">
                <a:sym typeface="Symbol" panose="05050102010706020507" pitchFamily="18" charset="2"/>
              </a:rPr>
              <a:t>的分析</a:t>
            </a:r>
          </a:p>
        </p:txBody>
      </p:sp>
      <p:sp>
        <p:nvSpPr>
          <p:cNvPr id="193539" name="Rectangle 3"/>
          <p:cNvSpPr>
            <a:spLocks noGrp="1" noChangeArrowheads="1"/>
          </p:cNvSpPr>
          <p:nvPr>
            <p:ph type="body" idx="1"/>
          </p:nvPr>
        </p:nvSpPr>
        <p:spPr>
          <a:xfrm>
            <a:off x="685800" y="3200400"/>
            <a:ext cx="8229600" cy="865188"/>
          </a:xfrm>
          <a:noFill/>
        </p:spPr>
        <p:txBody>
          <a:bodyPr/>
          <a:lstStyle/>
          <a:p>
            <a:pPr eaLnBrk="1" hangingPunct="1">
              <a:lnSpc>
                <a:spcPct val="130000"/>
              </a:lnSpc>
            </a:pPr>
            <a:r>
              <a:rPr lang="zh-CN" altLang="en-US" smtClean="0"/>
              <a:t>同时到达作业</a:t>
            </a:r>
            <a:r>
              <a:rPr lang="en-US" altLang="zh-CN" smtClean="0"/>
              <a:t>SJF</a:t>
            </a:r>
            <a:r>
              <a:rPr lang="zh-CN" altLang="en-US" smtClean="0"/>
              <a:t>可以保证最小的平均等待时间</a:t>
            </a:r>
          </a:p>
        </p:txBody>
      </p:sp>
      <p:grpSp>
        <p:nvGrpSpPr>
          <p:cNvPr id="31748" name="Group 5"/>
          <p:cNvGrpSpPr>
            <a:grpSpLocks/>
          </p:cNvGrpSpPr>
          <p:nvPr/>
        </p:nvGrpSpPr>
        <p:grpSpPr bwMode="auto">
          <a:xfrm>
            <a:off x="1295400" y="1371600"/>
            <a:ext cx="6477000" cy="1219200"/>
            <a:chOff x="816" y="3360"/>
            <a:chExt cx="4080" cy="768"/>
          </a:xfrm>
        </p:grpSpPr>
        <p:sp>
          <p:nvSpPr>
            <p:cNvPr id="31755" name="Rectangle 6"/>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1756" name="Text Box 7"/>
            <p:cNvSpPr txBox="1">
              <a:spLocks noChangeArrowheads="1"/>
            </p:cNvSpPr>
            <p:nvPr/>
          </p:nvSpPr>
          <p:spPr bwMode="auto">
            <a:xfrm>
              <a:off x="960"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31757" name="Text Box 8"/>
            <p:cNvSpPr txBox="1">
              <a:spLocks noChangeArrowheads="1"/>
            </p:cNvSpPr>
            <p:nvPr/>
          </p:nvSpPr>
          <p:spPr bwMode="auto">
            <a:xfrm>
              <a:off x="146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31758" name="Text Box 9"/>
            <p:cNvSpPr txBox="1">
              <a:spLocks noChangeArrowheads="1"/>
            </p:cNvSpPr>
            <p:nvPr/>
          </p:nvSpPr>
          <p:spPr bwMode="auto">
            <a:xfrm>
              <a:off x="218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31759" name="Line 10"/>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0" name="Line 11"/>
            <p:cNvSpPr>
              <a:spLocks noChangeShapeType="1"/>
            </p:cNvSpPr>
            <p:nvPr/>
          </p:nvSpPr>
          <p:spPr bwMode="auto">
            <a:xfrm>
              <a:off x="130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1" name="Line 12"/>
            <p:cNvSpPr>
              <a:spLocks noChangeShapeType="1"/>
            </p:cNvSpPr>
            <p:nvPr/>
          </p:nvSpPr>
          <p:spPr bwMode="auto">
            <a:xfrm>
              <a:off x="130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2" name="Text Box 13"/>
            <p:cNvSpPr txBox="1">
              <a:spLocks noChangeArrowheads="1"/>
            </p:cNvSpPr>
            <p:nvPr/>
          </p:nvSpPr>
          <p:spPr bwMode="auto">
            <a:xfrm>
              <a:off x="1163"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a:t>
              </a:r>
            </a:p>
          </p:txBody>
        </p:sp>
        <p:sp>
          <p:nvSpPr>
            <p:cNvPr id="31763" name="Text Box 14"/>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31764" name="Text Box 15"/>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31765" name="Line 16"/>
            <p:cNvSpPr>
              <a:spLocks noChangeShapeType="1"/>
            </p:cNvSpPr>
            <p:nvPr/>
          </p:nvSpPr>
          <p:spPr bwMode="auto">
            <a:xfrm>
              <a:off x="192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6" name="Line 17"/>
            <p:cNvSpPr>
              <a:spLocks noChangeShapeType="1"/>
            </p:cNvSpPr>
            <p:nvPr/>
          </p:nvSpPr>
          <p:spPr bwMode="auto">
            <a:xfrm>
              <a:off x="192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7" name="Text Box 18"/>
            <p:cNvSpPr txBox="1">
              <a:spLocks noChangeArrowheads="1"/>
            </p:cNvSpPr>
            <p:nvPr/>
          </p:nvSpPr>
          <p:spPr bwMode="auto">
            <a:xfrm>
              <a:off x="173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10</a:t>
              </a:r>
            </a:p>
          </p:txBody>
        </p:sp>
        <p:sp>
          <p:nvSpPr>
            <p:cNvPr id="31768" name="Line 19"/>
            <p:cNvSpPr>
              <a:spLocks noChangeShapeType="1"/>
            </p:cNvSpPr>
            <p:nvPr/>
          </p:nvSpPr>
          <p:spPr bwMode="auto">
            <a:xfrm>
              <a:off x="2694"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9" name="Line 20"/>
            <p:cNvSpPr>
              <a:spLocks noChangeShapeType="1"/>
            </p:cNvSpPr>
            <p:nvPr/>
          </p:nvSpPr>
          <p:spPr bwMode="auto">
            <a:xfrm>
              <a:off x="2694"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0" name="Text Box 21"/>
            <p:cNvSpPr txBox="1">
              <a:spLocks noChangeArrowheads="1"/>
            </p:cNvSpPr>
            <p:nvPr/>
          </p:nvSpPr>
          <p:spPr bwMode="auto">
            <a:xfrm>
              <a:off x="2502"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20</a:t>
              </a:r>
            </a:p>
          </p:txBody>
        </p:sp>
        <p:sp>
          <p:nvSpPr>
            <p:cNvPr id="31771" name="Text Box 22"/>
            <p:cNvSpPr txBox="1">
              <a:spLocks noChangeArrowheads="1"/>
            </p:cNvSpPr>
            <p:nvPr/>
          </p:nvSpPr>
          <p:spPr bwMode="auto">
            <a:xfrm>
              <a:off x="2928"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31772" name="Line 23"/>
            <p:cNvSpPr>
              <a:spLocks noChangeShapeType="1"/>
            </p:cNvSpPr>
            <p:nvPr/>
          </p:nvSpPr>
          <p:spPr bwMode="auto">
            <a:xfrm>
              <a:off x="351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3" name="Line 24"/>
            <p:cNvSpPr>
              <a:spLocks noChangeShapeType="1"/>
            </p:cNvSpPr>
            <p:nvPr/>
          </p:nvSpPr>
          <p:spPr bwMode="auto">
            <a:xfrm>
              <a:off x="351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4" name="Text Box 25"/>
            <p:cNvSpPr txBox="1">
              <a:spLocks noChangeArrowheads="1"/>
            </p:cNvSpPr>
            <p:nvPr/>
          </p:nvSpPr>
          <p:spPr bwMode="auto">
            <a:xfrm>
              <a:off x="3318"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32</a:t>
              </a:r>
            </a:p>
          </p:txBody>
        </p:sp>
        <p:sp>
          <p:nvSpPr>
            <p:cNvPr id="31775" name="Line 26"/>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76" name="Text Box 27"/>
            <p:cNvSpPr txBox="1">
              <a:spLocks noChangeArrowheads="1"/>
            </p:cNvSpPr>
            <p:nvPr/>
          </p:nvSpPr>
          <p:spPr bwMode="auto">
            <a:xfrm>
              <a:off x="419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grpSp>
      <p:grpSp>
        <p:nvGrpSpPr>
          <p:cNvPr id="193586" name="Group 50"/>
          <p:cNvGrpSpPr>
            <a:grpSpLocks/>
          </p:cNvGrpSpPr>
          <p:nvPr/>
        </p:nvGrpSpPr>
        <p:grpSpPr bwMode="auto">
          <a:xfrm>
            <a:off x="906463" y="2520950"/>
            <a:ext cx="6256337" cy="603250"/>
            <a:chOff x="571" y="1684"/>
            <a:chExt cx="3941" cy="380"/>
          </a:xfrm>
        </p:grpSpPr>
        <p:sp>
          <p:nvSpPr>
            <p:cNvPr id="31753" name="Rectangle 51"/>
            <p:cNvSpPr>
              <a:spLocks noChangeArrowheads="1"/>
            </p:cNvSpPr>
            <p:nvPr/>
          </p:nvSpPr>
          <p:spPr bwMode="auto">
            <a:xfrm>
              <a:off x="571" y="1684"/>
              <a:ext cx="3941"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solidFill>
                    <a:srgbClr val="FF0000"/>
                  </a:solidFill>
                </a:rPr>
                <a:t>平均等待时间</a:t>
              </a:r>
              <a:r>
                <a:rPr lang="en-US" altLang="zh-CN" sz="2400">
                  <a:solidFill>
                    <a:srgbClr val="FF0000"/>
                  </a:solidFill>
                </a:rPr>
                <a:t>: (0+3+10+20+32)/5 = 13</a:t>
              </a:r>
            </a:p>
          </p:txBody>
        </p:sp>
        <p:pic>
          <p:nvPicPr>
            <p:cNvPr id="31754" name="Picture 52"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3594" name="Group 58"/>
          <p:cNvGrpSpPr>
            <a:grpSpLocks/>
          </p:cNvGrpSpPr>
          <p:nvPr/>
        </p:nvGrpSpPr>
        <p:grpSpPr bwMode="auto">
          <a:xfrm>
            <a:off x="914400" y="3883025"/>
            <a:ext cx="7772400" cy="2160588"/>
            <a:chOff x="576" y="2304"/>
            <a:chExt cx="4896" cy="1361"/>
          </a:xfrm>
        </p:grpSpPr>
        <p:sp>
          <p:nvSpPr>
            <p:cNvPr id="31751" name="Rectangle 56"/>
            <p:cNvSpPr>
              <a:spLocks noChangeArrowheads="1"/>
            </p:cNvSpPr>
            <p:nvPr/>
          </p:nvSpPr>
          <p:spPr bwMode="auto">
            <a:xfrm>
              <a:off x="576" y="2304"/>
              <a:ext cx="4896" cy="1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dirty="0"/>
                <a:t>证明</a:t>
              </a:r>
              <a:r>
                <a:rPr lang="en-US" altLang="zh-CN" sz="2400" dirty="0"/>
                <a:t>: </a:t>
              </a:r>
              <a:r>
                <a:rPr lang="zh-CN" altLang="en-US" sz="2400" dirty="0"/>
                <a:t>设</a:t>
              </a:r>
              <a:r>
                <a:rPr lang="en-US" altLang="zh-CN" sz="2400" i="1" dirty="0" err="1"/>
                <a:t>P</a:t>
              </a:r>
              <a:r>
                <a:rPr lang="en-US" altLang="zh-CN" sz="2400" baseline="-25000" dirty="0" err="1"/>
                <a:t>1</a:t>
              </a:r>
              <a:r>
                <a:rPr lang="en-US" altLang="zh-CN" sz="2400" i="1" dirty="0" err="1"/>
                <a:t>P</a:t>
              </a:r>
              <a:r>
                <a:rPr lang="en-US" altLang="zh-CN" sz="2400" baseline="-25000" dirty="0" err="1"/>
                <a:t>2</a:t>
              </a:r>
              <a:r>
                <a:rPr lang="en-US" altLang="zh-CN" sz="2400" dirty="0"/>
                <a:t>…</a:t>
              </a:r>
              <a:r>
                <a:rPr lang="en-US" altLang="zh-CN" sz="2400" i="1" dirty="0" err="1"/>
                <a:t>P</a:t>
              </a:r>
              <a:r>
                <a:rPr lang="en-US" altLang="zh-CN" sz="2400" i="1" baseline="-25000" dirty="0" err="1"/>
                <a:t>n</a:t>
              </a:r>
              <a:r>
                <a:rPr lang="zh-CN" altLang="en-US" sz="2400" dirty="0"/>
                <a:t>是调度结果序列，</a:t>
              </a:r>
              <a:r>
                <a:rPr lang="en-US" altLang="zh-CN" sz="2400" i="1" dirty="0"/>
                <a:t>p</a:t>
              </a:r>
              <a:r>
                <a:rPr lang="en-US" altLang="zh-CN" sz="2400" i="1" baseline="-25000" dirty="0"/>
                <a:t>i</a:t>
              </a:r>
              <a:r>
                <a:rPr lang="zh-CN" altLang="en-US" sz="2400" dirty="0"/>
                <a:t>是任务</a:t>
              </a:r>
              <a:r>
                <a:rPr lang="en-US" altLang="zh-CN" sz="2400" dirty="0"/>
                <a:t>CPU</a:t>
              </a:r>
              <a:r>
                <a:rPr lang="zh-CN" altLang="en-US" sz="2400" dirty="0"/>
                <a:t>区间大小。显然该调度序列的平均等待时间为</a:t>
              </a:r>
              <a:r>
                <a:rPr lang="en-US" altLang="zh-CN" sz="2400" dirty="0"/>
                <a:t>:</a:t>
              </a:r>
            </a:p>
            <a:p>
              <a:pPr lvl="1" eaLnBrk="1" hangingPunct="1">
                <a:lnSpc>
                  <a:spcPct val="140000"/>
                </a:lnSpc>
                <a:spcBef>
                  <a:spcPct val="0"/>
                </a:spcBef>
                <a:buClrTx/>
                <a:buSzTx/>
                <a:buFontTx/>
                <a:buNone/>
              </a:pPr>
              <a:r>
                <a:rPr lang="en-US" altLang="zh-CN" sz="2400" dirty="0" smtClean="0"/>
                <a:t>(</a:t>
              </a:r>
              <a:r>
                <a:rPr lang="en-US" altLang="zh-CN" sz="2400" i="1" dirty="0" smtClean="0">
                  <a:solidFill>
                    <a:srgbClr val="FF0000"/>
                  </a:solidFill>
                </a:rPr>
                <a:t>0</a:t>
              </a:r>
              <a:r>
                <a:rPr lang="en-US" altLang="zh-CN" sz="2400" baseline="-25000" dirty="0" smtClean="0">
                  <a:solidFill>
                    <a:srgbClr val="FF0000"/>
                  </a:solidFill>
                </a:rPr>
                <a:t> </a:t>
              </a:r>
              <a:r>
                <a:rPr lang="en-US" altLang="zh-CN" sz="2400" dirty="0">
                  <a:solidFill>
                    <a:srgbClr val="FF0000"/>
                  </a:solidFill>
                </a:rPr>
                <a:t>+ </a:t>
              </a:r>
              <a:r>
                <a:rPr lang="en-US" altLang="zh-CN" sz="2400" i="1" dirty="0" err="1"/>
                <a:t>p</a:t>
              </a:r>
              <a:r>
                <a:rPr lang="en-US" altLang="zh-CN" sz="2400" baseline="-25000" dirty="0" err="1"/>
                <a:t>1</a:t>
              </a:r>
              <a:r>
                <a:rPr lang="en-US" altLang="zh-CN" sz="2400" dirty="0"/>
                <a:t> </a:t>
              </a:r>
              <a:r>
                <a:rPr lang="en-US" altLang="zh-CN" sz="2400" dirty="0">
                  <a:solidFill>
                    <a:srgbClr val="FF0000"/>
                  </a:solidFill>
                </a:rPr>
                <a:t>+ </a:t>
              </a:r>
              <a:r>
                <a:rPr lang="en-US" altLang="zh-CN" sz="2400" i="1" dirty="0" err="1">
                  <a:solidFill>
                    <a:srgbClr val="FF0000"/>
                  </a:solidFill>
                </a:rPr>
                <a:t>p</a:t>
              </a:r>
              <a:r>
                <a:rPr lang="en-US" altLang="zh-CN" sz="2400" baseline="-25000" dirty="0" err="1">
                  <a:solidFill>
                    <a:srgbClr val="FF0000"/>
                  </a:solidFill>
                </a:rPr>
                <a:t>1</a:t>
              </a:r>
              <a:r>
                <a:rPr lang="en-US" altLang="zh-CN" sz="2400" dirty="0" err="1">
                  <a:solidFill>
                    <a:srgbClr val="FF0000"/>
                  </a:solidFill>
                </a:rPr>
                <a:t>+</a:t>
              </a:r>
              <a:r>
                <a:rPr lang="en-US" altLang="zh-CN" sz="2400" i="1" dirty="0" err="1">
                  <a:solidFill>
                    <a:srgbClr val="FF0000"/>
                  </a:solidFill>
                </a:rPr>
                <a:t>p</a:t>
              </a:r>
              <a:r>
                <a:rPr lang="en-US" altLang="zh-CN" sz="2400" baseline="-25000" dirty="0" err="1">
                  <a:solidFill>
                    <a:srgbClr val="FF0000"/>
                  </a:solidFill>
                </a:rPr>
                <a:t>2</a:t>
              </a:r>
              <a:r>
                <a:rPr lang="en-US" altLang="zh-CN" sz="2400" dirty="0">
                  <a:solidFill>
                    <a:srgbClr val="FF0000"/>
                  </a:solidFill>
                </a:rPr>
                <a:t>+ </a:t>
              </a:r>
              <a:r>
                <a:rPr lang="en-US" altLang="zh-CN" sz="2400" i="1" dirty="0" err="1"/>
                <a:t>p</a:t>
              </a:r>
              <a:r>
                <a:rPr lang="en-US" altLang="zh-CN" sz="2400" baseline="-25000" dirty="0" err="1"/>
                <a:t>1</a:t>
              </a:r>
              <a:r>
                <a:rPr lang="en-US" altLang="zh-CN" sz="2400" dirty="0" err="1"/>
                <a:t>+</a:t>
              </a:r>
              <a:r>
                <a:rPr lang="en-US" altLang="zh-CN" sz="2400" i="1" dirty="0" err="1"/>
                <a:t>p</a:t>
              </a:r>
              <a:r>
                <a:rPr lang="en-US" altLang="zh-CN" sz="2400" baseline="-25000" dirty="0" err="1"/>
                <a:t>2</a:t>
              </a:r>
              <a:r>
                <a:rPr lang="en-US" altLang="zh-CN" sz="2400" dirty="0" err="1"/>
                <a:t>+</a:t>
              </a:r>
              <a:r>
                <a:rPr lang="en-US" altLang="zh-CN" sz="2400" i="1" dirty="0" err="1"/>
                <a:t>p</a:t>
              </a:r>
              <a:r>
                <a:rPr lang="en-US" altLang="zh-CN" sz="2400" baseline="-25000" dirty="0" err="1"/>
                <a:t>3</a:t>
              </a:r>
              <a:r>
                <a:rPr lang="en-US" altLang="zh-CN" sz="2400" dirty="0"/>
                <a:t> </a:t>
              </a:r>
              <a:r>
                <a:rPr lang="en-US" altLang="zh-CN" sz="2400" dirty="0">
                  <a:solidFill>
                    <a:srgbClr val="FF0000"/>
                  </a:solidFill>
                </a:rPr>
                <a:t>+ …. </a:t>
              </a:r>
              <a:r>
                <a:rPr lang="en-US" altLang="zh-CN" sz="2400" dirty="0" smtClean="0">
                  <a:solidFill>
                    <a:srgbClr val="FF0000"/>
                  </a:solidFill>
                </a:rPr>
                <a:t>)/n= </a:t>
              </a:r>
              <a:r>
                <a:rPr lang="en-US" altLang="zh-CN" sz="2400" dirty="0"/>
                <a:t>( </a:t>
              </a:r>
              <a:r>
                <a:rPr lang="en-US" altLang="zh-CN" sz="2400" dirty="0" smtClean="0">
                  <a:solidFill>
                    <a:srgbClr val="FF0000"/>
                  </a:solidFill>
                  <a:sym typeface="Symbol" panose="05050102010706020507" pitchFamily="18" charset="2"/>
                </a:rPr>
                <a:t></a:t>
              </a:r>
              <a:r>
                <a:rPr lang="en-US" altLang="zh-CN" sz="2400" dirty="0">
                  <a:solidFill>
                    <a:srgbClr val="FF0000"/>
                  </a:solidFill>
                  <a:sym typeface="Symbol" panose="05050102010706020507" pitchFamily="18" charset="2"/>
                </a:rPr>
                <a:t>(</a:t>
              </a:r>
              <a:r>
                <a:rPr lang="en-US" altLang="zh-CN" sz="2400" i="1" dirty="0" smtClean="0">
                  <a:solidFill>
                    <a:srgbClr val="FF0000"/>
                  </a:solidFill>
                  <a:sym typeface="Symbol" panose="05050102010706020507" pitchFamily="18" charset="2"/>
                </a:rPr>
                <a:t>n</a:t>
              </a:r>
              <a:r>
                <a:rPr lang="en-US" altLang="zh-CN" sz="2400" dirty="0" smtClean="0">
                  <a:solidFill>
                    <a:srgbClr val="FF0000"/>
                  </a:solidFill>
                  <a:sym typeface="Symbol" panose="05050102010706020507" pitchFamily="18" charset="2"/>
                </a:rPr>
                <a:t>-</a:t>
              </a:r>
              <a:r>
                <a:rPr lang="en-US" altLang="zh-CN" sz="2400" i="1" dirty="0" err="1" smtClean="0">
                  <a:solidFill>
                    <a:srgbClr val="FF0000"/>
                  </a:solidFill>
                  <a:sym typeface="Symbol" panose="05050102010706020507" pitchFamily="18" charset="2"/>
                </a:rPr>
                <a:t>i</a:t>
              </a:r>
              <a:r>
                <a:rPr lang="en-US" altLang="zh-CN" sz="2400" dirty="0" smtClean="0">
                  <a:solidFill>
                    <a:srgbClr val="FF0000"/>
                  </a:solidFill>
                  <a:sym typeface="Symbol" panose="05050102010706020507" pitchFamily="18" charset="2"/>
                </a:rPr>
                <a:t>)</a:t>
              </a:r>
              <a:r>
                <a:rPr lang="en-US" altLang="zh-CN" sz="2400" i="1" dirty="0" smtClean="0">
                  <a:solidFill>
                    <a:srgbClr val="FF0000"/>
                  </a:solidFill>
                  <a:sym typeface="Symbol" panose="05050102010706020507" pitchFamily="18" charset="2"/>
                </a:rPr>
                <a:t>p</a:t>
              </a:r>
              <a:r>
                <a:rPr lang="en-US" altLang="zh-CN" sz="2400" i="1" baseline="-25000" dirty="0" smtClean="0">
                  <a:solidFill>
                    <a:srgbClr val="FF0000"/>
                  </a:solidFill>
                  <a:sym typeface="Symbol" panose="05050102010706020507" pitchFamily="18" charset="2"/>
                </a:rPr>
                <a:t>i</a:t>
              </a:r>
              <a:r>
                <a:rPr lang="zh-CN" altLang="en-US" sz="2400" dirty="0">
                  <a:solidFill>
                    <a:srgbClr val="FF0000"/>
                  </a:solidFill>
                </a:rPr>
                <a:t> </a:t>
              </a:r>
              <a:r>
                <a:rPr lang="en-US" altLang="zh-CN" sz="2400" dirty="0">
                  <a:solidFill>
                    <a:srgbClr val="FF0000"/>
                  </a:solidFill>
                </a:rPr>
                <a:t>)/n</a:t>
              </a:r>
              <a:endParaRPr lang="en-US" altLang="zh-CN" sz="2400" i="1" baseline="-25000" dirty="0">
                <a:solidFill>
                  <a:srgbClr val="FF0000"/>
                </a:solidFill>
                <a:sym typeface="Symbol" panose="05050102010706020507" pitchFamily="18" charset="2"/>
              </a:endParaRPr>
            </a:p>
            <a:p>
              <a:pPr lvl="1" eaLnBrk="1" hangingPunct="1">
                <a:lnSpc>
                  <a:spcPct val="140000"/>
                </a:lnSpc>
                <a:spcBef>
                  <a:spcPct val="0"/>
                </a:spcBef>
                <a:buClrTx/>
                <a:buSzTx/>
                <a:buFontTx/>
                <a:buNone/>
              </a:pPr>
              <a:r>
                <a:rPr lang="zh-CN" altLang="en-US" sz="2400" dirty="0"/>
                <a:t>如果存在</a:t>
              </a:r>
              <a:r>
                <a:rPr lang="en-US" altLang="zh-CN" sz="2400" i="1" dirty="0" err="1"/>
                <a:t>i</a:t>
              </a:r>
              <a:r>
                <a:rPr lang="en-US" altLang="zh-CN" sz="2400" dirty="0"/>
                <a:t>&lt;</a:t>
              </a:r>
              <a:r>
                <a:rPr lang="en-US" altLang="zh-CN" sz="2400" i="1" dirty="0"/>
                <a:t>j</a:t>
              </a:r>
              <a:r>
                <a:rPr lang="zh-CN" altLang="en-US" sz="2400" dirty="0"/>
                <a:t>而</a:t>
              </a:r>
              <a:r>
                <a:rPr lang="en-US" altLang="zh-CN" sz="2400" i="1" dirty="0"/>
                <a:t>p</a:t>
              </a:r>
              <a:r>
                <a:rPr lang="en-US" altLang="zh-CN" sz="2400" i="1" baseline="-25000" dirty="0"/>
                <a:t>i</a:t>
              </a:r>
              <a:r>
                <a:rPr lang="en-US" altLang="zh-CN" sz="2400" dirty="0"/>
                <a:t>&gt;</a:t>
              </a:r>
              <a:r>
                <a:rPr lang="en-US" altLang="zh-CN" sz="2400" i="1" dirty="0" err="1"/>
                <a:t>p</a:t>
              </a:r>
              <a:r>
                <a:rPr lang="en-US" altLang="zh-CN" sz="2400" i="1" baseline="-25000" dirty="0" err="1"/>
                <a:t>j</a:t>
              </a:r>
              <a:r>
                <a:rPr lang="zh-CN" altLang="en-US" sz="2400" dirty="0"/>
                <a:t>，交换</a:t>
              </a:r>
              <a:r>
                <a:rPr lang="en-US" altLang="zh-CN" sz="2400" i="1" dirty="0" err="1"/>
                <a:t>p</a:t>
              </a:r>
              <a:r>
                <a:rPr lang="en-US" altLang="zh-CN" sz="2400" i="1" baseline="-25000" dirty="0" err="1"/>
                <a:t>i</a:t>
              </a:r>
              <a:r>
                <a:rPr lang="en-US" altLang="zh-CN" sz="2400" dirty="0" err="1"/>
                <a:t>,</a:t>
              </a:r>
              <a:r>
                <a:rPr lang="en-US" altLang="zh-CN" sz="2400" i="1" dirty="0" err="1"/>
                <a:t>p</a:t>
              </a:r>
              <a:r>
                <a:rPr lang="en-US" altLang="zh-CN" sz="2400" i="1" baseline="-25000" dirty="0" err="1"/>
                <a:t>j</a:t>
              </a:r>
              <a:r>
                <a:rPr lang="zh-CN" altLang="en-US" sz="2400" dirty="0"/>
                <a:t>调度顺序会减小上值。          </a:t>
              </a:r>
            </a:p>
          </p:txBody>
        </p:sp>
        <p:pic>
          <p:nvPicPr>
            <p:cNvPr id="31752" name="Picture 5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246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93586"/>
                                        </p:tgtEl>
                                        <p:attrNameLst>
                                          <p:attrName>style.visibility</p:attrName>
                                        </p:attrNameLst>
                                      </p:cBhvr>
                                      <p:to>
                                        <p:strVal val="visible"/>
                                      </p:to>
                                    </p:set>
                                    <p:animEffect transition="in" filter="dissolve">
                                      <p:cBhvr>
                                        <p:cTn id="7" dur="500"/>
                                        <p:tgtEl>
                                          <p:spTgt spid="1935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3539">
                                            <p:txEl>
                                              <p:pRg st="0" end="0"/>
                                            </p:txEl>
                                          </p:spTgt>
                                        </p:tgtEl>
                                        <p:attrNameLst>
                                          <p:attrName>style.visibility</p:attrName>
                                        </p:attrNameLst>
                                      </p:cBhvr>
                                      <p:to>
                                        <p:strVal val="visible"/>
                                      </p:to>
                                    </p:set>
                                    <p:animEffect transition="in" filter="dissolve">
                                      <p:cBhvr>
                                        <p:cTn id="12" dur="500"/>
                                        <p:tgtEl>
                                          <p:spTgt spid="19353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93594"/>
                                        </p:tgtEl>
                                        <p:attrNameLst>
                                          <p:attrName>style.visibility</p:attrName>
                                        </p:attrNameLst>
                                      </p:cBhvr>
                                      <p:to>
                                        <p:strVal val="visible"/>
                                      </p:to>
                                    </p:set>
                                    <p:animEffect transition="in" filter="dissolve">
                                      <p:cBhvr>
                                        <p:cTn id="17" dur="500"/>
                                        <p:tgtEl>
                                          <p:spTgt spid="193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81000" y="304800"/>
            <a:ext cx="8763000" cy="676275"/>
          </a:xfrm>
        </p:spPr>
        <p:txBody>
          <a:bodyPr/>
          <a:lstStyle/>
          <a:p>
            <a:pPr eaLnBrk="1" hangingPunct="1"/>
            <a:r>
              <a:rPr lang="en-US" altLang="zh-CN" smtClean="0"/>
              <a:t>SJF: </a:t>
            </a:r>
            <a:r>
              <a:rPr lang="zh-CN" altLang="en-US" smtClean="0"/>
              <a:t>任务到达的时间有先后怎么办</a:t>
            </a:r>
            <a:r>
              <a:rPr lang="en-US" altLang="zh-CN" smtClean="0"/>
              <a:t>? </a:t>
            </a:r>
            <a:endParaRPr lang="en-US" altLang="zh-CN" smtClean="0">
              <a:sym typeface="Symbol" panose="05050102010706020507" pitchFamily="18" charset="2"/>
            </a:endParaRPr>
          </a:p>
        </p:txBody>
      </p:sp>
      <p:sp>
        <p:nvSpPr>
          <p:cNvPr id="194563" name="Rectangle 3"/>
          <p:cNvSpPr>
            <a:spLocks noGrp="1" noChangeArrowheads="1"/>
          </p:cNvSpPr>
          <p:nvPr>
            <p:ph type="body" idx="1"/>
          </p:nvPr>
        </p:nvSpPr>
        <p:spPr>
          <a:xfrm>
            <a:off x="685800" y="1192213"/>
            <a:ext cx="7921625" cy="865187"/>
          </a:xfrm>
          <a:noFill/>
        </p:spPr>
        <p:txBody>
          <a:bodyPr/>
          <a:lstStyle/>
          <a:p>
            <a:pPr eaLnBrk="1" hangingPunct="1">
              <a:lnSpc>
                <a:spcPct val="110000"/>
              </a:lnSpc>
            </a:pPr>
            <a:r>
              <a:rPr lang="en-US" altLang="zh-CN" smtClean="0"/>
              <a:t>Shortest Remaining Job First </a:t>
            </a:r>
            <a:r>
              <a:rPr lang="en-US" altLang="zh-CN" smtClean="0">
                <a:sym typeface="Symbol" panose="05050102010706020507" pitchFamily="18" charset="2"/>
              </a:rPr>
              <a:t>(SRJF)</a:t>
            </a:r>
          </a:p>
          <a:p>
            <a:pPr eaLnBrk="1" hangingPunct="1">
              <a:lnSpc>
                <a:spcPct val="110000"/>
              </a:lnSpc>
            </a:pPr>
            <a:r>
              <a:rPr lang="en-US" altLang="zh-CN" smtClean="0">
                <a:solidFill>
                  <a:srgbClr val="FF0000"/>
                </a:solidFill>
              </a:rPr>
              <a:t>SJF</a:t>
            </a:r>
            <a:r>
              <a:rPr lang="zh-CN" altLang="en-US" smtClean="0">
                <a:solidFill>
                  <a:srgbClr val="FF0000"/>
                </a:solidFill>
              </a:rPr>
              <a:t>的可抢占版本</a:t>
            </a:r>
          </a:p>
        </p:txBody>
      </p:sp>
      <p:grpSp>
        <p:nvGrpSpPr>
          <p:cNvPr id="194632" name="Group 72"/>
          <p:cNvGrpSpPr>
            <a:grpSpLocks/>
          </p:cNvGrpSpPr>
          <p:nvPr/>
        </p:nvGrpSpPr>
        <p:grpSpPr bwMode="auto">
          <a:xfrm>
            <a:off x="685800" y="1981200"/>
            <a:ext cx="8153400" cy="3200400"/>
            <a:chOff x="432" y="1248"/>
            <a:chExt cx="5136" cy="2016"/>
          </a:xfrm>
        </p:grpSpPr>
        <p:sp>
          <p:nvSpPr>
            <p:cNvPr id="32827" name="Rectangle 30"/>
            <p:cNvSpPr>
              <a:spLocks noChangeArrowheads="1"/>
            </p:cNvSpPr>
            <p:nvPr/>
          </p:nvSpPr>
          <p:spPr bwMode="auto">
            <a:xfrm>
              <a:off x="432" y="1440"/>
              <a:ext cx="4990"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一个实例</a:t>
              </a:r>
            </a:p>
          </p:txBody>
        </p:sp>
        <p:sp>
          <p:nvSpPr>
            <p:cNvPr id="32828" name="Line 31"/>
            <p:cNvSpPr>
              <a:spLocks noChangeShapeType="1"/>
            </p:cNvSpPr>
            <p:nvPr/>
          </p:nvSpPr>
          <p:spPr bwMode="auto">
            <a:xfrm>
              <a:off x="3024" y="1728"/>
              <a:ext cx="25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29" name="Line 32"/>
            <p:cNvSpPr>
              <a:spLocks noChangeShapeType="1"/>
            </p:cNvSpPr>
            <p:nvPr/>
          </p:nvSpPr>
          <p:spPr bwMode="auto">
            <a:xfrm>
              <a:off x="3024" y="1248"/>
              <a:ext cx="0" cy="20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2830" name="Group 33"/>
            <p:cNvGrpSpPr>
              <a:grpSpLocks/>
            </p:cNvGrpSpPr>
            <p:nvPr/>
          </p:nvGrpSpPr>
          <p:grpSpPr bwMode="auto">
            <a:xfrm>
              <a:off x="768" y="1892"/>
              <a:ext cx="2256" cy="610"/>
              <a:chOff x="768" y="1796"/>
              <a:chExt cx="2256" cy="610"/>
            </a:xfrm>
          </p:grpSpPr>
          <p:sp>
            <p:nvSpPr>
              <p:cNvPr id="32854" name="Rectangle 34"/>
              <p:cNvSpPr>
                <a:spLocks noChangeArrowheads="1"/>
              </p:cNvSpPr>
              <p:nvPr/>
            </p:nvSpPr>
            <p:spPr bwMode="auto">
              <a:xfrm>
                <a:off x="912" y="1796"/>
                <a:ext cx="2112"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Tx/>
                  <a:buSzTx/>
                  <a:buFontTx/>
                  <a:buNone/>
                </a:pPr>
                <a:r>
                  <a:rPr lang="zh-CN" altLang="en-US" sz="2400"/>
                  <a:t>假定任务</a:t>
                </a:r>
                <a:r>
                  <a:rPr lang="en-US" altLang="zh-CN" sz="2400"/>
                  <a:t>P</a:t>
                </a:r>
                <a:r>
                  <a:rPr lang="en-US" altLang="zh-CN" sz="2400" baseline="-25000"/>
                  <a:t>1</a:t>
                </a:r>
                <a:r>
                  <a:rPr lang="zh-CN" altLang="en-US" sz="2400"/>
                  <a:t>，</a:t>
                </a:r>
                <a:r>
                  <a:rPr lang="en-US" altLang="zh-CN" sz="2400"/>
                  <a:t>P</a:t>
                </a:r>
                <a:r>
                  <a:rPr lang="en-US" altLang="zh-CN" sz="2400" baseline="-25000"/>
                  <a:t>2</a:t>
                </a:r>
                <a:r>
                  <a:rPr lang="zh-CN" altLang="en-US" sz="2400"/>
                  <a:t>，</a:t>
                </a:r>
                <a:r>
                  <a:rPr lang="en-US" altLang="zh-CN" sz="2400"/>
                  <a:t>P</a:t>
                </a:r>
                <a:r>
                  <a:rPr lang="en-US" altLang="zh-CN" sz="2400" baseline="-25000"/>
                  <a:t>3</a:t>
                </a:r>
                <a:r>
                  <a:rPr lang="zh-CN" altLang="en-US" sz="2400"/>
                  <a:t>，</a:t>
                </a:r>
                <a:r>
                  <a:rPr lang="en-US" altLang="zh-CN" sz="2400"/>
                  <a:t>P</a:t>
                </a:r>
                <a:r>
                  <a:rPr lang="en-US" altLang="zh-CN" sz="2400" baseline="-25000"/>
                  <a:t>4</a:t>
                </a:r>
                <a:r>
                  <a:rPr lang="zh-CN" altLang="en-US" sz="2400"/>
                  <a:t>，</a:t>
                </a:r>
                <a:r>
                  <a:rPr lang="en-US" altLang="zh-CN" sz="2400"/>
                  <a:t>P</a:t>
                </a:r>
                <a:r>
                  <a:rPr lang="en-US" altLang="zh-CN" sz="2400" baseline="-25000"/>
                  <a:t>5</a:t>
                </a:r>
                <a:r>
                  <a:rPr lang="zh-CN" altLang="en-US" sz="2400"/>
                  <a:t>的到达顺序为</a:t>
                </a:r>
                <a:r>
                  <a:rPr lang="en-US" altLang="zh-CN" sz="2400"/>
                  <a:t>:</a:t>
                </a:r>
              </a:p>
            </p:txBody>
          </p:sp>
          <p:pic>
            <p:nvPicPr>
              <p:cNvPr id="32855" name="Picture 35"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 y="187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831" name="Line 36"/>
            <p:cNvSpPr>
              <a:spLocks noChangeShapeType="1"/>
            </p:cNvSpPr>
            <p:nvPr/>
          </p:nvSpPr>
          <p:spPr bwMode="auto">
            <a:xfrm>
              <a:off x="3552" y="1248"/>
              <a:ext cx="0" cy="20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32" name="Rectangle 37"/>
            <p:cNvSpPr>
              <a:spLocks noChangeArrowheads="1"/>
            </p:cNvSpPr>
            <p:nvPr/>
          </p:nvSpPr>
          <p:spPr bwMode="auto">
            <a:xfrm>
              <a:off x="3052" y="1344"/>
              <a:ext cx="5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任务</a:t>
              </a:r>
            </a:p>
          </p:txBody>
        </p:sp>
        <p:sp>
          <p:nvSpPr>
            <p:cNvPr id="32833" name="Rectangle 38"/>
            <p:cNvSpPr>
              <a:spLocks noChangeArrowheads="1"/>
            </p:cNvSpPr>
            <p:nvPr/>
          </p:nvSpPr>
          <p:spPr bwMode="auto">
            <a:xfrm>
              <a:off x="4464" y="1258"/>
              <a:ext cx="1104"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a:t>CPU</a:t>
              </a:r>
              <a:r>
                <a:rPr lang="zh-CN" altLang="en-US" sz="2400"/>
                <a:t>区间</a:t>
              </a:r>
              <a:r>
                <a:rPr lang="en-US" altLang="zh-CN" sz="2400"/>
                <a:t>(ms)</a:t>
              </a:r>
            </a:p>
          </p:txBody>
        </p:sp>
        <p:sp>
          <p:nvSpPr>
            <p:cNvPr id="32834" name="Rectangle 39"/>
            <p:cNvSpPr>
              <a:spLocks noChangeArrowheads="1"/>
            </p:cNvSpPr>
            <p:nvPr/>
          </p:nvSpPr>
          <p:spPr bwMode="auto">
            <a:xfrm>
              <a:off x="3141" y="1788"/>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1</a:t>
              </a:r>
            </a:p>
          </p:txBody>
        </p:sp>
        <p:sp>
          <p:nvSpPr>
            <p:cNvPr id="32835" name="Rectangle 40"/>
            <p:cNvSpPr>
              <a:spLocks noChangeArrowheads="1"/>
            </p:cNvSpPr>
            <p:nvPr/>
          </p:nvSpPr>
          <p:spPr bwMode="auto">
            <a:xfrm>
              <a:off x="4902" y="1776"/>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10</a:t>
              </a:r>
              <a:endParaRPr lang="en-US" altLang="zh-CN" sz="2400" baseline="-25000">
                <a:solidFill>
                  <a:srgbClr val="FF0000"/>
                </a:solidFill>
              </a:endParaRPr>
            </a:p>
          </p:txBody>
        </p:sp>
        <p:sp>
          <p:nvSpPr>
            <p:cNvPr id="32836" name="Rectangle 41"/>
            <p:cNvSpPr>
              <a:spLocks noChangeArrowheads="1"/>
            </p:cNvSpPr>
            <p:nvPr/>
          </p:nvSpPr>
          <p:spPr bwMode="auto">
            <a:xfrm>
              <a:off x="3141" y="2064"/>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2</a:t>
              </a:r>
            </a:p>
          </p:txBody>
        </p:sp>
        <p:sp>
          <p:nvSpPr>
            <p:cNvPr id="32837" name="Rectangle 42"/>
            <p:cNvSpPr>
              <a:spLocks noChangeArrowheads="1"/>
            </p:cNvSpPr>
            <p:nvPr/>
          </p:nvSpPr>
          <p:spPr bwMode="auto">
            <a:xfrm>
              <a:off x="4902" y="2064"/>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29</a:t>
              </a:r>
              <a:endParaRPr lang="en-US" altLang="zh-CN" sz="2400" baseline="-25000">
                <a:solidFill>
                  <a:srgbClr val="FF0000"/>
                </a:solidFill>
              </a:endParaRPr>
            </a:p>
          </p:txBody>
        </p:sp>
        <p:sp>
          <p:nvSpPr>
            <p:cNvPr id="32838" name="Rectangle 43"/>
            <p:cNvSpPr>
              <a:spLocks noChangeArrowheads="1"/>
            </p:cNvSpPr>
            <p:nvPr/>
          </p:nvSpPr>
          <p:spPr bwMode="auto">
            <a:xfrm>
              <a:off x="3141" y="235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3</a:t>
              </a:r>
            </a:p>
          </p:txBody>
        </p:sp>
        <p:sp>
          <p:nvSpPr>
            <p:cNvPr id="32839" name="Rectangle 44"/>
            <p:cNvSpPr>
              <a:spLocks noChangeArrowheads="1"/>
            </p:cNvSpPr>
            <p:nvPr/>
          </p:nvSpPr>
          <p:spPr bwMode="auto">
            <a:xfrm>
              <a:off x="4947" y="2373"/>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3</a:t>
              </a:r>
              <a:endParaRPr lang="en-US" altLang="zh-CN" sz="2400" baseline="-25000">
                <a:solidFill>
                  <a:srgbClr val="FF0000"/>
                </a:solidFill>
              </a:endParaRPr>
            </a:p>
          </p:txBody>
        </p:sp>
        <p:sp>
          <p:nvSpPr>
            <p:cNvPr id="32840" name="Line 45"/>
            <p:cNvSpPr>
              <a:spLocks noChangeShapeType="1"/>
            </p:cNvSpPr>
            <p:nvPr/>
          </p:nvSpPr>
          <p:spPr bwMode="auto">
            <a:xfrm>
              <a:off x="3024" y="3264"/>
              <a:ext cx="25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41" name="Rectangle 46"/>
            <p:cNvSpPr>
              <a:spLocks noChangeArrowheads="1"/>
            </p:cNvSpPr>
            <p:nvPr/>
          </p:nvSpPr>
          <p:spPr bwMode="auto">
            <a:xfrm>
              <a:off x="3141" y="2658"/>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4</a:t>
              </a:r>
            </a:p>
          </p:txBody>
        </p:sp>
        <p:sp>
          <p:nvSpPr>
            <p:cNvPr id="32842" name="Rectangle 47"/>
            <p:cNvSpPr>
              <a:spLocks noChangeArrowheads="1"/>
            </p:cNvSpPr>
            <p:nvPr/>
          </p:nvSpPr>
          <p:spPr bwMode="auto">
            <a:xfrm>
              <a:off x="4947" y="265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7</a:t>
              </a:r>
              <a:endParaRPr lang="en-US" altLang="zh-CN" sz="2400" baseline="-25000">
                <a:solidFill>
                  <a:srgbClr val="FF0000"/>
                </a:solidFill>
              </a:endParaRPr>
            </a:p>
          </p:txBody>
        </p:sp>
        <p:sp>
          <p:nvSpPr>
            <p:cNvPr id="32843" name="Rectangle 48"/>
            <p:cNvSpPr>
              <a:spLocks noChangeArrowheads="1"/>
            </p:cNvSpPr>
            <p:nvPr/>
          </p:nvSpPr>
          <p:spPr bwMode="auto">
            <a:xfrm>
              <a:off x="3141" y="2946"/>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5</a:t>
              </a:r>
            </a:p>
          </p:txBody>
        </p:sp>
        <p:sp>
          <p:nvSpPr>
            <p:cNvPr id="32844" name="Rectangle 49"/>
            <p:cNvSpPr>
              <a:spLocks noChangeArrowheads="1"/>
            </p:cNvSpPr>
            <p:nvPr/>
          </p:nvSpPr>
          <p:spPr bwMode="auto">
            <a:xfrm>
              <a:off x="4902" y="2976"/>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12</a:t>
              </a:r>
              <a:endParaRPr lang="en-US" altLang="zh-CN" sz="2400" baseline="-25000">
                <a:solidFill>
                  <a:srgbClr val="FF0000"/>
                </a:solidFill>
              </a:endParaRPr>
            </a:p>
          </p:txBody>
        </p:sp>
        <p:sp>
          <p:nvSpPr>
            <p:cNvPr id="32845" name="Line 50"/>
            <p:cNvSpPr>
              <a:spLocks noChangeShapeType="1"/>
            </p:cNvSpPr>
            <p:nvPr/>
          </p:nvSpPr>
          <p:spPr bwMode="auto">
            <a:xfrm>
              <a:off x="5568" y="1248"/>
              <a:ext cx="0" cy="20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46" name="Line 51"/>
            <p:cNvSpPr>
              <a:spLocks noChangeShapeType="1"/>
            </p:cNvSpPr>
            <p:nvPr/>
          </p:nvSpPr>
          <p:spPr bwMode="auto">
            <a:xfrm>
              <a:off x="4560" y="1248"/>
              <a:ext cx="0" cy="20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47" name="Rectangle 52"/>
            <p:cNvSpPr>
              <a:spLocks noChangeArrowheads="1"/>
            </p:cNvSpPr>
            <p:nvPr/>
          </p:nvSpPr>
          <p:spPr bwMode="auto">
            <a:xfrm>
              <a:off x="3482" y="1248"/>
              <a:ext cx="107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a:t>到达时间</a:t>
              </a:r>
            </a:p>
            <a:p>
              <a:pPr algn="ctr" eaLnBrk="1" hangingPunct="1">
                <a:spcBef>
                  <a:spcPct val="0"/>
                </a:spcBef>
                <a:buClrTx/>
                <a:buSzTx/>
                <a:buFontTx/>
                <a:buNone/>
              </a:pPr>
              <a:r>
                <a:rPr lang="en-US" altLang="zh-CN" sz="2400"/>
                <a:t>(ms)</a:t>
              </a:r>
            </a:p>
          </p:txBody>
        </p:sp>
        <p:sp>
          <p:nvSpPr>
            <p:cNvPr id="32848" name="Rectangle 53"/>
            <p:cNvSpPr>
              <a:spLocks noChangeArrowheads="1"/>
            </p:cNvSpPr>
            <p:nvPr/>
          </p:nvSpPr>
          <p:spPr bwMode="auto">
            <a:xfrm>
              <a:off x="3936" y="1776"/>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0</a:t>
              </a:r>
              <a:endParaRPr lang="en-US" altLang="zh-CN" sz="2400" baseline="-25000">
                <a:solidFill>
                  <a:srgbClr val="FF0000"/>
                </a:solidFill>
              </a:endParaRPr>
            </a:p>
          </p:txBody>
        </p:sp>
        <p:sp>
          <p:nvSpPr>
            <p:cNvPr id="32849" name="Rectangle 54"/>
            <p:cNvSpPr>
              <a:spLocks noChangeArrowheads="1"/>
            </p:cNvSpPr>
            <p:nvPr/>
          </p:nvSpPr>
          <p:spPr bwMode="auto">
            <a:xfrm>
              <a:off x="3894" y="2064"/>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 0</a:t>
              </a:r>
              <a:endParaRPr lang="en-US" altLang="zh-CN" sz="2400" baseline="-25000">
                <a:solidFill>
                  <a:srgbClr val="FF0000"/>
                </a:solidFill>
              </a:endParaRPr>
            </a:p>
          </p:txBody>
        </p:sp>
        <p:sp>
          <p:nvSpPr>
            <p:cNvPr id="32850" name="Rectangle 55"/>
            <p:cNvSpPr>
              <a:spLocks noChangeArrowheads="1"/>
            </p:cNvSpPr>
            <p:nvPr/>
          </p:nvSpPr>
          <p:spPr bwMode="auto">
            <a:xfrm>
              <a:off x="3939" y="2373"/>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5</a:t>
              </a:r>
              <a:endParaRPr lang="en-US" altLang="zh-CN" sz="2400" baseline="-25000">
                <a:solidFill>
                  <a:srgbClr val="FF0000"/>
                </a:solidFill>
              </a:endParaRPr>
            </a:p>
          </p:txBody>
        </p:sp>
        <p:sp>
          <p:nvSpPr>
            <p:cNvPr id="32851" name="Rectangle 56"/>
            <p:cNvSpPr>
              <a:spLocks noChangeArrowheads="1"/>
            </p:cNvSpPr>
            <p:nvPr/>
          </p:nvSpPr>
          <p:spPr bwMode="auto">
            <a:xfrm>
              <a:off x="3939" y="265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5</a:t>
              </a:r>
              <a:endParaRPr lang="en-US" altLang="zh-CN" sz="2400" baseline="-25000">
                <a:solidFill>
                  <a:srgbClr val="FF0000"/>
                </a:solidFill>
              </a:endParaRPr>
            </a:p>
          </p:txBody>
        </p:sp>
        <p:sp>
          <p:nvSpPr>
            <p:cNvPr id="32852" name="Rectangle 57"/>
            <p:cNvSpPr>
              <a:spLocks noChangeArrowheads="1"/>
            </p:cNvSpPr>
            <p:nvPr/>
          </p:nvSpPr>
          <p:spPr bwMode="auto">
            <a:xfrm>
              <a:off x="3888" y="2976"/>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30</a:t>
              </a:r>
              <a:endParaRPr lang="en-US" altLang="zh-CN" sz="2400" baseline="-25000">
                <a:solidFill>
                  <a:srgbClr val="FF0000"/>
                </a:solidFill>
              </a:endParaRPr>
            </a:p>
          </p:txBody>
        </p:sp>
        <p:sp>
          <p:nvSpPr>
            <p:cNvPr id="32853" name="Line 60"/>
            <p:cNvSpPr>
              <a:spLocks noChangeShapeType="1"/>
            </p:cNvSpPr>
            <p:nvPr/>
          </p:nvSpPr>
          <p:spPr bwMode="auto">
            <a:xfrm>
              <a:off x="3024" y="1248"/>
              <a:ext cx="25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4631" name="Group 71"/>
          <p:cNvGrpSpPr>
            <a:grpSpLocks/>
          </p:cNvGrpSpPr>
          <p:nvPr/>
        </p:nvGrpSpPr>
        <p:grpSpPr bwMode="auto">
          <a:xfrm>
            <a:off x="685800" y="4572000"/>
            <a:ext cx="7086600" cy="1981200"/>
            <a:chOff x="432" y="2880"/>
            <a:chExt cx="4464" cy="1248"/>
          </a:xfrm>
        </p:grpSpPr>
        <p:sp>
          <p:nvSpPr>
            <p:cNvPr id="32795" name="Rectangle 5"/>
            <p:cNvSpPr>
              <a:spLocks noChangeArrowheads="1"/>
            </p:cNvSpPr>
            <p:nvPr/>
          </p:nvSpPr>
          <p:spPr bwMode="auto">
            <a:xfrm>
              <a:off x="432" y="2880"/>
              <a:ext cx="2304"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调度结果</a:t>
              </a:r>
            </a:p>
          </p:txBody>
        </p:sp>
        <p:grpSp>
          <p:nvGrpSpPr>
            <p:cNvPr id="32796" name="Group 70"/>
            <p:cNvGrpSpPr>
              <a:grpSpLocks/>
            </p:cNvGrpSpPr>
            <p:nvPr/>
          </p:nvGrpSpPr>
          <p:grpSpPr bwMode="auto">
            <a:xfrm>
              <a:off x="816" y="3360"/>
              <a:ext cx="4080" cy="768"/>
              <a:chOff x="816" y="3360"/>
              <a:chExt cx="4080" cy="768"/>
            </a:xfrm>
          </p:grpSpPr>
          <p:sp>
            <p:nvSpPr>
              <p:cNvPr id="32797" name="Rectangle 7"/>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2798" name="Text Box 8"/>
              <p:cNvSpPr txBox="1">
                <a:spLocks noChangeArrowheads="1"/>
              </p:cNvSpPr>
              <p:nvPr/>
            </p:nvSpPr>
            <p:spPr bwMode="auto">
              <a:xfrm>
                <a:off x="98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32799" name="Text Box 9"/>
              <p:cNvSpPr txBox="1">
                <a:spLocks noChangeArrowheads="1"/>
              </p:cNvSpPr>
              <p:nvPr/>
            </p:nvSpPr>
            <p:spPr bwMode="auto">
              <a:xfrm>
                <a:off x="1344"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32800" name="Text Box 10"/>
              <p:cNvSpPr txBox="1">
                <a:spLocks noChangeArrowheads="1"/>
              </p:cNvSpPr>
              <p:nvPr/>
            </p:nvSpPr>
            <p:spPr bwMode="auto">
              <a:xfrm>
                <a:off x="1722"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32801" name="Line 11"/>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2" name="Line 12"/>
              <p:cNvSpPr>
                <a:spLocks noChangeShapeType="1"/>
              </p:cNvSpPr>
              <p:nvPr/>
            </p:nvSpPr>
            <p:spPr bwMode="auto">
              <a:xfrm>
                <a:off x="1339"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3" name="Line 13"/>
              <p:cNvSpPr>
                <a:spLocks noChangeShapeType="1"/>
              </p:cNvSpPr>
              <p:nvPr/>
            </p:nvSpPr>
            <p:spPr bwMode="auto">
              <a:xfrm>
                <a:off x="1339"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4" name="Text Box 14"/>
              <p:cNvSpPr txBox="1">
                <a:spLocks noChangeArrowheads="1"/>
              </p:cNvSpPr>
              <p:nvPr/>
            </p:nvSpPr>
            <p:spPr bwMode="auto">
              <a:xfrm>
                <a:off x="1200"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5</a:t>
                </a:r>
              </a:p>
            </p:txBody>
          </p:sp>
          <p:sp>
            <p:nvSpPr>
              <p:cNvPr id="32805" name="Text Box 15"/>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32806" name="Text Box 16"/>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32807" name="Line 17"/>
              <p:cNvSpPr>
                <a:spLocks noChangeShapeType="1"/>
              </p:cNvSpPr>
              <p:nvPr/>
            </p:nvSpPr>
            <p:spPr bwMode="auto">
              <a:xfrm>
                <a:off x="1659"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8" name="Line 18"/>
              <p:cNvSpPr>
                <a:spLocks noChangeShapeType="1"/>
              </p:cNvSpPr>
              <p:nvPr/>
            </p:nvSpPr>
            <p:spPr bwMode="auto">
              <a:xfrm>
                <a:off x="1659"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09" name="Text Box 19"/>
              <p:cNvSpPr txBox="1">
                <a:spLocks noChangeArrowheads="1"/>
              </p:cNvSpPr>
              <p:nvPr/>
            </p:nvSpPr>
            <p:spPr bwMode="auto">
              <a:xfrm>
                <a:off x="1520"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8</a:t>
                </a:r>
              </a:p>
            </p:txBody>
          </p:sp>
          <p:sp>
            <p:nvSpPr>
              <p:cNvPr id="32810" name="Line 20"/>
              <p:cNvSpPr>
                <a:spLocks noChangeShapeType="1"/>
              </p:cNvSpPr>
              <p:nvPr/>
            </p:nvSpPr>
            <p:spPr bwMode="auto">
              <a:xfrm>
                <a:off x="211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11" name="Line 21"/>
              <p:cNvSpPr>
                <a:spLocks noChangeShapeType="1"/>
              </p:cNvSpPr>
              <p:nvPr/>
            </p:nvSpPr>
            <p:spPr bwMode="auto">
              <a:xfrm>
                <a:off x="211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12" name="Text Box 22"/>
              <p:cNvSpPr txBox="1">
                <a:spLocks noChangeArrowheads="1"/>
              </p:cNvSpPr>
              <p:nvPr/>
            </p:nvSpPr>
            <p:spPr bwMode="auto">
              <a:xfrm>
                <a:off x="1920"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13</a:t>
                </a:r>
              </a:p>
            </p:txBody>
          </p:sp>
          <p:sp>
            <p:nvSpPr>
              <p:cNvPr id="32813" name="Text Box 23"/>
              <p:cNvSpPr txBox="1">
                <a:spLocks noChangeArrowheads="1"/>
              </p:cNvSpPr>
              <p:nvPr/>
            </p:nvSpPr>
            <p:spPr bwMode="auto">
              <a:xfrm>
                <a:off x="2229"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32814" name="Line 24"/>
              <p:cNvSpPr>
                <a:spLocks noChangeShapeType="1"/>
              </p:cNvSpPr>
              <p:nvPr/>
            </p:nvSpPr>
            <p:spPr bwMode="auto">
              <a:xfrm>
                <a:off x="264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15" name="Line 25"/>
              <p:cNvSpPr>
                <a:spLocks noChangeShapeType="1"/>
              </p:cNvSpPr>
              <p:nvPr/>
            </p:nvSpPr>
            <p:spPr bwMode="auto">
              <a:xfrm>
                <a:off x="264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16" name="Text Box 26"/>
              <p:cNvSpPr txBox="1">
                <a:spLocks noChangeArrowheads="1"/>
              </p:cNvSpPr>
              <p:nvPr/>
            </p:nvSpPr>
            <p:spPr bwMode="auto">
              <a:xfrm>
                <a:off x="2448"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20</a:t>
                </a:r>
              </a:p>
            </p:txBody>
          </p:sp>
          <p:sp>
            <p:nvSpPr>
              <p:cNvPr id="32817" name="Line 27"/>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18" name="Text Box 28"/>
              <p:cNvSpPr txBox="1">
                <a:spLocks noChangeArrowheads="1"/>
              </p:cNvSpPr>
              <p:nvPr/>
            </p:nvSpPr>
            <p:spPr bwMode="auto">
              <a:xfrm>
                <a:off x="419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32819" name="Text Box 62"/>
              <p:cNvSpPr txBox="1">
                <a:spLocks noChangeArrowheads="1"/>
              </p:cNvSpPr>
              <p:nvPr/>
            </p:nvSpPr>
            <p:spPr bwMode="auto">
              <a:xfrm>
                <a:off x="2790"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32820" name="Line 63"/>
              <p:cNvSpPr>
                <a:spLocks noChangeShapeType="1"/>
              </p:cNvSpPr>
              <p:nvPr/>
            </p:nvSpPr>
            <p:spPr bwMode="auto">
              <a:xfrm>
                <a:off x="327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1" name="Line 64"/>
              <p:cNvSpPr>
                <a:spLocks noChangeShapeType="1"/>
              </p:cNvSpPr>
              <p:nvPr/>
            </p:nvSpPr>
            <p:spPr bwMode="auto">
              <a:xfrm>
                <a:off x="327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2" name="Text Box 65"/>
              <p:cNvSpPr txBox="1">
                <a:spLocks noChangeArrowheads="1"/>
              </p:cNvSpPr>
              <p:nvPr/>
            </p:nvSpPr>
            <p:spPr bwMode="auto">
              <a:xfrm>
                <a:off x="3078"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30</a:t>
                </a:r>
              </a:p>
            </p:txBody>
          </p:sp>
          <p:sp>
            <p:nvSpPr>
              <p:cNvPr id="32823" name="Text Box 66"/>
              <p:cNvSpPr txBox="1">
                <a:spLocks noChangeArrowheads="1"/>
              </p:cNvSpPr>
              <p:nvPr/>
            </p:nvSpPr>
            <p:spPr bwMode="auto">
              <a:xfrm>
                <a:off x="3462"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32824" name="Line 67"/>
              <p:cNvSpPr>
                <a:spLocks noChangeShapeType="1"/>
              </p:cNvSpPr>
              <p:nvPr/>
            </p:nvSpPr>
            <p:spPr bwMode="auto">
              <a:xfrm>
                <a:off x="394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5" name="Line 68"/>
              <p:cNvSpPr>
                <a:spLocks noChangeShapeType="1"/>
              </p:cNvSpPr>
              <p:nvPr/>
            </p:nvSpPr>
            <p:spPr bwMode="auto">
              <a:xfrm>
                <a:off x="394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26" name="Text Box 69"/>
              <p:cNvSpPr txBox="1">
                <a:spLocks noChangeArrowheads="1"/>
              </p:cNvSpPr>
              <p:nvPr/>
            </p:nvSpPr>
            <p:spPr bwMode="auto">
              <a:xfrm>
                <a:off x="3750"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42</a:t>
                </a:r>
              </a:p>
            </p:txBody>
          </p:sp>
        </p:grpSp>
      </p:grpSp>
      <p:grpSp>
        <p:nvGrpSpPr>
          <p:cNvPr id="194645" name="Group 85"/>
          <p:cNvGrpSpPr>
            <a:grpSpLocks/>
          </p:cNvGrpSpPr>
          <p:nvPr/>
        </p:nvGrpSpPr>
        <p:grpSpPr bwMode="auto">
          <a:xfrm>
            <a:off x="1524000" y="5257800"/>
            <a:ext cx="6324600" cy="1219200"/>
            <a:chOff x="960" y="3312"/>
            <a:chExt cx="3984" cy="768"/>
          </a:xfrm>
        </p:grpSpPr>
        <p:sp>
          <p:nvSpPr>
            <p:cNvPr id="32793" name="Rectangle 74"/>
            <p:cNvSpPr>
              <a:spLocks noChangeArrowheads="1"/>
            </p:cNvSpPr>
            <p:nvPr/>
          </p:nvSpPr>
          <p:spPr bwMode="auto">
            <a:xfrm>
              <a:off x="1200" y="3312"/>
              <a:ext cx="374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2794" name="Rectangle 75"/>
            <p:cNvSpPr>
              <a:spLocks noChangeArrowheads="1"/>
            </p:cNvSpPr>
            <p:nvPr/>
          </p:nvSpPr>
          <p:spPr bwMode="auto">
            <a:xfrm>
              <a:off x="960" y="3312"/>
              <a:ext cx="46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4636" name="Group 76"/>
          <p:cNvGrpSpPr>
            <a:grpSpLocks/>
          </p:cNvGrpSpPr>
          <p:nvPr/>
        </p:nvGrpSpPr>
        <p:grpSpPr bwMode="auto">
          <a:xfrm>
            <a:off x="4202113" y="5259388"/>
            <a:ext cx="4724400" cy="1219200"/>
            <a:chOff x="1680" y="3312"/>
            <a:chExt cx="3202" cy="768"/>
          </a:xfrm>
        </p:grpSpPr>
        <p:sp>
          <p:nvSpPr>
            <p:cNvPr id="32791" name="Rectangle 77"/>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2792" name="Rectangle 78"/>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4639" name="Group 79"/>
          <p:cNvGrpSpPr>
            <a:grpSpLocks/>
          </p:cNvGrpSpPr>
          <p:nvPr/>
        </p:nvGrpSpPr>
        <p:grpSpPr bwMode="auto">
          <a:xfrm>
            <a:off x="5203825" y="5257800"/>
            <a:ext cx="3700463" cy="1219200"/>
            <a:chOff x="1680" y="3312"/>
            <a:chExt cx="3202" cy="768"/>
          </a:xfrm>
        </p:grpSpPr>
        <p:sp>
          <p:nvSpPr>
            <p:cNvPr id="32789" name="Rectangle 80"/>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2790" name="Rectangle 81"/>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4642" name="Group 82"/>
          <p:cNvGrpSpPr>
            <a:grpSpLocks/>
          </p:cNvGrpSpPr>
          <p:nvPr/>
        </p:nvGrpSpPr>
        <p:grpSpPr bwMode="auto">
          <a:xfrm>
            <a:off x="6270625" y="5257800"/>
            <a:ext cx="2482850" cy="1219200"/>
            <a:chOff x="1680" y="3312"/>
            <a:chExt cx="3202" cy="768"/>
          </a:xfrm>
        </p:grpSpPr>
        <p:sp>
          <p:nvSpPr>
            <p:cNvPr id="32787" name="Rectangle 83"/>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2788" name="Rectangle 84"/>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4646" name="Group 86"/>
          <p:cNvGrpSpPr>
            <a:grpSpLocks/>
          </p:cNvGrpSpPr>
          <p:nvPr/>
        </p:nvGrpSpPr>
        <p:grpSpPr bwMode="auto">
          <a:xfrm>
            <a:off x="2135188" y="5257800"/>
            <a:ext cx="6324600" cy="1219200"/>
            <a:chOff x="960" y="3312"/>
            <a:chExt cx="3984" cy="768"/>
          </a:xfrm>
        </p:grpSpPr>
        <p:sp>
          <p:nvSpPr>
            <p:cNvPr id="32785" name="Rectangle 87"/>
            <p:cNvSpPr>
              <a:spLocks noChangeArrowheads="1"/>
            </p:cNvSpPr>
            <p:nvPr/>
          </p:nvSpPr>
          <p:spPr bwMode="auto">
            <a:xfrm>
              <a:off x="1200" y="3312"/>
              <a:ext cx="374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2786" name="Rectangle 88"/>
            <p:cNvSpPr>
              <a:spLocks noChangeArrowheads="1"/>
            </p:cNvSpPr>
            <p:nvPr/>
          </p:nvSpPr>
          <p:spPr bwMode="auto">
            <a:xfrm>
              <a:off x="960" y="3312"/>
              <a:ext cx="46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4649" name="Group 89"/>
          <p:cNvGrpSpPr>
            <a:grpSpLocks/>
          </p:cNvGrpSpPr>
          <p:nvPr/>
        </p:nvGrpSpPr>
        <p:grpSpPr bwMode="auto">
          <a:xfrm>
            <a:off x="2655888" y="5257800"/>
            <a:ext cx="5029200" cy="1219200"/>
            <a:chOff x="960" y="3312"/>
            <a:chExt cx="3984" cy="768"/>
          </a:xfrm>
        </p:grpSpPr>
        <p:sp>
          <p:nvSpPr>
            <p:cNvPr id="32783" name="Rectangle 90"/>
            <p:cNvSpPr>
              <a:spLocks noChangeArrowheads="1"/>
            </p:cNvSpPr>
            <p:nvPr/>
          </p:nvSpPr>
          <p:spPr bwMode="auto">
            <a:xfrm>
              <a:off x="1200" y="3312"/>
              <a:ext cx="374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2784" name="Rectangle 91"/>
            <p:cNvSpPr>
              <a:spLocks noChangeArrowheads="1"/>
            </p:cNvSpPr>
            <p:nvPr/>
          </p:nvSpPr>
          <p:spPr bwMode="auto">
            <a:xfrm>
              <a:off x="960" y="3312"/>
              <a:ext cx="46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4652" name="Group 92"/>
          <p:cNvGrpSpPr>
            <a:grpSpLocks/>
          </p:cNvGrpSpPr>
          <p:nvPr/>
        </p:nvGrpSpPr>
        <p:grpSpPr bwMode="auto">
          <a:xfrm>
            <a:off x="3362325" y="5257800"/>
            <a:ext cx="5486400" cy="1219200"/>
            <a:chOff x="960" y="3312"/>
            <a:chExt cx="3984" cy="768"/>
          </a:xfrm>
        </p:grpSpPr>
        <p:sp>
          <p:nvSpPr>
            <p:cNvPr id="32781" name="Rectangle 93"/>
            <p:cNvSpPr>
              <a:spLocks noChangeArrowheads="1"/>
            </p:cNvSpPr>
            <p:nvPr/>
          </p:nvSpPr>
          <p:spPr bwMode="auto">
            <a:xfrm>
              <a:off x="1200" y="3312"/>
              <a:ext cx="374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2782" name="Rectangle 94"/>
            <p:cNvSpPr>
              <a:spLocks noChangeArrowheads="1"/>
            </p:cNvSpPr>
            <p:nvPr/>
          </p:nvSpPr>
          <p:spPr bwMode="auto">
            <a:xfrm>
              <a:off x="960" y="3312"/>
              <a:ext cx="46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563">
                                            <p:txEl>
                                              <p:pRg st="0" end="0"/>
                                            </p:txEl>
                                          </p:spTgt>
                                        </p:tgtEl>
                                        <p:attrNameLst>
                                          <p:attrName>style.visibility</p:attrName>
                                        </p:attrNameLst>
                                      </p:cBhvr>
                                      <p:to>
                                        <p:strVal val="visible"/>
                                      </p:to>
                                    </p:set>
                                    <p:animEffect transition="in" filter="dissolve">
                                      <p:cBhvr>
                                        <p:cTn id="7" dur="500"/>
                                        <p:tgtEl>
                                          <p:spTgt spid="1945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4563">
                                            <p:txEl>
                                              <p:pRg st="1" end="1"/>
                                            </p:txEl>
                                          </p:spTgt>
                                        </p:tgtEl>
                                        <p:attrNameLst>
                                          <p:attrName>style.visibility</p:attrName>
                                        </p:attrNameLst>
                                      </p:cBhvr>
                                      <p:to>
                                        <p:strVal val="visible"/>
                                      </p:to>
                                    </p:set>
                                    <p:animEffect transition="in" filter="dissolve">
                                      <p:cBhvr>
                                        <p:cTn id="12" dur="500"/>
                                        <p:tgtEl>
                                          <p:spTgt spid="1945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94632"/>
                                        </p:tgtEl>
                                        <p:attrNameLst>
                                          <p:attrName>style.visibility</p:attrName>
                                        </p:attrNameLst>
                                      </p:cBhvr>
                                      <p:to>
                                        <p:strVal val="visible"/>
                                      </p:to>
                                    </p:set>
                                    <p:animEffect transition="in" filter="dissolve">
                                      <p:cBhvr>
                                        <p:cTn id="17" dur="500"/>
                                        <p:tgtEl>
                                          <p:spTgt spid="1946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94631"/>
                                        </p:tgtEl>
                                        <p:attrNameLst>
                                          <p:attrName>style.visibility</p:attrName>
                                        </p:attrNameLst>
                                      </p:cBhvr>
                                      <p:to>
                                        <p:strVal val="visible"/>
                                      </p:to>
                                    </p:set>
                                    <p:animEffect transition="in" filter="dissolve">
                                      <p:cBhvr>
                                        <p:cTn id="22" dur="500"/>
                                        <p:tgtEl>
                                          <p:spTgt spid="194631"/>
                                        </p:tgtEl>
                                      </p:cBhvr>
                                    </p:animEffect>
                                  </p:childTnLst>
                                </p:cTn>
                              </p:par>
                              <p:par>
                                <p:cTn id="23" presetID="1" presetClass="entr" presetSubtype="0" fill="hold" nodeType="withEffect">
                                  <p:stCondLst>
                                    <p:cond delay="0"/>
                                  </p:stCondLst>
                                  <p:childTnLst>
                                    <p:set>
                                      <p:cBhvr>
                                        <p:cTn id="24" dur="1" fill="hold">
                                          <p:stCondLst>
                                            <p:cond delay="0"/>
                                          </p:stCondLst>
                                        </p:cTn>
                                        <p:tgtEl>
                                          <p:spTgt spid="194645"/>
                                        </p:tgtEl>
                                        <p:attrNameLst>
                                          <p:attrName>style.visibility</p:attrName>
                                        </p:attrNameLst>
                                      </p:cBhvr>
                                      <p:to>
                                        <p:strVal val="visible"/>
                                      </p:to>
                                    </p:set>
                                  </p:childTnLst>
                                  <p:subTnLst>
                                    <p:set>
                                      <p:cBhvr override="childStyle">
                                        <p:cTn dur="1" fill="hold" display="0" masterRel="nextClick" afterEffect="1"/>
                                        <p:tgtEl>
                                          <p:spTgt spid="194645"/>
                                        </p:tgtEl>
                                        <p:attrNameLst>
                                          <p:attrName>style.visibility</p:attrName>
                                        </p:attrNameLst>
                                      </p:cBhvr>
                                      <p:to>
                                        <p:strVal val="hidden"/>
                                      </p:to>
                                    </p:set>
                                  </p:sub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94646"/>
                                        </p:tgtEl>
                                        <p:attrNameLst>
                                          <p:attrName>style.visibility</p:attrName>
                                        </p:attrNameLst>
                                      </p:cBhvr>
                                      <p:to>
                                        <p:strVal val="visible"/>
                                      </p:to>
                                    </p:set>
                                  </p:childTnLst>
                                  <p:subTnLst>
                                    <p:set>
                                      <p:cBhvr override="childStyle">
                                        <p:cTn dur="1" fill="hold" display="0" masterRel="nextClick" afterEffect="1"/>
                                        <p:tgtEl>
                                          <p:spTgt spid="194646"/>
                                        </p:tgtEl>
                                        <p:attrNameLst>
                                          <p:attrName>style.visibility</p:attrName>
                                        </p:attrNameLst>
                                      </p:cBhvr>
                                      <p:to>
                                        <p:strVal val="hidden"/>
                                      </p:to>
                                    </p:set>
                                  </p:sub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94649"/>
                                        </p:tgtEl>
                                        <p:attrNameLst>
                                          <p:attrName>style.visibility</p:attrName>
                                        </p:attrNameLst>
                                      </p:cBhvr>
                                      <p:to>
                                        <p:strVal val="visible"/>
                                      </p:to>
                                    </p:set>
                                  </p:childTnLst>
                                  <p:subTnLst>
                                    <p:set>
                                      <p:cBhvr override="childStyle">
                                        <p:cTn dur="1" fill="hold" display="0" masterRel="nextClick" afterEffect="1"/>
                                        <p:tgtEl>
                                          <p:spTgt spid="194649"/>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94652"/>
                                        </p:tgtEl>
                                        <p:attrNameLst>
                                          <p:attrName>style.visibility</p:attrName>
                                        </p:attrNameLst>
                                      </p:cBhvr>
                                      <p:to>
                                        <p:strVal val="visible"/>
                                      </p:to>
                                    </p:set>
                                  </p:childTnLst>
                                  <p:subTnLst>
                                    <p:set>
                                      <p:cBhvr override="childStyle">
                                        <p:cTn dur="1" fill="hold" display="0" masterRel="nextClick" afterEffect="1"/>
                                        <p:tgtEl>
                                          <p:spTgt spid="194652"/>
                                        </p:tgtEl>
                                        <p:attrNameLst>
                                          <p:attrName>style.visibility</p:attrName>
                                        </p:attrNameLst>
                                      </p:cBhvr>
                                      <p:to>
                                        <p:strVal val="hidden"/>
                                      </p:to>
                                    </p:set>
                                  </p:sub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94636"/>
                                        </p:tgtEl>
                                        <p:attrNameLst>
                                          <p:attrName>style.visibility</p:attrName>
                                        </p:attrNameLst>
                                      </p:cBhvr>
                                      <p:to>
                                        <p:strVal val="visible"/>
                                      </p:to>
                                    </p:set>
                                  </p:childTnLst>
                                  <p:subTnLst>
                                    <p:set>
                                      <p:cBhvr override="childStyle">
                                        <p:cTn dur="1" fill="hold" display="0" masterRel="nextClick" afterEffect="1"/>
                                        <p:tgtEl>
                                          <p:spTgt spid="194636"/>
                                        </p:tgtEl>
                                        <p:attrNameLst>
                                          <p:attrName>style.visibility</p:attrName>
                                        </p:attrNameLst>
                                      </p:cBhvr>
                                      <p:to>
                                        <p:strVal val="hidden"/>
                                      </p:to>
                                    </p:set>
                                  </p:sub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194639"/>
                                        </p:tgtEl>
                                        <p:attrNameLst>
                                          <p:attrName>style.visibility</p:attrName>
                                        </p:attrNameLst>
                                      </p:cBhvr>
                                      <p:to>
                                        <p:strVal val="visible"/>
                                      </p:to>
                                    </p:set>
                                  </p:childTnLst>
                                  <p:subTnLst>
                                    <p:set>
                                      <p:cBhvr override="childStyle">
                                        <p:cTn dur="1" fill="hold" display="0" masterRel="nextClick" afterEffect="1"/>
                                        <p:tgtEl>
                                          <p:spTgt spid="194639"/>
                                        </p:tgtEl>
                                        <p:attrNameLst>
                                          <p:attrName>style.visibility</p:attrName>
                                        </p:attrNameLst>
                                      </p:cBhvr>
                                      <p:to>
                                        <p:strVal val="hidden"/>
                                      </p:to>
                                    </p:set>
                                  </p:sub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194642"/>
                                        </p:tgtEl>
                                        <p:attrNameLst>
                                          <p:attrName>style.visibility</p:attrName>
                                        </p:attrNameLst>
                                      </p:cBhvr>
                                      <p:to>
                                        <p:strVal val="visible"/>
                                      </p:to>
                                    </p:set>
                                  </p:childTnLst>
                                  <p:subTnLst>
                                    <p:set>
                                      <p:cBhvr override="childStyle">
                                        <p:cTn dur="1" fill="hold" display="0" masterRel="nextClick" afterEffect="1"/>
                                        <p:tgtEl>
                                          <p:spTgt spid="19464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81000" y="304800"/>
            <a:ext cx="8763000" cy="676275"/>
          </a:xfrm>
        </p:spPr>
        <p:txBody>
          <a:bodyPr/>
          <a:lstStyle/>
          <a:p>
            <a:pPr eaLnBrk="1" hangingPunct="1"/>
            <a:r>
              <a:rPr lang="en-US" altLang="zh-CN" smtClean="0"/>
              <a:t>SJF: </a:t>
            </a:r>
            <a:r>
              <a:rPr lang="zh-CN" altLang="en-US" smtClean="0"/>
              <a:t>任务到达的时间有先后怎么办</a:t>
            </a:r>
            <a:r>
              <a:rPr lang="en-US" altLang="zh-CN" smtClean="0"/>
              <a:t>? </a:t>
            </a:r>
            <a:endParaRPr lang="en-US" altLang="zh-CN" smtClean="0">
              <a:sym typeface="Symbol" panose="05050102010706020507" pitchFamily="18" charset="2"/>
            </a:endParaRPr>
          </a:p>
        </p:txBody>
      </p:sp>
      <p:sp>
        <p:nvSpPr>
          <p:cNvPr id="33795" name="Rectangle 3"/>
          <p:cNvSpPr>
            <a:spLocks noGrp="1" noChangeArrowheads="1"/>
          </p:cNvSpPr>
          <p:nvPr>
            <p:ph type="body" idx="1"/>
          </p:nvPr>
        </p:nvSpPr>
        <p:spPr>
          <a:xfrm>
            <a:off x="685800" y="1192213"/>
            <a:ext cx="7921625" cy="865187"/>
          </a:xfrm>
          <a:noFill/>
        </p:spPr>
        <p:txBody>
          <a:bodyPr/>
          <a:lstStyle/>
          <a:p>
            <a:pPr eaLnBrk="1" hangingPunct="1">
              <a:lnSpc>
                <a:spcPct val="110000"/>
              </a:lnSpc>
            </a:pPr>
            <a:r>
              <a:rPr lang="en-US" altLang="zh-CN" smtClean="0"/>
              <a:t>Shortest Remaining Job First </a:t>
            </a:r>
            <a:r>
              <a:rPr lang="en-US" altLang="zh-CN" smtClean="0">
                <a:sym typeface="Symbol" panose="05050102010706020507" pitchFamily="18" charset="2"/>
              </a:rPr>
              <a:t>(SRJF)</a:t>
            </a:r>
          </a:p>
          <a:p>
            <a:pPr eaLnBrk="1" hangingPunct="1">
              <a:lnSpc>
                <a:spcPct val="110000"/>
              </a:lnSpc>
            </a:pPr>
            <a:r>
              <a:rPr lang="en-US" altLang="zh-CN" smtClean="0">
                <a:solidFill>
                  <a:srgbClr val="FF0000"/>
                </a:solidFill>
              </a:rPr>
              <a:t>SJF</a:t>
            </a:r>
            <a:r>
              <a:rPr lang="zh-CN" altLang="en-US" smtClean="0">
                <a:solidFill>
                  <a:srgbClr val="FF0000"/>
                </a:solidFill>
              </a:rPr>
              <a:t>的可抢占版本</a:t>
            </a:r>
          </a:p>
        </p:txBody>
      </p:sp>
      <p:grpSp>
        <p:nvGrpSpPr>
          <p:cNvPr id="33796" name="Group 4"/>
          <p:cNvGrpSpPr>
            <a:grpSpLocks/>
          </p:cNvGrpSpPr>
          <p:nvPr/>
        </p:nvGrpSpPr>
        <p:grpSpPr bwMode="auto">
          <a:xfrm>
            <a:off x="685800" y="1981200"/>
            <a:ext cx="8153400" cy="3200400"/>
            <a:chOff x="432" y="1248"/>
            <a:chExt cx="5136" cy="2016"/>
          </a:xfrm>
        </p:grpSpPr>
        <p:sp>
          <p:nvSpPr>
            <p:cNvPr id="33830" name="Rectangle 5"/>
            <p:cNvSpPr>
              <a:spLocks noChangeArrowheads="1"/>
            </p:cNvSpPr>
            <p:nvPr/>
          </p:nvSpPr>
          <p:spPr bwMode="auto">
            <a:xfrm>
              <a:off x="432" y="1440"/>
              <a:ext cx="4990"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一个实例</a:t>
              </a:r>
            </a:p>
          </p:txBody>
        </p:sp>
        <p:sp>
          <p:nvSpPr>
            <p:cNvPr id="33831" name="Line 6"/>
            <p:cNvSpPr>
              <a:spLocks noChangeShapeType="1"/>
            </p:cNvSpPr>
            <p:nvPr/>
          </p:nvSpPr>
          <p:spPr bwMode="auto">
            <a:xfrm>
              <a:off x="3024" y="1728"/>
              <a:ext cx="25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32" name="Line 7"/>
            <p:cNvSpPr>
              <a:spLocks noChangeShapeType="1"/>
            </p:cNvSpPr>
            <p:nvPr/>
          </p:nvSpPr>
          <p:spPr bwMode="auto">
            <a:xfrm>
              <a:off x="3024" y="1248"/>
              <a:ext cx="0" cy="20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3833" name="Group 8"/>
            <p:cNvGrpSpPr>
              <a:grpSpLocks/>
            </p:cNvGrpSpPr>
            <p:nvPr/>
          </p:nvGrpSpPr>
          <p:grpSpPr bwMode="auto">
            <a:xfrm>
              <a:off x="768" y="1892"/>
              <a:ext cx="2256" cy="610"/>
              <a:chOff x="768" y="1796"/>
              <a:chExt cx="2256" cy="610"/>
            </a:xfrm>
          </p:grpSpPr>
          <p:sp>
            <p:nvSpPr>
              <p:cNvPr id="33857" name="Rectangle 9"/>
              <p:cNvSpPr>
                <a:spLocks noChangeArrowheads="1"/>
              </p:cNvSpPr>
              <p:nvPr/>
            </p:nvSpPr>
            <p:spPr bwMode="auto">
              <a:xfrm>
                <a:off x="912" y="1796"/>
                <a:ext cx="2112"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Tx/>
                  <a:buSzTx/>
                  <a:buFontTx/>
                  <a:buNone/>
                </a:pPr>
                <a:r>
                  <a:rPr lang="zh-CN" altLang="en-US" sz="2400"/>
                  <a:t>假定任务</a:t>
                </a:r>
                <a:r>
                  <a:rPr lang="en-US" altLang="zh-CN" sz="2400"/>
                  <a:t>P</a:t>
                </a:r>
                <a:r>
                  <a:rPr lang="en-US" altLang="zh-CN" sz="2400" baseline="-25000"/>
                  <a:t>1</a:t>
                </a:r>
                <a:r>
                  <a:rPr lang="zh-CN" altLang="en-US" sz="2400"/>
                  <a:t>，</a:t>
                </a:r>
                <a:r>
                  <a:rPr lang="en-US" altLang="zh-CN" sz="2400"/>
                  <a:t>P</a:t>
                </a:r>
                <a:r>
                  <a:rPr lang="en-US" altLang="zh-CN" sz="2400" baseline="-25000"/>
                  <a:t>2</a:t>
                </a:r>
                <a:r>
                  <a:rPr lang="zh-CN" altLang="en-US" sz="2400"/>
                  <a:t>，</a:t>
                </a:r>
                <a:r>
                  <a:rPr lang="en-US" altLang="zh-CN" sz="2400"/>
                  <a:t>P</a:t>
                </a:r>
                <a:r>
                  <a:rPr lang="en-US" altLang="zh-CN" sz="2400" baseline="-25000"/>
                  <a:t>3</a:t>
                </a:r>
                <a:r>
                  <a:rPr lang="zh-CN" altLang="en-US" sz="2400"/>
                  <a:t>，</a:t>
                </a:r>
                <a:r>
                  <a:rPr lang="en-US" altLang="zh-CN" sz="2400"/>
                  <a:t>P</a:t>
                </a:r>
                <a:r>
                  <a:rPr lang="en-US" altLang="zh-CN" sz="2400" baseline="-25000"/>
                  <a:t>4</a:t>
                </a:r>
                <a:r>
                  <a:rPr lang="zh-CN" altLang="en-US" sz="2400"/>
                  <a:t>，</a:t>
                </a:r>
                <a:r>
                  <a:rPr lang="en-US" altLang="zh-CN" sz="2400"/>
                  <a:t>P</a:t>
                </a:r>
                <a:r>
                  <a:rPr lang="en-US" altLang="zh-CN" sz="2400" baseline="-25000"/>
                  <a:t>5</a:t>
                </a:r>
                <a:r>
                  <a:rPr lang="zh-CN" altLang="en-US" sz="2400"/>
                  <a:t>的到达顺序为</a:t>
                </a:r>
                <a:r>
                  <a:rPr lang="en-US" altLang="zh-CN" sz="2400"/>
                  <a:t>:</a:t>
                </a:r>
              </a:p>
            </p:txBody>
          </p:sp>
          <p:pic>
            <p:nvPicPr>
              <p:cNvPr id="33858" name="Picture 10"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 y="187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3834" name="Line 11"/>
            <p:cNvSpPr>
              <a:spLocks noChangeShapeType="1"/>
            </p:cNvSpPr>
            <p:nvPr/>
          </p:nvSpPr>
          <p:spPr bwMode="auto">
            <a:xfrm>
              <a:off x="3552" y="1248"/>
              <a:ext cx="0" cy="20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35" name="Rectangle 12"/>
            <p:cNvSpPr>
              <a:spLocks noChangeArrowheads="1"/>
            </p:cNvSpPr>
            <p:nvPr/>
          </p:nvSpPr>
          <p:spPr bwMode="auto">
            <a:xfrm>
              <a:off x="3052" y="1344"/>
              <a:ext cx="5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任务</a:t>
              </a:r>
            </a:p>
          </p:txBody>
        </p:sp>
        <p:sp>
          <p:nvSpPr>
            <p:cNvPr id="33836" name="Rectangle 13"/>
            <p:cNvSpPr>
              <a:spLocks noChangeArrowheads="1"/>
            </p:cNvSpPr>
            <p:nvPr/>
          </p:nvSpPr>
          <p:spPr bwMode="auto">
            <a:xfrm>
              <a:off x="4464" y="1258"/>
              <a:ext cx="1104"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a:t>CPU</a:t>
              </a:r>
              <a:r>
                <a:rPr lang="zh-CN" altLang="en-US" sz="2400"/>
                <a:t>区间</a:t>
              </a:r>
              <a:r>
                <a:rPr lang="en-US" altLang="zh-CN" sz="2400"/>
                <a:t>(ms)</a:t>
              </a:r>
            </a:p>
          </p:txBody>
        </p:sp>
        <p:sp>
          <p:nvSpPr>
            <p:cNvPr id="33837" name="Rectangle 14"/>
            <p:cNvSpPr>
              <a:spLocks noChangeArrowheads="1"/>
            </p:cNvSpPr>
            <p:nvPr/>
          </p:nvSpPr>
          <p:spPr bwMode="auto">
            <a:xfrm>
              <a:off x="3141" y="1788"/>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1</a:t>
              </a:r>
            </a:p>
          </p:txBody>
        </p:sp>
        <p:sp>
          <p:nvSpPr>
            <p:cNvPr id="33838" name="Rectangle 15"/>
            <p:cNvSpPr>
              <a:spLocks noChangeArrowheads="1"/>
            </p:cNvSpPr>
            <p:nvPr/>
          </p:nvSpPr>
          <p:spPr bwMode="auto">
            <a:xfrm>
              <a:off x="4902" y="1776"/>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10</a:t>
              </a:r>
              <a:endParaRPr lang="en-US" altLang="zh-CN" sz="2400" baseline="-25000">
                <a:solidFill>
                  <a:srgbClr val="FF0000"/>
                </a:solidFill>
              </a:endParaRPr>
            </a:p>
          </p:txBody>
        </p:sp>
        <p:sp>
          <p:nvSpPr>
            <p:cNvPr id="33839" name="Rectangle 16"/>
            <p:cNvSpPr>
              <a:spLocks noChangeArrowheads="1"/>
            </p:cNvSpPr>
            <p:nvPr/>
          </p:nvSpPr>
          <p:spPr bwMode="auto">
            <a:xfrm>
              <a:off x="3141" y="2064"/>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2</a:t>
              </a:r>
            </a:p>
          </p:txBody>
        </p:sp>
        <p:sp>
          <p:nvSpPr>
            <p:cNvPr id="33840" name="Rectangle 17"/>
            <p:cNvSpPr>
              <a:spLocks noChangeArrowheads="1"/>
            </p:cNvSpPr>
            <p:nvPr/>
          </p:nvSpPr>
          <p:spPr bwMode="auto">
            <a:xfrm>
              <a:off x="4902" y="2064"/>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29</a:t>
              </a:r>
              <a:endParaRPr lang="en-US" altLang="zh-CN" sz="2400" baseline="-25000">
                <a:solidFill>
                  <a:srgbClr val="FF0000"/>
                </a:solidFill>
              </a:endParaRPr>
            </a:p>
          </p:txBody>
        </p:sp>
        <p:sp>
          <p:nvSpPr>
            <p:cNvPr id="33841" name="Rectangle 18"/>
            <p:cNvSpPr>
              <a:spLocks noChangeArrowheads="1"/>
            </p:cNvSpPr>
            <p:nvPr/>
          </p:nvSpPr>
          <p:spPr bwMode="auto">
            <a:xfrm>
              <a:off x="3141" y="235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3</a:t>
              </a:r>
            </a:p>
          </p:txBody>
        </p:sp>
        <p:sp>
          <p:nvSpPr>
            <p:cNvPr id="33842" name="Rectangle 19"/>
            <p:cNvSpPr>
              <a:spLocks noChangeArrowheads="1"/>
            </p:cNvSpPr>
            <p:nvPr/>
          </p:nvSpPr>
          <p:spPr bwMode="auto">
            <a:xfrm>
              <a:off x="4947" y="2373"/>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3</a:t>
              </a:r>
              <a:endParaRPr lang="en-US" altLang="zh-CN" sz="2400" baseline="-25000">
                <a:solidFill>
                  <a:srgbClr val="FF0000"/>
                </a:solidFill>
              </a:endParaRPr>
            </a:p>
          </p:txBody>
        </p:sp>
        <p:sp>
          <p:nvSpPr>
            <p:cNvPr id="33843" name="Line 20"/>
            <p:cNvSpPr>
              <a:spLocks noChangeShapeType="1"/>
            </p:cNvSpPr>
            <p:nvPr/>
          </p:nvSpPr>
          <p:spPr bwMode="auto">
            <a:xfrm>
              <a:off x="3024" y="3264"/>
              <a:ext cx="25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4" name="Rectangle 21"/>
            <p:cNvSpPr>
              <a:spLocks noChangeArrowheads="1"/>
            </p:cNvSpPr>
            <p:nvPr/>
          </p:nvSpPr>
          <p:spPr bwMode="auto">
            <a:xfrm>
              <a:off x="3141" y="2658"/>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4</a:t>
              </a:r>
            </a:p>
          </p:txBody>
        </p:sp>
        <p:sp>
          <p:nvSpPr>
            <p:cNvPr id="33845" name="Rectangle 22"/>
            <p:cNvSpPr>
              <a:spLocks noChangeArrowheads="1"/>
            </p:cNvSpPr>
            <p:nvPr/>
          </p:nvSpPr>
          <p:spPr bwMode="auto">
            <a:xfrm>
              <a:off x="4947" y="265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7</a:t>
              </a:r>
              <a:endParaRPr lang="en-US" altLang="zh-CN" sz="2400" baseline="-25000">
                <a:solidFill>
                  <a:srgbClr val="FF0000"/>
                </a:solidFill>
              </a:endParaRPr>
            </a:p>
          </p:txBody>
        </p:sp>
        <p:sp>
          <p:nvSpPr>
            <p:cNvPr id="33846" name="Rectangle 23"/>
            <p:cNvSpPr>
              <a:spLocks noChangeArrowheads="1"/>
            </p:cNvSpPr>
            <p:nvPr/>
          </p:nvSpPr>
          <p:spPr bwMode="auto">
            <a:xfrm>
              <a:off x="3141" y="2946"/>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5</a:t>
              </a:r>
            </a:p>
          </p:txBody>
        </p:sp>
        <p:sp>
          <p:nvSpPr>
            <p:cNvPr id="33847" name="Rectangle 24"/>
            <p:cNvSpPr>
              <a:spLocks noChangeArrowheads="1"/>
            </p:cNvSpPr>
            <p:nvPr/>
          </p:nvSpPr>
          <p:spPr bwMode="auto">
            <a:xfrm>
              <a:off x="4902" y="2976"/>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12</a:t>
              </a:r>
              <a:endParaRPr lang="en-US" altLang="zh-CN" sz="2400" baseline="-25000">
                <a:solidFill>
                  <a:srgbClr val="FF0000"/>
                </a:solidFill>
              </a:endParaRPr>
            </a:p>
          </p:txBody>
        </p:sp>
        <p:sp>
          <p:nvSpPr>
            <p:cNvPr id="33848" name="Line 25"/>
            <p:cNvSpPr>
              <a:spLocks noChangeShapeType="1"/>
            </p:cNvSpPr>
            <p:nvPr/>
          </p:nvSpPr>
          <p:spPr bwMode="auto">
            <a:xfrm>
              <a:off x="5568" y="1248"/>
              <a:ext cx="0" cy="20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9" name="Line 26"/>
            <p:cNvSpPr>
              <a:spLocks noChangeShapeType="1"/>
            </p:cNvSpPr>
            <p:nvPr/>
          </p:nvSpPr>
          <p:spPr bwMode="auto">
            <a:xfrm>
              <a:off x="4560" y="1248"/>
              <a:ext cx="0" cy="20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50" name="Rectangle 27"/>
            <p:cNvSpPr>
              <a:spLocks noChangeArrowheads="1"/>
            </p:cNvSpPr>
            <p:nvPr/>
          </p:nvSpPr>
          <p:spPr bwMode="auto">
            <a:xfrm>
              <a:off x="3482" y="1248"/>
              <a:ext cx="107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a:t>到达时间</a:t>
              </a:r>
            </a:p>
            <a:p>
              <a:pPr algn="ctr" eaLnBrk="1" hangingPunct="1">
                <a:spcBef>
                  <a:spcPct val="0"/>
                </a:spcBef>
                <a:buClrTx/>
                <a:buSzTx/>
                <a:buFontTx/>
                <a:buNone/>
              </a:pPr>
              <a:r>
                <a:rPr lang="en-US" altLang="zh-CN" sz="2400"/>
                <a:t>(ms)</a:t>
              </a:r>
            </a:p>
          </p:txBody>
        </p:sp>
        <p:sp>
          <p:nvSpPr>
            <p:cNvPr id="33851" name="Rectangle 28"/>
            <p:cNvSpPr>
              <a:spLocks noChangeArrowheads="1"/>
            </p:cNvSpPr>
            <p:nvPr/>
          </p:nvSpPr>
          <p:spPr bwMode="auto">
            <a:xfrm>
              <a:off x="3936" y="1776"/>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0</a:t>
              </a:r>
              <a:endParaRPr lang="en-US" altLang="zh-CN" sz="2400" baseline="-25000">
                <a:solidFill>
                  <a:srgbClr val="FF0000"/>
                </a:solidFill>
              </a:endParaRPr>
            </a:p>
          </p:txBody>
        </p:sp>
        <p:sp>
          <p:nvSpPr>
            <p:cNvPr id="33852" name="Rectangle 29"/>
            <p:cNvSpPr>
              <a:spLocks noChangeArrowheads="1"/>
            </p:cNvSpPr>
            <p:nvPr/>
          </p:nvSpPr>
          <p:spPr bwMode="auto">
            <a:xfrm>
              <a:off x="3894" y="2064"/>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 0</a:t>
              </a:r>
              <a:endParaRPr lang="en-US" altLang="zh-CN" sz="2400" baseline="-25000">
                <a:solidFill>
                  <a:srgbClr val="FF0000"/>
                </a:solidFill>
              </a:endParaRPr>
            </a:p>
          </p:txBody>
        </p:sp>
        <p:sp>
          <p:nvSpPr>
            <p:cNvPr id="33853" name="Rectangle 30"/>
            <p:cNvSpPr>
              <a:spLocks noChangeArrowheads="1"/>
            </p:cNvSpPr>
            <p:nvPr/>
          </p:nvSpPr>
          <p:spPr bwMode="auto">
            <a:xfrm>
              <a:off x="3939" y="2373"/>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5</a:t>
              </a:r>
              <a:endParaRPr lang="en-US" altLang="zh-CN" sz="2400" baseline="-25000">
                <a:solidFill>
                  <a:srgbClr val="FF0000"/>
                </a:solidFill>
              </a:endParaRPr>
            </a:p>
          </p:txBody>
        </p:sp>
        <p:sp>
          <p:nvSpPr>
            <p:cNvPr id="33854" name="Rectangle 31"/>
            <p:cNvSpPr>
              <a:spLocks noChangeArrowheads="1"/>
            </p:cNvSpPr>
            <p:nvPr/>
          </p:nvSpPr>
          <p:spPr bwMode="auto">
            <a:xfrm>
              <a:off x="3939" y="2658"/>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5</a:t>
              </a:r>
              <a:endParaRPr lang="en-US" altLang="zh-CN" sz="2400" baseline="-25000">
                <a:solidFill>
                  <a:srgbClr val="FF0000"/>
                </a:solidFill>
              </a:endParaRPr>
            </a:p>
          </p:txBody>
        </p:sp>
        <p:sp>
          <p:nvSpPr>
            <p:cNvPr id="33855" name="Rectangle 32"/>
            <p:cNvSpPr>
              <a:spLocks noChangeArrowheads="1"/>
            </p:cNvSpPr>
            <p:nvPr/>
          </p:nvSpPr>
          <p:spPr bwMode="auto">
            <a:xfrm>
              <a:off x="3888" y="2976"/>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30</a:t>
              </a:r>
              <a:endParaRPr lang="en-US" altLang="zh-CN" sz="2400" baseline="-25000">
                <a:solidFill>
                  <a:srgbClr val="FF0000"/>
                </a:solidFill>
              </a:endParaRPr>
            </a:p>
          </p:txBody>
        </p:sp>
        <p:sp>
          <p:nvSpPr>
            <p:cNvPr id="33856" name="Line 33"/>
            <p:cNvSpPr>
              <a:spLocks noChangeShapeType="1"/>
            </p:cNvSpPr>
            <p:nvPr/>
          </p:nvSpPr>
          <p:spPr bwMode="auto">
            <a:xfrm>
              <a:off x="3024" y="1248"/>
              <a:ext cx="25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797" name="Group 34"/>
          <p:cNvGrpSpPr>
            <a:grpSpLocks/>
          </p:cNvGrpSpPr>
          <p:nvPr/>
        </p:nvGrpSpPr>
        <p:grpSpPr bwMode="auto">
          <a:xfrm>
            <a:off x="685800" y="4572000"/>
            <a:ext cx="7086600" cy="1981200"/>
            <a:chOff x="432" y="2880"/>
            <a:chExt cx="4464" cy="1248"/>
          </a:xfrm>
        </p:grpSpPr>
        <p:sp>
          <p:nvSpPr>
            <p:cNvPr id="33798" name="Rectangle 35"/>
            <p:cNvSpPr>
              <a:spLocks noChangeArrowheads="1"/>
            </p:cNvSpPr>
            <p:nvPr/>
          </p:nvSpPr>
          <p:spPr bwMode="auto">
            <a:xfrm>
              <a:off x="432" y="2880"/>
              <a:ext cx="2304"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调度结果</a:t>
              </a:r>
            </a:p>
          </p:txBody>
        </p:sp>
        <p:grpSp>
          <p:nvGrpSpPr>
            <p:cNvPr id="33799" name="Group 36"/>
            <p:cNvGrpSpPr>
              <a:grpSpLocks/>
            </p:cNvGrpSpPr>
            <p:nvPr/>
          </p:nvGrpSpPr>
          <p:grpSpPr bwMode="auto">
            <a:xfrm>
              <a:off x="816" y="3360"/>
              <a:ext cx="4080" cy="768"/>
              <a:chOff x="816" y="3360"/>
              <a:chExt cx="4080" cy="768"/>
            </a:xfrm>
          </p:grpSpPr>
          <p:sp>
            <p:nvSpPr>
              <p:cNvPr id="33800" name="Rectangle 37"/>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3801" name="Text Box 38"/>
              <p:cNvSpPr txBox="1">
                <a:spLocks noChangeArrowheads="1"/>
              </p:cNvSpPr>
              <p:nvPr/>
            </p:nvSpPr>
            <p:spPr bwMode="auto">
              <a:xfrm>
                <a:off x="98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33802" name="Text Box 39"/>
              <p:cNvSpPr txBox="1">
                <a:spLocks noChangeArrowheads="1"/>
              </p:cNvSpPr>
              <p:nvPr/>
            </p:nvSpPr>
            <p:spPr bwMode="auto">
              <a:xfrm>
                <a:off x="1344"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33803" name="Text Box 40"/>
              <p:cNvSpPr txBox="1">
                <a:spLocks noChangeArrowheads="1"/>
              </p:cNvSpPr>
              <p:nvPr/>
            </p:nvSpPr>
            <p:spPr bwMode="auto">
              <a:xfrm>
                <a:off x="1722"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33804" name="Line 41"/>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5" name="Line 42"/>
              <p:cNvSpPr>
                <a:spLocks noChangeShapeType="1"/>
              </p:cNvSpPr>
              <p:nvPr/>
            </p:nvSpPr>
            <p:spPr bwMode="auto">
              <a:xfrm>
                <a:off x="1339"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6" name="Line 43"/>
              <p:cNvSpPr>
                <a:spLocks noChangeShapeType="1"/>
              </p:cNvSpPr>
              <p:nvPr/>
            </p:nvSpPr>
            <p:spPr bwMode="auto">
              <a:xfrm>
                <a:off x="1339"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7" name="Text Box 44"/>
              <p:cNvSpPr txBox="1">
                <a:spLocks noChangeArrowheads="1"/>
              </p:cNvSpPr>
              <p:nvPr/>
            </p:nvSpPr>
            <p:spPr bwMode="auto">
              <a:xfrm>
                <a:off x="1200"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5</a:t>
                </a:r>
              </a:p>
            </p:txBody>
          </p:sp>
          <p:sp>
            <p:nvSpPr>
              <p:cNvPr id="33808" name="Text Box 45"/>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33809" name="Text Box 46"/>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33810" name="Line 47"/>
              <p:cNvSpPr>
                <a:spLocks noChangeShapeType="1"/>
              </p:cNvSpPr>
              <p:nvPr/>
            </p:nvSpPr>
            <p:spPr bwMode="auto">
              <a:xfrm>
                <a:off x="1659"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1" name="Line 48"/>
              <p:cNvSpPr>
                <a:spLocks noChangeShapeType="1"/>
              </p:cNvSpPr>
              <p:nvPr/>
            </p:nvSpPr>
            <p:spPr bwMode="auto">
              <a:xfrm>
                <a:off x="1659"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2" name="Text Box 49"/>
              <p:cNvSpPr txBox="1">
                <a:spLocks noChangeArrowheads="1"/>
              </p:cNvSpPr>
              <p:nvPr/>
            </p:nvSpPr>
            <p:spPr bwMode="auto">
              <a:xfrm>
                <a:off x="1520"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8</a:t>
                </a:r>
              </a:p>
            </p:txBody>
          </p:sp>
          <p:sp>
            <p:nvSpPr>
              <p:cNvPr id="33813" name="Line 50"/>
              <p:cNvSpPr>
                <a:spLocks noChangeShapeType="1"/>
              </p:cNvSpPr>
              <p:nvPr/>
            </p:nvSpPr>
            <p:spPr bwMode="auto">
              <a:xfrm>
                <a:off x="211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4" name="Line 51"/>
              <p:cNvSpPr>
                <a:spLocks noChangeShapeType="1"/>
              </p:cNvSpPr>
              <p:nvPr/>
            </p:nvSpPr>
            <p:spPr bwMode="auto">
              <a:xfrm>
                <a:off x="211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5" name="Text Box 52"/>
              <p:cNvSpPr txBox="1">
                <a:spLocks noChangeArrowheads="1"/>
              </p:cNvSpPr>
              <p:nvPr/>
            </p:nvSpPr>
            <p:spPr bwMode="auto">
              <a:xfrm>
                <a:off x="1920"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13</a:t>
                </a:r>
              </a:p>
            </p:txBody>
          </p:sp>
          <p:sp>
            <p:nvSpPr>
              <p:cNvPr id="33816" name="Text Box 53"/>
              <p:cNvSpPr txBox="1">
                <a:spLocks noChangeArrowheads="1"/>
              </p:cNvSpPr>
              <p:nvPr/>
            </p:nvSpPr>
            <p:spPr bwMode="auto">
              <a:xfrm>
                <a:off x="2229"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33817" name="Line 54"/>
              <p:cNvSpPr>
                <a:spLocks noChangeShapeType="1"/>
              </p:cNvSpPr>
              <p:nvPr/>
            </p:nvSpPr>
            <p:spPr bwMode="auto">
              <a:xfrm>
                <a:off x="264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8" name="Line 55"/>
              <p:cNvSpPr>
                <a:spLocks noChangeShapeType="1"/>
              </p:cNvSpPr>
              <p:nvPr/>
            </p:nvSpPr>
            <p:spPr bwMode="auto">
              <a:xfrm>
                <a:off x="264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19" name="Text Box 56"/>
              <p:cNvSpPr txBox="1">
                <a:spLocks noChangeArrowheads="1"/>
              </p:cNvSpPr>
              <p:nvPr/>
            </p:nvSpPr>
            <p:spPr bwMode="auto">
              <a:xfrm>
                <a:off x="2448"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20</a:t>
                </a:r>
              </a:p>
            </p:txBody>
          </p:sp>
          <p:sp>
            <p:nvSpPr>
              <p:cNvPr id="33820" name="Line 57"/>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1" name="Text Box 58"/>
              <p:cNvSpPr txBox="1">
                <a:spLocks noChangeArrowheads="1"/>
              </p:cNvSpPr>
              <p:nvPr/>
            </p:nvSpPr>
            <p:spPr bwMode="auto">
              <a:xfrm>
                <a:off x="419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33822" name="Text Box 59"/>
              <p:cNvSpPr txBox="1">
                <a:spLocks noChangeArrowheads="1"/>
              </p:cNvSpPr>
              <p:nvPr/>
            </p:nvSpPr>
            <p:spPr bwMode="auto">
              <a:xfrm>
                <a:off x="2790"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33823" name="Line 60"/>
              <p:cNvSpPr>
                <a:spLocks noChangeShapeType="1"/>
              </p:cNvSpPr>
              <p:nvPr/>
            </p:nvSpPr>
            <p:spPr bwMode="auto">
              <a:xfrm>
                <a:off x="327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4" name="Line 61"/>
              <p:cNvSpPr>
                <a:spLocks noChangeShapeType="1"/>
              </p:cNvSpPr>
              <p:nvPr/>
            </p:nvSpPr>
            <p:spPr bwMode="auto">
              <a:xfrm>
                <a:off x="327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5" name="Text Box 62"/>
              <p:cNvSpPr txBox="1">
                <a:spLocks noChangeArrowheads="1"/>
              </p:cNvSpPr>
              <p:nvPr/>
            </p:nvSpPr>
            <p:spPr bwMode="auto">
              <a:xfrm>
                <a:off x="3078"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30</a:t>
                </a:r>
              </a:p>
            </p:txBody>
          </p:sp>
          <p:sp>
            <p:nvSpPr>
              <p:cNvPr id="33826" name="Text Box 63"/>
              <p:cNvSpPr txBox="1">
                <a:spLocks noChangeArrowheads="1"/>
              </p:cNvSpPr>
              <p:nvPr/>
            </p:nvSpPr>
            <p:spPr bwMode="auto">
              <a:xfrm>
                <a:off x="3462"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33827" name="Line 64"/>
              <p:cNvSpPr>
                <a:spLocks noChangeShapeType="1"/>
              </p:cNvSpPr>
              <p:nvPr/>
            </p:nvSpPr>
            <p:spPr bwMode="auto">
              <a:xfrm>
                <a:off x="394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8" name="Line 65"/>
              <p:cNvSpPr>
                <a:spLocks noChangeShapeType="1"/>
              </p:cNvSpPr>
              <p:nvPr/>
            </p:nvSpPr>
            <p:spPr bwMode="auto">
              <a:xfrm>
                <a:off x="394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29" name="Text Box 66"/>
              <p:cNvSpPr txBox="1">
                <a:spLocks noChangeArrowheads="1"/>
              </p:cNvSpPr>
              <p:nvPr/>
            </p:nvSpPr>
            <p:spPr bwMode="auto">
              <a:xfrm>
                <a:off x="3750"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42</a:t>
                </a:r>
              </a:p>
            </p:txBody>
          </p:sp>
        </p:gr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304800"/>
            <a:ext cx="8763000" cy="676275"/>
          </a:xfrm>
        </p:spPr>
        <p:txBody>
          <a:bodyPr/>
          <a:lstStyle/>
          <a:p>
            <a:pPr eaLnBrk="1" hangingPunct="1"/>
            <a:r>
              <a:rPr lang="en-US" altLang="zh-CN" smtClean="0"/>
              <a:t>SJF vs. SRJF</a:t>
            </a:r>
            <a:endParaRPr lang="en-US" altLang="zh-CN" smtClean="0">
              <a:sym typeface="Symbol" panose="05050102010706020507" pitchFamily="18" charset="2"/>
            </a:endParaRPr>
          </a:p>
        </p:txBody>
      </p:sp>
      <p:grpSp>
        <p:nvGrpSpPr>
          <p:cNvPr id="34819" name="Group 111"/>
          <p:cNvGrpSpPr>
            <a:grpSpLocks/>
          </p:cNvGrpSpPr>
          <p:nvPr/>
        </p:nvGrpSpPr>
        <p:grpSpPr bwMode="auto">
          <a:xfrm>
            <a:off x="5486400" y="3810000"/>
            <a:ext cx="3276600" cy="2922588"/>
            <a:chOff x="3456" y="2400"/>
            <a:chExt cx="2064" cy="1841"/>
          </a:xfrm>
        </p:grpSpPr>
        <p:sp>
          <p:nvSpPr>
            <p:cNvPr id="34884" name="Line 6"/>
            <p:cNvSpPr>
              <a:spLocks noChangeShapeType="1"/>
            </p:cNvSpPr>
            <p:nvPr/>
          </p:nvSpPr>
          <p:spPr bwMode="auto">
            <a:xfrm>
              <a:off x="3456" y="2834"/>
              <a:ext cx="206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85" name="Line 7"/>
            <p:cNvSpPr>
              <a:spLocks noChangeShapeType="1"/>
            </p:cNvSpPr>
            <p:nvPr/>
          </p:nvSpPr>
          <p:spPr bwMode="auto">
            <a:xfrm>
              <a:off x="3456" y="2400"/>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86" name="Line 11"/>
            <p:cNvSpPr>
              <a:spLocks noChangeShapeType="1"/>
            </p:cNvSpPr>
            <p:nvPr/>
          </p:nvSpPr>
          <p:spPr bwMode="auto">
            <a:xfrm>
              <a:off x="3884" y="2400"/>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87" name="Rectangle 12"/>
            <p:cNvSpPr>
              <a:spLocks noChangeArrowheads="1"/>
            </p:cNvSpPr>
            <p:nvPr/>
          </p:nvSpPr>
          <p:spPr bwMode="auto">
            <a:xfrm>
              <a:off x="3456" y="2517"/>
              <a:ext cx="60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a:t>任务</a:t>
              </a:r>
            </a:p>
          </p:txBody>
        </p:sp>
        <p:sp>
          <p:nvSpPr>
            <p:cNvPr id="34888" name="Rectangle 13"/>
            <p:cNvSpPr>
              <a:spLocks noChangeArrowheads="1"/>
            </p:cNvSpPr>
            <p:nvPr/>
          </p:nvSpPr>
          <p:spPr bwMode="auto">
            <a:xfrm>
              <a:off x="4624" y="2409"/>
              <a:ext cx="89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000"/>
                <a:t>CPU</a:t>
              </a:r>
              <a:r>
                <a:rPr lang="zh-CN" altLang="en-US" sz="2000"/>
                <a:t>区间</a:t>
              </a:r>
              <a:r>
                <a:rPr lang="en-US" altLang="zh-CN" sz="2000"/>
                <a:t>(ms)</a:t>
              </a:r>
            </a:p>
          </p:txBody>
        </p:sp>
        <p:sp>
          <p:nvSpPr>
            <p:cNvPr id="34889" name="Rectangle 14"/>
            <p:cNvSpPr>
              <a:spLocks noChangeArrowheads="1"/>
            </p:cNvSpPr>
            <p:nvPr/>
          </p:nvSpPr>
          <p:spPr bwMode="auto">
            <a:xfrm>
              <a:off x="3551" y="2916"/>
              <a:ext cx="2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P</a:t>
              </a:r>
              <a:r>
                <a:rPr lang="en-US" altLang="zh-CN" sz="2000" baseline="-25000">
                  <a:solidFill>
                    <a:srgbClr val="FF0000"/>
                  </a:solidFill>
                </a:rPr>
                <a:t>1</a:t>
              </a:r>
            </a:p>
          </p:txBody>
        </p:sp>
        <p:sp>
          <p:nvSpPr>
            <p:cNvPr id="34890" name="Rectangle 15"/>
            <p:cNvSpPr>
              <a:spLocks noChangeArrowheads="1"/>
            </p:cNvSpPr>
            <p:nvPr/>
          </p:nvSpPr>
          <p:spPr bwMode="auto">
            <a:xfrm>
              <a:off x="4980" y="2905"/>
              <a:ext cx="29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10</a:t>
              </a:r>
              <a:endParaRPr lang="en-US" altLang="zh-CN" sz="2000" baseline="-25000">
                <a:solidFill>
                  <a:srgbClr val="FF0000"/>
                </a:solidFill>
              </a:endParaRPr>
            </a:p>
          </p:txBody>
        </p:sp>
        <p:sp>
          <p:nvSpPr>
            <p:cNvPr id="34891" name="Rectangle 16"/>
            <p:cNvSpPr>
              <a:spLocks noChangeArrowheads="1"/>
            </p:cNvSpPr>
            <p:nvPr/>
          </p:nvSpPr>
          <p:spPr bwMode="auto">
            <a:xfrm>
              <a:off x="3551" y="3165"/>
              <a:ext cx="2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P</a:t>
              </a:r>
              <a:r>
                <a:rPr lang="en-US" altLang="zh-CN" sz="2000" baseline="-25000">
                  <a:solidFill>
                    <a:srgbClr val="FF0000"/>
                  </a:solidFill>
                </a:rPr>
                <a:t>2</a:t>
              </a:r>
            </a:p>
          </p:txBody>
        </p:sp>
        <p:sp>
          <p:nvSpPr>
            <p:cNvPr id="34892" name="Rectangle 17"/>
            <p:cNvSpPr>
              <a:spLocks noChangeArrowheads="1"/>
            </p:cNvSpPr>
            <p:nvPr/>
          </p:nvSpPr>
          <p:spPr bwMode="auto">
            <a:xfrm>
              <a:off x="4980" y="3165"/>
              <a:ext cx="29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29</a:t>
              </a:r>
              <a:endParaRPr lang="en-US" altLang="zh-CN" sz="2000" baseline="-25000">
                <a:solidFill>
                  <a:srgbClr val="FF0000"/>
                </a:solidFill>
              </a:endParaRPr>
            </a:p>
          </p:txBody>
        </p:sp>
        <p:sp>
          <p:nvSpPr>
            <p:cNvPr id="34893" name="Rectangle 18"/>
            <p:cNvSpPr>
              <a:spLocks noChangeArrowheads="1"/>
            </p:cNvSpPr>
            <p:nvPr/>
          </p:nvSpPr>
          <p:spPr bwMode="auto">
            <a:xfrm>
              <a:off x="3551" y="3426"/>
              <a:ext cx="2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P</a:t>
              </a:r>
              <a:r>
                <a:rPr lang="en-US" altLang="zh-CN" sz="2000" baseline="-25000">
                  <a:solidFill>
                    <a:srgbClr val="FF0000"/>
                  </a:solidFill>
                </a:rPr>
                <a:t>3</a:t>
              </a:r>
            </a:p>
          </p:txBody>
        </p:sp>
        <p:sp>
          <p:nvSpPr>
            <p:cNvPr id="34894" name="Rectangle 19"/>
            <p:cNvSpPr>
              <a:spLocks noChangeArrowheads="1"/>
            </p:cNvSpPr>
            <p:nvPr/>
          </p:nvSpPr>
          <p:spPr bwMode="auto">
            <a:xfrm>
              <a:off x="5016" y="3445"/>
              <a:ext cx="2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3</a:t>
              </a:r>
              <a:endParaRPr lang="en-US" altLang="zh-CN" sz="2000" baseline="-25000">
                <a:solidFill>
                  <a:srgbClr val="FF0000"/>
                </a:solidFill>
              </a:endParaRPr>
            </a:p>
          </p:txBody>
        </p:sp>
        <p:sp>
          <p:nvSpPr>
            <p:cNvPr id="34895" name="Line 20"/>
            <p:cNvSpPr>
              <a:spLocks noChangeShapeType="1"/>
            </p:cNvSpPr>
            <p:nvPr/>
          </p:nvSpPr>
          <p:spPr bwMode="auto">
            <a:xfrm>
              <a:off x="3456" y="4224"/>
              <a:ext cx="206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96" name="Rectangle 21"/>
            <p:cNvSpPr>
              <a:spLocks noChangeArrowheads="1"/>
            </p:cNvSpPr>
            <p:nvPr/>
          </p:nvSpPr>
          <p:spPr bwMode="auto">
            <a:xfrm>
              <a:off x="3551" y="3703"/>
              <a:ext cx="2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P</a:t>
              </a:r>
              <a:r>
                <a:rPr lang="en-US" altLang="zh-CN" sz="2000" baseline="-25000">
                  <a:solidFill>
                    <a:srgbClr val="FF0000"/>
                  </a:solidFill>
                </a:rPr>
                <a:t>4</a:t>
              </a:r>
            </a:p>
          </p:txBody>
        </p:sp>
        <p:sp>
          <p:nvSpPr>
            <p:cNvPr id="34897" name="Rectangle 22"/>
            <p:cNvSpPr>
              <a:spLocks noChangeArrowheads="1"/>
            </p:cNvSpPr>
            <p:nvPr/>
          </p:nvSpPr>
          <p:spPr bwMode="auto">
            <a:xfrm>
              <a:off x="5016" y="3703"/>
              <a:ext cx="2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7</a:t>
              </a:r>
              <a:endParaRPr lang="en-US" altLang="zh-CN" sz="2000" baseline="-25000">
                <a:solidFill>
                  <a:srgbClr val="FF0000"/>
                </a:solidFill>
              </a:endParaRPr>
            </a:p>
          </p:txBody>
        </p:sp>
        <p:sp>
          <p:nvSpPr>
            <p:cNvPr id="34898" name="Rectangle 23"/>
            <p:cNvSpPr>
              <a:spLocks noChangeArrowheads="1"/>
            </p:cNvSpPr>
            <p:nvPr/>
          </p:nvSpPr>
          <p:spPr bwMode="auto">
            <a:xfrm>
              <a:off x="3551" y="3963"/>
              <a:ext cx="2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P</a:t>
              </a:r>
              <a:r>
                <a:rPr lang="en-US" altLang="zh-CN" sz="2000" baseline="-25000">
                  <a:solidFill>
                    <a:srgbClr val="FF0000"/>
                  </a:solidFill>
                </a:rPr>
                <a:t>5</a:t>
              </a:r>
            </a:p>
          </p:txBody>
        </p:sp>
        <p:sp>
          <p:nvSpPr>
            <p:cNvPr id="34899" name="Rectangle 24"/>
            <p:cNvSpPr>
              <a:spLocks noChangeArrowheads="1"/>
            </p:cNvSpPr>
            <p:nvPr/>
          </p:nvSpPr>
          <p:spPr bwMode="auto">
            <a:xfrm>
              <a:off x="4980" y="3990"/>
              <a:ext cx="29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12</a:t>
              </a:r>
              <a:endParaRPr lang="en-US" altLang="zh-CN" sz="2000" baseline="-25000">
                <a:solidFill>
                  <a:srgbClr val="FF0000"/>
                </a:solidFill>
              </a:endParaRPr>
            </a:p>
          </p:txBody>
        </p:sp>
        <p:sp>
          <p:nvSpPr>
            <p:cNvPr id="34900" name="Line 25"/>
            <p:cNvSpPr>
              <a:spLocks noChangeShapeType="1"/>
            </p:cNvSpPr>
            <p:nvPr/>
          </p:nvSpPr>
          <p:spPr bwMode="auto">
            <a:xfrm>
              <a:off x="5520" y="2400"/>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901" name="Line 26"/>
            <p:cNvSpPr>
              <a:spLocks noChangeShapeType="1"/>
            </p:cNvSpPr>
            <p:nvPr/>
          </p:nvSpPr>
          <p:spPr bwMode="auto">
            <a:xfrm>
              <a:off x="4702" y="2400"/>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902" name="Rectangle 27"/>
            <p:cNvSpPr>
              <a:spLocks noChangeArrowheads="1"/>
            </p:cNvSpPr>
            <p:nvPr/>
          </p:nvSpPr>
          <p:spPr bwMode="auto">
            <a:xfrm>
              <a:off x="3840" y="2430"/>
              <a:ext cx="875"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000"/>
                <a:t>到达时间</a:t>
              </a:r>
            </a:p>
            <a:p>
              <a:pPr algn="ctr" eaLnBrk="1" hangingPunct="1">
                <a:spcBef>
                  <a:spcPct val="0"/>
                </a:spcBef>
                <a:buClrTx/>
                <a:buSzTx/>
                <a:buFontTx/>
                <a:buNone/>
              </a:pPr>
              <a:r>
                <a:rPr lang="en-US" altLang="zh-CN" sz="2000"/>
                <a:t>(ms)</a:t>
              </a:r>
            </a:p>
          </p:txBody>
        </p:sp>
        <p:sp>
          <p:nvSpPr>
            <p:cNvPr id="34903" name="Rectangle 28"/>
            <p:cNvSpPr>
              <a:spLocks noChangeArrowheads="1"/>
            </p:cNvSpPr>
            <p:nvPr/>
          </p:nvSpPr>
          <p:spPr bwMode="auto">
            <a:xfrm>
              <a:off x="4196" y="2905"/>
              <a:ext cx="2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0</a:t>
              </a:r>
              <a:endParaRPr lang="en-US" altLang="zh-CN" sz="2000" baseline="-25000">
                <a:solidFill>
                  <a:srgbClr val="FF0000"/>
                </a:solidFill>
              </a:endParaRPr>
            </a:p>
          </p:txBody>
        </p:sp>
        <p:sp>
          <p:nvSpPr>
            <p:cNvPr id="34904" name="Rectangle 29"/>
            <p:cNvSpPr>
              <a:spLocks noChangeArrowheads="1"/>
            </p:cNvSpPr>
            <p:nvPr/>
          </p:nvSpPr>
          <p:spPr bwMode="auto">
            <a:xfrm>
              <a:off x="4162" y="3165"/>
              <a:ext cx="24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 0</a:t>
              </a:r>
              <a:endParaRPr lang="en-US" altLang="zh-CN" sz="2000" baseline="-25000">
                <a:solidFill>
                  <a:srgbClr val="FF0000"/>
                </a:solidFill>
              </a:endParaRPr>
            </a:p>
          </p:txBody>
        </p:sp>
        <p:sp>
          <p:nvSpPr>
            <p:cNvPr id="34905" name="Rectangle 30"/>
            <p:cNvSpPr>
              <a:spLocks noChangeArrowheads="1"/>
            </p:cNvSpPr>
            <p:nvPr/>
          </p:nvSpPr>
          <p:spPr bwMode="auto">
            <a:xfrm>
              <a:off x="4198" y="3445"/>
              <a:ext cx="2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5</a:t>
              </a:r>
              <a:endParaRPr lang="en-US" altLang="zh-CN" sz="2000" baseline="-25000">
                <a:solidFill>
                  <a:srgbClr val="FF0000"/>
                </a:solidFill>
              </a:endParaRPr>
            </a:p>
          </p:txBody>
        </p:sp>
        <p:sp>
          <p:nvSpPr>
            <p:cNvPr id="34906" name="Rectangle 31"/>
            <p:cNvSpPr>
              <a:spLocks noChangeArrowheads="1"/>
            </p:cNvSpPr>
            <p:nvPr/>
          </p:nvSpPr>
          <p:spPr bwMode="auto">
            <a:xfrm>
              <a:off x="4198" y="3703"/>
              <a:ext cx="20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5</a:t>
              </a:r>
              <a:endParaRPr lang="en-US" altLang="zh-CN" sz="2000" baseline="-25000">
                <a:solidFill>
                  <a:srgbClr val="FF0000"/>
                </a:solidFill>
              </a:endParaRPr>
            </a:p>
          </p:txBody>
        </p:sp>
        <p:sp>
          <p:nvSpPr>
            <p:cNvPr id="34907" name="Rectangle 32"/>
            <p:cNvSpPr>
              <a:spLocks noChangeArrowheads="1"/>
            </p:cNvSpPr>
            <p:nvPr/>
          </p:nvSpPr>
          <p:spPr bwMode="auto">
            <a:xfrm>
              <a:off x="4157" y="3990"/>
              <a:ext cx="294"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FF0000"/>
                  </a:solidFill>
                </a:rPr>
                <a:t>30</a:t>
              </a:r>
              <a:endParaRPr lang="en-US" altLang="zh-CN" sz="2000" baseline="-25000">
                <a:solidFill>
                  <a:srgbClr val="FF0000"/>
                </a:solidFill>
              </a:endParaRPr>
            </a:p>
          </p:txBody>
        </p:sp>
        <p:sp>
          <p:nvSpPr>
            <p:cNvPr id="34908" name="Line 33"/>
            <p:cNvSpPr>
              <a:spLocks noChangeShapeType="1"/>
            </p:cNvSpPr>
            <p:nvPr/>
          </p:nvSpPr>
          <p:spPr bwMode="auto">
            <a:xfrm>
              <a:off x="3456" y="2400"/>
              <a:ext cx="206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4820" name="Group 36"/>
          <p:cNvGrpSpPr>
            <a:grpSpLocks/>
          </p:cNvGrpSpPr>
          <p:nvPr/>
        </p:nvGrpSpPr>
        <p:grpSpPr bwMode="auto">
          <a:xfrm>
            <a:off x="457200" y="1295400"/>
            <a:ext cx="6477000" cy="1219200"/>
            <a:chOff x="816" y="3360"/>
            <a:chExt cx="4080" cy="768"/>
          </a:xfrm>
        </p:grpSpPr>
        <p:sp>
          <p:nvSpPr>
            <p:cNvPr id="34854" name="Rectangle 37"/>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4855" name="Text Box 38"/>
            <p:cNvSpPr txBox="1">
              <a:spLocks noChangeArrowheads="1"/>
            </p:cNvSpPr>
            <p:nvPr/>
          </p:nvSpPr>
          <p:spPr bwMode="auto">
            <a:xfrm>
              <a:off x="98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34856" name="Text Box 39"/>
            <p:cNvSpPr txBox="1">
              <a:spLocks noChangeArrowheads="1"/>
            </p:cNvSpPr>
            <p:nvPr/>
          </p:nvSpPr>
          <p:spPr bwMode="auto">
            <a:xfrm>
              <a:off x="1344"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34857" name="Text Box 40"/>
            <p:cNvSpPr txBox="1">
              <a:spLocks noChangeArrowheads="1"/>
            </p:cNvSpPr>
            <p:nvPr/>
          </p:nvSpPr>
          <p:spPr bwMode="auto">
            <a:xfrm>
              <a:off x="1722"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34858" name="Line 41"/>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9" name="Line 42"/>
            <p:cNvSpPr>
              <a:spLocks noChangeShapeType="1"/>
            </p:cNvSpPr>
            <p:nvPr/>
          </p:nvSpPr>
          <p:spPr bwMode="auto">
            <a:xfrm>
              <a:off x="1339"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60" name="Line 43"/>
            <p:cNvSpPr>
              <a:spLocks noChangeShapeType="1"/>
            </p:cNvSpPr>
            <p:nvPr/>
          </p:nvSpPr>
          <p:spPr bwMode="auto">
            <a:xfrm>
              <a:off x="1339"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61" name="Text Box 44"/>
            <p:cNvSpPr txBox="1">
              <a:spLocks noChangeArrowheads="1"/>
            </p:cNvSpPr>
            <p:nvPr/>
          </p:nvSpPr>
          <p:spPr bwMode="auto">
            <a:xfrm>
              <a:off x="1200"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5</a:t>
              </a:r>
            </a:p>
          </p:txBody>
        </p:sp>
        <p:sp>
          <p:nvSpPr>
            <p:cNvPr id="34862" name="Text Box 45"/>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34863" name="Text Box 46"/>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34864" name="Line 47"/>
            <p:cNvSpPr>
              <a:spLocks noChangeShapeType="1"/>
            </p:cNvSpPr>
            <p:nvPr/>
          </p:nvSpPr>
          <p:spPr bwMode="auto">
            <a:xfrm>
              <a:off x="1659"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65" name="Line 48"/>
            <p:cNvSpPr>
              <a:spLocks noChangeShapeType="1"/>
            </p:cNvSpPr>
            <p:nvPr/>
          </p:nvSpPr>
          <p:spPr bwMode="auto">
            <a:xfrm>
              <a:off x="1659"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66" name="Text Box 49"/>
            <p:cNvSpPr txBox="1">
              <a:spLocks noChangeArrowheads="1"/>
            </p:cNvSpPr>
            <p:nvPr/>
          </p:nvSpPr>
          <p:spPr bwMode="auto">
            <a:xfrm>
              <a:off x="1520"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8</a:t>
              </a:r>
            </a:p>
          </p:txBody>
        </p:sp>
        <p:sp>
          <p:nvSpPr>
            <p:cNvPr id="34867" name="Line 50"/>
            <p:cNvSpPr>
              <a:spLocks noChangeShapeType="1"/>
            </p:cNvSpPr>
            <p:nvPr/>
          </p:nvSpPr>
          <p:spPr bwMode="auto">
            <a:xfrm>
              <a:off x="211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68" name="Line 51"/>
            <p:cNvSpPr>
              <a:spLocks noChangeShapeType="1"/>
            </p:cNvSpPr>
            <p:nvPr/>
          </p:nvSpPr>
          <p:spPr bwMode="auto">
            <a:xfrm>
              <a:off x="211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69" name="Text Box 52"/>
            <p:cNvSpPr txBox="1">
              <a:spLocks noChangeArrowheads="1"/>
            </p:cNvSpPr>
            <p:nvPr/>
          </p:nvSpPr>
          <p:spPr bwMode="auto">
            <a:xfrm>
              <a:off x="1920"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13</a:t>
              </a:r>
            </a:p>
          </p:txBody>
        </p:sp>
        <p:sp>
          <p:nvSpPr>
            <p:cNvPr id="34870" name="Text Box 53"/>
            <p:cNvSpPr txBox="1">
              <a:spLocks noChangeArrowheads="1"/>
            </p:cNvSpPr>
            <p:nvPr/>
          </p:nvSpPr>
          <p:spPr bwMode="auto">
            <a:xfrm>
              <a:off x="2229"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34871" name="Line 54"/>
            <p:cNvSpPr>
              <a:spLocks noChangeShapeType="1"/>
            </p:cNvSpPr>
            <p:nvPr/>
          </p:nvSpPr>
          <p:spPr bwMode="auto">
            <a:xfrm>
              <a:off x="264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2" name="Line 55"/>
            <p:cNvSpPr>
              <a:spLocks noChangeShapeType="1"/>
            </p:cNvSpPr>
            <p:nvPr/>
          </p:nvSpPr>
          <p:spPr bwMode="auto">
            <a:xfrm>
              <a:off x="264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3" name="Text Box 56"/>
            <p:cNvSpPr txBox="1">
              <a:spLocks noChangeArrowheads="1"/>
            </p:cNvSpPr>
            <p:nvPr/>
          </p:nvSpPr>
          <p:spPr bwMode="auto">
            <a:xfrm>
              <a:off x="2448"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20</a:t>
              </a:r>
            </a:p>
          </p:txBody>
        </p:sp>
        <p:sp>
          <p:nvSpPr>
            <p:cNvPr id="34874" name="Line 57"/>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5" name="Text Box 58"/>
            <p:cNvSpPr txBox="1">
              <a:spLocks noChangeArrowheads="1"/>
            </p:cNvSpPr>
            <p:nvPr/>
          </p:nvSpPr>
          <p:spPr bwMode="auto">
            <a:xfrm>
              <a:off x="419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34876" name="Text Box 59"/>
            <p:cNvSpPr txBox="1">
              <a:spLocks noChangeArrowheads="1"/>
            </p:cNvSpPr>
            <p:nvPr/>
          </p:nvSpPr>
          <p:spPr bwMode="auto">
            <a:xfrm>
              <a:off x="2790"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34877" name="Line 60"/>
            <p:cNvSpPr>
              <a:spLocks noChangeShapeType="1"/>
            </p:cNvSpPr>
            <p:nvPr/>
          </p:nvSpPr>
          <p:spPr bwMode="auto">
            <a:xfrm>
              <a:off x="327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8" name="Line 61"/>
            <p:cNvSpPr>
              <a:spLocks noChangeShapeType="1"/>
            </p:cNvSpPr>
            <p:nvPr/>
          </p:nvSpPr>
          <p:spPr bwMode="auto">
            <a:xfrm>
              <a:off x="327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9" name="Text Box 62"/>
            <p:cNvSpPr txBox="1">
              <a:spLocks noChangeArrowheads="1"/>
            </p:cNvSpPr>
            <p:nvPr/>
          </p:nvSpPr>
          <p:spPr bwMode="auto">
            <a:xfrm>
              <a:off x="3078"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30</a:t>
              </a:r>
            </a:p>
          </p:txBody>
        </p:sp>
        <p:sp>
          <p:nvSpPr>
            <p:cNvPr id="34880" name="Text Box 63"/>
            <p:cNvSpPr txBox="1">
              <a:spLocks noChangeArrowheads="1"/>
            </p:cNvSpPr>
            <p:nvPr/>
          </p:nvSpPr>
          <p:spPr bwMode="auto">
            <a:xfrm>
              <a:off x="3462"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34881" name="Line 64"/>
            <p:cNvSpPr>
              <a:spLocks noChangeShapeType="1"/>
            </p:cNvSpPr>
            <p:nvPr/>
          </p:nvSpPr>
          <p:spPr bwMode="auto">
            <a:xfrm>
              <a:off x="394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82" name="Line 65"/>
            <p:cNvSpPr>
              <a:spLocks noChangeShapeType="1"/>
            </p:cNvSpPr>
            <p:nvPr/>
          </p:nvSpPr>
          <p:spPr bwMode="auto">
            <a:xfrm>
              <a:off x="394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83" name="Text Box 66"/>
            <p:cNvSpPr txBox="1">
              <a:spLocks noChangeArrowheads="1"/>
            </p:cNvSpPr>
            <p:nvPr/>
          </p:nvSpPr>
          <p:spPr bwMode="auto">
            <a:xfrm>
              <a:off x="3750"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42</a:t>
              </a:r>
            </a:p>
          </p:txBody>
        </p:sp>
      </p:grpSp>
      <p:grpSp>
        <p:nvGrpSpPr>
          <p:cNvPr id="34821" name="Group 102"/>
          <p:cNvGrpSpPr>
            <a:grpSpLocks/>
          </p:cNvGrpSpPr>
          <p:nvPr/>
        </p:nvGrpSpPr>
        <p:grpSpPr bwMode="auto">
          <a:xfrm>
            <a:off x="457200" y="2514600"/>
            <a:ext cx="6477000" cy="1219200"/>
            <a:chOff x="288" y="1584"/>
            <a:chExt cx="4080" cy="768"/>
          </a:xfrm>
        </p:grpSpPr>
        <p:sp>
          <p:nvSpPr>
            <p:cNvPr id="34832" name="Rectangle 70"/>
            <p:cNvSpPr>
              <a:spLocks noChangeArrowheads="1"/>
            </p:cNvSpPr>
            <p:nvPr/>
          </p:nvSpPr>
          <p:spPr bwMode="auto">
            <a:xfrm>
              <a:off x="392" y="1584"/>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4833" name="Text Box 71"/>
            <p:cNvSpPr txBox="1">
              <a:spLocks noChangeArrowheads="1"/>
            </p:cNvSpPr>
            <p:nvPr/>
          </p:nvSpPr>
          <p:spPr bwMode="auto">
            <a:xfrm>
              <a:off x="672" y="1632"/>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34834" name="Text Box 73"/>
            <p:cNvSpPr txBox="1">
              <a:spLocks noChangeArrowheads="1"/>
            </p:cNvSpPr>
            <p:nvPr/>
          </p:nvSpPr>
          <p:spPr bwMode="auto">
            <a:xfrm>
              <a:off x="1194" y="1632"/>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34835" name="Line 74"/>
            <p:cNvSpPr>
              <a:spLocks noChangeShapeType="1"/>
            </p:cNvSpPr>
            <p:nvPr/>
          </p:nvSpPr>
          <p:spPr bwMode="auto">
            <a:xfrm>
              <a:off x="392" y="196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6" name="Line 75"/>
            <p:cNvSpPr>
              <a:spLocks noChangeShapeType="1"/>
            </p:cNvSpPr>
            <p:nvPr/>
          </p:nvSpPr>
          <p:spPr bwMode="auto">
            <a:xfrm>
              <a:off x="1164" y="1584"/>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7" name="Line 76"/>
            <p:cNvSpPr>
              <a:spLocks noChangeShapeType="1"/>
            </p:cNvSpPr>
            <p:nvPr/>
          </p:nvSpPr>
          <p:spPr bwMode="auto">
            <a:xfrm>
              <a:off x="1164" y="196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8" name="Text Box 77"/>
            <p:cNvSpPr txBox="1">
              <a:spLocks noChangeArrowheads="1"/>
            </p:cNvSpPr>
            <p:nvPr/>
          </p:nvSpPr>
          <p:spPr bwMode="auto">
            <a:xfrm>
              <a:off x="972" y="2064"/>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10</a:t>
              </a:r>
            </a:p>
          </p:txBody>
        </p:sp>
        <p:sp>
          <p:nvSpPr>
            <p:cNvPr id="34839" name="Text Box 78"/>
            <p:cNvSpPr txBox="1">
              <a:spLocks noChangeArrowheads="1"/>
            </p:cNvSpPr>
            <p:nvPr/>
          </p:nvSpPr>
          <p:spPr bwMode="auto">
            <a:xfrm>
              <a:off x="4038" y="2064"/>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34840" name="Text Box 79"/>
            <p:cNvSpPr txBox="1">
              <a:spLocks noChangeArrowheads="1"/>
            </p:cNvSpPr>
            <p:nvPr/>
          </p:nvSpPr>
          <p:spPr bwMode="auto">
            <a:xfrm>
              <a:off x="288" y="2064"/>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34841" name="Line 83"/>
            <p:cNvSpPr>
              <a:spLocks noChangeShapeType="1"/>
            </p:cNvSpPr>
            <p:nvPr/>
          </p:nvSpPr>
          <p:spPr bwMode="auto">
            <a:xfrm>
              <a:off x="1584" y="1584"/>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2" name="Line 84"/>
            <p:cNvSpPr>
              <a:spLocks noChangeShapeType="1"/>
            </p:cNvSpPr>
            <p:nvPr/>
          </p:nvSpPr>
          <p:spPr bwMode="auto">
            <a:xfrm>
              <a:off x="1584" y="196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3" name="Text Box 85"/>
            <p:cNvSpPr txBox="1">
              <a:spLocks noChangeArrowheads="1"/>
            </p:cNvSpPr>
            <p:nvPr/>
          </p:nvSpPr>
          <p:spPr bwMode="auto">
            <a:xfrm>
              <a:off x="1392" y="2064"/>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13</a:t>
              </a:r>
            </a:p>
          </p:txBody>
        </p:sp>
        <p:sp>
          <p:nvSpPr>
            <p:cNvPr id="34844" name="Text Box 86"/>
            <p:cNvSpPr txBox="1">
              <a:spLocks noChangeArrowheads="1"/>
            </p:cNvSpPr>
            <p:nvPr/>
          </p:nvSpPr>
          <p:spPr bwMode="auto">
            <a:xfrm>
              <a:off x="1701" y="1632"/>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34845" name="Line 87"/>
            <p:cNvSpPr>
              <a:spLocks noChangeShapeType="1"/>
            </p:cNvSpPr>
            <p:nvPr/>
          </p:nvSpPr>
          <p:spPr bwMode="auto">
            <a:xfrm>
              <a:off x="2112" y="1584"/>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6" name="Line 88"/>
            <p:cNvSpPr>
              <a:spLocks noChangeShapeType="1"/>
            </p:cNvSpPr>
            <p:nvPr/>
          </p:nvSpPr>
          <p:spPr bwMode="auto">
            <a:xfrm>
              <a:off x="2112" y="196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7" name="Text Box 89"/>
            <p:cNvSpPr txBox="1">
              <a:spLocks noChangeArrowheads="1"/>
            </p:cNvSpPr>
            <p:nvPr/>
          </p:nvSpPr>
          <p:spPr bwMode="auto">
            <a:xfrm>
              <a:off x="1920" y="2064"/>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20</a:t>
              </a:r>
            </a:p>
          </p:txBody>
        </p:sp>
        <p:sp>
          <p:nvSpPr>
            <p:cNvPr id="34848" name="Line 90"/>
            <p:cNvSpPr>
              <a:spLocks noChangeShapeType="1"/>
            </p:cNvSpPr>
            <p:nvPr/>
          </p:nvSpPr>
          <p:spPr bwMode="auto">
            <a:xfrm>
              <a:off x="4224" y="196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9" name="Text Box 91"/>
            <p:cNvSpPr txBox="1">
              <a:spLocks noChangeArrowheads="1"/>
            </p:cNvSpPr>
            <p:nvPr/>
          </p:nvSpPr>
          <p:spPr bwMode="auto">
            <a:xfrm>
              <a:off x="3717" y="1632"/>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34850" name="Text Box 92"/>
            <p:cNvSpPr txBox="1">
              <a:spLocks noChangeArrowheads="1"/>
            </p:cNvSpPr>
            <p:nvPr/>
          </p:nvSpPr>
          <p:spPr bwMode="auto">
            <a:xfrm>
              <a:off x="2661" y="1632"/>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34851" name="Line 97"/>
            <p:cNvSpPr>
              <a:spLocks noChangeShapeType="1"/>
            </p:cNvSpPr>
            <p:nvPr/>
          </p:nvSpPr>
          <p:spPr bwMode="auto">
            <a:xfrm>
              <a:off x="3510" y="1584"/>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2" name="Line 98"/>
            <p:cNvSpPr>
              <a:spLocks noChangeShapeType="1"/>
            </p:cNvSpPr>
            <p:nvPr/>
          </p:nvSpPr>
          <p:spPr bwMode="auto">
            <a:xfrm>
              <a:off x="3510" y="1968"/>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53" name="Text Box 99"/>
            <p:cNvSpPr txBox="1">
              <a:spLocks noChangeArrowheads="1"/>
            </p:cNvSpPr>
            <p:nvPr/>
          </p:nvSpPr>
          <p:spPr bwMode="auto">
            <a:xfrm>
              <a:off x="3318" y="2064"/>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49</a:t>
              </a:r>
            </a:p>
          </p:txBody>
        </p:sp>
      </p:grpSp>
      <p:sp>
        <p:nvSpPr>
          <p:cNvPr id="34822" name="Text Box 100"/>
          <p:cNvSpPr txBox="1">
            <a:spLocks noChangeArrowheads="1"/>
          </p:cNvSpPr>
          <p:nvPr/>
        </p:nvSpPr>
        <p:spPr bwMode="auto">
          <a:xfrm>
            <a:off x="7086600" y="1447800"/>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solidFill>
                  <a:srgbClr val="FF0000"/>
                </a:solidFill>
              </a:rPr>
              <a:t>SRJF</a:t>
            </a:r>
          </a:p>
        </p:txBody>
      </p:sp>
      <p:sp>
        <p:nvSpPr>
          <p:cNvPr id="34823" name="Text Box 101"/>
          <p:cNvSpPr txBox="1">
            <a:spLocks noChangeArrowheads="1"/>
          </p:cNvSpPr>
          <p:nvPr/>
        </p:nvSpPr>
        <p:spPr bwMode="auto">
          <a:xfrm>
            <a:off x="7162800" y="2590800"/>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solidFill>
                  <a:srgbClr val="FF0000"/>
                </a:solidFill>
              </a:rPr>
              <a:t>SJF</a:t>
            </a:r>
          </a:p>
        </p:txBody>
      </p:sp>
      <p:grpSp>
        <p:nvGrpSpPr>
          <p:cNvPr id="198764" name="Group 108"/>
          <p:cNvGrpSpPr>
            <a:grpSpLocks/>
          </p:cNvGrpSpPr>
          <p:nvPr/>
        </p:nvGrpSpPr>
        <p:grpSpPr bwMode="auto">
          <a:xfrm>
            <a:off x="457200" y="3657600"/>
            <a:ext cx="4495800" cy="1114425"/>
            <a:chOff x="576" y="2304"/>
            <a:chExt cx="2832" cy="702"/>
          </a:xfrm>
        </p:grpSpPr>
        <p:sp>
          <p:nvSpPr>
            <p:cNvPr id="34830" name="Rectangle 104"/>
            <p:cNvSpPr>
              <a:spLocks noChangeArrowheads="1"/>
            </p:cNvSpPr>
            <p:nvPr/>
          </p:nvSpPr>
          <p:spPr bwMode="auto">
            <a:xfrm>
              <a:off x="576" y="2304"/>
              <a:ext cx="2832"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平均等待时间</a:t>
              </a:r>
              <a:r>
                <a:rPr lang="en-US" altLang="zh-CN" sz="2400"/>
                <a:t>(SRJF): </a:t>
              </a:r>
              <a:r>
                <a:rPr lang="en-US" altLang="zh-CN" sz="2400">
                  <a:solidFill>
                    <a:srgbClr val="FF0000"/>
                  </a:solidFill>
                </a:rPr>
                <a:t>(3+32+0+8+0)/5 = 8.6</a:t>
              </a:r>
            </a:p>
          </p:txBody>
        </p:sp>
        <p:pic>
          <p:nvPicPr>
            <p:cNvPr id="34831" name="Picture 105"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246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8765" name="Group 109"/>
          <p:cNvGrpSpPr>
            <a:grpSpLocks/>
          </p:cNvGrpSpPr>
          <p:nvPr/>
        </p:nvGrpSpPr>
        <p:grpSpPr bwMode="auto">
          <a:xfrm>
            <a:off x="457200" y="4572000"/>
            <a:ext cx="4495800" cy="1114425"/>
            <a:chOff x="576" y="2946"/>
            <a:chExt cx="2832" cy="702"/>
          </a:xfrm>
        </p:grpSpPr>
        <p:sp>
          <p:nvSpPr>
            <p:cNvPr id="34828" name="Rectangle 106"/>
            <p:cNvSpPr>
              <a:spLocks noChangeArrowheads="1"/>
            </p:cNvSpPr>
            <p:nvPr/>
          </p:nvSpPr>
          <p:spPr bwMode="auto">
            <a:xfrm>
              <a:off x="576" y="2946"/>
              <a:ext cx="2832"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平均等待时间</a:t>
              </a:r>
              <a:r>
                <a:rPr lang="en-US" altLang="zh-CN" sz="2400"/>
                <a:t>(SJF): </a:t>
              </a:r>
              <a:r>
                <a:rPr lang="en-US" altLang="zh-CN" sz="2400">
                  <a:solidFill>
                    <a:srgbClr val="FF0000"/>
                  </a:solidFill>
                </a:rPr>
                <a:t>(0+20+5+8+19)/5 = 10.4</a:t>
              </a:r>
            </a:p>
          </p:txBody>
        </p:sp>
        <p:pic>
          <p:nvPicPr>
            <p:cNvPr id="34829" name="Picture 10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 y="310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8766" name="Rectangle 110"/>
          <p:cNvSpPr>
            <a:spLocks noChangeArrowheads="1"/>
          </p:cNvSpPr>
          <p:nvPr/>
        </p:nvSpPr>
        <p:spPr bwMode="auto">
          <a:xfrm>
            <a:off x="685800" y="5486400"/>
            <a:ext cx="3657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solidFill>
                  <a:srgbClr val="FF0000"/>
                </a:solidFill>
              </a:rPr>
              <a:t>抢占显然具有优点</a:t>
            </a:r>
          </a:p>
        </p:txBody>
      </p:sp>
      <p:sp>
        <p:nvSpPr>
          <p:cNvPr id="92" name="Rectangle 110"/>
          <p:cNvSpPr>
            <a:spLocks noChangeArrowheads="1"/>
          </p:cNvSpPr>
          <p:nvPr/>
        </p:nvSpPr>
        <p:spPr bwMode="auto">
          <a:xfrm>
            <a:off x="1524000" y="6096000"/>
            <a:ext cx="3657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None/>
            </a:pPr>
            <a:r>
              <a:rPr lang="en-US" altLang="zh-CN">
                <a:solidFill>
                  <a:srgbClr val="00B050"/>
                </a:solidFill>
              </a:rPr>
              <a:t>CPU</a:t>
            </a:r>
            <a:r>
              <a:rPr lang="zh-CN" altLang="en-US">
                <a:solidFill>
                  <a:srgbClr val="00B050"/>
                </a:solidFill>
              </a:rPr>
              <a:t>区间必须是已知！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98764"/>
                                        </p:tgtEl>
                                        <p:attrNameLst>
                                          <p:attrName>style.visibility</p:attrName>
                                        </p:attrNameLst>
                                      </p:cBhvr>
                                      <p:to>
                                        <p:strVal val="visible"/>
                                      </p:to>
                                    </p:set>
                                    <p:animEffect transition="in" filter="dissolve">
                                      <p:cBhvr>
                                        <p:cTn id="7" dur="500"/>
                                        <p:tgtEl>
                                          <p:spTgt spid="1987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98765"/>
                                        </p:tgtEl>
                                        <p:attrNameLst>
                                          <p:attrName>style.visibility</p:attrName>
                                        </p:attrNameLst>
                                      </p:cBhvr>
                                      <p:to>
                                        <p:strVal val="visible"/>
                                      </p:to>
                                    </p:set>
                                    <p:animEffect transition="in" filter="dissolve">
                                      <p:cBhvr>
                                        <p:cTn id="12" dur="500"/>
                                        <p:tgtEl>
                                          <p:spTgt spid="1987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8766"/>
                                        </p:tgtEl>
                                        <p:attrNameLst>
                                          <p:attrName>style.visibility</p:attrName>
                                        </p:attrNameLst>
                                      </p:cBhvr>
                                      <p:to>
                                        <p:strVal val="visible"/>
                                      </p:to>
                                    </p:set>
                                    <p:animEffect transition="in" filter="dissolve">
                                      <p:cBhvr>
                                        <p:cTn id="17" dur="500"/>
                                        <p:tgtEl>
                                          <p:spTgt spid="1987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92"/>
                                        </p:tgtEl>
                                        <p:attrNameLst>
                                          <p:attrName>style.visibility</p:attrName>
                                        </p:attrNameLst>
                                      </p:cBhvr>
                                      <p:to>
                                        <p:strVal val="visible"/>
                                      </p:to>
                                    </p:set>
                                    <p:anim calcmode="lin" valueType="num">
                                      <p:cBhvr additive="base">
                                        <p:cTn id="22" dur="500" fill="hold"/>
                                        <p:tgtEl>
                                          <p:spTgt spid="92"/>
                                        </p:tgtEl>
                                        <p:attrNameLst>
                                          <p:attrName>ppt_x</p:attrName>
                                        </p:attrNameLst>
                                      </p:cBhvr>
                                      <p:tavLst>
                                        <p:tav tm="0">
                                          <p:val>
                                            <p:strVal val="#ppt_x"/>
                                          </p:val>
                                        </p:tav>
                                        <p:tav tm="100000">
                                          <p:val>
                                            <p:strVal val="#ppt_x"/>
                                          </p:val>
                                        </p:tav>
                                      </p:tavLst>
                                    </p:anim>
                                    <p:anim calcmode="lin" valueType="num">
                                      <p:cBhvr additive="base">
                                        <p:cTn id="23" dur="500" fill="hold"/>
                                        <p:tgtEl>
                                          <p:spTgt spid="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766" grpId="0"/>
      <p:bldP spid="9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81000" y="304800"/>
            <a:ext cx="8763000" cy="676275"/>
          </a:xfrm>
        </p:spPr>
        <p:txBody>
          <a:bodyPr/>
          <a:lstStyle/>
          <a:p>
            <a:pPr eaLnBrk="1" hangingPunct="1"/>
            <a:r>
              <a:rPr lang="en-US" altLang="zh-CN" smtClean="0">
                <a:sym typeface="Symbol" panose="05050102010706020507" pitchFamily="18" charset="2"/>
              </a:rPr>
              <a:t>SJF(SRJF): </a:t>
            </a:r>
            <a:r>
              <a:rPr lang="zh-CN" altLang="en-US" smtClean="0">
                <a:sym typeface="Symbol" panose="05050102010706020507" pitchFamily="18" charset="2"/>
              </a:rPr>
              <a:t>如何知道下一</a:t>
            </a:r>
            <a:r>
              <a:rPr lang="en-US" altLang="zh-CN" smtClean="0">
                <a:sym typeface="Symbol" panose="05050102010706020507" pitchFamily="18" charset="2"/>
              </a:rPr>
              <a:t>CPU</a:t>
            </a:r>
            <a:r>
              <a:rPr lang="zh-CN" altLang="en-US" smtClean="0">
                <a:sym typeface="Symbol" panose="05050102010706020507" pitchFamily="18" charset="2"/>
              </a:rPr>
              <a:t>区间大小</a:t>
            </a:r>
          </a:p>
        </p:txBody>
      </p:sp>
      <p:sp>
        <p:nvSpPr>
          <p:cNvPr id="196613" name="Rectangle 5"/>
          <p:cNvSpPr>
            <a:spLocks noChangeArrowheads="1"/>
          </p:cNvSpPr>
          <p:nvPr/>
        </p:nvSpPr>
        <p:spPr bwMode="auto">
          <a:xfrm>
            <a:off x="685800" y="1676400"/>
            <a:ext cx="84582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 typeface="Wingdings" panose="05000000000000000000" pitchFamily="2" charset="2"/>
              <a:buNone/>
            </a:pPr>
            <a:r>
              <a:rPr lang="en-US" altLang="zh-CN">
                <a:solidFill>
                  <a:srgbClr val="FF0000"/>
                </a:solidFill>
                <a:sym typeface="Symbol" panose="05050102010706020507" pitchFamily="18" charset="2"/>
              </a:rPr>
              <a:t></a:t>
            </a:r>
            <a:r>
              <a:rPr lang="en-US" altLang="zh-CN" baseline="-25000">
                <a:solidFill>
                  <a:srgbClr val="FF0000"/>
                </a:solidFill>
                <a:sym typeface="Symbol" panose="05050102010706020507" pitchFamily="18" charset="2"/>
              </a:rPr>
              <a:t>n+1</a:t>
            </a:r>
            <a:r>
              <a:rPr lang="en-US" altLang="zh-CN">
                <a:solidFill>
                  <a:srgbClr val="FF0000"/>
                </a:solidFill>
                <a:sym typeface="Symbol" panose="05050102010706020507" pitchFamily="18" charset="2"/>
              </a:rPr>
              <a:t> = </a:t>
            </a:r>
            <a:r>
              <a:rPr lang="el-GR" altLang="zh-CN">
                <a:solidFill>
                  <a:srgbClr val="FF0000"/>
                </a:solidFill>
                <a:cs typeface="Arial" panose="020B0604020202020204" pitchFamily="34" charset="0"/>
                <a:sym typeface="Symbol" panose="05050102010706020507" pitchFamily="18" charset="2"/>
              </a:rPr>
              <a:t>t</a:t>
            </a:r>
            <a:r>
              <a:rPr lang="el-GR" altLang="zh-CN" baseline="-25000">
                <a:solidFill>
                  <a:srgbClr val="FF0000"/>
                </a:solidFill>
                <a:cs typeface="Arial" panose="020B0604020202020204" pitchFamily="34" charset="0"/>
                <a:sym typeface="Symbol" panose="05050102010706020507" pitchFamily="18" charset="2"/>
              </a:rPr>
              <a:t>n</a:t>
            </a:r>
            <a:r>
              <a:rPr lang="en-US" altLang="zh-CN">
                <a:solidFill>
                  <a:srgbClr val="FF0000"/>
                </a:solidFill>
                <a:cs typeface="Arial" panose="020B0604020202020204" pitchFamily="34" charset="0"/>
                <a:sym typeface="Symbol" panose="05050102010706020507" pitchFamily="18" charset="2"/>
              </a:rPr>
              <a:t> + (1- </a:t>
            </a:r>
            <a:r>
              <a:rPr lang="en-US" altLang="zh-CN">
                <a:solidFill>
                  <a:srgbClr val="FF0000"/>
                </a:solidFill>
                <a:sym typeface="Symbol" panose="05050102010706020507" pitchFamily="18" charset="2"/>
              </a:rPr>
              <a:t></a:t>
            </a:r>
            <a:r>
              <a:rPr lang="en-US" altLang="zh-CN">
                <a:solidFill>
                  <a:srgbClr val="FF0000"/>
                </a:solidFill>
                <a:cs typeface="Arial" panose="020B0604020202020204" pitchFamily="34" charset="0"/>
                <a:sym typeface="Symbol" panose="05050102010706020507" pitchFamily="18" charset="2"/>
              </a:rPr>
              <a:t>)</a:t>
            </a:r>
            <a:r>
              <a:rPr lang="en-US" altLang="zh-CN">
                <a:solidFill>
                  <a:srgbClr val="FF0000"/>
                </a:solidFill>
                <a:sym typeface="Symbol" panose="05050102010706020507" pitchFamily="18" charset="2"/>
              </a:rPr>
              <a:t></a:t>
            </a:r>
            <a:r>
              <a:rPr lang="en-US" altLang="zh-CN" baseline="-25000">
                <a:solidFill>
                  <a:srgbClr val="FF0000"/>
                </a:solidFill>
                <a:sym typeface="Symbol" panose="05050102010706020507" pitchFamily="18" charset="2"/>
              </a:rPr>
              <a:t>n</a:t>
            </a:r>
            <a:r>
              <a:rPr lang="en-US" altLang="zh-CN">
                <a:sym typeface="Symbol" panose="05050102010706020507" pitchFamily="18" charset="2"/>
              </a:rPr>
              <a:t> |</a:t>
            </a:r>
            <a:r>
              <a:rPr lang="en-US" altLang="zh-CN" sz="2400">
                <a:sym typeface="Symbol" panose="05050102010706020507" pitchFamily="18" charset="2"/>
              </a:rPr>
              <a:t></a:t>
            </a:r>
            <a:r>
              <a:rPr lang="en-US" altLang="zh-CN" sz="2400" baseline="-25000">
                <a:sym typeface="Symbol" panose="05050102010706020507" pitchFamily="18" charset="2"/>
              </a:rPr>
              <a:t>n+1</a:t>
            </a:r>
            <a:r>
              <a:rPr lang="zh-CN" altLang="en-US" sz="2400">
                <a:sym typeface="Symbol" panose="05050102010706020507" pitchFamily="18" charset="2"/>
              </a:rPr>
              <a:t>是预测值，</a:t>
            </a:r>
            <a:r>
              <a:rPr lang="el-GR" altLang="zh-CN" sz="2400">
                <a:cs typeface="Arial" panose="020B0604020202020204" pitchFamily="34" charset="0"/>
                <a:sym typeface="Symbol" panose="05050102010706020507" pitchFamily="18" charset="2"/>
              </a:rPr>
              <a:t>t</a:t>
            </a:r>
            <a:r>
              <a:rPr lang="el-GR" altLang="zh-CN" sz="2400" baseline="-25000">
                <a:cs typeface="Arial" panose="020B0604020202020204" pitchFamily="34" charset="0"/>
                <a:sym typeface="Symbol" panose="05050102010706020507" pitchFamily="18" charset="2"/>
              </a:rPr>
              <a:t>n</a:t>
            </a:r>
            <a:r>
              <a:rPr lang="zh-CN" altLang="el-GR" sz="2400">
                <a:cs typeface="Arial" panose="020B0604020202020204" pitchFamily="34" charset="0"/>
                <a:sym typeface="Symbol" panose="05050102010706020507" pitchFamily="18" charset="2"/>
              </a:rPr>
              <a:t>是当前</a:t>
            </a:r>
            <a:r>
              <a:rPr lang="el-GR" altLang="zh-CN" sz="2400">
                <a:cs typeface="Arial" panose="020B0604020202020204" pitchFamily="34" charset="0"/>
                <a:sym typeface="Symbol" panose="05050102010706020507" pitchFamily="18" charset="2"/>
              </a:rPr>
              <a:t>CPU</a:t>
            </a:r>
            <a:r>
              <a:rPr lang="zh-CN" altLang="el-GR" sz="2400">
                <a:cs typeface="Arial" panose="020B0604020202020204" pitchFamily="34" charset="0"/>
                <a:sym typeface="Symbol" panose="05050102010706020507" pitchFamily="18" charset="2"/>
              </a:rPr>
              <a:t>区间</a:t>
            </a:r>
            <a:endParaRPr lang="en-US" altLang="el-GR" sz="2400" baseline="-25000">
              <a:cs typeface="Arial" panose="020B0604020202020204" pitchFamily="34" charset="0"/>
              <a:sym typeface="Symbol" panose="05050102010706020507" pitchFamily="18" charset="2"/>
            </a:endParaRPr>
          </a:p>
        </p:txBody>
      </p:sp>
      <p:sp>
        <p:nvSpPr>
          <p:cNvPr id="196661" name="Rectangle 53"/>
          <p:cNvSpPr>
            <a:spLocks noGrp="1" noChangeArrowheads="1"/>
          </p:cNvSpPr>
          <p:nvPr>
            <p:ph type="body" idx="1"/>
          </p:nvPr>
        </p:nvSpPr>
        <p:spPr>
          <a:xfrm>
            <a:off x="685800" y="1219200"/>
            <a:ext cx="7921625" cy="865188"/>
          </a:xfrm>
          <a:noFill/>
        </p:spPr>
        <p:txBody>
          <a:bodyPr/>
          <a:lstStyle/>
          <a:p>
            <a:pPr eaLnBrk="1" hangingPunct="1">
              <a:lnSpc>
                <a:spcPct val="130000"/>
              </a:lnSpc>
            </a:pPr>
            <a:r>
              <a:rPr lang="zh-CN" altLang="en-US" smtClean="0">
                <a:solidFill>
                  <a:srgbClr val="FF0000"/>
                </a:solidFill>
              </a:rPr>
              <a:t>根据历史进行预测</a:t>
            </a:r>
            <a:r>
              <a:rPr lang="en-US" altLang="zh-CN" smtClean="0">
                <a:solidFill>
                  <a:srgbClr val="FF0000"/>
                </a:solidFill>
              </a:rPr>
              <a:t>: </a:t>
            </a:r>
            <a:r>
              <a:rPr lang="zh-CN" altLang="en-US" smtClean="0">
                <a:solidFill>
                  <a:srgbClr val="FF0000"/>
                </a:solidFill>
              </a:rPr>
              <a:t>指数平均法</a:t>
            </a:r>
          </a:p>
        </p:txBody>
      </p:sp>
      <p:grpSp>
        <p:nvGrpSpPr>
          <p:cNvPr id="196668" name="Group 60"/>
          <p:cNvGrpSpPr>
            <a:grpSpLocks/>
          </p:cNvGrpSpPr>
          <p:nvPr/>
        </p:nvGrpSpPr>
        <p:grpSpPr bwMode="auto">
          <a:xfrm>
            <a:off x="533400" y="2216150"/>
            <a:ext cx="8237538" cy="603250"/>
            <a:chOff x="571" y="1824"/>
            <a:chExt cx="4997" cy="380"/>
          </a:xfrm>
        </p:grpSpPr>
        <p:sp>
          <p:nvSpPr>
            <p:cNvPr id="35874" name="Rectangle 55"/>
            <p:cNvSpPr>
              <a:spLocks noChangeArrowheads="1"/>
            </p:cNvSpPr>
            <p:nvPr/>
          </p:nvSpPr>
          <p:spPr bwMode="auto">
            <a:xfrm>
              <a:off x="571" y="1824"/>
              <a:ext cx="4997"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en-US" altLang="zh-CN" sz="2400">
                  <a:sym typeface="Symbol" panose="05050102010706020507" pitchFamily="18" charset="2"/>
                </a:rPr>
                <a:t></a:t>
              </a:r>
              <a:r>
                <a:rPr lang="en-US" altLang="zh-CN" sz="2400" baseline="-25000">
                  <a:sym typeface="Symbol" panose="05050102010706020507" pitchFamily="18" charset="2"/>
                </a:rPr>
                <a:t>n+1</a:t>
              </a:r>
              <a:r>
                <a:rPr lang="en-US" altLang="zh-CN" sz="2400">
                  <a:sym typeface="Symbol" panose="05050102010706020507" pitchFamily="18" charset="2"/>
                </a:rPr>
                <a:t> = </a:t>
              </a:r>
              <a:r>
                <a:rPr lang="el-GR" altLang="zh-CN" sz="2400">
                  <a:sym typeface="Symbol" panose="05050102010706020507" pitchFamily="18" charset="2"/>
                </a:rPr>
                <a:t>t</a:t>
              </a:r>
              <a:r>
                <a:rPr lang="el-GR" altLang="zh-CN" sz="2400" baseline="-25000">
                  <a:sym typeface="Symbol" panose="05050102010706020507" pitchFamily="18" charset="2"/>
                </a:rPr>
                <a:t>n</a:t>
              </a:r>
              <a:r>
                <a:rPr lang="en-US" altLang="zh-CN" sz="2400">
                  <a:sym typeface="Symbol" panose="05050102010706020507" pitchFamily="18" charset="2"/>
                </a:rPr>
                <a:t> + (1- )</a:t>
              </a:r>
              <a:r>
                <a:rPr lang="el-GR" altLang="zh-CN" sz="2400">
                  <a:sym typeface="Symbol" panose="05050102010706020507" pitchFamily="18" charset="2"/>
                </a:rPr>
                <a:t>t</a:t>
              </a:r>
              <a:r>
                <a:rPr lang="el-GR" altLang="zh-CN" sz="2400" baseline="-25000">
                  <a:sym typeface="Symbol" panose="05050102010706020507" pitchFamily="18" charset="2"/>
                </a:rPr>
                <a:t>n</a:t>
              </a:r>
              <a:r>
                <a:rPr lang="en-US" altLang="zh-CN" sz="2400">
                  <a:sym typeface="Symbol" panose="05050102010706020507" pitchFamily="18" charset="2"/>
                </a:rPr>
                <a:t>+...+(1- )</a:t>
              </a:r>
              <a:r>
                <a:rPr lang="en-US" altLang="zh-CN" sz="2400" baseline="30000">
                  <a:sym typeface="Symbol" panose="05050102010706020507" pitchFamily="18" charset="2"/>
                </a:rPr>
                <a:t>j</a:t>
              </a:r>
              <a:r>
                <a:rPr lang="en-US" altLang="zh-CN" sz="2400">
                  <a:sym typeface="Symbol" panose="05050102010706020507" pitchFamily="18" charset="2"/>
                </a:rPr>
                <a:t></a:t>
              </a:r>
              <a:r>
                <a:rPr lang="el-GR" altLang="zh-CN" sz="2400">
                  <a:sym typeface="Symbol" panose="05050102010706020507" pitchFamily="18" charset="2"/>
                </a:rPr>
                <a:t>t</a:t>
              </a:r>
              <a:r>
                <a:rPr lang="el-GR" altLang="zh-CN" sz="2400" baseline="-25000">
                  <a:sym typeface="Symbol" panose="05050102010706020507" pitchFamily="18" charset="2"/>
                </a:rPr>
                <a:t>n</a:t>
              </a:r>
              <a:r>
                <a:rPr lang="en-US" altLang="zh-CN" sz="2400" baseline="-25000">
                  <a:sym typeface="Symbol" panose="05050102010706020507" pitchFamily="18" charset="2"/>
                </a:rPr>
                <a:t>-j</a:t>
              </a:r>
              <a:r>
                <a:rPr lang="en-US" altLang="zh-CN" sz="2400">
                  <a:sym typeface="Symbol" panose="05050102010706020507" pitchFamily="18" charset="2"/>
                </a:rPr>
                <a:t>+…+(1-)</a:t>
              </a:r>
              <a:r>
                <a:rPr lang="en-US" altLang="zh-CN" sz="2400" baseline="30000">
                  <a:sym typeface="Symbol" panose="05050102010706020507" pitchFamily="18" charset="2"/>
                </a:rPr>
                <a:t>n+1</a:t>
              </a:r>
              <a:r>
                <a:rPr lang="en-US" altLang="zh-CN" sz="2400">
                  <a:sym typeface="Symbol" panose="05050102010706020507" pitchFamily="18" charset="2"/>
                </a:rPr>
                <a:t></a:t>
              </a:r>
              <a:r>
                <a:rPr lang="en-US" altLang="zh-CN" sz="2400" baseline="-25000">
                  <a:sym typeface="Symbol" panose="05050102010706020507" pitchFamily="18" charset="2"/>
                </a:rPr>
                <a:t>0</a:t>
              </a:r>
              <a:r>
                <a:rPr lang="en-US" altLang="zh-CN" sz="2400">
                  <a:sym typeface="Symbol" panose="05050102010706020507" pitchFamily="18" charset="2"/>
                </a:rPr>
                <a:t> </a:t>
              </a:r>
            </a:p>
          </p:txBody>
        </p:sp>
        <p:pic>
          <p:nvPicPr>
            <p:cNvPr id="35875" name="Picture 56"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 y="2016"/>
              <a:ext cx="12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6667" name="Group 59"/>
          <p:cNvGrpSpPr>
            <a:grpSpLocks/>
          </p:cNvGrpSpPr>
          <p:nvPr/>
        </p:nvGrpSpPr>
        <p:grpSpPr bwMode="auto">
          <a:xfrm>
            <a:off x="557213" y="2700338"/>
            <a:ext cx="8586787" cy="1030287"/>
            <a:chOff x="576" y="2208"/>
            <a:chExt cx="4997" cy="649"/>
          </a:xfrm>
        </p:grpSpPr>
        <p:sp>
          <p:nvSpPr>
            <p:cNvPr id="35872" name="Rectangle 57"/>
            <p:cNvSpPr>
              <a:spLocks noChangeArrowheads="1"/>
            </p:cNvSpPr>
            <p:nvPr/>
          </p:nvSpPr>
          <p:spPr bwMode="auto">
            <a:xfrm>
              <a:off x="576" y="2208"/>
              <a:ext cx="4997" cy="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en-US" altLang="zh-CN" sz="2400">
                  <a:sym typeface="Symbol" panose="05050102010706020507" pitchFamily="18" charset="2"/>
                </a:rPr>
                <a:t></a:t>
              </a:r>
              <a:r>
                <a:rPr lang="zh-CN" altLang="en-US" sz="2400">
                  <a:sym typeface="Symbol" panose="05050102010706020507" pitchFamily="18" charset="2"/>
                </a:rPr>
                <a:t>用来控制最近信息和历史对预测的作用</a:t>
              </a:r>
              <a:endParaRPr lang="zh-CN" altLang="en-US" sz="2000">
                <a:solidFill>
                  <a:srgbClr val="FF0000"/>
                </a:solidFill>
                <a:sym typeface="Symbol" panose="05050102010706020507" pitchFamily="18" charset="2"/>
              </a:endParaRPr>
            </a:p>
            <a:p>
              <a:pPr lvl="1" eaLnBrk="1" hangingPunct="1">
                <a:lnSpc>
                  <a:spcPct val="140000"/>
                </a:lnSpc>
                <a:spcBef>
                  <a:spcPct val="0"/>
                </a:spcBef>
                <a:buClrTx/>
                <a:buSzTx/>
                <a:buFontTx/>
                <a:buNone/>
              </a:pPr>
              <a:r>
                <a:rPr lang="zh-CN" altLang="en-US" sz="2000">
                  <a:solidFill>
                    <a:srgbClr val="FF0000"/>
                  </a:solidFill>
                  <a:sym typeface="Symbol" panose="05050102010706020507" pitchFamily="18" charset="2"/>
                </a:rPr>
                <a:t></a:t>
              </a:r>
              <a:r>
                <a:rPr lang="en-US" altLang="zh-CN" sz="2000">
                  <a:solidFill>
                    <a:srgbClr val="FF0000"/>
                  </a:solidFill>
                  <a:sym typeface="Symbol" panose="05050102010706020507" pitchFamily="18" charset="2"/>
                </a:rPr>
                <a:t>=0</a:t>
              </a:r>
              <a:r>
                <a:rPr lang="en-US" altLang="zh-CN" sz="2000">
                  <a:sym typeface="Symbol" panose="05050102010706020507" pitchFamily="18" charset="2"/>
                </a:rPr>
                <a:t>-</a:t>
              </a:r>
              <a:r>
                <a:rPr lang="zh-CN" altLang="en-US" sz="2000">
                  <a:sym typeface="Symbol" panose="05050102010706020507" pitchFamily="18" charset="2"/>
                </a:rPr>
                <a:t>忽略近期，关注历史； </a:t>
              </a:r>
              <a:r>
                <a:rPr lang="zh-CN" altLang="en-US" sz="2000">
                  <a:solidFill>
                    <a:srgbClr val="FF0000"/>
                  </a:solidFill>
                  <a:sym typeface="Symbol" panose="05050102010706020507" pitchFamily="18" charset="2"/>
                </a:rPr>
                <a:t></a:t>
              </a:r>
              <a:r>
                <a:rPr lang="en-US" altLang="zh-CN" sz="2000">
                  <a:solidFill>
                    <a:srgbClr val="FF0000"/>
                  </a:solidFill>
                  <a:sym typeface="Symbol" panose="05050102010706020507" pitchFamily="18" charset="2"/>
                </a:rPr>
                <a:t>=1</a:t>
              </a:r>
              <a:r>
                <a:rPr lang="en-US" altLang="zh-CN" sz="2000">
                  <a:sym typeface="Symbol" panose="05050102010706020507" pitchFamily="18" charset="2"/>
                </a:rPr>
                <a:t>-</a:t>
              </a:r>
              <a:r>
                <a:rPr lang="zh-CN" altLang="en-US" sz="2000">
                  <a:sym typeface="Symbol" panose="05050102010706020507" pitchFamily="18" charset="2"/>
                </a:rPr>
                <a:t>只跟当前有关；通常</a:t>
              </a:r>
              <a:r>
                <a:rPr lang="zh-CN" altLang="en-US" sz="2000">
                  <a:solidFill>
                    <a:srgbClr val="FF0000"/>
                  </a:solidFill>
                  <a:sym typeface="Symbol" panose="05050102010706020507" pitchFamily="18" charset="2"/>
                </a:rPr>
                <a:t></a:t>
              </a:r>
              <a:r>
                <a:rPr lang="en-US" altLang="zh-CN" sz="2000">
                  <a:solidFill>
                    <a:srgbClr val="FF0000"/>
                  </a:solidFill>
                  <a:sym typeface="Symbol" panose="05050102010706020507" pitchFamily="18" charset="2"/>
                </a:rPr>
                <a:t>=0.5</a:t>
              </a:r>
            </a:p>
          </p:txBody>
        </p:sp>
        <p:pic>
          <p:nvPicPr>
            <p:cNvPr id="35873" name="Picture 58"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5" y="2366"/>
              <a:ext cx="12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6687" name="Group 79"/>
          <p:cNvGrpSpPr>
            <a:grpSpLocks/>
          </p:cNvGrpSpPr>
          <p:nvPr/>
        </p:nvGrpSpPr>
        <p:grpSpPr bwMode="auto">
          <a:xfrm>
            <a:off x="1524000" y="4953000"/>
            <a:ext cx="5943600" cy="1676400"/>
            <a:chOff x="960" y="3120"/>
            <a:chExt cx="3744" cy="1056"/>
          </a:xfrm>
        </p:grpSpPr>
        <p:sp>
          <p:nvSpPr>
            <p:cNvPr id="35856" name="Line 63"/>
            <p:cNvSpPr>
              <a:spLocks noChangeShapeType="1"/>
            </p:cNvSpPr>
            <p:nvPr/>
          </p:nvSpPr>
          <p:spPr bwMode="auto">
            <a:xfrm>
              <a:off x="960" y="4032"/>
              <a:ext cx="374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7" name="Line 64"/>
            <p:cNvSpPr>
              <a:spLocks noChangeShapeType="1"/>
            </p:cNvSpPr>
            <p:nvPr/>
          </p:nvSpPr>
          <p:spPr bwMode="auto">
            <a:xfrm flipV="1">
              <a:off x="1200" y="3168"/>
              <a:ext cx="0" cy="100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8" name="Rectangle 65"/>
            <p:cNvSpPr>
              <a:spLocks noChangeArrowheads="1"/>
            </p:cNvSpPr>
            <p:nvPr/>
          </p:nvSpPr>
          <p:spPr bwMode="auto">
            <a:xfrm>
              <a:off x="1344" y="3600"/>
              <a:ext cx="144" cy="432"/>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59" name="Rectangle 66"/>
            <p:cNvSpPr>
              <a:spLocks noChangeArrowheads="1"/>
            </p:cNvSpPr>
            <p:nvPr/>
          </p:nvSpPr>
          <p:spPr bwMode="auto">
            <a:xfrm>
              <a:off x="1488" y="3312"/>
              <a:ext cx="144" cy="720"/>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60" name="Rectangle 67"/>
            <p:cNvSpPr>
              <a:spLocks noChangeArrowheads="1"/>
            </p:cNvSpPr>
            <p:nvPr/>
          </p:nvSpPr>
          <p:spPr bwMode="auto">
            <a:xfrm>
              <a:off x="1776" y="3696"/>
              <a:ext cx="144" cy="3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61" name="Rectangle 68"/>
            <p:cNvSpPr>
              <a:spLocks noChangeArrowheads="1"/>
            </p:cNvSpPr>
            <p:nvPr/>
          </p:nvSpPr>
          <p:spPr bwMode="auto">
            <a:xfrm>
              <a:off x="1920" y="3456"/>
              <a:ext cx="144" cy="576"/>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62" name="Rectangle 69"/>
            <p:cNvSpPr>
              <a:spLocks noChangeArrowheads="1"/>
            </p:cNvSpPr>
            <p:nvPr/>
          </p:nvSpPr>
          <p:spPr bwMode="auto">
            <a:xfrm>
              <a:off x="2208" y="3600"/>
              <a:ext cx="144" cy="432"/>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63" name="Rectangle 70"/>
            <p:cNvSpPr>
              <a:spLocks noChangeArrowheads="1"/>
            </p:cNvSpPr>
            <p:nvPr/>
          </p:nvSpPr>
          <p:spPr bwMode="auto">
            <a:xfrm>
              <a:off x="2352" y="3600"/>
              <a:ext cx="144" cy="432"/>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64" name="Rectangle 71"/>
            <p:cNvSpPr>
              <a:spLocks noChangeArrowheads="1"/>
            </p:cNvSpPr>
            <p:nvPr/>
          </p:nvSpPr>
          <p:spPr bwMode="auto">
            <a:xfrm>
              <a:off x="2640" y="3696"/>
              <a:ext cx="144" cy="3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65" name="Rectangle 72"/>
            <p:cNvSpPr>
              <a:spLocks noChangeArrowheads="1"/>
            </p:cNvSpPr>
            <p:nvPr/>
          </p:nvSpPr>
          <p:spPr bwMode="auto">
            <a:xfrm>
              <a:off x="2784" y="3600"/>
              <a:ext cx="144" cy="432"/>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66" name="Rectangle 73"/>
            <p:cNvSpPr>
              <a:spLocks noChangeArrowheads="1"/>
            </p:cNvSpPr>
            <p:nvPr/>
          </p:nvSpPr>
          <p:spPr bwMode="auto">
            <a:xfrm>
              <a:off x="3072" y="3120"/>
              <a:ext cx="144" cy="912"/>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67" name="Rectangle 74"/>
            <p:cNvSpPr>
              <a:spLocks noChangeArrowheads="1"/>
            </p:cNvSpPr>
            <p:nvPr/>
          </p:nvSpPr>
          <p:spPr bwMode="auto">
            <a:xfrm>
              <a:off x="3216" y="3648"/>
              <a:ext cx="144" cy="38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68" name="Rectangle 75"/>
            <p:cNvSpPr>
              <a:spLocks noChangeArrowheads="1"/>
            </p:cNvSpPr>
            <p:nvPr/>
          </p:nvSpPr>
          <p:spPr bwMode="auto">
            <a:xfrm>
              <a:off x="3504" y="3120"/>
              <a:ext cx="144" cy="912"/>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69" name="Rectangle 76"/>
            <p:cNvSpPr>
              <a:spLocks noChangeArrowheads="1"/>
            </p:cNvSpPr>
            <p:nvPr/>
          </p:nvSpPr>
          <p:spPr bwMode="auto">
            <a:xfrm>
              <a:off x="3648" y="3408"/>
              <a:ext cx="144" cy="62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70" name="Rectangle 77"/>
            <p:cNvSpPr>
              <a:spLocks noChangeArrowheads="1"/>
            </p:cNvSpPr>
            <p:nvPr/>
          </p:nvSpPr>
          <p:spPr bwMode="auto">
            <a:xfrm>
              <a:off x="3936" y="3120"/>
              <a:ext cx="144" cy="912"/>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5871" name="Rectangle 78"/>
            <p:cNvSpPr>
              <a:spLocks noChangeArrowheads="1"/>
            </p:cNvSpPr>
            <p:nvPr/>
          </p:nvSpPr>
          <p:spPr bwMode="auto">
            <a:xfrm>
              <a:off x="4080" y="3264"/>
              <a:ext cx="144" cy="768"/>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6690" name="Group 82"/>
          <p:cNvGrpSpPr>
            <a:grpSpLocks/>
          </p:cNvGrpSpPr>
          <p:nvPr/>
        </p:nvGrpSpPr>
        <p:grpSpPr bwMode="auto">
          <a:xfrm>
            <a:off x="1066800" y="3886200"/>
            <a:ext cx="8077200" cy="990600"/>
            <a:chOff x="672" y="2448"/>
            <a:chExt cx="5088" cy="624"/>
          </a:xfrm>
        </p:grpSpPr>
        <p:sp>
          <p:nvSpPr>
            <p:cNvPr id="35852" name="Text Box 61"/>
            <p:cNvSpPr txBox="1">
              <a:spLocks noChangeArrowheads="1"/>
            </p:cNvSpPr>
            <p:nvPr/>
          </p:nvSpPr>
          <p:spPr bwMode="auto">
            <a:xfrm>
              <a:off x="720" y="2448"/>
              <a:ext cx="50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CPU</a:t>
              </a:r>
              <a:r>
                <a:rPr lang="zh-CN" altLang="en-US" sz="2400"/>
                <a:t>区间</a:t>
              </a:r>
              <a:r>
                <a:rPr lang="en-US" altLang="zh-CN" sz="2400"/>
                <a:t>(t</a:t>
              </a:r>
              <a:r>
                <a:rPr lang="en-US" altLang="zh-CN" sz="2400" baseline="-25000"/>
                <a:t>i</a:t>
              </a:r>
              <a:r>
                <a:rPr lang="en-US" altLang="zh-CN" sz="2400"/>
                <a:t>):          6     4     6     4    13    13     13</a:t>
              </a:r>
            </a:p>
          </p:txBody>
        </p:sp>
        <p:sp>
          <p:nvSpPr>
            <p:cNvPr id="35853" name="Text Box 62"/>
            <p:cNvSpPr txBox="1">
              <a:spLocks noChangeArrowheads="1"/>
            </p:cNvSpPr>
            <p:nvPr/>
          </p:nvSpPr>
          <p:spPr bwMode="auto">
            <a:xfrm>
              <a:off x="720" y="2784"/>
              <a:ext cx="50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预测结果</a:t>
              </a:r>
              <a:r>
                <a:rPr lang="en-US" altLang="zh-CN" sz="2400"/>
                <a:t>(</a:t>
              </a:r>
              <a:r>
                <a:rPr lang="en-US" altLang="zh-CN" sz="2400">
                  <a:sym typeface="Symbol" panose="05050102010706020507" pitchFamily="18" charset="2"/>
                </a:rPr>
                <a:t></a:t>
              </a:r>
              <a:r>
                <a:rPr lang="en-US" altLang="zh-CN" sz="2400" baseline="-25000"/>
                <a:t>i</a:t>
              </a:r>
              <a:r>
                <a:rPr lang="en-US" altLang="zh-CN" sz="2400"/>
                <a:t>):         10     8     6     6     5      9      11     12</a:t>
              </a:r>
            </a:p>
          </p:txBody>
        </p:sp>
        <p:sp>
          <p:nvSpPr>
            <p:cNvPr id="35854" name="Line 80"/>
            <p:cNvSpPr>
              <a:spLocks noChangeShapeType="1"/>
            </p:cNvSpPr>
            <p:nvPr/>
          </p:nvSpPr>
          <p:spPr bwMode="auto">
            <a:xfrm>
              <a:off x="672" y="2775"/>
              <a:ext cx="48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5" name="Line 81"/>
            <p:cNvSpPr>
              <a:spLocks noChangeShapeType="1"/>
            </p:cNvSpPr>
            <p:nvPr/>
          </p:nvSpPr>
          <p:spPr bwMode="auto">
            <a:xfrm flipV="1">
              <a:off x="2112" y="2496"/>
              <a:ext cx="0" cy="5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96691" name="AutoShape 83"/>
          <p:cNvSpPr>
            <a:spLocks noChangeArrowheads="1"/>
          </p:cNvSpPr>
          <p:nvPr/>
        </p:nvSpPr>
        <p:spPr bwMode="auto">
          <a:xfrm rot="1636606">
            <a:off x="3951288" y="4159250"/>
            <a:ext cx="381000" cy="346075"/>
          </a:xfrm>
          <a:prstGeom prst="notchedRightArrow">
            <a:avLst>
              <a:gd name="adj1" fmla="val 41231"/>
              <a:gd name="adj2" fmla="val 50234"/>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96692" name="AutoShape 84"/>
          <p:cNvSpPr>
            <a:spLocks noChangeArrowheads="1"/>
          </p:cNvSpPr>
          <p:nvPr/>
        </p:nvSpPr>
        <p:spPr bwMode="auto">
          <a:xfrm rot="1636606">
            <a:off x="5791200" y="4156075"/>
            <a:ext cx="381000" cy="346075"/>
          </a:xfrm>
          <a:prstGeom prst="notchedRightArrow">
            <a:avLst>
              <a:gd name="adj1" fmla="val 41231"/>
              <a:gd name="adj2" fmla="val 50234"/>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96693" name="AutoShape 85"/>
          <p:cNvSpPr>
            <a:spLocks noChangeArrowheads="1"/>
          </p:cNvSpPr>
          <p:nvPr/>
        </p:nvSpPr>
        <p:spPr bwMode="auto">
          <a:xfrm rot="1636606">
            <a:off x="7848600" y="4191000"/>
            <a:ext cx="381000" cy="346075"/>
          </a:xfrm>
          <a:prstGeom prst="notchedRightArrow">
            <a:avLst>
              <a:gd name="adj1" fmla="val 41231"/>
              <a:gd name="adj2" fmla="val 50234"/>
            </a:avLst>
          </a:prstGeom>
          <a:noFill/>
          <a:ln w="9525"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6661">
                                            <p:txEl>
                                              <p:pRg st="0" end="0"/>
                                            </p:txEl>
                                          </p:spTgt>
                                        </p:tgtEl>
                                        <p:attrNameLst>
                                          <p:attrName>style.visibility</p:attrName>
                                        </p:attrNameLst>
                                      </p:cBhvr>
                                      <p:to>
                                        <p:strVal val="visible"/>
                                      </p:to>
                                    </p:set>
                                    <p:animEffect transition="in" filter="dissolve">
                                      <p:cBhvr>
                                        <p:cTn id="7" dur="500"/>
                                        <p:tgtEl>
                                          <p:spTgt spid="19666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6613"/>
                                        </p:tgtEl>
                                        <p:attrNameLst>
                                          <p:attrName>style.visibility</p:attrName>
                                        </p:attrNameLst>
                                      </p:cBhvr>
                                      <p:to>
                                        <p:strVal val="visible"/>
                                      </p:to>
                                    </p:set>
                                    <p:animEffect transition="in" filter="dissolve">
                                      <p:cBhvr>
                                        <p:cTn id="12" dur="500"/>
                                        <p:tgtEl>
                                          <p:spTgt spid="1966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96668"/>
                                        </p:tgtEl>
                                        <p:attrNameLst>
                                          <p:attrName>style.visibility</p:attrName>
                                        </p:attrNameLst>
                                      </p:cBhvr>
                                      <p:to>
                                        <p:strVal val="visible"/>
                                      </p:to>
                                    </p:set>
                                    <p:animEffect transition="in" filter="dissolve">
                                      <p:cBhvr>
                                        <p:cTn id="17" dur="500"/>
                                        <p:tgtEl>
                                          <p:spTgt spid="1966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96667"/>
                                        </p:tgtEl>
                                        <p:attrNameLst>
                                          <p:attrName>style.visibility</p:attrName>
                                        </p:attrNameLst>
                                      </p:cBhvr>
                                      <p:to>
                                        <p:strVal val="visible"/>
                                      </p:to>
                                    </p:set>
                                    <p:animEffect transition="in" filter="dissolve">
                                      <p:cBhvr>
                                        <p:cTn id="22" dur="500"/>
                                        <p:tgtEl>
                                          <p:spTgt spid="1966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96690"/>
                                        </p:tgtEl>
                                        <p:attrNameLst>
                                          <p:attrName>style.visibility</p:attrName>
                                        </p:attrNameLst>
                                      </p:cBhvr>
                                      <p:to>
                                        <p:strVal val="visible"/>
                                      </p:to>
                                    </p:set>
                                    <p:animEffect transition="in" filter="dissolve">
                                      <p:cBhvr>
                                        <p:cTn id="27" dur="500"/>
                                        <p:tgtEl>
                                          <p:spTgt spid="1966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96687"/>
                                        </p:tgtEl>
                                        <p:attrNameLst>
                                          <p:attrName>style.visibility</p:attrName>
                                        </p:attrNameLst>
                                      </p:cBhvr>
                                      <p:to>
                                        <p:strVal val="visible"/>
                                      </p:to>
                                    </p:set>
                                    <p:animEffect transition="in" filter="dissolve">
                                      <p:cBhvr>
                                        <p:cTn id="32" dur="500"/>
                                        <p:tgtEl>
                                          <p:spTgt spid="196687"/>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96691"/>
                                        </p:tgtEl>
                                        <p:attrNameLst>
                                          <p:attrName>style.visibility</p:attrName>
                                        </p:attrNameLst>
                                      </p:cBhvr>
                                      <p:to>
                                        <p:strVal val="visible"/>
                                      </p:to>
                                    </p:set>
                                    <p:animEffect transition="in" filter="wipe(left)">
                                      <p:cBhvr>
                                        <p:cTn id="36" dur="500"/>
                                        <p:tgtEl>
                                          <p:spTgt spid="196691"/>
                                        </p:tgtEl>
                                      </p:cBhvr>
                                    </p:animEffect>
                                  </p:childTnLst>
                                </p:cTn>
                              </p:par>
                            </p:childTnLst>
                          </p:cTn>
                        </p:par>
                        <p:par>
                          <p:cTn id="37" fill="hold" nodeType="afterGroup">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196692"/>
                                        </p:tgtEl>
                                        <p:attrNameLst>
                                          <p:attrName>style.visibility</p:attrName>
                                        </p:attrNameLst>
                                      </p:cBhvr>
                                      <p:to>
                                        <p:strVal val="visible"/>
                                      </p:to>
                                    </p:set>
                                    <p:animEffect transition="in" filter="wipe(left)">
                                      <p:cBhvr>
                                        <p:cTn id="40" dur="500"/>
                                        <p:tgtEl>
                                          <p:spTgt spid="196692"/>
                                        </p:tgtEl>
                                      </p:cBhvr>
                                    </p:animEffect>
                                  </p:childTnLst>
                                </p:cTn>
                              </p:par>
                            </p:childTnLst>
                          </p:cTn>
                        </p:par>
                        <p:par>
                          <p:cTn id="41" fill="hold" nodeType="afterGroup">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196693"/>
                                        </p:tgtEl>
                                        <p:attrNameLst>
                                          <p:attrName>style.visibility</p:attrName>
                                        </p:attrNameLst>
                                      </p:cBhvr>
                                      <p:to>
                                        <p:strVal val="visible"/>
                                      </p:to>
                                    </p:set>
                                    <p:animEffect transition="in" filter="wipe(left)">
                                      <p:cBhvr>
                                        <p:cTn id="44" dur="500"/>
                                        <p:tgtEl>
                                          <p:spTgt spid="196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3" grpId="0"/>
      <p:bldP spid="196661" grpId="0" build="p"/>
      <p:bldP spid="196691" grpId="0" animBg="1"/>
      <p:bldP spid="196692" grpId="0" animBg="1"/>
      <p:bldP spid="19669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0" y="304800"/>
            <a:ext cx="9144000" cy="676275"/>
          </a:xfrm>
        </p:spPr>
        <p:txBody>
          <a:bodyPr/>
          <a:lstStyle/>
          <a:p>
            <a:pPr eaLnBrk="1" hangingPunct="1"/>
            <a:r>
              <a:rPr lang="zh-CN" altLang="en-US" smtClean="0">
                <a:sym typeface="Symbol" panose="05050102010706020507" pitchFamily="18" charset="2"/>
              </a:rPr>
              <a:t>（</a:t>
            </a:r>
            <a:r>
              <a:rPr lang="en-US" altLang="zh-CN" smtClean="0">
                <a:sym typeface="Symbol" panose="05050102010706020507" pitchFamily="18" charset="2"/>
              </a:rPr>
              <a:t>3</a:t>
            </a:r>
            <a:r>
              <a:rPr lang="zh-CN" altLang="en-US" smtClean="0">
                <a:sym typeface="Symbol" panose="05050102010706020507" pitchFamily="18" charset="2"/>
              </a:rPr>
              <a:t>）</a:t>
            </a:r>
            <a:r>
              <a:rPr lang="en-US" altLang="zh-CN" smtClean="0">
                <a:sym typeface="Symbol" panose="05050102010706020507" pitchFamily="18" charset="2"/>
              </a:rPr>
              <a:t>SJF</a:t>
            </a:r>
            <a:r>
              <a:rPr lang="zh-CN" altLang="en-US" smtClean="0">
                <a:sym typeface="Symbol" panose="05050102010706020507" pitchFamily="18" charset="2"/>
              </a:rPr>
              <a:t>的一般化</a:t>
            </a:r>
            <a:r>
              <a:rPr lang="en-US" altLang="zh-CN" smtClean="0">
                <a:sym typeface="Symbol" panose="05050102010706020507" pitchFamily="18" charset="2"/>
              </a:rPr>
              <a:t>: </a:t>
            </a:r>
            <a:r>
              <a:rPr lang="zh-CN" altLang="en-US" smtClean="0">
                <a:sym typeface="Symbol" panose="05050102010706020507" pitchFamily="18" charset="2"/>
              </a:rPr>
              <a:t>优先权调度</a:t>
            </a:r>
          </a:p>
        </p:txBody>
      </p:sp>
      <p:sp>
        <p:nvSpPr>
          <p:cNvPr id="203779" name="Rectangle 3"/>
          <p:cNvSpPr>
            <a:spLocks noChangeArrowheads="1"/>
          </p:cNvSpPr>
          <p:nvPr/>
        </p:nvSpPr>
        <p:spPr bwMode="auto">
          <a:xfrm>
            <a:off x="685800" y="1268413"/>
            <a:ext cx="84582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solidFill>
                  <a:srgbClr val="FF0000"/>
                </a:solidFill>
              </a:rPr>
              <a:t>每个任务关联一个优先权，调度优先权最高的任务</a:t>
            </a:r>
          </a:p>
        </p:txBody>
      </p:sp>
      <p:grpSp>
        <p:nvGrpSpPr>
          <p:cNvPr id="203781" name="Group 5"/>
          <p:cNvGrpSpPr>
            <a:grpSpLocks/>
          </p:cNvGrpSpPr>
          <p:nvPr/>
        </p:nvGrpSpPr>
        <p:grpSpPr bwMode="auto">
          <a:xfrm>
            <a:off x="914400" y="2032000"/>
            <a:ext cx="7932738" cy="1625600"/>
            <a:chOff x="576" y="2208"/>
            <a:chExt cx="4997" cy="1024"/>
          </a:xfrm>
        </p:grpSpPr>
        <p:sp>
          <p:nvSpPr>
            <p:cNvPr id="37913" name="Rectangle 6"/>
            <p:cNvSpPr>
              <a:spLocks noChangeArrowheads="1"/>
            </p:cNvSpPr>
            <p:nvPr/>
          </p:nvSpPr>
          <p:spPr bwMode="auto">
            <a:xfrm>
              <a:off x="576" y="2208"/>
              <a:ext cx="4997" cy="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dirty="0">
                  <a:solidFill>
                    <a:srgbClr val="FF0000"/>
                  </a:solidFill>
                </a:rPr>
                <a:t>实例</a:t>
              </a:r>
              <a:r>
                <a:rPr lang="en-US" altLang="zh-CN" sz="2400" dirty="0">
                  <a:solidFill>
                    <a:srgbClr val="FF0000"/>
                  </a:solidFill>
                </a:rPr>
                <a:t>1:</a:t>
              </a:r>
              <a:r>
                <a:rPr lang="en-US" altLang="zh-CN" sz="2400" dirty="0"/>
                <a:t> I/O bound</a:t>
              </a:r>
              <a:r>
                <a:rPr lang="zh-CN" altLang="en-US" sz="2400" dirty="0"/>
                <a:t>任务应获得更大的优先权，使得</a:t>
              </a:r>
              <a:r>
                <a:rPr lang="en-US" altLang="zh-CN" sz="2400" dirty="0"/>
                <a:t>I/O</a:t>
              </a:r>
              <a:r>
                <a:rPr lang="zh-CN" altLang="en-US" sz="2400" dirty="0"/>
                <a:t>尽量忙，并和</a:t>
              </a:r>
              <a:r>
                <a:rPr lang="en-US" altLang="zh-CN" sz="2400" dirty="0"/>
                <a:t>CPU</a:t>
              </a:r>
              <a:r>
                <a:rPr lang="zh-CN" altLang="en-US" sz="2400" dirty="0"/>
                <a:t>并行工作。优先级设为</a:t>
              </a:r>
              <a:r>
                <a:rPr lang="en-US" altLang="zh-CN" sz="2400" dirty="0"/>
                <a:t>1/f</a:t>
              </a:r>
              <a:r>
                <a:rPr lang="zh-CN" altLang="en-US" sz="2400" dirty="0"/>
                <a:t>，</a:t>
              </a:r>
              <a:r>
                <a:rPr lang="en-US" altLang="zh-CN" sz="2400" dirty="0"/>
                <a:t>f</a:t>
              </a:r>
              <a:r>
                <a:rPr lang="zh-CN" altLang="en-US" sz="2400" dirty="0"/>
                <a:t>为</a:t>
              </a:r>
              <a:r>
                <a:rPr lang="en-US" altLang="zh-CN" sz="2400" dirty="0"/>
                <a:t>CPU</a:t>
              </a:r>
              <a:r>
                <a:rPr lang="zh-CN" altLang="en-US" sz="2400" dirty="0"/>
                <a:t>区间所占的比重。</a:t>
              </a:r>
            </a:p>
          </p:txBody>
        </p:sp>
        <p:pic>
          <p:nvPicPr>
            <p:cNvPr id="37914" name="Picture 7"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 y="2366"/>
              <a:ext cx="12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3784" name="Group 8"/>
          <p:cNvGrpSpPr>
            <a:grpSpLocks/>
          </p:cNvGrpSpPr>
          <p:nvPr/>
        </p:nvGrpSpPr>
        <p:grpSpPr bwMode="auto">
          <a:xfrm>
            <a:off x="914400" y="3886200"/>
            <a:ext cx="4953000" cy="1625600"/>
            <a:chOff x="576" y="2322"/>
            <a:chExt cx="3120" cy="1024"/>
          </a:xfrm>
        </p:grpSpPr>
        <p:sp>
          <p:nvSpPr>
            <p:cNvPr id="37911" name="Rectangle 9"/>
            <p:cNvSpPr>
              <a:spLocks noChangeArrowheads="1"/>
            </p:cNvSpPr>
            <p:nvPr/>
          </p:nvSpPr>
          <p:spPr bwMode="auto">
            <a:xfrm>
              <a:off x="576" y="2322"/>
              <a:ext cx="3120" cy="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solidFill>
                    <a:srgbClr val="FF0000"/>
                  </a:solidFill>
                </a:rPr>
                <a:t>实例</a:t>
              </a:r>
              <a:r>
                <a:rPr lang="en-US" altLang="zh-CN" sz="2400">
                  <a:solidFill>
                    <a:srgbClr val="FF0000"/>
                  </a:solidFill>
                </a:rPr>
                <a:t>2:</a:t>
              </a:r>
              <a:r>
                <a:rPr lang="en-US" altLang="zh-CN" sz="2400"/>
                <a:t> </a:t>
              </a:r>
              <a:r>
                <a:rPr lang="zh-CN" altLang="en-US" sz="2400"/>
                <a:t>定义多个优先队列</a:t>
              </a:r>
              <a:r>
                <a:rPr lang="en-US" altLang="zh-CN" sz="2400"/>
                <a:t>: </a:t>
              </a:r>
              <a:r>
                <a:rPr lang="zh-CN" altLang="en-US" sz="2400"/>
                <a:t>前台任务、后台任务。只有高优先级队列为空时才调度其他任务。</a:t>
              </a:r>
            </a:p>
          </p:txBody>
        </p:sp>
        <p:pic>
          <p:nvPicPr>
            <p:cNvPr id="37912" name="Picture 10"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 y="2480"/>
              <a:ext cx="12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3787" name="Group 11"/>
          <p:cNvGrpSpPr>
            <a:grpSpLocks/>
          </p:cNvGrpSpPr>
          <p:nvPr/>
        </p:nvGrpSpPr>
        <p:grpSpPr bwMode="auto">
          <a:xfrm>
            <a:off x="5867400" y="4094163"/>
            <a:ext cx="3248025" cy="1620837"/>
            <a:chOff x="3696" y="2387"/>
            <a:chExt cx="2046" cy="1021"/>
          </a:xfrm>
        </p:grpSpPr>
        <p:sp>
          <p:nvSpPr>
            <p:cNvPr id="37895" name="Text Box 12"/>
            <p:cNvSpPr txBox="1">
              <a:spLocks noChangeArrowheads="1"/>
            </p:cNvSpPr>
            <p:nvPr/>
          </p:nvSpPr>
          <p:spPr bwMode="auto">
            <a:xfrm>
              <a:off x="3696" y="2640"/>
              <a:ext cx="816" cy="256"/>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000">
                  <a:solidFill>
                    <a:srgbClr val="FF0000"/>
                  </a:solidFill>
                </a:rPr>
                <a:t>优先级</a:t>
              </a:r>
              <a:r>
                <a:rPr lang="en-US" altLang="zh-CN" sz="2000">
                  <a:solidFill>
                    <a:srgbClr val="FF0000"/>
                  </a:solidFill>
                </a:rPr>
                <a:t>3</a:t>
              </a:r>
            </a:p>
          </p:txBody>
        </p:sp>
        <p:sp>
          <p:nvSpPr>
            <p:cNvPr id="37896" name="Text Box 13"/>
            <p:cNvSpPr txBox="1">
              <a:spLocks noChangeArrowheads="1"/>
            </p:cNvSpPr>
            <p:nvPr/>
          </p:nvSpPr>
          <p:spPr bwMode="auto">
            <a:xfrm>
              <a:off x="3696" y="2894"/>
              <a:ext cx="816" cy="256"/>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000">
                  <a:solidFill>
                    <a:srgbClr val="FF0000"/>
                  </a:solidFill>
                </a:rPr>
                <a:t>优先级</a:t>
              </a:r>
              <a:r>
                <a:rPr lang="en-US" altLang="zh-CN" sz="2000">
                  <a:solidFill>
                    <a:srgbClr val="FF0000"/>
                  </a:solidFill>
                </a:rPr>
                <a:t>2</a:t>
              </a:r>
            </a:p>
          </p:txBody>
        </p:sp>
        <p:sp>
          <p:nvSpPr>
            <p:cNvPr id="37897" name="Text Box 14"/>
            <p:cNvSpPr txBox="1">
              <a:spLocks noChangeArrowheads="1"/>
            </p:cNvSpPr>
            <p:nvPr/>
          </p:nvSpPr>
          <p:spPr bwMode="auto">
            <a:xfrm>
              <a:off x="3696" y="3152"/>
              <a:ext cx="816" cy="256"/>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000">
                  <a:solidFill>
                    <a:srgbClr val="FF0000"/>
                  </a:solidFill>
                </a:rPr>
                <a:t>优先级</a:t>
              </a:r>
              <a:r>
                <a:rPr lang="en-US" altLang="zh-CN" sz="2000">
                  <a:solidFill>
                    <a:srgbClr val="FF0000"/>
                  </a:solidFill>
                </a:rPr>
                <a:t>1</a:t>
              </a:r>
            </a:p>
          </p:txBody>
        </p:sp>
        <p:sp>
          <p:nvSpPr>
            <p:cNvPr id="37898" name="Text Box 15"/>
            <p:cNvSpPr txBox="1">
              <a:spLocks noChangeArrowheads="1"/>
            </p:cNvSpPr>
            <p:nvPr/>
          </p:nvSpPr>
          <p:spPr bwMode="auto">
            <a:xfrm>
              <a:off x="3696" y="2387"/>
              <a:ext cx="816" cy="256"/>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000">
                  <a:solidFill>
                    <a:srgbClr val="FF0000"/>
                  </a:solidFill>
                </a:rPr>
                <a:t>优先级</a:t>
              </a:r>
              <a:r>
                <a:rPr lang="en-US" altLang="zh-CN" sz="2000">
                  <a:solidFill>
                    <a:srgbClr val="FF0000"/>
                  </a:solidFill>
                </a:rPr>
                <a:t>4</a:t>
              </a:r>
            </a:p>
          </p:txBody>
        </p:sp>
        <p:sp>
          <p:nvSpPr>
            <p:cNvPr id="37899" name="Rectangle 16"/>
            <p:cNvSpPr>
              <a:spLocks noChangeArrowheads="1"/>
            </p:cNvSpPr>
            <p:nvPr/>
          </p:nvSpPr>
          <p:spPr bwMode="auto">
            <a:xfrm>
              <a:off x="4686" y="2400"/>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900" name="Rectangle 17"/>
            <p:cNvSpPr>
              <a:spLocks noChangeArrowheads="1"/>
            </p:cNvSpPr>
            <p:nvPr/>
          </p:nvSpPr>
          <p:spPr bwMode="auto">
            <a:xfrm>
              <a:off x="5100" y="2400"/>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901" name="Rectangle 18"/>
            <p:cNvSpPr>
              <a:spLocks noChangeArrowheads="1"/>
            </p:cNvSpPr>
            <p:nvPr/>
          </p:nvSpPr>
          <p:spPr bwMode="auto">
            <a:xfrm>
              <a:off x="4686" y="2679"/>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902" name="Rectangle 19"/>
            <p:cNvSpPr>
              <a:spLocks noChangeArrowheads="1"/>
            </p:cNvSpPr>
            <p:nvPr/>
          </p:nvSpPr>
          <p:spPr bwMode="auto">
            <a:xfrm>
              <a:off x="5100" y="2679"/>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903" name="Rectangle 20"/>
            <p:cNvSpPr>
              <a:spLocks noChangeArrowheads="1"/>
            </p:cNvSpPr>
            <p:nvPr/>
          </p:nvSpPr>
          <p:spPr bwMode="auto">
            <a:xfrm>
              <a:off x="5502" y="2679"/>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904" name="Rectangle 21"/>
            <p:cNvSpPr>
              <a:spLocks noChangeArrowheads="1"/>
            </p:cNvSpPr>
            <p:nvPr/>
          </p:nvSpPr>
          <p:spPr bwMode="auto">
            <a:xfrm>
              <a:off x="4686" y="2937"/>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905" name="Line 22"/>
            <p:cNvSpPr>
              <a:spLocks noChangeShapeType="1"/>
            </p:cNvSpPr>
            <p:nvPr/>
          </p:nvSpPr>
          <p:spPr bwMode="auto">
            <a:xfrm>
              <a:off x="4464" y="2496"/>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06" name="Line 23"/>
            <p:cNvSpPr>
              <a:spLocks noChangeShapeType="1"/>
            </p:cNvSpPr>
            <p:nvPr/>
          </p:nvSpPr>
          <p:spPr bwMode="auto">
            <a:xfrm>
              <a:off x="4857" y="2496"/>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07" name="Line 24"/>
            <p:cNvSpPr>
              <a:spLocks noChangeShapeType="1"/>
            </p:cNvSpPr>
            <p:nvPr/>
          </p:nvSpPr>
          <p:spPr bwMode="auto">
            <a:xfrm>
              <a:off x="4455" y="2775"/>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08" name="Line 25"/>
            <p:cNvSpPr>
              <a:spLocks noChangeShapeType="1"/>
            </p:cNvSpPr>
            <p:nvPr/>
          </p:nvSpPr>
          <p:spPr bwMode="auto">
            <a:xfrm>
              <a:off x="4455" y="3036"/>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09" name="Line 26"/>
            <p:cNvSpPr>
              <a:spLocks noChangeShapeType="1"/>
            </p:cNvSpPr>
            <p:nvPr/>
          </p:nvSpPr>
          <p:spPr bwMode="auto">
            <a:xfrm>
              <a:off x="4857" y="2775"/>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910" name="Line 27"/>
            <p:cNvSpPr>
              <a:spLocks noChangeShapeType="1"/>
            </p:cNvSpPr>
            <p:nvPr/>
          </p:nvSpPr>
          <p:spPr bwMode="auto">
            <a:xfrm>
              <a:off x="5271" y="2772"/>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3779">
                                            <p:txEl>
                                              <p:pRg st="0" end="0"/>
                                            </p:txEl>
                                          </p:spTgt>
                                        </p:tgtEl>
                                        <p:attrNameLst>
                                          <p:attrName>style.visibility</p:attrName>
                                        </p:attrNameLst>
                                      </p:cBhvr>
                                      <p:to>
                                        <p:strVal val="visible"/>
                                      </p:to>
                                    </p:set>
                                    <p:animEffect transition="in" filter="dissolve">
                                      <p:cBhvr>
                                        <p:cTn id="7" dur="500"/>
                                        <p:tgtEl>
                                          <p:spTgt spid="2037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03781"/>
                                        </p:tgtEl>
                                        <p:attrNameLst>
                                          <p:attrName>style.visibility</p:attrName>
                                        </p:attrNameLst>
                                      </p:cBhvr>
                                      <p:to>
                                        <p:strVal val="visible"/>
                                      </p:to>
                                    </p:set>
                                    <p:animEffect transition="in" filter="dissolve">
                                      <p:cBhvr>
                                        <p:cTn id="12" dur="500"/>
                                        <p:tgtEl>
                                          <p:spTgt spid="2037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03784"/>
                                        </p:tgtEl>
                                        <p:attrNameLst>
                                          <p:attrName>style.visibility</p:attrName>
                                        </p:attrNameLst>
                                      </p:cBhvr>
                                      <p:to>
                                        <p:strVal val="visible"/>
                                      </p:to>
                                    </p:set>
                                    <p:animEffect transition="in" filter="dissolve">
                                      <p:cBhvr>
                                        <p:cTn id="17" dur="500"/>
                                        <p:tgtEl>
                                          <p:spTgt spid="2037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03787"/>
                                        </p:tgtEl>
                                        <p:attrNameLst>
                                          <p:attrName>style.visibility</p:attrName>
                                        </p:attrNameLst>
                                      </p:cBhvr>
                                      <p:to>
                                        <p:strVal val="visible"/>
                                      </p:to>
                                    </p:set>
                                    <p:animEffect transition="in" filter="dissolve">
                                      <p:cBhvr>
                                        <p:cTn id="22" dur="500"/>
                                        <p:tgtEl>
                                          <p:spTgt spid="203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381000" y="304800"/>
            <a:ext cx="8763000" cy="676275"/>
          </a:xfrm>
        </p:spPr>
        <p:txBody>
          <a:bodyPr/>
          <a:lstStyle/>
          <a:p>
            <a:pPr eaLnBrk="1" hangingPunct="1"/>
            <a:r>
              <a:rPr lang="zh-CN" altLang="en-US" smtClean="0">
                <a:sym typeface="Symbol" panose="05050102010706020507" pitchFamily="18" charset="2"/>
              </a:rPr>
              <a:t>优先权调度引起的一个有趣问题</a:t>
            </a:r>
          </a:p>
        </p:txBody>
      </p:sp>
      <p:sp>
        <p:nvSpPr>
          <p:cNvPr id="195635" name="Rectangle 51"/>
          <p:cNvSpPr>
            <a:spLocks noChangeArrowheads="1"/>
          </p:cNvSpPr>
          <p:nvPr/>
        </p:nvSpPr>
        <p:spPr bwMode="auto">
          <a:xfrm>
            <a:off x="685800" y="1273175"/>
            <a:ext cx="84582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solidFill>
                  <a:srgbClr val="FF0000"/>
                </a:solidFill>
              </a:rPr>
              <a:t>优先权太低的任务一直就绪，得不到运行</a:t>
            </a:r>
            <a:r>
              <a:rPr lang="en-US" altLang="zh-CN">
                <a:solidFill>
                  <a:srgbClr val="FF0000"/>
                </a:solidFill>
              </a:rPr>
              <a:t>: </a:t>
            </a:r>
            <a:r>
              <a:rPr lang="zh-CN" altLang="en-US">
                <a:solidFill>
                  <a:srgbClr val="FF0000"/>
                </a:solidFill>
              </a:rPr>
              <a:t>饥饿</a:t>
            </a:r>
          </a:p>
        </p:txBody>
      </p:sp>
      <p:sp>
        <p:nvSpPr>
          <p:cNvPr id="195637" name="Rectangle 53"/>
          <p:cNvSpPr>
            <a:spLocks noChangeArrowheads="1"/>
          </p:cNvSpPr>
          <p:nvPr/>
        </p:nvSpPr>
        <p:spPr bwMode="auto">
          <a:xfrm>
            <a:off x="685800" y="5307013"/>
            <a:ext cx="8229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dirty="0" err="1">
                <a:solidFill>
                  <a:srgbClr val="000099"/>
                </a:solidFill>
              </a:rPr>
              <a:t>FCFS</a:t>
            </a:r>
            <a:r>
              <a:rPr lang="zh-CN" altLang="en-US" dirty="0">
                <a:solidFill>
                  <a:srgbClr val="000099"/>
                </a:solidFill>
              </a:rPr>
              <a:t>是</a:t>
            </a:r>
            <a:r>
              <a:rPr lang="en-US" altLang="zh-CN" dirty="0">
                <a:solidFill>
                  <a:srgbClr val="000099"/>
                </a:solidFill>
              </a:rPr>
              <a:t>RR</a:t>
            </a:r>
            <a:r>
              <a:rPr lang="zh-CN" altLang="en-US" dirty="0">
                <a:solidFill>
                  <a:srgbClr val="000099"/>
                </a:solidFill>
              </a:rPr>
              <a:t>的特例，</a:t>
            </a:r>
            <a:r>
              <a:rPr lang="en-US" altLang="zh-CN" dirty="0" err="1">
                <a:solidFill>
                  <a:srgbClr val="000099"/>
                </a:solidFill>
              </a:rPr>
              <a:t>SJF</a:t>
            </a:r>
            <a:r>
              <a:rPr lang="zh-CN" altLang="en-US" dirty="0">
                <a:solidFill>
                  <a:srgbClr val="000099"/>
                </a:solidFill>
              </a:rPr>
              <a:t>是优先权调度的特例。这些调度算法都不适合于交互式系统。</a:t>
            </a:r>
          </a:p>
        </p:txBody>
      </p:sp>
      <p:grpSp>
        <p:nvGrpSpPr>
          <p:cNvPr id="195638" name="Group 54"/>
          <p:cNvGrpSpPr>
            <a:grpSpLocks/>
          </p:cNvGrpSpPr>
          <p:nvPr/>
        </p:nvGrpSpPr>
        <p:grpSpPr bwMode="auto">
          <a:xfrm>
            <a:off x="914400" y="1933575"/>
            <a:ext cx="7932738" cy="1114425"/>
            <a:chOff x="576" y="2208"/>
            <a:chExt cx="4997" cy="702"/>
          </a:xfrm>
        </p:grpSpPr>
        <p:sp>
          <p:nvSpPr>
            <p:cNvPr id="38924" name="Rectangle 55"/>
            <p:cNvSpPr>
              <a:spLocks noChangeArrowheads="1"/>
            </p:cNvSpPr>
            <p:nvPr/>
          </p:nvSpPr>
          <p:spPr bwMode="auto">
            <a:xfrm>
              <a:off x="576" y="2208"/>
              <a:ext cx="4997"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dirty="0">
                  <a:solidFill>
                    <a:srgbClr val="FF0000"/>
                  </a:solidFill>
                </a:rPr>
                <a:t>一个有趣故事</a:t>
              </a:r>
              <a:r>
                <a:rPr lang="en-US" altLang="zh-CN" sz="2400" dirty="0">
                  <a:solidFill>
                    <a:srgbClr val="FF0000"/>
                  </a:solidFill>
                </a:rPr>
                <a:t>:</a:t>
              </a:r>
              <a:r>
                <a:rPr lang="en-US" altLang="zh-CN" sz="2400" dirty="0"/>
                <a:t> 1973</a:t>
              </a:r>
              <a:r>
                <a:rPr lang="zh-CN" altLang="en-US" sz="2400" dirty="0"/>
                <a:t>年关闭的</a:t>
              </a:r>
              <a:r>
                <a:rPr lang="en-US" altLang="zh-CN" sz="2400" dirty="0"/>
                <a:t>MIT</a:t>
              </a:r>
              <a:r>
                <a:rPr lang="zh-CN" altLang="en-US" sz="2400" dirty="0"/>
                <a:t>的</a:t>
              </a:r>
              <a:r>
                <a:rPr lang="en-US" altLang="zh-CN" sz="2400" dirty="0"/>
                <a:t>IBM 7094</a:t>
              </a:r>
              <a:r>
                <a:rPr lang="zh-CN" altLang="en-US" sz="2400" dirty="0"/>
                <a:t>时，发现有一个进程在</a:t>
              </a:r>
              <a:r>
                <a:rPr lang="en-US" altLang="zh-CN" sz="2400" dirty="0"/>
                <a:t>1967</a:t>
              </a:r>
              <a:r>
                <a:rPr lang="zh-CN" altLang="en-US" sz="2400" dirty="0"/>
                <a:t>年提交但一直未运行。</a:t>
              </a:r>
            </a:p>
          </p:txBody>
        </p:sp>
        <p:pic>
          <p:nvPicPr>
            <p:cNvPr id="38925" name="Picture 56"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 y="2366"/>
              <a:ext cx="12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5664" name="Group 80"/>
          <p:cNvGrpSpPr>
            <a:grpSpLocks/>
          </p:cNvGrpSpPr>
          <p:nvPr/>
        </p:nvGrpSpPr>
        <p:grpSpPr bwMode="auto">
          <a:xfrm>
            <a:off x="914400" y="3076575"/>
            <a:ext cx="7932738" cy="603250"/>
            <a:chOff x="576" y="2208"/>
            <a:chExt cx="4997" cy="380"/>
          </a:xfrm>
        </p:grpSpPr>
        <p:sp>
          <p:nvSpPr>
            <p:cNvPr id="38922" name="Rectangle 81"/>
            <p:cNvSpPr>
              <a:spLocks noChangeArrowheads="1"/>
            </p:cNvSpPr>
            <p:nvPr/>
          </p:nvSpPr>
          <p:spPr bwMode="auto">
            <a:xfrm>
              <a:off x="576" y="2208"/>
              <a:ext cx="4997"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solidFill>
                    <a:srgbClr val="FF0000"/>
                  </a:solidFill>
                </a:rPr>
                <a:t>处理办法</a:t>
              </a:r>
              <a:r>
                <a:rPr lang="en-US" altLang="zh-CN" sz="2400">
                  <a:solidFill>
                    <a:srgbClr val="FF0000"/>
                  </a:solidFill>
                </a:rPr>
                <a:t>:</a:t>
              </a:r>
              <a:r>
                <a:rPr lang="en-US" altLang="zh-CN" sz="2400"/>
                <a:t> </a:t>
              </a:r>
              <a:r>
                <a:rPr lang="zh-CN" altLang="en-US" sz="2400"/>
                <a:t>优先级动态调整。</a:t>
              </a:r>
            </a:p>
          </p:txBody>
        </p:sp>
        <p:pic>
          <p:nvPicPr>
            <p:cNvPr id="38923" name="Picture 82"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 y="2366"/>
              <a:ext cx="12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95667" name="Group 83"/>
          <p:cNvGrpSpPr>
            <a:grpSpLocks/>
          </p:cNvGrpSpPr>
          <p:nvPr/>
        </p:nvGrpSpPr>
        <p:grpSpPr bwMode="auto">
          <a:xfrm>
            <a:off x="914400" y="3892550"/>
            <a:ext cx="7932738" cy="1114425"/>
            <a:chOff x="576" y="2208"/>
            <a:chExt cx="4997" cy="702"/>
          </a:xfrm>
        </p:grpSpPr>
        <p:sp>
          <p:nvSpPr>
            <p:cNvPr id="38920" name="Rectangle 84"/>
            <p:cNvSpPr>
              <a:spLocks noChangeArrowheads="1"/>
            </p:cNvSpPr>
            <p:nvPr/>
          </p:nvSpPr>
          <p:spPr bwMode="auto">
            <a:xfrm>
              <a:off x="576" y="2208"/>
              <a:ext cx="4997" cy="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solidFill>
                    <a:srgbClr val="FF0000"/>
                  </a:solidFill>
                </a:rPr>
                <a:t>最常见的方法是“老化”</a:t>
              </a:r>
              <a:r>
                <a:rPr lang="en-US" altLang="zh-CN" sz="2400">
                  <a:solidFill>
                    <a:srgbClr val="FF0000"/>
                  </a:solidFill>
                </a:rPr>
                <a:t>(aging)</a:t>
              </a:r>
              <a:r>
                <a:rPr lang="zh-CN" altLang="en-US" sz="2400">
                  <a:solidFill>
                    <a:srgbClr val="FF0000"/>
                  </a:solidFill>
                </a:rPr>
                <a:t>技术</a:t>
              </a:r>
              <a:r>
                <a:rPr lang="en-US" altLang="zh-CN" sz="2400">
                  <a:solidFill>
                    <a:srgbClr val="FF0000"/>
                  </a:solidFill>
                </a:rPr>
                <a:t>:</a:t>
              </a:r>
              <a:r>
                <a:rPr lang="en-US" altLang="zh-CN" sz="2400"/>
                <a:t> </a:t>
              </a:r>
              <a:r>
                <a:rPr lang="zh-CN" altLang="en-US" sz="2400"/>
                <a:t>任务的优先级会随等待时间增长而不断增高。</a:t>
              </a:r>
            </a:p>
          </p:txBody>
        </p:sp>
        <p:pic>
          <p:nvPicPr>
            <p:cNvPr id="38921" name="Picture 85"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 y="2366"/>
              <a:ext cx="12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5635">
                                            <p:txEl>
                                              <p:pRg st="0" end="0"/>
                                            </p:txEl>
                                          </p:spTgt>
                                        </p:tgtEl>
                                        <p:attrNameLst>
                                          <p:attrName>style.visibility</p:attrName>
                                        </p:attrNameLst>
                                      </p:cBhvr>
                                      <p:to>
                                        <p:strVal val="visible"/>
                                      </p:to>
                                    </p:set>
                                    <p:animEffect transition="in" filter="dissolve">
                                      <p:cBhvr>
                                        <p:cTn id="7" dur="500"/>
                                        <p:tgtEl>
                                          <p:spTgt spid="1956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95638"/>
                                        </p:tgtEl>
                                        <p:attrNameLst>
                                          <p:attrName>style.visibility</p:attrName>
                                        </p:attrNameLst>
                                      </p:cBhvr>
                                      <p:to>
                                        <p:strVal val="visible"/>
                                      </p:to>
                                    </p:set>
                                    <p:animEffect transition="in" filter="dissolve">
                                      <p:cBhvr>
                                        <p:cTn id="12" dur="500"/>
                                        <p:tgtEl>
                                          <p:spTgt spid="1956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95664"/>
                                        </p:tgtEl>
                                        <p:attrNameLst>
                                          <p:attrName>style.visibility</p:attrName>
                                        </p:attrNameLst>
                                      </p:cBhvr>
                                      <p:to>
                                        <p:strVal val="visible"/>
                                      </p:to>
                                    </p:set>
                                    <p:animEffect transition="in" filter="dissolve">
                                      <p:cBhvr>
                                        <p:cTn id="17" dur="500"/>
                                        <p:tgtEl>
                                          <p:spTgt spid="1956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95667"/>
                                        </p:tgtEl>
                                        <p:attrNameLst>
                                          <p:attrName>style.visibility</p:attrName>
                                        </p:attrNameLst>
                                      </p:cBhvr>
                                      <p:to>
                                        <p:strVal val="visible"/>
                                      </p:to>
                                    </p:set>
                                    <p:animEffect transition="in" filter="dissolve">
                                      <p:cBhvr>
                                        <p:cTn id="22" dur="500"/>
                                        <p:tgtEl>
                                          <p:spTgt spid="1956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5637">
                                            <p:txEl>
                                              <p:pRg st="0" end="0"/>
                                            </p:txEl>
                                          </p:spTgt>
                                        </p:tgtEl>
                                        <p:attrNameLst>
                                          <p:attrName>style.visibility</p:attrName>
                                        </p:attrNameLst>
                                      </p:cBhvr>
                                      <p:to>
                                        <p:strVal val="visible"/>
                                      </p:to>
                                    </p:set>
                                    <p:animEffect transition="in" filter="dissolve">
                                      <p:cBhvr>
                                        <p:cTn id="27" dur="500"/>
                                        <p:tgtEl>
                                          <p:spTgt spid="1956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35" grpId="0" build="p"/>
      <p:bldP spid="19563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0" y="304800"/>
            <a:ext cx="9144000" cy="676275"/>
          </a:xfrm>
        </p:spPr>
        <p:txBody>
          <a:bodyPr/>
          <a:lstStyle/>
          <a:p>
            <a:pPr eaLnBrk="1" hangingPunct="1"/>
            <a:r>
              <a:rPr lang="zh-CN" altLang="en-US" sz="3400" smtClean="0">
                <a:sym typeface="Symbol" panose="05050102010706020507" pitchFamily="18" charset="2"/>
              </a:rPr>
              <a:t>（</a:t>
            </a:r>
            <a:r>
              <a:rPr lang="en-US" altLang="zh-CN" sz="3400" smtClean="0">
                <a:sym typeface="Symbol" panose="05050102010706020507" pitchFamily="18" charset="2"/>
              </a:rPr>
              <a:t>4</a:t>
            </a:r>
            <a:r>
              <a:rPr lang="zh-CN" altLang="en-US" sz="3400" smtClean="0">
                <a:sym typeface="Symbol" panose="05050102010706020507" pitchFamily="18" charset="2"/>
              </a:rPr>
              <a:t>）适合交互式的调度</a:t>
            </a:r>
            <a:r>
              <a:rPr lang="en-US" altLang="zh-CN" sz="3400" smtClean="0">
                <a:sym typeface="Symbol" panose="05050102010706020507" pitchFamily="18" charset="2"/>
              </a:rPr>
              <a:t>: Round-Robin (RR)</a:t>
            </a:r>
          </a:p>
        </p:txBody>
      </p:sp>
      <p:sp>
        <p:nvSpPr>
          <p:cNvPr id="197635" name="Rectangle 3"/>
          <p:cNvSpPr>
            <a:spLocks noGrp="1" noChangeArrowheads="1"/>
          </p:cNvSpPr>
          <p:nvPr>
            <p:ph type="body" idx="1"/>
          </p:nvPr>
        </p:nvSpPr>
        <p:spPr>
          <a:xfrm>
            <a:off x="685800" y="1295400"/>
            <a:ext cx="8458200" cy="865188"/>
          </a:xfrm>
          <a:noFill/>
        </p:spPr>
        <p:txBody>
          <a:bodyPr/>
          <a:lstStyle/>
          <a:p>
            <a:pPr eaLnBrk="1" hangingPunct="1">
              <a:lnSpc>
                <a:spcPct val="130000"/>
              </a:lnSpc>
            </a:pPr>
            <a:r>
              <a:rPr lang="en-US" altLang="zh-CN" smtClean="0">
                <a:solidFill>
                  <a:srgbClr val="FF0000"/>
                </a:solidFill>
              </a:rPr>
              <a:t>RR: </a:t>
            </a:r>
            <a:r>
              <a:rPr lang="zh-CN" altLang="en-US" smtClean="0">
                <a:solidFill>
                  <a:srgbClr val="FF0000"/>
                </a:solidFill>
              </a:rPr>
              <a:t>按时间片来轮转调度（“</a:t>
            </a:r>
            <a:r>
              <a:rPr lang="zh-CN" altLang="en-US" smtClean="0"/>
              <a:t>轮叫</a:t>
            </a:r>
            <a:r>
              <a:rPr lang="zh-CN" altLang="en-US" smtClean="0">
                <a:solidFill>
                  <a:srgbClr val="FF0000"/>
                </a:solidFill>
              </a:rPr>
              <a:t>”算法）</a:t>
            </a:r>
          </a:p>
        </p:txBody>
      </p:sp>
      <p:pic>
        <p:nvPicPr>
          <p:cNvPr id="197683" name="Picture 5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0" y="838200"/>
            <a:ext cx="1219200" cy="1262063"/>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97685" name="Group 53"/>
          <p:cNvGrpSpPr>
            <a:grpSpLocks/>
          </p:cNvGrpSpPr>
          <p:nvPr/>
        </p:nvGrpSpPr>
        <p:grpSpPr bwMode="auto">
          <a:xfrm>
            <a:off x="685800" y="2030413"/>
            <a:ext cx="8229600" cy="2998787"/>
            <a:chOff x="432" y="1279"/>
            <a:chExt cx="5184" cy="1889"/>
          </a:xfrm>
        </p:grpSpPr>
        <p:sp>
          <p:nvSpPr>
            <p:cNvPr id="40004" name="Rectangle 30"/>
            <p:cNvSpPr>
              <a:spLocks noChangeArrowheads="1"/>
            </p:cNvSpPr>
            <p:nvPr/>
          </p:nvSpPr>
          <p:spPr bwMode="auto">
            <a:xfrm>
              <a:off x="432" y="1279"/>
              <a:ext cx="4990"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一个实例</a:t>
              </a:r>
            </a:p>
          </p:txBody>
        </p:sp>
        <p:sp>
          <p:nvSpPr>
            <p:cNvPr id="40005" name="Line 31"/>
            <p:cNvSpPr>
              <a:spLocks noChangeShapeType="1"/>
            </p:cNvSpPr>
            <p:nvPr/>
          </p:nvSpPr>
          <p:spPr bwMode="auto">
            <a:xfrm>
              <a:off x="3216" y="1632"/>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006" name="Line 32"/>
            <p:cNvSpPr>
              <a:spLocks noChangeShapeType="1"/>
            </p:cNvSpPr>
            <p:nvPr/>
          </p:nvSpPr>
          <p:spPr bwMode="auto">
            <a:xfrm>
              <a:off x="3216"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007" name="Rectangle 34"/>
            <p:cNvSpPr>
              <a:spLocks noChangeArrowheads="1"/>
            </p:cNvSpPr>
            <p:nvPr/>
          </p:nvSpPr>
          <p:spPr bwMode="auto">
            <a:xfrm>
              <a:off x="912" y="1680"/>
              <a:ext cx="2112" cy="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Tx/>
                <a:buSzTx/>
                <a:buFontTx/>
                <a:buNone/>
              </a:pPr>
              <a:r>
                <a:rPr lang="zh-CN" altLang="en-US" sz="2400"/>
                <a:t>假定任务的到达顺序为</a:t>
              </a:r>
              <a:r>
                <a:rPr lang="en-US" altLang="zh-CN" sz="2400"/>
                <a:t>: P</a:t>
              </a:r>
              <a:r>
                <a:rPr lang="en-US" altLang="zh-CN" sz="2400" baseline="-25000"/>
                <a:t>1</a:t>
              </a:r>
              <a:r>
                <a:rPr lang="zh-CN" altLang="en-US" sz="2400"/>
                <a:t>，</a:t>
              </a:r>
              <a:r>
                <a:rPr lang="en-US" altLang="zh-CN" sz="2400"/>
                <a:t>P</a:t>
              </a:r>
              <a:r>
                <a:rPr lang="en-US" altLang="zh-CN" sz="2400" baseline="-25000"/>
                <a:t>2</a:t>
              </a:r>
              <a:r>
                <a:rPr lang="zh-CN" altLang="en-US" sz="2400"/>
                <a:t>，</a:t>
              </a:r>
              <a:r>
                <a:rPr lang="en-US" altLang="zh-CN" sz="2400"/>
                <a:t>P</a:t>
              </a:r>
              <a:r>
                <a:rPr lang="en-US" altLang="zh-CN" sz="2400" baseline="-25000"/>
                <a:t>3</a:t>
              </a:r>
              <a:r>
                <a:rPr lang="zh-CN" altLang="en-US" sz="2400"/>
                <a:t>，</a:t>
              </a:r>
              <a:r>
                <a:rPr lang="en-US" altLang="zh-CN" sz="2400"/>
                <a:t>P</a:t>
              </a:r>
              <a:r>
                <a:rPr lang="en-US" altLang="zh-CN" sz="2400" baseline="-25000"/>
                <a:t>4</a:t>
              </a:r>
              <a:r>
                <a:rPr lang="zh-CN" altLang="en-US" sz="2400"/>
                <a:t>，</a:t>
              </a:r>
              <a:r>
                <a:rPr lang="en-US" altLang="zh-CN" sz="2400"/>
                <a:t>P</a:t>
              </a:r>
              <a:r>
                <a:rPr lang="en-US" altLang="zh-CN" sz="2400" baseline="-25000"/>
                <a:t>5</a:t>
              </a:r>
              <a:r>
                <a:rPr lang="zh-CN" altLang="en-US" sz="2400"/>
                <a:t>；到达时刻都为</a:t>
              </a:r>
              <a:r>
                <a:rPr lang="en-US" altLang="zh-CN" sz="2400"/>
                <a:t>0</a:t>
              </a:r>
              <a:r>
                <a:rPr lang="zh-CN" altLang="en-US" sz="2400"/>
                <a:t>，时间片为</a:t>
              </a:r>
              <a:r>
                <a:rPr lang="en-US" altLang="zh-CN" sz="2400"/>
                <a:t>10</a:t>
              </a:r>
              <a:r>
                <a:rPr lang="zh-CN" altLang="en-US" sz="2400"/>
                <a:t>。</a:t>
              </a:r>
            </a:p>
          </p:txBody>
        </p:sp>
        <p:pic>
          <p:nvPicPr>
            <p:cNvPr id="40008" name="Picture 35"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 y="1756"/>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009" name="Line 36"/>
            <p:cNvSpPr>
              <a:spLocks noChangeShapeType="1"/>
            </p:cNvSpPr>
            <p:nvPr/>
          </p:nvSpPr>
          <p:spPr bwMode="auto">
            <a:xfrm>
              <a:off x="4080"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010" name="Rectangle 37"/>
            <p:cNvSpPr>
              <a:spLocks noChangeArrowheads="1"/>
            </p:cNvSpPr>
            <p:nvPr/>
          </p:nvSpPr>
          <p:spPr bwMode="auto">
            <a:xfrm>
              <a:off x="3386" y="1344"/>
              <a:ext cx="5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任务</a:t>
              </a:r>
            </a:p>
          </p:txBody>
        </p:sp>
        <p:sp>
          <p:nvSpPr>
            <p:cNvPr id="40011" name="Rectangle 38"/>
            <p:cNvSpPr>
              <a:spLocks noChangeArrowheads="1"/>
            </p:cNvSpPr>
            <p:nvPr/>
          </p:nvSpPr>
          <p:spPr bwMode="auto">
            <a:xfrm>
              <a:off x="4158" y="1356"/>
              <a:ext cx="14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t>CPU</a:t>
              </a:r>
              <a:r>
                <a:rPr lang="zh-CN" altLang="en-US" sz="2400"/>
                <a:t>区间</a:t>
              </a:r>
              <a:r>
                <a:rPr lang="en-US" altLang="zh-CN" sz="2400"/>
                <a:t>(ms)</a:t>
              </a:r>
            </a:p>
          </p:txBody>
        </p:sp>
        <p:sp>
          <p:nvSpPr>
            <p:cNvPr id="40012" name="Rectangle 39"/>
            <p:cNvSpPr>
              <a:spLocks noChangeArrowheads="1"/>
            </p:cNvSpPr>
            <p:nvPr/>
          </p:nvSpPr>
          <p:spPr bwMode="auto">
            <a:xfrm>
              <a:off x="3504" y="169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1</a:t>
              </a:r>
            </a:p>
          </p:txBody>
        </p:sp>
        <p:sp>
          <p:nvSpPr>
            <p:cNvPr id="40013" name="Rectangle 40"/>
            <p:cNvSpPr>
              <a:spLocks noChangeArrowheads="1"/>
            </p:cNvSpPr>
            <p:nvPr/>
          </p:nvSpPr>
          <p:spPr bwMode="auto">
            <a:xfrm>
              <a:off x="4629" y="1680"/>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10</a:t>
              </a:r>
              <a:endParaRPr lang="en-US" altLang="zh-CN" sz="2400" baseline="-25000">
                <a:solidFill>
                  <a:srgbClr val="FF0000"/>
                </a:solidFill>
              </a:endParaRPr>
            </a:p>
          </p:txBody>
        </p:sp>
        <p:sp>
          <p:nvSpPr>
            <p:cNvPr id="40014" name="Rectangle 41"/>
            <p:cNvSpPr>
              <a:spLocks noChangeArrowheads="1"/>
            </p:cNvSpPr>
            <p:nvPr/>
          </p:nvSpPr>
          <p:spPr bwMode="auto">
            <a:xfrm>
              <a:off x="3504" y="1968"/>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2</a:t>
              </a:r>
            </a:p>
          </p:txBody>
        </p:sp>
        <p:sp>
          <p:nvSpPr>
            <p:cNvPr id="40015" name="Rectangle 42"/>
            <p:cNvSpPr>
              <a:spLocks noChangeArrowheads="1"/>
            </p:cNvSpPr>
            <p:nvPr/>
          </p:nvSpPr>
          <p:spPr bwMode="auto">
            <a:xfrm>
              <a:off x="4629" y="1968"/>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29</a:t>
              </a:r>
              <a:endParaRPr lang="en-US" altLang="zh-CN" sz="2400" baseline="-25000">
                <a:solidFill>
                  <a:srgbClr val="FF0000"/>
                </a:solidFill>
              </a:endParaRPr>
            </a:p>
          </p:txBody>
        </p:sp>
        <p:sp>
          <p:nvSpPr>
            <p:cNvPr id="40016" name="Rectangle 43"/>
            <p:cNvSpPr>
              <a:spLocks noChangeArrowheads="1"/>
            </p:cNvSpPr>
            <p:nvPr/>
          </p:nvSpPr>
          <p:spPr bwMode="auto">
            <a:xfrm>
              <a:off x="3504" y="2256"/>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3</a:t>
              </a:r>
            </a:p>
          </p:txBody>
        </p:sp>
        <p:sp>
          <p:nvSpPr>
            <p:cNvPr id="40017" name="Rectangle 44"/>
            <p:cNvSpPr>
              <a:spLocks noChangeArrowheads="1"/>
            </p:cNvSpPr>
            <p:nvPr/>
          </p:nvSpPr>
          <p:spPr bwMode="auto">
            <a:xfrm>
              <a:off x="4674" y="2277"/>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3</a:t>
              </a:r>
              <a:endParaRPr lang="en-US" altLang="zh-CN" sz="2400" baseline="-25000">
                <a:solidFill>
                  <a:srgbClr val="FF0000"/>
                </a:solidFill>
              </a:endParaRPr>
            </a:p>
          </p:txBody>
        </p:sp>
        <p:sp>
          <p:nvSpPr>
            <p:cNvPr id="40018" name="Line 45"/>
            <p:cNvSpPr>
              <a:spLocks noChangeShapeType="1"/>
            </p:cNvSpPr>
            <p:nvPr/>
          </p:nvSpPr>
          <p:spPr bwMode="auto">
            <a:xfrm>
              <a:off x="3216" y="3168"/>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019" name="Rectangle 46"/>
            <p:cNvSpPr>
              <a:spLocks noChangeArrowheads="1"/>
            </p:cNvSpPr>
            <p:nvPr/>
          </p:nvSpPr>
          <p:spPr bwMode="auto">
            <a:xfrm>
              <a:off x="3504" y="256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4</a:t>
              </a:r>
            </a:p>
          </p:txBody>
        </p:sp>
        <p:sp>
          <p:nvSpPr>
            <p:cNvPr id="40020" name="Rectangle 47"/>
            <p:cNvSpPr>
              <a:spLocks noChangeArrowheads="1"/>
            </p:cNvSpPr>
            <p:nvPr/>
          </p:nvSpPr>
          <p:spPr bwMode="auto">
            <a:xfrm>
              <a:off x="4674" y="256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7</a:t>
              </a:r>
              <a:endParaRPr lang="en-US" altLang="zh-CN" sz="2400" baseline="-25000">
                <a:solidFill>
                  <a:srgbClr val="FF0000"/>
                </a:solidFill>
              </a:endParaRPr>
            </a:p>
          </p:txBody>
        </p:sp>
        <p:sp>
          <p:nvSpPr>
            <p:cNvPr id="40021" name="Rectangle 48"/>
            <p:cNvSpPr>
              <a:spLocks noChangeArrowheads="1"/>
            </p:cNvSpPr>
            <p:nvPr/>
          </p:nvSpPr>
          <p:spPr bwMode="auto">
            <a:xfrm>
              <a:off x="3504" y="2850"/>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5</a:t>
              </a:r>
            </a:p>
          </p:txBody>
        </p:sp>
        <p:sp>
          <p:nvSpPr>
            <p:cNvPr id="40022" name="Rectangle 49"/>
            <p:cNvSpPr>
              <a:spLocks noChangeArrowheads="1"/>
            </p:cNvSpPr>
            <p:nvPr/>
          </p:nvSpPr>
          <p:spPr bwMode="auto">
            <a:xfrm>
              <a:off x="4629" y="2880"/>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12</a:t>
              </a:r>
              <a:endParaRPr lang="en-US" altLang="zh-CN" sz="2400" baseline="-25000">
                <a:solidFill>
                  <a:srgbClr val="FF0000"/>
                </a:solidFill>
              </a:endParaRPr>
            </a:p>
          </p:txBody>
        </p:sp>
        <p:sp>
          <p:nvSpPr>
            <p:cNvPr id="40023" name="Line 50"/>
            <p:cNvSpPr>
              <a:spLocks noChangeShapeType="1"/>
            </p:cNvSpPr>
            <p:nvPr/>
          </p:nvSpPr>
          <p:spPr bwMode="auto">
            <a:xfrm>
              <a:off x="5568"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024" name="Line 52"/>
            <p:cNvSpPr>
              <a:spLocks noChangeShapeType="1"/>
            </p:cNvSpPr>
            <p:nvPr/>
          </p:nvSpPr>
          <p:spPr bwMode="auto">
            <a:xfrm>
              <a:off x="3216" y="1344"/>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97699" name="Group 67"/>
          <p:cNvGrpSpPr>
            <a:grpSpLocks/>
          </p:cNvGrpSpPr>
          <p:nvPr/>
        </p:nvGrpSpPr>
        <p:grpSpPr bwMode="auto">
          <a:xfrm>
            <a:off x="685800" y="4572000"/>
            <a:ext cx="7086600" cy="1981200"/>
            <a:chOff x="432" y="2880"/>
            <a:chExt cx="4464" cy="1248"/>
          </a:xfrm>
        </p:grpSpPr>
        <p:sp>
          <p:nvSpPr>
            <p:cNvPr id="39968" name="Rectangle 5"/>
            <p:cNvSpPr>
              <a:spLocks noChangeArrowheads="1"/>
            </p:cNvSpPr>
            <p:nvPr/>
          </p:nvSpPr>
          <p:spPr bwMode="auto">
            <a:xfrm>
              <a:off x="432" y="2880"/>
              <a:ext cx="2304"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调度结果</a:t>
              </a:r>
            </a:p>
          </p:txBody>
        </p:sp>
        <p:grpSp>
          <p:nvGrpSpPr>
            <p:cNvPr id="39969" name="Group 66"/>
            <p:cNvGrpSpPr>
              <a:grpSpLocks/>
            </p:cNvGrpSpPr>
            <p:nvPr/>
          </p:nvGrpSpPr>
          <p:grpSpPr bwMode="auto">
            <a:xfrm>
              <a:off x="816" y="3360"/>
              <a:ext cx="4080" cy="768"/>
              <a:chOff x="816" y="3360"/>
              <a:chExt cx="4080" cy="768"/>
            </a:xfrm>
          </p:grpSpPr>
          <p:sp>
            <p:nvSpPr>
              <p:cNvPr id="39970" name="Rectangle 7"/>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9971" name="Text Box 8"/>
              <p:cNvSpPr txBox="1">
                <a:spLocks noChangeArrowheads="1"/>
              </p:cNvSpPr>
              <p:nvPr/>
            </p:nvSpPr>
            <p:spPr bwMode="auto">
              <a:xfrm>
                <a:off x="107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39972" name="Text Box 9"/>
              <p:cNvSpPr txBox="1">
                <a:spLocks noChangeArrowheads="1"/>
              </p:cNvSpPr>
              <p:nvPr/>
            </p:nvSpPr>
            <p:spPr bwMode="auto">
              <a:xfrm>
                <a:off x="2469"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39973" name="Text Box 10"/>
              <p:cNvSpPr txBox="1">
                <a:spLocks noChangeArrowheads="1"/>
              </p:cNvSpPr>
              <p:nvPr/>
            </p:nvSpPr>
            <p:spPr bwMode="auto">
              <a:xfrm>
                <a:off x="1605"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39974" name="Line 11"/>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75" name="Line 12"/>
              <p:cNvSpPr>
                <a:spLocks noChangeShapeType="1"/>
              </p:cNvSpPr>
              <p:nvPr/>
            </p:nvSpPr>
            <p:spPr bwMode="auto">
              <a:xfrm>
                <a:off x="2405"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76" name="Line 13"/>
              <p:cNvSpPr>
                <a:spLocks noChangeShapeType="1"/>
              </p:cNvSpPr>
              <p:nvPr/>
            </p:nvSpPr>
            <p:spPr bwMode="auto">
              <a:xfrm>
                <a:off x="2405"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77" name="Text Box 14"/>
              <p:cNvSpPr txBox="1">
                <a:spLocks noChangeArrowheads="1"/>
              </p:cNvSpPr>
              <p:nvPr/>
            </p:nvSpPr>
            <p:spPr bwMode="auto">
              <a:xfrm>
                <a:off x="225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23</a:t>
                </a:r>
              </a:p>
            </p:txBody>
          </p:sp>
          <p:sp>
            <p:nvSpPr>
              <p:cNvPr id="39978" name="Text Box 15"/>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39979" name="Text Box 16"/>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39980" name="Line 17"/>
              <p:cNvSpPr>
                <a:spLocks noChangeShapeType="1"/>
              </p:cNvSpPr>
              <p:nvPr/>
            </p:nvSpPr>
            <p:spPr bwMode="auto">
              <a:xfrm>
                <a:off x="1488"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1" name="Line 18"/>
              <p:cNvSpPr>
                <a:spLocks noChangeShapeType="1"/>
              </p:cNvSpPr>
              <p:nvPr/>
            </p:nvSpPr>
            <p:spPr bwMode="auto">
              <a:xfrm>
                <a:off x="1488"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2" name="Text Box 19"/>
              <p:cNvSpPr txBox="1">
                <a:spLocks noChangeArrowheads="1"/>
              </p:cNvSpPr>
              <p:nvPr/>
            </p:nvSpPr>
            <p:spPr bwMode="auto">
              <a:xfrm>
                <a:off x="129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10</a:t>
                </a:r>
              </a:p>
            </p:txBody>
          </p:sp>
          <p:sp>
            <p:nvSpPr>
              <p:cNvPr id="39983" name="Line 20"/>
              <p:cNvSpPr>
                <a:spLocks noChangeShapeType="1"/>
              </p:cNvSpPr>
              <p:nvPr/>
            </p:nvSpPr>
            <p:spPr bwMode="auto">
              <a:xfrm>
                <a:off x="201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4" name="Line 21"/>
              <p:cNvSpPr>
                <a:spLocks noChangeShapeType="1"/>
              </p:cNvSpPr>
              <p:nvPr/>
            </p:nvSpPr>
            <p:spPr bwMode="auto">
              <a:xfrm>
                <a:off x="201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5" name="Text Box 22"/>
              <p:cNvSpPr txBox="1">
                <a:spLocks noChangeArrowheads="1"/>
              </p:cNvSpPr>
              <p:nvPr/>
            </p:nvSpPr>
            <p:spPr bwMode="auto">
              <a:xfrm>
                <a:off x="182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20</a:t>
                </a:r>
              </a:p>
            </p:txBody>
          </p:sp>
          <p:sp>
            <p:nvSpPr>
              <p:cNvPr id="39986" name="Text Box 23"/>
              <p:cNvSpPr txBox="1">
                <a:spLocks noChangeArrowheads="1"/>
              </p:cNvSpPr>
              <p:nvPr/>
            </p:nvSpPr>
            <p:spPr bwMode="auto">
              <a:xfrm>
                <a:off x="203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39987" name="Line 24"/>
              <p:cNvSpPr>
                <a:spLocks noChangeShapeType="1"/>
              </p:cNvSpPr>
              <p:nvPr/>
            </p:nvSpPr>
            <p:spPr bwMode="auto">
              <a:xfrm>
                <a:off x="2865"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8" name="Line 25"/>
              <p:cNvSpPr>
                <a:spLocks noChangeShapeType="1"/>
              </p:cNvSpPr>
              <p:nvPr/>
            </p:nvSpPr>
            <p:spPr bwMode="auto">
              <a:xfrm>
                <a:off x="2865"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89" name="Text Box 26"/>
              <p:cNvSpPr txBox="1">
                <a:spLocks noChangeArrowheads="1"/>
              </p:cNvSpPr>
              <p:nvPr/>
            </p:nvSpPr>
            <p:spPr bwMode="auto">
              <a:xfrm>
                <a:off x="2673"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30</a:t>
                </a:r>
              </a:p>
            </p:txBody>
          </p:sp>
          <p:sp>
            <p:nvSpPr>
              <p:cNvPr id="39990" name="Line 27"/>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91" name="Text Box 28"/>
              <p:cNvSpPr txBox="1">
                <a:spLocks noChangeArrowheads="1"/>
              </p:cNvSpPr>
              <p:nvPr/>
            </p:nvSpPr>
            <p:spPr bwMode="auto">
              <a:xfrm>
                <a:off x="3024"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39992" name="Text Box 54"/>
              <p:cNvSpPr txBox="1">
                <a:spLocks noChangeArrowheads="1"/>
              </p:cNvSpPr>
              <p:nvPr/>
            </p:nvSpPr>
            <p:spPr bwMode="auto">
              <a:xfrm>
                <a:off x="326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40</a:t>
                </a:r>
              </a:p>
            </p:txBody>
          </p:sp>
          <p:sp>
            <p:nvSpPr>
              <p:cNvPr id="39993" name="Line 55"/>
              <p:cNvSpPr>
                <a:spLocks noChangeShapeType="1"/>
              </p:cNvSpPr>
              <p:nvPr/>
            </p:nvSpPr>
            <p:spPr bwMode="auto">
              <a:xfrm>
                <a:off x="345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94" name="Line 56"/>
              <p:cNvSpPr>
                <a:spLocks noChangeShapeType="1"/>
              </p:cNvSpPr>
              <p:nvPr/>
            </p:nvSpPr>
            <p:spPr bwMode="auto">
              <a:xfrm>
                <a:off x="345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95" name="Text Box 57"/>
              <p:cNvSpPr txBox="1">
                <a:spLocks noChangeArrowheads="1"/>
              </p:cNvSpPr>
              <p:nvPr/>
            </p:nvSpPr>
            <p:spPr bwMode="auto">
              <a:xfrm>
                <a:off x="356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39996" name="Text Box 58"/>
              <p:cNvSpPr txBox="1">
                <a:spLocks noChangeArrowheads="1"/>
              </p:cNvSpPr>
              <p:nvPr/>
            </p:nvSpPr>
            <p:spPr bwMode="auto">
              <a:xfrm>
                <a:off x="3840"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50</a:t>
                </a:r>
              </a:p>
            </p:txBody>
          </p:sp>
          <p:sp>
            <p:nvSpPr>
              <p:cNvPr id="39997" name="Line 59"/>
              <p:cNvSpPr>
                <a:spLocks noChangeShapeType="1"/>
              </p:cNvSpPr>
              <p:nvPr/>
            </p:nvSpPr>
            <p:spPr bwMode="auto">
              <a:xfrm>
                <a:off x="402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98" name="Line 60"/>
              <p:cNvSpPr>
                <a:spLocks noChangeShapeType="1"/>
              </p:cNvSpPr>
              <p:nvPr/>
            </p:nvSpPr>
            <p:spPr bwMode="auto">
              <a:xfrm>
                <a:off x="402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99" name="Text Box 61"/>
              <p:cNvSpPr txBox="1">
                <a:spLocks noChangeArrowheads="1"/>
              </p:cNvSpPr>
              <p:nvPr/>
            </p:nvSpPr>
            <p:spPr bwMode="auto">
              <a:xfrm>
                <a:off x="4005"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40000" name="Text Box 62"/>
              <p:cNvSpPr txBox="1">
                <a:spLocks noChangeArrowheads="1"/>
              </p:cNvSpPr>
              <p:nvPr/>
            </p:nvSpPr>
            <p:spPr bwMode="auto">
              <a:xfrm>
                <a:off x="408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52</a:t>
                </a:r>
              </a:p>
            </p:txBody>
          </p:sp>
          <p:sp>
            <p:nvSpPr>
              <p:cNvPr id="40001" name="Line 63"/>
              <p:cNvSpPr>
                <a:spLocks noChangeShapeType="1"/>
              </p:cNvSpPr>
              <p:nvPr/>
            </p:nvSpPr>
            <p:spPr bwMode="auto">
              <a:xfrm>
                <a:off x="427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02" name="Line 64"/>
              <p:cNvSpPr>
                <a:spLocks noChangeShapeType="1"/>
              </p:cNvSpPr>
              <p:nvPr/>
            </p:nvSpPr>
            <p:spPr bwMode="auto">
              <a:xfrm>
                <a:off x="427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003" name="Text Box 65"/>
              <p:cNvSpPr txBox="1">
                <a:spLocks noChangeArrowheads="1"/>
              </p:cNvSpPr>
              <p:nvPr/>
            </p:nvSpPr>
            <p:spPr bwMode="auto">
              <a:xfrm>
                <a:off x="4368"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grpSp>
      </p:grpSp>
      <p:sp>
        <p:nvSpPr>
          <p:cNvPr id="197700" name="Line 68"/>
          <p:cNvSpPr>
            <a:spLocks noChangeShapeType="1"/>
          </p:cNvSpPr>
          <p:nvPr/>
        </p:nvSpPr>
        <p:spPr bwMode="auto">
          <a:xfrm>
            <a:off x="7162800" y="838200"/>
            <a:ext cx="685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97701" name="Group 69"/>
          <p:cNvGrpSpPr>
            <a:grpSpLocks/>
          </p:cNvGrpSpPr>
          <p:nvPr/>
        </p:nvGrpSpPr>
        <p:grpSpPr bwMode="auto">
          <a:xfrm>
            <a:off x="1524000" y="5257800"/>
            <a:ext cx="6324600" cy="1219200"/>
            <a:chOff x="960" y="3312"/>
            <a:chExt cx="3984" cy="768"/>
          </a:xfrm>
        </p:grpSpPr>
        <p:sp>
          <p:nvSpPr>
            <p:cNvPr id="39966" name="Rectangle 70"/>
            <p:cNvSpPr>
              <a:spLocks noChangeArrowheads="1"/>
            </p:cNvSpPr>
            <p:nvPr/>
          </p:nvSpPr>
          <p:spPr bwMode="auto">
            <a:xfrm>
              <a:off x="1200" y="3312"/>
              <a:ext cx="374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9967" name="Rectangle 71"/>
            <p:cNvSpPr>
              <a:spLocks noChangeArrowheads="1"/>
            </p:cNvSpPr>
            <p:nvPr/>
          </p:nvSpPr>
          <p:spPr bwMode="auto">
            <a:xfrm>
              <a:off x="960" y="3312"/>
              <a:ext cx="46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7704" name="Group 72"/>
          <p:cNvGrpSpPr>
            <a:grpSpLocks/>
          </p:cNvGrpSpPr>
          <p:nvPr/>
        </p:nvGrpSpPr>
        <p:grpSpPr bwMode="auto">
          <a:xfrm>
            <a:off x="5486400" y="5257800"/>
            <a:ext cx="3276600" cy="1219200"/>
            <a:chOff x="1680" y="3312"/>
            <a:chExt cx="3202" cy="768"/>
          </a:xfrm>
        </p:grpSpPr>
        <p:sp>
          <p:nvSpPr>
            <p:cNvPr id="39964" name="Rectangle 73"/>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9965" name="Rectangle 74"/>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7707" name="Group 75"/>
          <p:cNvGrpSpPr>
            <a:grpSpLocks/>
          </p:cNvGrpSpPr>
          <p:nvPr/>
        </p:nvGrpSpPr>
        <p:grpSpPr bwMode="auto">
          <a:xfrm>
            <a:off x="6400800" y="5257800"/>
            <a:ext cx="1981200" cy="1219200"/>
            <a:chOff x="1680" y="3312"/>
            <a:chExt cx="3202" cy="768"/>
          </a:xfrm>
        </p:grpSpPr>
        <p:sp>
          <p:nvSpPr>
            <p:cNvPr id="39962" name="Rectangle 76"/>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9963" name="Rectangle 77"/>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7710" name="Group 78"/>
          <p:cNvGrpSpPr>
            <a:grpSpLocks/>
          </p:cNvGrpSpPr>
          <p:nvPr/>
        </p:nvGrpSpPr>
        <p:grpSpPr bwMode="auto">
          <a:xfrm>
            <a:off x="6802438" y="5257800"/>
            <a:ext cx="1949450" cy="1219200"/>
            <a:chOff x="1680" y="3312"/>
            <a:chExt cx="3202" cy="768"/>
          </a:xfrm>
        </p:grpSpPr>
        <p:sp>
          <p:nvSpPr>
            <p:cNvPr id="39960" name="Rectangle 79"/>
            <p:cNvSpPr>
              <a:spLocks noChangeArrowheads="1"/>
            </p:cNvSpPr>
            <p:nvPr/>
          </p:nvSpPr>
          <p:spPr bwMode="auto">
            <a:xfrm>
              <a:off x="1968" y="3312"/>
              <a:ext cx="291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9961" name="Rectangle 80"/>
            <p:cNvSpPr>
              <a:spLocks noChangeArrowheads="1"/>
            </p:cNvSpPr>
            <p:nvPr/>
          </p:nvSpPr>
          <p:spPr bwMode="auto">
            <a:xfrm>
              <a:off x="1680" y="3312"/>
              <a:ext cx="37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7713" name="Group 81"/>
          <p:cNvGrpSpPr>
            <a:grpSpLocks/>
          </p:cNvGrpSpPr>
          <p:nvPr/>
        </p:nvGrpSpPr>
        <p:grpSpPr bwMode="auto">
          <a:xfrm>
            <a:off x="3222625" y="5257800"/>
            <a:ext cx="5486400" cy="1219200"/>
            <a:chOff x="960" y="3312"/>
            <a:chExt cx="3984" cy="768"/>
          </a:xfrm>
        </p:grpSpPr>
        <p:sp>
          <p:nvSpPr>
            <p:cNvPr id="39958" name="Rectangle 82"/>
            <p:cNvSpPr>
              <a:spLocks noChangeArrowheads="1"/>
            </p:cNvSpPr>
            <p:nvPr/>
          </p:nvSpPr>
          <p:spPr bwMode="auto">
            <a:xfrm>
              <a:off x="1200" y="3312"/>
              <a:ext cx="374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9959" name="Rectangle 83"/>
            <p:cNvSpPr>
              <a:spLocks noChangeArrowheads="1"/>
            </p:cNvSpPr>
            <p:nvPr/>
          </p:nvSpPr>
          <p:spPr bwMode="auto">
            <a:xfrm>
              <a:off x="960" y="3312"/>
              <a:ext cx="46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7716" name="Group 84"/>
          <p:cNvGrpSpPr>
            <a:grpSpLocks/>
          </p:cNvGrpSpPr>
          <p:nvPr/>
        </p:nvGrpSpPr>
        <p:grpSpPr bwMode="auto">
          <a:xfrm>
            <a:off x="3832225" y="5257800"/>
            <a:ext cx="4572000" cy="1219200"/>
            <a:chOff x="960" y="3312"/>
            <a:chExt cx="3984" cy="768"/>
          </a:xfrm>
        </p:grpSpPr>
        <p:sp>
          <p:nvSpPr>
            <p:cNvPr id="39956" name="Rectangle 85"/>
            <p:cNvSpPr>
              <a:spLocks noChangeArrowheads="1"/>
            </p:cNvSpPr>
            <p:nvPr/>
          </p:nvSpPr>
          <p:spPr bwMode="auto">
            <a:xfrm>
              <a:off x="1200" y="3312"/>
              <a:ext cx="374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9957" name="Rectangle 86"/>
            <p:cNvSpPr>
              <a:spLocks noChangeArrowheads="1"/>
            </p:cNvSpPr>
            <p:nvPr/>
          </p:nvSpPr>
          <p:spPr bwMode="auto">
            <a:xfrm>
              <a:off x="960" y="3312"/>
              <a:ext cx="46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7719" name="Group 87"/>
          <p:cNvGrpSpPr>
            <a:grpSpLocks/>
          </p:cNvGrpSpPr>
          <p:nvPr/>
        </p:nvGrpSpPr>
        <p:grpSpPr bwMode="auto">
          <a:xfrm>
            <a:off x="4560888" y="5257800"/>
            <a:ext cx="4038600" cy="1219200"/>
            <a:chOff x="960" y="3312"/>
            <a:chExt cx="3984" cy="768"/>
          </a:xfrm>
        </p:grpSpPr>
        <p:sp>
          <p:nvSpPr>
            <p:cNvPr id="39954" name="Rectangle 88"/>
            <p:cNvSpPr>
              <a:spLocks noChangeArrowheads="1"/>
            </p:cNvSpPr>
            <p:nvPr/>
          </p:nvSpPr>
          <p:spPr bwMode="auto">
            <a:xfrm>
              <a:off x="1200" y="3312"/>
              <a:ext cx="374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9955" name="Rectangle 89"/>
            <p:cNvSpPr>
              <a:spLocks noChangeArrowheads="1"/>
            </p:cNvSpPr>
            <p:nvPr/>
          </p:nvSpPr>
          <p:spPr bwMode="auto">
            <a:xfrm>
              <a:off x="960" y="3312"/>
              <a:ext cx="46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197722" name="Group 90"/>
          <p:cNvGrpSpPr>
            <a:grpSpLocks/>
          </p:cNvGrpSpPr>
          <p:nvPr/>
        </p:nvGrpSpPr>
        <p:grpSpPr bwMode="auto">
          <a:xfrm>
            <a:off x="2382838" y="5257800"/>
            <a:ext cx="6324600" cy="1219200"/>
            <a:chOff x="960" y="3312"/>
            <a:chExt cx="3984" cy="768"/>
          </a:xfrm>
        </p:grpSpPr>
        <p:sp>
          <p:nvSpPr>
            <p:cNvPr id="39952" name="Rectangle 91"/>
            <p:cNvSpPr>
              <a:spLocks noChangeArrowheads="1"/>
            </p:cNvSpPr>
            <p:nvPr/>
          </p:nvSpPr>
          <p:spPr bwMode="auto">
            <a:xfrm>
              <a:off x="1200" y="3312"/>
              <a:ext cx="3744" cy="768"/>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9953" name="Rectangle 92"/>
            <p:cNvSpPr>
              <a:spLocks noChangeArrowheads="1"/>
            </p:cNvSpPr>
            <p:nvPr/>
          </p:nvSpPr>
          <p:spPr bwMode="auto">
            <a:xfrm>
              <a:off x="960" y="3312"/>
              <a:ext cx="460" cy="48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7635">
                                            <p:txEl>
                                              <p:pRg st="0" end="0"/>
                                            </p:txEl>
                                          </p:spTgt>
                                        </p:tgtEl>
                                        <p:attrNameLst>
                                          <p:attrName>style.visibility</p:attrName>
                                        </p:attrNameLst>
                                      </p:cBhvr>
                                      <p:to>
                                        <p:strVal val="visible"/>
                                      </p:to>
                                    </p:set>
                                    <p:animEffect transition="in" filter="dissolve">
                                      <p:cBhvr>
                                        <p:cTn id="7" dur="500"/>
                                        <p:tgtEl>
                                          <p:spTgt spid="197635">
                                            <p:txEl>
                                              <p:pRg st="0" end="0"/>
                                            </p:txEl>
                                          </p:spTgt>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0"/>
                                          </p:stCondLst>
                                        </p:cTn>
                                        <p:tgtEl>
                                          <p:spTgt spid="197700"/>
                                        </p:tgtEl>
                                        <p:attrNameLst>
                                          <p:attrName>style.visibility</p:attrName>
                                        </p:attrNameLst>
                                      </p:cBhvr>
                                      <p:to>
                                        <p:strVal val="visible"/>
                                      </p:to>
                                    </p:set>
                                  </p:childTnLst>
                                </p:cTn>
                              </p:par>
                            </p:childTnLst>
                          </p:cTn>
                        </p:par>
                        <p:par>
                          <p:cTn id="11" fill="hold" nodeType="afterGroup">
                            <p:stCondLst>
                              <p:cond delay="500"/>
                            </p:stCondLst>
                            <p:childTnLst>
                              <p:par>
                                <p:cTn id="12" presetID="2" presetClass="entr" presetSubtype="2" fill="hold" nodeType="afterEffect">
                                  <p:stCondLst>
                                    <p:cond delay="0"/>
                                  </p:stCondLst>
                                  <p:childTnLst>
                                    <p:set>
                                      <p:cBhvr>
                                        <p:cTn id="13" dur="1" fill="hold">
                                          <p:stCondLst>
                                            <p:cond delay="0"/>
                                          </p:stCondLst>
                                        </p:cTn>
                                        <p:tgtEl>
                                          <p:spTgt spid="197683"/>
                                        </p:tgtEl>
                                        <p:attrNameLst>
                                          <p:attrName>style.visibility</p:attrName>
                                        </p:attrNameLst>
                                      </p:cBhvr>
                                      <p:to>
                                        <p:strVal val="visible"/>
                                      </p:to>
                                    </p:set>
                                    <p:anim calcmode="lin" valueType="num">
                                      <p:cBhvr additive="base">
                                        <p:cTn id="14" dur="500" fill="hold"/>
                                        <p:tgtEl>
                                          <p:spTgt spid="197683"/>
                                        </p:tgtEl>
                                        <p:attrNameLst>
                                          <p:attrName>ppt_x</p:attrName>
                                        </p:attrNameLst>
                                      </p:cBhvr>
                                      <p:tavLst>
                                        <p:tav tm="0">
                                          <p:val>
                                            <p:strVal val="1+#ppt_w/2"/>
                                          </p:val>
                                        </p:tav>
                                        <p:tav tm="100000">
                                          <p:val>
                                            <p:strVal val="#ppt_x"/>
                                          </p:val>
                                        </p:tav>
                                      </p:tavLst>
                                    </p:anim>
                                    <p:anim calcmode="lin" valueType="num">
                                      <p:cBhvr additive="base">
                                        <p:cTn id="15" dur="500" fill="hold"/>
                                        <p:tgtEl>
                                          <p:spTgt spid="197683"/>
                                        </p:tgtEl>
                                        <p:attrNameLst>
                                          <p:attrName>ppt_y</p:attrName>
                                        </p:attrNameLst>
                                      </p:cBhvr>
                                      <p:tavLst>
                                        <p:tav tm="0">
                                          <p:val>
                                            <p:strVal val="#ppt_y"/>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197685"/>
                                        </p:tgtEl>
                                        <p:attrNameLst>
                                          <p:attrName>style.visibility</p:attrName>
                                        </p:attrNameLst>
                                      </p:cBhvr>
                                      <p:to>
                                        <p:strVal val="visible"/>
                                      </p:to>
                                    </p:set>
                                    <p:animEffect transition="in" filter="dissolve">
                                      <p:cBhvr>
                                        <p:cTn id="20" dur="500"/>
                                        <p:tgtEl>
                                          <p:spTgt spid="19768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197699"/>
                                        </p:tgtEl>
                                        <p:attrNameLst>
                                          <p:attrName>style.visibility</p:attrName>
                                        </p:attrNameLst>
                                      </p:cBhvr>
                                      <p:to>
                                        <p:strVal val="visible"/>
                                      </p:to>
                                    </p:set>
                                    <p:animEffect transition="in" filter="dissolve">
                                      <p:cBhvr>
                                        <p:cTn id="25" dur="500"/>
                                        <p:tgtEl>
                                          <p:spTgt spid="197699"/>
                                        </p:tgtEl>
                                      </p:cBhvr>
                                    </p:animEffect>
                                  </p:childTnLst>
                                </p:cTn>
                              </p:par>
                              <p:par>
                                <p:cTn id="26" presetID="1" presetClass="entr" presetSubtype="0" fill="hold" nodeType="withEffect">
                                  <p:stCondLst>
                                    <p:cond delay="0"/>
                                  </p:stCondLst>
                                  <p:childTnLst>
                                    <p:set>
                                      <p:cBhvr>
                                        <p:cTn id="27" dur="1" fill="hold">
                                          <p:stCondLst>
                                            <p:cond delay="0"/>
                                          </p:stCondLst>
                                        </p:cTn>
                                        <p:tgtEl>
                                          <p:spTgt spid="197701"/>
                                        </p:tgtEl>
                                        <p:attrNameLst>
                                          <p:attrName>style.visibility</p:attrName>
                                        </p:attrNameLst>
                                      </p:cBhvr>
                                      <p:to>
                                        <p:strVal val="visible"/>
                                      </p:to>
                                    </p:set>
                                  </p:childTnLst>
                                  <p:subTnLst>
                                    <p:set>
                                      <p:cBhvr override="childStyle">
                                        <p:cTn dur="1" fill="hold" display="0" masterRel="nextClick" afterEffect="1"/>
                                        <p:tgtEl>
                                          <p:spTgt spid="197701"/>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nodeType="clickEffect">
                                  <p:stCondLst>
                                    <p:cond delay="0"/>
                                  </p:stCondLst>
                                  <p:childTnLst>
                                    <p:set>
                                      <p:cBhvr>
                                        <p:cTn id="31" dur="1" fill="hold">
                                          <p:stCondLst>
                                            <p:cond delay="0"/>
                                          </p:stCondLst>
                                        </p:cTn>
                                        <p:tgtEl>
                                          <p:spTgt spid="197722"/>
                                        </p:tgtEl>
                                        <p:attrNameLst>
                                          <p:attrName>style.visibility</p:attrName>
                                        </p:attrNameLst>
                                      </p:cBhvr>
                                      <p:to>
                                        <p:strVal val="visible"/>
                                      </p:to>
                                    </p:set>
                                  </p:childTnLst>
                                  <p:subTnLst>
                                    <p:set>
                                      <p:cBhvr override="childStyle">
                                        <p:cTn dur="1" fill="hold" display="0" masterRel="nextClick" afterEffect="1"/>
                                        <p:tgtEl>
                                          <p:spTgt spid="197722"/>
                                        </p:tgtEl>
                                        <p:attrNameLst>
                                          <p:attrName>style.visibility</p:attrName>
                                        </p:attrNameLst>
                                      </p:cBhvr>
                                      <p:to>
                                        <p:strVal val="hidden"/>
                                      </p:to>
                                    </p:set>
                                  </p:sub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nodeType="clickEffect">
                                  <p:stCondLst>
                                    <p:cond delay="0"/>
                                  </p:stCondLst>
                                  <p:childTnLst>
                                    <p:set>
                                      <p:cBhvr>
                                        <p:cTn id="35" dur="1" fill="hold">
                                          <p:stCondLst>
                                            <p:cond delay="0"/>
                                          </p:stCondLst>
                                        </p:cTn>
                                        <p:tgtEl>
                                          <p:spTgt spid="197713"/>
                                        </p:tgtEl>
                                        <p:attrNameLst>
                                          <p:attrName>style.visibility</p:attrName>
                                        </p:attrNameLst>
                                      </p:cBhvr>
                                      <p:to>
                                        <p:strVal val="visible"/>
                                      </p:to>
                                    </p:set>
                                  </p:childTnLst>
                                  <p:subTnLst>
                                    <p:set>
                                      <p:cBhvr override="childStyle">
                                        <p:cTn dur="1" fill="hold" display="0" masterRel="nextClick" afterEffect="1"/>
                                        <p:tgtEl>
                                          <p:spTgt spid="197713"/>
                                        </p:tgtEl>
                                        <p:attrNameLst>
                                          <p:attrName>style.visibility</p:attrName>
                                        </p:attrNameLst>
                                      </p:cBhvr>
                                      <p:to>
                                        <p:strVal val="hidden"/>
                                      </p:to>
                                    </p:set>
                                  </p:sub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197716"/>
                                        </p:tgtEl>
                                        <p:attrNameLst>
                                          <p:attrName>style.visibility</p:attrName>
                                        </p:attrNameLst>
                                      </p:cBhvr>
                                      <p:to>
                                        <p:strVal val="visible"/>
                                      </p:to>
                                    </p:set>
                                  </p:childTnLst>
                                  <p:subTnLst>
                                    <p:set>
                                      <p:cBhvr override="childStyle">
                                        <p:cTn dur="1" fill="hold" display="0" masterRel="nextClick" afterEffect="1"/>
                                        <p:tgtEl>
                                          <p:spTgt spid="197716"/>
                                        </p:tgtEl>
                                        <p:attrNameLst>
                                          <p:attrName>style.visibility</p:attrName>
                                        </p:attrNameLst>
                                      </p:cBhvr>
                                      <p:to>
                                        <p:strVal val="hidden"/>
                                      </p:to>
                                    </p:set>
                                  </p:sub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197719"/>
                                        </p:tgtEl>
                                        <p:attrNameLst>
                                          <p:attrName>style.visibility</p:attrName>
                                        </p:attrNameLst>
                                      </p:cBhvr>
                                      <p:to>
                                        <p:strVal val="visible"/>
                                      </p:to>
                                    </p:set>
                                  </p:childTnLst>
                                  <p:subTnLst>
                                    <p:set>
                                      <p:cBhvr override="childStyle">
                                        <p:cTn dur="1" fill="hold" display="0" masterRel="nextClick" afterEffect="1"/>
                                        <p:tgtEl>
                                          <p:spTgt spid="197719"/>
                                        </p:tgtEl>
                                        <p:attrNameLst>
                                          <p:attrName>style.visibility</p:attrName>
                                        </p:attrNameLst>
                                      </p:cBhvr>
                                      <p:to>
                                        <p:strVal val="hidden"/>
                                      </p:to>
                                    </p:set>
                                  </p:sub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0"/>
                                          </p:stCondLst>
                                        </p:cTn>
                                        <p:tgtEl>
                                          <p:spTgt spid="197704"/>
                                        </p:tgtEl>
                                        <p:attrNameLst>
                                          <p:attrName>style.visibility</p:attrName>
                                        </p:attrNameLst>
                                      </p:cBhvr>
                                      <p:to>
                                        <p:strVal val="visible"/>
                                      </p:to>
                                    </p:set>
                                  </p:childTnLst>
                                  <p:subTnLst>
                                    <p:set>
                                      <p:cBhvr override="childStyle">
                                        <p:cTn dur="1" fill="hold" display="0" masterRel="nextClick" afterEffect="1"/>
                                        <p:tgtEl>
                                          <p:spTgt spid="197704"/>
                                        </p:tgtEl>
                                        <p:attrNameLst>
                                          <p:attrName>style.visibility</p:attrName>
                                        </p:attrNameLst>
                                      </p:cBhvr>
                                      <p:to>
                                        <p:strVal val="hidden"/>
                                      </p:to>
                                    </p:set>
                                  </p:sub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0"/>
                                          </p:stCondLst>
                                        </p:cTn>
                                        <p:tgtEl>
                                          <p:spTgt spid="197707"/>
                                        </p:tgtEl>
                                        <p:attrNameLst>
                                          <p:attrName>style.visibility</p:attrName>
                                        </p:attrNameLst>
                                      </p:cBhvr>
                                      <p:to>
                                        <p:strVal val="visible"/>
                                      </p:to>
                                    </p:set>
                                  </p:childTnLst>
                                  <p:subTnLst>
                                    <p:set>
                                      <p:cBhvr override="childStyle">
                                        <p:cTn dur="1" fill="hold" display="0" masterRel="nextClick" afterEffect="1"/>
                                        <p:tgtEl>
                                          <p:spTgt spid="197707"/>
                                        </p:tgtEl>
                                        <p:attrNameLst>
                                          <p:attrName>style.visibility</p:attrName>
                                        </p:attrNameLst>
                                      </p:cBhvr>
                                      <p:to>
                                        <p:strVal val="hidden"/>
                                      </p:to>
                                    </p:set>
                                  </p:sub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nodeType="clickEffect">
                                  <p:stCondLst>
                                    <p:cond delay="0"/>
                                  </p:stCondLst>
                                  <p:childTnLst>
                                    <p:set>
                                      <p:cBhvr>
                                        <p:cTn id="55" dur="1" fill="hold">
                                          <p:stCondLst>
                                            <p:cond delay="0"/>
                                          </p:stCondLst>
                                        </p:cTn>
                                        <p:tgtEl>
                                          <p:spTgt spid="197710"/>
                                        </p:tgtEl>
                                        <p:attrNameLst>
                                          <p:attrName>style.visibility</p:attrName>
                                        </p:attrNameLst>
                                      </p:cBhvr>
                                      <p:to>
                                        <p:strVal val="visible"/>
                                      </p:to>
                                    </p:set>
                                  </p:childTnLst>
                                  <p:subTnLst>
                                    <p:set>
                                      <p:cBhvr override="childStyle">
                                        <p:cTn dur="1" fill="hold" display="0" masterRel="nextClick" afterEffect="1"/>
                                        <p:tgtEl>
                                          <p:spTgt spid="1977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0" y="304800"/>
            <a:ext cx="9144000" cy="676275"/>
          </a:xfrm>
        </p:spPr>
        <p:txBody>
          <a:bodyPr/>
          <a:lstStyle/>
          <a:p>
            <a:pPr eaLnBrk="1" hangingPunct="1"/>
            <a:r>
              <a:rPr lang="zh-CN" altLang="en-US" sz="3400" smtClean="0">
                <a:sym typeface="Symbol" panose="05050102010706020507" pitchFamily="18" charset="2"/>
              </a:rPr>
              <a:t>（</a:t>
            </a:r>
            <a:r>
              <a:rPr lang="en-US" altLang="zh-CN" sz="3400" smtClean="0">
                <a:sym typeface="Symbol" panose="05050102010706020507" pitchFamily="18" charset="2"/>
              </a:rPr>
              <a:t>4</a:t>
            </a:r>
            <a:r>
              <a:rPr lang="zh-CN" altLang="en-US" sz="3400" smtClean="0">
                <a:sym typeface="Symbol" panose="05050102010706020507" pitchFamily="18" charset="2"/>
              </a:rPr>
              <a:t>）适合交互式的调度</a:t>
            </a:r>
            <a:r>
              <a:rPr lang="en-US" altLang="zh-CN" sz="3400" smtClean="0">
                <a:sym typeface="Symbol" panose="05050102010706020507" pitchFamily="18" charset="2"/>
              </a:rPr>
              <a:t>: Round-Robin (RR)</a:t>
            </a:r>
          </a:p>
        </p:txBody>
      </p:sp>
      <p:sp>
        <p:nvSpPr>
          <p:cNvPr id="40963" name="Rectangle 3"/>
          <p:cNvSpPr>
            <a:spLocks noGrp="1" noChangeArrowheads="1"/>
          </p:cNvSpPr>
          <p:nvPr>
            <p:ph type="body" idx="1"/>
          </p:nvPr>
        </p:nvSpPr>
        <p:spPr>
          <a:xfrm>
            <a:off x="685800" y="1295400"/>
            <a:ext cx="8458200" cy="865188"/>
          </a:xfrm>
          <a:noFill/>
        </p:spPr>
        <p:txBody>
          <a:bodyPr/>
          <a:lstStyle/>
          <a:p>
            <a:pPr eaLnBrk="1" hangingPunct="1">
              <a:lnSpc>
                <a:spcPct val="130000"/>
              </a:lnSpc>
            </a:pPr>
            <a:r>
              <a:rPr lang="en-US" altLang="zh-CN" smtClean="0">
                <a:solidFill>
                  <a:srgbClr val="FF0000"/>
                </a:solidFill>
              </a:rPr>
              <a:t>RR: </a:t>
            </a:r>
            <a:r>
              <a:rPr lang="zh-CN" altLang="en-US" smtClean="0">
                <a:solidFill>
                  <a:srgbClr val="FF0000"/>
                </a:solidFill>
              </a:rPr>
              <a:t>按时间片来轮转调度（“</a:t>
            </a:r>
            <a:r>
              <a:rPr lang="zh-CN" altLang="en-US" smtClean="0"/>
              <a:t>轮叫</a:t>
            </a:r>
            <a:r>
              <a:rPr lang="zh-CN" altLang="en-US" smtClean="0">
                <a:solidFill>
                  <a:srgbClr val="FF0000"/>
                </a:solidFill>
              </a:rPr>
              <a:t>”算法）</a:t>
            </a:r>
          </a:p>
        </p:txBody>
      </p:sp>
      <p:pic>
        <p:nvPicPr>
          <p:cNvPr id="4096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0" y="838200"/>
            <a:ext cx="1219200" cy="1262063"/>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0965" name="Group 5"/>
          <p:cNvGrpSpPr>
            <a:grpSpLocks/>
          </p:cNvGrpSpPr>
          <p:nvPr/>
        </p:nvGrpSpPr>
        <p:grpSpPr bwMode="auto">
          <a:xfrm>
            <a:off x="685800" y="2030413"/>
            <a:ext cx="8229600" cy="2998787"/>
            <a:chOff x="432" y="1279"/>
            <a:chExt cx="5184" cy="1889"/>
          </a:xfrm>
        </p:grpSpPr>
        <p:sp>
          <p:nvSpPr>
            <p:cNvPr id="41004" name="Rectangle 6"/>
            <p:cNvSpPr>
              <a:spLocks noChangeArrowheads="1"/>
            </p:cNvSpPr>
            <p:nvPr/>
          </p:nvSpPr>
          <p:spPr bwMode="auto">
            <a:xfrm>
              <a:off x="432" y="1279"/>
              <a:ext cx="4990"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一个实例</a:t>
              </a:r>
            </a:p>
          </p:txBody>
        </p:sp>
        <p:sp>
          <p:nvSpPr>
            <p:cNvPr id="41005" name="Line 7"/>
            <p:cNvSpPr>
              <a:spLocks noChangeShapeType="1"/>
            </p:cNvSpPr>
            <p:nvPr/>
          </p:nvSpPr>
          <p:spPr bwMode="auto">
            <a:xfrm>
              <a:off x="3216" y="1632"/>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06" name="Line 8"/>
            <p:cNvSpPr>
              <a:spLocks noChangeShapeType="1"/>
            </p:cNvSpPr>
            <p:nvPr/>
          </p:nvSpPr>
          <p:spPr bwMode="auto">
            <a:xfrm>
              <a:off x="3216"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07" name="Rectangle 9"/>
            <p:cNvSpPr>
              <a:spLocks noChangeArrowheads="1"/>
            </p:cNvSpPr>
            <p:nvPr/>
          </p:nvSpPr>
          <p:spPr bwMode="auto">
            <a:xfrm>
              <a:off x="912" y="1680"/>
              <a:ext cx="2112" cy="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buClrTx/>
                <a:buSzTx/>
                <a:buFontTx/>
                <a:buNone/>
              </a:pPr>
              <a:r>
                <a:rPr lang="zh-CN" altLang="en-US" sz="2400"/>
                <a:t>假定任务的到达顺序为</a:t>
              </a:r>
              <a:r>
                <a:rPr lang="en-US" altLang="zh-CN" sz="2400"/>
                <a:t>: P</a:t>
              </a:r>
              <a:r>
                <a:rPr lang="en-US" altLang="zh-CN" sz="2400" baseline="-25000"/>
                <a:t>1</a:t>
              </a:r>
              <a:r>
                <a:rPr lang="zh-CN" altLang="en-US" sz="2400"/>
                <a:t>，</a:t>
              </a:r>
              <a:r>
                <a:rPr lang="en-US" altLang="zh-CN" sz="2400"/>
                <a:t>P</a:t>
              </a:r>
              <a:r>
                <a:rPr lang="en-US" altLang="zh-CN" sz="2400" baseline="-25000"/>
                <a:t>2</a:t>
              </a:r>
              <a:r>
                <a:rPr lang="zh-CN" altLang="en-US" sz="2400"/>
                <a:t>，</a:t>
              </a:r>
              <a:r>
                <a:rPr lang="en-US" altLang="zh-CN" sz="2400"/>
                <a:t>P</a:t>
              </a:r>
              <a:r>
                <a:rPr lang="en-US" altLang="zh-CN" sz="2400" baseline="-25000"/>
                <a:t>3</a:t>
              </a:r>
              <a:r>
                <a:rPr lang="zh-CN" altLang="en-US" sz="2400"/>
                <a:t>，</a:t>
              </a:r>
              <a:r>
                <a:rPr lang="en-US" altLang="zh-CN" sz="2400"/>
                <a:t>P</a:t>
              </a:r>
              <a:r>
                <a:rPr lang="en-US" altLang="zh-CN" sz="2400" baseline="-25000"/>
                <a:t>4</a:t>
              </a:r>
              <a:r>
                <a:rPr lang="zh-CN" altLang="en-US" sz="2400"/>
                <a:t>，</a:t>
              </a:r>
              <a:r>
                <a:rPr lang="en-US" altLang="zh-CN" sz="2400"/>
                <a:t>P</a:t>
              </a:r>
              <a:r>
                <a:rPr lang="en-US" altLang="zh-CN" sz="2400" baseline="-25000"/>
                <a:t>5</a:t>
              </a:r>
              <a:r>
                <a:rPr lang="zh-CN" altLang="en-US" sz="2400"/>
                <a:t>；到达时刻都为</a:t>
              </a:r>
              <a:r>
                <a:rPr lang="en-US" altLang="zh-CN" sz="2400"/>
                <a:t>0</a:t>
              </a:r>
              <a:r>
                <a:rPr lang="zh-CN" altLang="en-US" sz="2400"/>
                <a:t>，时间片为</a:t>
              </a:r>
              <a:r>
                <a:rPr lang="en-US" altLang="zh-CN" sz="2400"/>
                <a:t>10</a:t>
              </a:r>
              <a:r>
                <a:rPr lang="zh-CN" altLang="en-US" sz="2400"/>
                <a:t>。</a:t>
              </a:r>
            </a:p>
          </p:txBody>
        </p:sp>
        <p:pic>
          <p:nvPicPr>
            <p:cNvPr id="41008" name="Picture 10"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 y="1756"/>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9" name="Line 11"/>
            <p:cNvSpPr>
              <a:spLocks noChangeShapeType="1"/>
            </p:cNvSpPr>
            <p:nvPr/>
          </p:nvSpPr>
          <p:spPr bwMode="auto">
            <a:xfrm>
              <a:off x="4080"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10" name="Rectangle 12"/>
            <p:cNvSpPr>
              <a:spLocks noChangeArrowheads="1"/>
            </p:cNvSpPr>
            <p:nvPr/>
          </p:nvSpPr>
          <p:spPr bwMode="auto">
            <a:xfrm>
              <a:off x="3386" y="1344"/>
              <a:ext cx="5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任务</a:t>
              </a:r>
            </a:p>
          </p:txBody>
        </p:sp>
        <p:sp>
          <p:nvSpPr>
            <p:cNvPr id="41011" name="Rectangle 13"/>
            <p:cNvSpPr>
              <a:spLocks noChangeArrowheads="1"/>
            </p:cNvSpPr>
            <p:nvPr/>
          </p:nvSpPr>
          <p:spPr bwMode="auto">
            <a:xfrm>
              <a:off x="4158" y="1356"/>
              <a:ext cx="14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t>CPU</a:t>
              </a:r>
              <a:r>
                <a:rPr lang="zh-CN" altLang="en-US" sz="2400"/>
                <a:t>区间</a:t>
              </a:r>
              <a:r>
                <a:rPr lang="en-US" altLang="zh-CN" sz="2400"/>
                <a:t>(ms)</a:t>
              </a:r>
            </a:p>
          </p:txBody>
        </p:sp>
        <p:sp>
          <p:nvSpPr>
            <p:cNvPr id="41012" name="Rectangle 14"/>
            <p:cNvSpPr>
              <a:spLocks noChangeArrowheads="1"/>
            </p:cNvSpPr>
            <p:nvPr/>
          </p:nvSpPr>
          <p:spPr bwMode="auto">
            <a:xfrm>
              <a:off x="3504" y="169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1</a:t>
              </a:r>
            </a:p>
          </p:txBody>
        </p:sp>
        <p:sp>
          <p:nvSpPr>
            <p:cNvPr id="41013" name="Rectangle 15"/>
            <p:cNvSpPr>
              <a:spLocks noChangeArrowheads="1"/>
            </p:cNvSpPr>
            <p:nvPr/>
          </p:nvSpPr>
          <p:spPr bwMode="auto">
            <a:xfrm>
              <a:off x="4629" y="1680"/>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10</a:t>
              </a:r>
              <a:endParaRPr lang="en-US" altLang="zh-CN" sz="2400" baseline="-25000">
                <a:solidFill>
                  <a:srgbClr val="FF0000"/>
                </a:solidFill>
              </a:endParaRPr>
            </a:p>
          </p:txBody>
        </p:sp>
        <p:sp>
          <p:nvSpPr>
            <p:cNvPr id="41014" name="Rectangle 16"/>
            <p:cNvSpPr>
              <a:spLocks noChangeArrowheads="1"/>
            </p:cNvSpPr>
            <p:nvPr/>
          </p:nvSpPr>
          <p:spPr bwMode="auto">
            <a:xfrm>
              <a:off x="3504" y="1968"/>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2</a:t>
              </a:r>
            </a:p>
          </p:txBody>
        </p:sp>
        <p:sp>
          <p:nvSpPr>
            <p:cNvPr id="41015" name="Rectangle 17"/>
            <p:cNvSpPr>
              <a:spLocks noChangeArrowheads="1"/>
            </p:cNvSpPr>
            <p:nvPr/>
          </p:nvSpPr>
          <p:spPr bwMode="auto">
            <a:xfrm>
              <a:off x="4629" y="1968"/>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29</a:t>
              </a:r>
              <a:endParaRPr lang="en-US" altLang="zh-CN" sz="2400" baseline="-25000">
                <a:solidFill>
                  <a:srgbClr val="FF0000"/>
                </a:solidFill>
              </a:endParaRPr>
            </a:p>
          </p:txBody>
        </p:sp>
        <p:sp>
          <p:nvSpPr>
            <p:cNvPr id="41016" name="Rectangle 18"/>
            <p:cNvSpPr>
              <a:spLocks noChangeArrowheads="1"/>
            </p:cNvSpPr>
            <p:nvPr/>
          </p:nvSpPr>
          <p:spPr bwMode="auto">
            <a:xfrm>
              <a:off x="3504" y="2256"/>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3</a:t>
              </a:r>
            </a:p>
          </p:txBody>
        </p:sp>
        <p:sp>
          <p:nvSpPr>
            <p:cNvPr id="41017" name="Rectangle 19"/>
            <p:cNvSpPr>
              <a:spLocks noChangeArrowheads="1"/>
            </p:cNvSpPr>
            <p:nvPr/>
          </p:nvSpPr>
          <p:spPr bwMode="auto">
            <a:xfrm>
              <a:off x="4674" y="2277"/>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3</a:t>
              </a:r>
              <a:endParaRPr lang="en-US" altLang="zh-CN" sz="2400" baseline="-25000">
                <a:solidFill>
                  <a:srgbClr val="FF0000"/>
                </a:solidFill>
              </a:endParaRPr>
            </a:p>
          </p:txBody>
        </p:sp>
        <p:sp>
          <p:nvSpPr>
            <p:cNvPr id="41018" name="Line 20"/>
            <p:cNvSpPr>
              <a:spLocks noChangeShapeType="1"/>
            </p:cNvSpPr>
            <p:nvPr/>
          </p:nvSpPr>
          <p:spPr bwMode="auto">
            <a:xfrm>
              <a:off x="3216" y="3168"/>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19" name="Rectangle 21"/>
            <p:cNvSpPr>
              <a:spLocks noChangeArrowheads="1"/>
            </p:cNvSpPr>
            <p:nvPr/>
          </p:nvSpPr>
          <p:spPr bwMode="auto">
            <a:xfrm>
              <a:off x="3504" y="2562"/>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4</a:t>
              </a:r>
            </a:p>
          </p:txBody>
        </p:sp>
        <p:sp>
          <p:nvSpPr>
            <p:cNvPr id="41020" name="Rectangle 22"/>
            <p:cNvSpPr>
              <a:spLocks noChangeArrowheads="1"/>
            </p:cNvSpPr>
            <p:nvPr/>
          </p:nvSpPr>
          <p:spPr bwMode="auto">
            <a:xfrm>
              <a:off x="4674" y="2562"/>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7</a:t>
              </a:r>
              <a:endParaRPr lang="en-US" altLang="zh-CN" sz="2400" baseline="-25000">
                <a:solidFill>
                  <a:srgbClr val="FF0000"/>
                </a:solidFill>
              </a:endParaRPr>
            </a:p>
          </p:txBody>
        </p:sp>
        <p:sp>
          <p:nvSpPr>
            <p:cNvPr id="41021" name="Rectangle 23"/>
            <p:cNvSpPr>
              <a:spLocks noChangeArrowheads="1"/>
            </p:cNvSpPr>
            <p:nvPr/>
          </p:nvSpPr>
          <p:spPr bwMode="auto">
            <a:xfrm>
              <a:off x="3504" y="2850"/>
              <a:ext cx="31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P</a:t>
              </a:r>
              <a:r>
                <a:rPr lang="en-US" altLang="zh-CN" sz="2400" baseline="-25000">
                  <a:solidFill>
                    <a:srgbClr val="FF0000"/>
                  </a:solidFill>
                </a:rPr>
                <a:t>5</a:t>
              </a:r>
            </a:p>
          </p:txBody>
        </p:sp>
        <p:sp>
          <p:nvSpPr>
            <p:cNvPr id="41022" name="Rectangle 24"/>
            <p:cNvSpPr>
              <a:spLocks noChangeArrowheads="1"/>
            </p:cNvSpPr>
            <p:nvPr/>
          </p:nvSpPr>
          <p:spPr bwMode="auto">
            <a:xfrm>
              <a:off x="4629" y="2880"/>
              <a:ext cx="33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400">
                  <a:solidFill>
                    <a:srgbClr val="FF0000"/>
                  </a:solidFill>
                </a:rPr>
                <a:t>12</a:t>
              </a:r>
              <a:endParaRPr lang="en-US" altLang="zh-CN" sz="2400" baseline="-25000">
                <a:solidFill>
                  <a:srgbClr val="FF0000"/>
                </a:solidFill>
              </a:endParaRPr>
            </a:p>
          </p:txBody>
        </p:sp>
        <p:sp>
          <p:nvSpPr>
            <p:cNvPr id="41023" name="Line 25"/>
            <p:cNvSpPr>
              <a:spLocks noChangeShapeType="1"/>
            </p:cNvSpPr>
            <p:nvPr/>
          </p:nvSpPr>
          <p:spPr bwMode="auto">
            <a:xfrm>
              <a:off x="5568" y="1344"/>
              <a:ext cx="0" cy="18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024" name="Line 26"/>
            <p:cNvSpPr>
              <a:spLocks noChangeShapeType="1"/>
            </p:cNvSpPr>
            <p:nvPr/>
          </p:nvSpPr>
          <p:spPr bwMode="auto">
            <a:xfrm>
              <a:off x="3216" y="1344"/>
              <a:ext cx="23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0966" name="Group 27"/>
          <p:cNvGrpSpPr>
            <a:grpSpLocks/>
          </p:cNvGrpSpPr>
          <p:nvPr/>
        </p:nvGrpSpPr>
        <p:grpSpPr bwMode="auto">
          <a:xfrm>
            <a:off x="685800" y="4572000"/>
            <a:ext cx="7086600" cy="1981200"/>
            <a:chOff x="432" y="2880"/>
            <a:chExt cx="4464" cy="1248"/>
          </a:xfrm>
        </p:grpSpPr>
        <p:sp>
          <p:nvSpPr>
            <p:cNvPr id="40968" name="Rectangle 28"/>
            <p:cNvSpPr>
              <a:spLocks noChangeArrowheads="1"/>
            </p:cNvSpPr>
            <p:nvPr/>
          </p:nvSpPr>
          <p:spPr bwMode="auto">
            <a:xfrm>
              <a:off x="432" y="2880"/>
              <a:ext cx="2304"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t>调度结果</a:t>
              </a:r>
            </a:p>
          </p:txBody>
        </p:sp>
        <p:grpSp>
          <p:nvGrpSpPr>
            <p:cNvPr id="40969" name="Group 29"/>
            <p:cNvGrpSpPr>
              <a:grpSpLocks/>
            </p:cNvGrpSpPr>
            <p:nvPr/>
          </p:nvGrpSpPr>
          <p:grpSpPr bwMode="auto">
            <a:xfrm>
              <a:off x="816" y="3360"/>
              <a:ext cx="4080" cy="768"/>
              <a:chOff x="816" y="3360"/>
              <a:chExt cx="4080" cy="768"/>
            </a:xfrm>
          </p:grpSpPr>
          <p:sp>
            <p:nvSpPr>
              <p:cNvPr id="40970" name="Rectangle 30"/>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0971" name="Text Box 31"/>
              <p:cNvSpPr txBox="1">
                <a:spLocks noChangeArrowheads="1"/>
              </p:cNvSpPr>
              <p:nvPr/>
            </p:nvSpPr>
            <p:spPr bwMode="auto">
              <a:xfrm>
                <a:off x="107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40972" name="Text Box 32"/>
              <p:cNvSpPr txBox="1">
                <a:spLocks noChangeArrowheads="1"/>
              </p:cNvSpPr>
              <p:nvPr/>
            </p:nvSpPr>
            <p:spPr bwMode="auto">
              <a:xfrm>
                <a:off x="2469"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40973" name="Text Box 33"/>
              <p:cNvSpPr txBox="1">
                <a:spLocks noChangeArrowheads="1"/>
              </p:cNvSpPr>
              <p:nvPr/>
            </p:nvSpPr>
            <p:spPr bwMode="auto">
              <a:xfrm>
                <a:off x="1605"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40974" name="Line 34"/>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5" name="Line 35"/>
              <p:cNvSpPr>
                <a:spLocks noChangeShapeType="1"/>
              </p:cNvSpPr>
              <p:nvPr/>
            </p:nvSpPr>
            <p:spPr bwMode="auto">
              <a:xfrm>
                <a:off x="2405"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6" name="Line 36"/>
              <p:cNvSpPr>
                <a:spLocks noChangeShapeType="1"/>
              </p:cNvSpPr>
              <p:nvPr/>
            </p:nvSpPr>
            <p:spPr bwMode="auto">
              <a:xfrm>
                <a:off x="2405"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77" name="Text Box 37"/>
              <p:cNvSpPr txBox="1">
                <a:spLocks noChangeArrowheads="1"/>
              </p:cNvSpPr>
              <p:nvPr/>
            </p:nvSpPr>
            <p:spPr bwMode="auto">
              <a:xfrm>
                <a:off x="225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23</a:t>
                </a:r>
              </a:p>
            </p:txBody>
          </p:sp>
          <p:sp>
            <p:nvSpPr>
              <p:cNvPr id="40978" name="Text Box 38"/>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40979" name="Text Box 39"/>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40980" name="Line 40"/>
              <p:cNvSpPr>
                <a:spLocks noChangeShapeType="1"/>
              </p:cNvSpPr>
              <p:nvPr/>
            </p:nvSpPr>
            <p:spPr bwMode="auto">
              <a:xfrm>
                <a:off x="1488"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1" name="Line 41"/>
              <p:cNvSpPr>
                <a:spLocks noChangeShapeType="1"/>
              </p:cNvSpPr>
              <p:nvPr/>
            </p:nvSpPr>
            <p:spPr bwMode="auto">
              <a:xfrm>
                <a:off x="1488"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2" name="Text Box 42"/>
              <p:cNvSpPr txBox="1">
                <a:spLocks noChangeArrowheads="1"/>
              </p:cNvSpPr>
              <p:nvPr/>
            </p:nvSpPr>
            <p:spPr bwMode="auto">
              <a:xfrm>
                <a:off x="129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10</a:t>
                </a:r>
              </a:p>
            </p:txBody>
          </p:sp>
          <p:sp>
            <p:nvSpPr>
              <p:cNvPr id="40983" name="Line 43"/>
              <p:cNvSpPr>
                <a:spLocks noChangeShapeType="1"/>
              </p:cNvSpPr>
              <p:nvPr/>
            </p:nvSpPr>
            <p:spPr bwMode="auto">
              <a:xfrm>
                <a:off x="201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4" name="Line 44"/>
              <p:cNvSpPr>
                <a:spLocks noChangeShapeType="1"/>
              </p:cNvSpPr>
              <p:nvPr/>
            </p:nvSpPr>
            <p:spPr bwMode="auto">
              <a:xfrm>
                <a:off x="201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5" name="Text Box 45"/>
              <p:cNvSpPr txBox="1">
                <a:spLocks noChangeArrowheads="1"/>
              </p:cNvSpPr>
              <p:nvPr/>
            </p:nvSpPr>
            <p:spPr bwMode="auto">
              <a:xfrm>
                <a:off x="182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20</a:t>
                </a:r>
              </a:p>
            </p:txBody>
          </p:sp>
          <p:sp>
            <p:nvSpPr>
              <p:cNvPr id="40986" name="Text Box 46"/>
              <p:cNvSpPr txBox="1">
                <a:spLocks noChangeArrowheads="1"/>
              </p:cNvSpPr>
              <p:nvPr/>
            </p:nvSpPr>
            <p:spPr bwMode="auto">
              <a:xfrm>
                <a:off x="203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40987" name="Line 47"/>
              <p:cNvSpPr>
                <a:spLocks noChangeShapeType="1"/>
              </p:cNvSpPr>
              <p:nvPr/>
            </p:nvSpPr>
            <p:spPr bwMode="auto">
              <a:xfrm>
                <a:off x="2865"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8" name="Line 48"/>
              <p:cNvSpPr>
                <a:spLocks noChangeShapeType="1"/>
              </p:cNvSpPr>
              <p:nvPr/>
            </p:nvSpPr>
            <p:spPr bwMode="auto">
              <a:xfrm>
                <a:off x="2865"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89" name="Text Box 49"/>
              <p:cNvSpPr txBox="1">
                <a:spLocks noChangeArrowheads="1"/>
              </p:cNvSpPr>
              <p:nvPr/>
            </p:nvSpPr>
            <p:spPr bwMode="auto">
              <a:xfrm>
                <a:off x="2673"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30</a:t>
                </a:r>
              </a:p>
            </p:txBody>
          </p:sp>
          <p:sp>
            <p:nvSpPr>
              <p:cNvPr id="40990" name="Line 50"/>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91" name="Text Box 51"/>
              <p:cNvSpPr txBox="1">
                <a:spLocks noChangeArrowheads="1"/>
              </p:cNvSpPr>
              <p:nvPr/>
            </p:nvSpPr>
            <p:spPr bwMode="auto">
              <a:xfrm>
                <a:off x="3024"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40992" name="Text Box 52"/>
              <p:cNvSpPr txBox="1">
                <a:spLocks noChangeArrowheads="1"/>
              </p:cNvSpPr>
              <p:nvPr/>
            </p:nvSpPr>
            <p:spPr bwMode="auto">
              <a:xfrm>
                <a:off x="326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40</a:t>
                </a:r>
              </a:p>
            </p:txBody>
          </p:sp>
          <p:sp>
            <p:nvSpPr>
              <p:cNvPr id="40993" name="Line 53"/>
              <p:cNvSpPr>
                <a:spLocks noChangeShapeType="1"/>
              </p:cNvSpPr>
              <p:nvPr/>
            </p:nvSpPr>
            <p:spPr bwMode="auto">
              <a:xfrm>
                <a:off x="345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94" name="Line 54"/>
              <p:cNvSpPr>
                <a:spLocks noChangeShapeType="1"/>
              </p:cNvSpPr>
              <p:nvPr/>
            </p:nvSpPr>
            <p:spPr bwMode="auto">
              <a:xfrm>
                <a:off x="345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95" name="Text Box 55"/>
              <p:cNvSpPr txBox="1">
                <a:spLocks noChangeArrowheads="1"/>
              </p:cNvSpPr>
              <p:nvPr/>
            </p:nvSpPr>
            <p:spPr bwMode="auto">
              <a:xfrm>
                <a:off x="356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40996" name="Text Box 56"/>
              <p:cNvSpPr txBox="1">
                <a:spLocks noChangeArrowheads="1"/>
              </p:cNvSpPr>
              <p:nvPr/>
            </p:nvSpPr>
            <p:spPr bwMode="auto">
              <a:xfrm>
                <a:off x="3840"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50</a:t>
                </a:r>
              </a:p>
            </p:txBody>
          </p:sp>
          <p:sp>
            <p:nvSpPr>
              <p:cNvPr id="40997" name="Line 57"/>
              <p:cNvSpPr>
                <a:spLocks noChangeShapeType="1"/>
              </p:cNvSpPr>
              <p:nvPr/>
            </p:nvSpPr>
            <p:spPr bwMode="auto">
              <a:xfrm>
                <a:off x="402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98" name="Line 58"/>
              <p:cNvSpPr>
                <a:spLocks noChangeShapeType="1"/>
              </p:cNvSpPr>
              <p:nvPr/>
            </p:nvSpPr>
            <p:spPr bwMode="auto">
              <a:xfrm>
                <a:off x="402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999" name="Text Box 59"/>
              <p:cNvSpPr txBox="1">
                <a:spLocks noChangeArrowheads="1"/>
              </p:cNvSpPr>
              <p:nvPr/>
            </p:nvSpPr>
            <p:spPr bwMode="auto">
              <a:xfrm>
                <a:off x="4005"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41000" name="Text Box 60"/>
              <p:cNvSpPr txBox="1">
                <a:spLocks noChangeArrowheads="1"/>
              </p:cNvSpPr>
              <p:nvPr/>
            </p:nvSpPr>
            <p:spPr bwMode="auto">
              <a:xfrm>
                <a:off x="408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52</a:t>
                </a:r>
              </a:p>
            </p:txBody>
          </p:sp>
          <p:sp>
            <p:nvSpPr>
              <p:cNvPr id="41001" name="Line 61"/>
              <p:cNvSpPr>
                <a:spLocks noChangeShapeType="1"/>
              </p:cNvSpPr>
              <p:nvPr/>
            </p:nvSpPr>
            <p:spPr bwMode="auto">
              <a:xfrm>
                <a:off x="427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02" name="Line 62"/>
              <p:cNvSpPr>
                <a:spLocks noChangeShapeType="1"/>
              </p:cNvSpPr>
              <p:nvPr/>
            </p:nvSpPr>
            <p:spPr bwMode="auto">
              <a:xfrm>
                <a:off x="427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003" name="Text Box 63"/>
              <p:cNvSpPr txBox="1">
                <a:spLocks noChangeArrowheads="1"/>
              </p:cNvSpPr>
              <p:nvPr/>
            </p:nvSpPr>
            <p:spPr bwMode="auto">
              <a:xfrm>
                <a:off x="4368"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grpSp>
      </p:grpSp>
      <p:sp>
        <p:nvSpPr>
          <p:cNvPr id="40967" name="Line 64"/>
          <p:cNvSpPr>
            <a:spLocks noChangeShapeType="1"/>
          </p:cNvSpPr>
          <p:nvPr/>
        </p:nvSpPr>
        <p:spPr bwMode="auto">
          <a:xfrm>
            <a:off x="7162800" y="838200"/>
            <a:ext cx="685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381000" y="304800"/>
            <a:ext cx="8763000" cy="676275"/>
          </a:xfrm>
        </p:spPr>
        <p:txBody>
          <a:bodyPr/>
          <a:lstStyle/>
          <a:p>
            <a:pPr eaLnBrk="1" hangingPunct="1"/>
            <a:r>
              <a:rPr lang="en-US" altLang="zh-CN" smtClean="0">
                <a:sym typeface="Symbol" panose="05050102010706020507" pitchFamily="18" charset="2"/>
              </a:rPr>
              <a:t>RR</a:t>
            </a:r>
            <a:r>
              <a:rPr lang="zh-CN" altLang="en-US" smtClean="0">
                <a:sym typeface="Symbol" panose="05050102010706020507" pitchFamily="18" charset="2"/>
              </a:rPr>
              <a:t>的分析</a:t>
            </a:r>
          </a:p>
        </p:txBody>
      </p:sp>
      <p:sp>
        <p:nvSpPr>
          <p:cNvPr id="202755" name="Rectangle 3"/>
          <p:cNvSpPr>
            <a:spLocks noGrp="1" noChangeArrowheads="1"/>
          </p:cNvSpPr>
          <p:nvPr>
            <p:ph type="body" idx="1"/>
          </p:nvPr>
        </p:nvSpPr>
        <p:spPr>
          <a:xfrm>
            <a:off x="685800" y="3935413"/>
            <a:ext cx="8001000" cy="865187"/>
          </a:xfrm>
          <a:noFill/>
        </p:spPr>
        <p:txBody>
          <a:bodyPr/>
          <a:lstStyle/>
          <a:p>
            <a:pPr eaLnBrk="1" hangingPunct="1">
              <a:lnSpc>
                <a:spcPct val="130000"/>
              </a:lnSpc>
            </a:pPr>
            <a:r>
              <a:rPr lang="en-US" altLang="zh-CN" smtClean="0"/>
              <a:t>RR</a:t>
            </a:r>
            <a:r>
              <a:rPr lang="zh-CN" altLang="en-US" smtClean="0"/>
              <a:t>优点</a:t>
            </a:r>
            <a:r>
              <a:rPr lang="en-US" altLang="zh-CN" smtClean="0"/>
              <a:t>: </a:t>
            </a:r>
            <a:r>
              <a:rPr lang="zh-CN" altLang="en-US" smtClean="0"/>
              <a:t>定时有响应，等待时间较短</a:t>
            </a:r>
          </a:p>
        </p:txBody>
      </p:sp>
      <p:grpSp>
        <p:nvGrpSpPr>
          <p:cNvPr id="41988" name="Group 28"/>
          <p:cNvGrpSpPr>
            <a:grpSpLocks/>
          </p:cNvGrpSpPr>
          <p:nvPr/>
        </p:nvGrpSpPr>
        <p:grpSpPr bwMode="auto">
          <a:xfrm>
            <a:off x="1295400" y="1371600"/>
            <a:ext cx="6477000" cy="1219200"/>
            <a:chOff x="816" y="3360"/>
            <a:chExt cx="4080" cy="768"/>
          </a:xfrm>
        </p:grpSpPr>
        <p:sp>
          <p:nvSpPr>
            <p:cNvPr id="42022" name="Rectangle 29"/>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2023" name="Text Box 30"/>
            <p:cNvSpPr txBox="1">
              <a:spLocks noChangeArrowheads="1"/>
            </p:cNvSpPr>
            <p:nvPr/>
          </p:nvSpPr>
          <p:spPr bwMode="auto">
            <a:xfrm>
              <a:off x="107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42024" name="Text Box 31"/>
            <p:cNvSpPr txBox="1">
              <a:spLocks noChangeArrowheads="1"/>
            </p:cNvSpPr>
            <p:nvPr/>
          </p:nvSpPr>
          <p:spPr bwMode="auto">
            <a:xfrm>
              <a:off x="2469"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42025" name="Text Box 32"/>
            <p:cNvSpPr txBox="1">
              <a:spLocks noChangeArrowheads="1"/>
            </p:cNvSpPr>
            <p:nvPr/>
          </p:nvSpPr>
          <p:spPr bwMode="auto">
            <a:xfrm>
              <a:off x="1605"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42026" name="Line 33"/>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7" name="Line 34"/>
            <p:cNvSpPr>
              <a:spLocks noChangeShapeType="1"/>
            </p:cNvSpPr>
            <p:nvPr/>
          </p:nvSpPr>
          <p:spPr bwMode="auto">
            <a:xfrm>
              <a:off x="2405"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8" name="Line 35"/>
            <p:cNvSpPr>
              <a:spLocks noChangeShapeType="1"/>
            </p:cNvSpPr>
            <p:nvPr/>
          </p:nvSpPr>
          <p:spPr bwMode="auto">
            <a:xfrm>
              <a:off x="2405"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29" name="Text Box 36"/>
            <p:cNvSpPr txBox="1">
              <a:spLocks noChangeArrowheads="1"/>
            </p:cNvSpPr>
            <p:nvPr/>
          </p:nvSpPr>
          <p:spPr bwMode="auto">
            <a:xfrm>
              <a:off x="225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23</a:t>
              </a:r>
            </a:p>
          </p:txBody>
        </p:sp>
        <p:sp>
          <p:nvSpPr>
            <p:cNvPr id="42030" name="Text Box 37"/>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42031" name="Text Box 38"/>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42032" name="Line 39"/>
            <p:cNvSpPr>
              <a:spLocks noChangeShapeType="1"/>
            </p:cNvSpPr>
            <p:nvPr/>
          </p:nvSpPr>
          <p:spPr bwMode="auto">
            <a:xfrm>
              <a:off x="1488"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33" name="Line 40"/>
            <p:cNvSpPr>
              <a:spLocks noChangeShapeType="1"/>
            </p:cNvSpPr>
            <p:nvPr/>
          </p:nvSpPr>
          <p:spPr bwMode="auto">
            <a:xfrm>
              <a:off x="1488"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34" name="Text Box 41"/>
            <p:cNvSpPr txBox="1">
              <a:spLocks noChangeArrowheads="1"/>
            </p:cNvSpPr>
            <p:nvPr/>
          </p:nvSpPr>
          <p:spPr bwMode="auto">
            <a:xfrm>
              <a:off x="129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10</a:t>
              </a:r>
            </a:p>
          </p:txBody>
        </p:sp>
        <p:sp>
          <p:nvSpPr>
            <p:cNvPr id="42035" name="Line 42"/>
            <p:cNvSpPr>
              <a:spLocks noChangeShapeType="1"/>
            </p:cNvSpPr>
            <p:nvPr/>
          </p:nvSpPr>
          <p:spPr bwMode="auto">
            <a:xfrm>
              <a:off x="201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36" name="Line 43"/>
            <p:cNvSpPr>
              <a:spLocks noChangeShapeType="1"/>
            </p:cNvSpPr>
            <p:nvPr/>
          </p:nvSpPr>
          <p:spPr bwMode="auto">
            <a:xfrm>
              <a:off x="201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37" name="Text Box 44"/>
            <p:cNvSpPr txBox="1">
              <a:spLocks noChangeArrowheads="1"/>
            </p:cNvSpPr>
            <p:nvPr/>
          </p:nvSpPr>
          <p:spPr bwMode="auto">
            <a:xfrm>
              <a:off x="182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20</a:t>
              </a:r>
            </a:p>
          </p:txBody>
        </p:sp>
        <p:sp>
          <p:nvSpPr>
            <p:cNvPr id="42038" name="Text Box 45"/>
            <p:cNvSpPr txBox="1">
              <a:spLocks noChangeArrowheads="1"/>
            </p:cNvSpPr>
            <p:nvPr/>
          </p:nvSpPr>
          <p:spPr bwMode="auto">
            <a:xfrm>
              <a:off x="203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42039" name="Line 46"/>
            <p:cNvSpPr>
              <a:spLocks noChangeShapeType="1"/>
            </p:cNvSpPr>
            <p:nvPr/>
          </p:nvSpPr>
          <p:spPr bwMode="auto">
            <a:xfrm>
              <a:off x="2865"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0" name="Line 47"/>
            <p:cNvSpPr>
              <a:spLocks noChangeShapeType="1"/>
            </p:cNvSpPr>
            <p:nvPr/>
          </p:nvSpPr>
          <p:spPr bwMode="auto">
            <a:xfrm>
              <a:off x="2865"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1" name="Text Box 48"/>
            <p:cNvSpPr txBox="1">
              <a:spLocks noChangeArrowheads="1"/>
            </p:cNvSpPr>
            <p:nvPr/>
          </p:nvSpPr>
          <p:spPr bwMode="auto">
            <a:xfrm>
              <a:off x="2673"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30</a:t>
              </a:r>
            </a:p>
          </p:txBody>
        </p:sp>
        <p:sp>
          <p:nvSpPr>
            <p:cNvPr id="42042" name="Line 49"/>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3" name="Text Box 50"/>
            <p:cNvSpPr txBox="1">
              <a:spLocks noChangeArrowheads="1"/>
            </p:cNvSpPr>
            <p:nvPr/>
          </p:nvSpPr>
          <p:spPr bwMode="auto">
            <a:xfrm>
              <a:off x="3024"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42044" name="Text Box 51"/>
            <p:cNvSpPr txBox="1">
              <a:spLocks noChangeArrowheads="1"/>
            </p:cNvSpPr>
            <p:nvPr/>
          </p:nvSpPr>
          <p:spPr bwMode="auto">
            <a:xfrm>
              <a:off x="326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40</a:t>
              </a:r>
            </a:p>
          </p:txBody>
        </p:sp>
        <p:sp>
          <p:nvSpPr>
            <p:cNvPr id="42045" name="Line 52"/>
            <p:cNvSpPr>
              <a:spLocks noChangeShapeType="1"/>
            </p:cNvSpPr>
            <p:nvPr/>
          </p:nvSpPr>
          <p:spPr bwMode="auto">
            <a:xfrm>
              <a:off x="345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6" name="Line 53"/>
            <p:cNvSpPr>
              <a:spLocks noChangeShapeType="1"/>
            </p:cNvSpPr>
            <p:nvPr/>
          </p:nvSpPr>
          <p:spPr bwMode="auto">
            <a:xfrm>
              <a:off x="345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47" name="Text Box 54"/>
            <p:cNvSpPr txBox="1">
              <a:spLocks noChangeArrowheads="1"/>
            </p:cNvSpPr>
            <p:nvPr/>
          </p:nvSpPr>
          <p:spPr bwMode="auto">
            <a:xfrm>
              <a:off x="356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sp>
          <p:nvSpPr>
            <p:cNvPr id="42048" name="Text Box 55"/>
            <p:cNvSpPr txBox="1">
              <a:spLocks noChangeArrowheads="1"/>
            </p:cNvSpPr>
            <p:nvPr/>
          </p:nvSpPr>
          <p:spPr bwMode="auto">
            <a:xfrm>
              <a:off x="3840"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50</a:t>
              </a:r>
            </a:p>
          </p:txBody>
        </p:sp>
        <p:sp>
          <p:nvSpPr>
            <p:cNvPr id="42049" name="Line 56"/>
            <p:cNvSpPr>
              <a:spLocks noChangeShapeType="1"/>
            </p:cNvSpPr>
            <p:nvPr/>
          </p:nvSpPr>
          <p:spPr bwMode="auto">
            <a:xfrm>
              <a:off x="402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50" name="Line 57"/>
            <p:cNvSpPr>
              <a:spLocks noChangeShapeType="1"/>
            </p:cNvSpPr>
            <p:nvPr/>
          </p:nvSpPr>
          <p:spPr bwMode="auto">
            <a:xfrm>
              <a:off x="402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51" name="Text Box 58"/>
            <p:cNvSpPr txBox="1">
              <a:spLocks noChangeArrowheads="1"/>
            </p:cNvSpPr>
            <p:nvPr/>
          </p:nvSpPr>
          <p:spPr bwMode="auto">
            <a:xfrm>
              <a:off x="4005"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42052" name="Text Box 59"/>
            <p:cNvSpPr txBox="1">
              <a:spLocks noChangeArrowheads="1"/>
            </p:cNvSpPr>
            <p:nvPr/>
          </p:nvSpPr>
          <p:spPr bwMode="auto">
            <a:xfrm>
              <a:off x="408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52</a:t>
              </a:r>
            </a:p>
          </p:txBody>
        </p:sp>
        <p:sp>
          <p:nvSpPr>
            <p:cNvPr id="42053" name="Line 60"/>
            <p:cNvSpPr>
              <a:spLocks noChangeShapeType="1"/>
            </p:cNvSpPr>
            <p:nvPr/>
          </p:nvSpPr>
          <p:spPr bwMode="auto">
            <a:xfrm>
              <a:off x="427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54" name="Line 61"/>
            <p:cNvSpPr>
              <a:spLocks noChangeShapeType="1"/>
            </p:cNvSpPr>
            <p:nvPr/>
          </p:nvSpPr>
          <p:spPr bwMode="auto">
            <a:xfrm>
              <a:off x="427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55" name="Text Box 62"/>
            <p:cNvSpPr txBox="1">
              <a:spLocks noChangeArrowheads="1"/>
            </p:cNvSpPr>
            <p:nvPr/>
          </p:nvSpPr>
          <p:spPr bwMode="auto">
            <a:xfrm>
              <a:off x="4368"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grpSp>
      <p:grpSp>
        <p:nvGrpSpPr>
          <p:cNvPr id="202815" name="Group 63"/>
          <p:cNvGrpSpPr>
            <a:grpSpLocks/>
          </p:cNvGrpSpPr>
          <p:nvPr/>
        </p:nvGrpSpPr>
        <p:grpSpPr bwMode="auto">
          <a:xfrm>
            <a:off x="906463" y="2590800"/>
            <a:ext cx="6256337" cy="609600"/>
            <a:chOff x="571" y="1684"/>
            <a:chExt cx="3941" cy="384"/>
          </a:xfrm>
        </p:grpSpPr>
        <p:sp>
          <p:nvSpPr>
            <p:cNvPr id="42020" name="Rectangle 64"/>
            <p:cNvSpPr>
              <a:spLocks noChangeArrowheads="1"/>
            </p:cNvSpPr>
            <p:nvPr/>
          </p:nvSpPr>
          <p:spPr bwMode="auto">
            <a:xfrm>
              <a:off x="571" y="1684"/>
              <a:ext cx="394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solidFill>
                    <a:srgbClr val="FF0000"/>
                  </a:solidFill>
                </a:rPr>
                <a:t>平均等待时间？</a:t>
              </a:r>
              <a:r>
                <a:rPr lang="en-US" altLang="zh-CN" sz="2400">
                  <a:solidFill>
                    <a:srgbClr val="FF0000"/>
                  </a:solidFill>
                </a:rPr>
                <a:t> (0+32+20+23+40)/5 = 23</a:t>
              </a:r>
            </a:p>
          </p:txBody>
        </p:sp>
        <p:pic>
          <p:nvPicPr>
            <p:cNvPr id="42021" name="Picture 65"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184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2824" name="Group 72"/>
          <p:cNvGrpSpPr>
            <a:grpSpLocks/>
          </p:cNvGrpSpPr>
          <p:nvPr/>
        </p:nvGrpSpPr>
        <p:grpSpPr bwMode="auto">
          <a:xfrm>
            <a:off x="906463" y="3200400"/>
            <a:ext cx="7627937" cy="603250"/>
            <a:chOff x="571" y="1924"/>
            <a:chExt cx="4805" cy="380"/>
          </a:xfrm>
        </p:grpSpPr>
        <p:sp>
          <p:nvSpPr>
            <p:cNvPr id="42018" name="Rectangle 67"/>
            <p:cNvSpPr>
              <a:spLocks noChangeArrowheads="1"/>
            </p:cNvSpPr>
            <p:nvPr/>
          </p:nvSpPr>
          <p:spPr bwMode="auto">
            <a:xfrm>
              <a:off x="571" y="1924"/>
              <a:ext cx="4805"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en-US" altLang="zh-CN" sz="2400"/>
                <a:t>SJF</a:t>
              </a:r>
              <a:r>
                <a:rPr lang="zh-CN" altLang="en-US" sz="2400"/>
                <a:t>的平均等待时间</a:t>
              </a:r>
              <a:r>
                <a:rPr lang="en-US" altLang="zh-CN" sz="2400"/>
                <a:t>: 13; FCFS</a:t>
              </a:r>
              <a:r>
                <a:rPr lang="zh-CN" altLang="en-US" sz="2400"/>
                <a:t>的平均等待时间</a:t>
              </a:r>
              <a:r>
                <a:rPr lang="en-US" altLang="zh-CN" sz="2400"/>
                <a:t>: 28 </a:t>
              </a:r>
            </a:p>
          </p:txBody>
        </p:sp>
        <p:pic>
          <p:nvPicPr>
            <p:cNvPr id="42019" name="Picture 68" descr="j01158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 y="2080"/>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2849" name="Group 97"/>
          <p:cNvGrpSpPr>
            <a:grpSpLocks/>
          </p:cNvGrpSpPr>
          <p:nvPr/>
        </p:nvGrpSpPr>
        <p:grpSpPr bwMode="auto">
          <a:xfrm>
            <a:off x="685800" y="4572000"/>
            <a:ext cx="8001000" cy="2057400"/>
            <a:chOff x="432" y="2880"/>
            <a:chExt cx="5040" cy="1296"/>
          </a:xfrm>
        </p:grpSpPr>
        <p:sp>
          <p:nvSpPr>
            <p:cNvPr id="41994" name="Rectangle 73"/>
            <p:cNvSpPr>
              <a:spLocks noChangeArrowheads="1"/>
            </p:cNvSpPr>
            <p:nvPr/>
          </p:nvSpPr>
          <p:spPr bwMode="auto">
            <a:xfrm>
              <a:off x="432" y="2880"/>
              <a:ext cx="5040" cy="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dirty="0"/>
                <a:t>RR</a:t>
              </a:r>
              <a:r>
                <a:rPr lang="zh-CN" altLang="en-US" dirty="0"/>
                <a:t>缺点</a:t>
              </a:r>
              <a:r>
                <a:rPr lang="en-US" altLang="zh-CN" dirty="0"/>
                <a:t>: </a:t>
              </a:r>
              <a:r>
                <a:rPr lang="zh-CN" altLang="en-US" dirty="0"/>
                <a:t>上下文切换次数较多</a:t>
              </a:r>
              <a:r>
                <a:rPr lang="en-US" altLang="zh-CN" dirty="0"/>
                <a:t>(</a:t>
              </a:r>
              <a:r>
                <a:rPr lang="en-US" altLang="zh-CN" dirty="0">
                  <a:solidFill>
                    <a:srgbClr val="00B050"/>
                  </a:solidFill>
                </a:rPr>
                <a:t>7</a:t>
              </a:r>
              <a:r>
                <a:rPr lang="zh-CN" altLang="en-US" dirty="0">
                  <a:solidFill>
                    <a:srgbClr val="00B050"/>
                  </a:solidFill>
                </a:rPr>
                <a:t>次 </a:t>
              </a:r>
              <a:r>
                <a:rPr lang="en-US" altLang="zh-CN" dirty="0">
                  <a:solidFill>
                    <a:srgbClr val="00B050"/>
                  </a:solidFill>
                </a:rPr>
                <a:t>vs. 4</a:t>
              </a:r>
              <a:r>
                <a:rPr lang="zh-CN" altLang="en-US" dirty="0">
                  <a:solidFill>
                    <a:srgbClr val="00B050"/>
                  </a:solidFill>
                </a:rPr>
                <a:t>次</a:t>
              </a:r>
              <a:r>
                <a:rPr lang="en-US" altLang="zh-CN" dirty="0"/>
                <a:t>)</a:t>
              </a:r>
            </a:p>
          </p:txBody>
        </p:sp>
        <p:grpSp>
          <p:nvGrpSpPr>
            <p:cNvPr id="41995" name="Group 74"/>
            <p:cNvGrpSpPr>
              <a:grpSpLocks/>
            </p:cNvGrpSpPr>
            <p:nvPr/>
          </p:nvGrpSpPr>
          <p:grpSpPr bwMode="auto">
            <a:xfrm>
              <a:off x="864" y="3408"/>
              <a:ext cx="4080" cy="768"/>
              <a:chOff x="816" y="3360"/>
              <a:chExt cx="4080" cy="768"/>
            </a:xfrm>
          </p:grpSpPr>
          <p:sp>
            <p:nvSpPr>
              <p:cNvPr id="41996" name="Rectangle 75"/>
              <p:cNvSpPr>
                <a:spLocks noChangeArrowheads="1"/>
              </p:cNvSpPr>
              <p:nvPr/>
            </p:nvSpPr>
            <p:spPr bwMode="auto">
              <a:xfrm>
                <a:off x="920" y="3360"/>
                <a:ext cx="3832" cy="384"/>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1997" name="Text Box 76"/>
              <p:cNvSpPr txBox="1">
                <a:spLocks noChangeArrowheads="1"/>
              </p:cNvSpPr>
              <p:nvPr/>
            </p:nvSpPr>
            <p:spPr bwMode="auto">
              <a:xfrm>
                <a:off x="960"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3</a:t>
                </a:r>
                <a:endParaRPr lang="en-US" altLang="zh-CN" sz="2400">
                  <a:solidFill>
                    <a:srgbClr val="FF0000"/>
                  </a:solidFill>
                  <a:latin typeface="Helvetica" panose="020B0604020202020204" pitchFamily="34" charset="0"/>
                </a:endParaRPr>
              </a:p>
            </p:txBody>
          </p:sp>
          <p:sp>
            <p:nvSpPr>
              <p:cNvPr id="41998" name="Text Box 77"/>
              <p:cNvSpPr txBox="1">
                <a:spLocks noChangeArrowheads="1"/>
              </p:cNvSpPr>
              <p:nvPr/>
            </p:nvSpPr>
            <p:spPr bwMode="auto">
              <a:xfrm>
                <a:off x="146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4</a:t>
                </a:r>
                <a:endParaRPr lang="en-US" altLang="zh-CN" sz="2400">
                  <a:solidFill>
                    <a:srgbClr val="FF0000"/>
                  </a:solidFill>
                  <a:latin typeface="Helvetica" panose="020B0604020202020204" pitchFamily="34" charset="0"/>
                </a:endParaRPr>
              </a:p>
            </p:txBody>
          </p:sp>
          <p:sp>
            <p:nvSpPr>
              <p:cNvPr id="41999" name="Text Box 78"/>
              <p:cNvSpPr txBox="1">
                <a:spLocks noChangeArrowheads="1"/>
              </p:cNvSpPr>
              <p:nvPr/>
            </p:nvSpPr>
            <p:spPr bwMode="auto">
              <a:xfrm>
                <a:off x="2181"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1</a:t>
                </a:r>
                <a:endParaRPr lang="en-US" altLang="zh-CN" sz="2400">
                  <a:solidFill>
                    <a:srgbClr val="FF0000"/>
                  </a:solidFill>
                  <a:latin typeface="Helvetica" panose="020B0604020202020204" pitchFamily="34" charset="0"/>
                </a:endParaRPr>
              </a:p>
            </p:txBody>
          </p:sp>
          <p:sp>
            <p:nvSpPr>
              <p:cNvPr id="42000" name="Line 79"/>
              <p:cNvSpPr>
                <a:spLocks noChangeShapeType="1"/>
              </p:cNvSpPr>
              <p:nvPr/>
            </p:nvSpPr>
            <p:spPr bwMode="auto">
              <a:xfrm>
                <a:off x="92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1" name="Line 80"/>
              <p:cNvSpPr>
                <a:spLocks noChangeShapeType="1"/>
              </p:cNvSpPr>
              <p:nvPr/>
            </p:nvSpPr>
            <p:spPr bwMode="auto">
              <a:xfrm>
                <a:off x="1302"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2" name="Line 81"/>
              <p:cNvSpPr>
                <a:spLocks noChangeShapeType="1"/>
              </p:cNvSpPr>
              <p:nvPr/>
            </p:nvSpPr>
            <p:spPr bwMode="auto">
              <a:xfrm>
                <a:off x="130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3" name="Text Box 82"/>
              <p:cNvSpPr txBox="1">
                <a:spLocks noChangeArrowheads="1"/>
              </p:cNvSpPr>
              <p:nvPr/>
            </p:nvSpPr>
            <p:spPr bwMode="auto">
              <a:xfrm>
                <a:off x="1163"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a:t>
                </a:r>
              </a:p>
            </p:txBody>
          </p:sp>
          <p:sp>
            <p:nvSpPr>
              <p:cNvPr id="42004" name="Text Box 83"/>
              <p:cNvSpPr txBox="1">
                <a:spLocks noChangeArrowheads="1"/>
              </p:cNvSpPr>
              <p:nvPr/>
            </p:nvSpPr>
            <p:spPr bwMode="auto">
              <a:xfrm>
                <a:off x="4566"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61</a:t>
                </a:r>
              </a:p>
            </p:txBody>
          </p:sp>
          <p:sp>
            <p:nvSpPr>
              <p:cNvPr id="42005" name="Text Box 84"/>
              <p:cNvSpPr txBox="1">
                <a:spLocks noChangeArrowheads="1"/>
              </p:cNvSpPr>
              <p:nvPr/>
            </p:nvSpPr>
            <p:spPr bwMode="auto">
              <a:xfrm>
                <a:off x="816" y="3840"/>
                <a:ext cx="223"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0</a:t>
                </a:r>
              </a:p>
            </p:txBody>
          </p:sp>
          <p:sp>
            <p:nvSpPr>
              <p:cNvPr id="42006" name="Line 85"/>
              <p:cNvSpPr>
                <a:spLocks noChangeShapeType="1"/>
              </p:cNvSpPr>
              <p:nvPr/>
            </p:nvSpPr>
            <p:spPr bwMode="auto">
              <a:xfrm>
                <a:off x="1926"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7" name="Line 86"/>
              <p:cNvSpPr>
                <a:spLocks noChangeShapeType="1"/>
              </p:cNvSpPr>
              <p:nvPr/>
            </p:nvSpPr>
            <p:spPr bwMode="auto">
              <a:xfrm>
                <a:off x="1926"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08" name="Text Box 87"/>
              <p:cNvSpPr txBox="1">
                <a:spLocks noChangeArrowheads="1"/>
              </p:cNvSpPr>
              <p:nvPr/>
            </p:nvSpPr>
            <p:spPr bwMode="auto">
              <a:xfrm>
                <a:off x="1734"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10</a:t>
                </a:r>
              </a:p>
            </p:txBody>
          </p:sp>
          <p:sp>
            <p:nvSpPr>
              <p:cNvPr id="42009" name="Line 88"/>
              <p:cNvSpPr>
                <a:spLocks noChangeShapeType="1"/>
              </p:cNvSpPr>
              <p:nvPr/>
            </p:nvSpPr>
            <p:spPr bwMode="auto">
              <a:xfrm>
                <a:off x="2694"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0" name="Line 89"/>
              <p:cNvSpPr>
                <a:spLocks noChangeShapeType="1"/>
              </p:cNvSpPr>
              <p:nvPr/>
            </p:nvSpPr>
            <p:spPr bwMode="auto">
              <a:xfrm>
                <a:off x="2694"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1" name="Text Box 90"/>
              <p:cNvSpPr txBox="1">
                <a:spLocks noChangeArrowheads="1"/>
              </p:cNvSpPr>
              <p:nvPr/>
            </p:nvSpPr>
            <p:spPr bwMode="auto">
              <a:xfrm>
                <a:off x="2502"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20</a:t>
                </a:r>
              </a:p>
            </p:txBody>
          </p:sp>
          <p:sp>
            <p:nvSpPr>
              <p:cNvPr id="42012" name="Text Box 91"/>
              <p:cNvSpPr txBox="1">
                <a:spLocks noChangeArrowheads="1"/>
              </p:cNvSpPr>
              <p:nvPr/>
            </p:nvSpPr>
            <p:spPr bwMode="auto">
              <a:xfrm>
                <a:off x="2928"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5</a:t>
                </a:r>
                <a:endParaRPr lang="en-US" altLang="zh-CN" sz="2400">
                  <a:solidFill>
                    <a:srgbClr val="FF0000"/>
                  </a:solidFill>
                  <a:latin typeface="Helvetica" panose="020B0604020202020204" pitchFamily="34" charset="0"/>
                </a:endParaRPr>
              </a:p>
            </p:txBody>
          </p:sp>
          <p:sp>
            <p:nvSpPr>
              <p:cNvPr id="42013" name="Line 92"/>
              <p:cNvSpPr>
                <a:spLocks noChangeShapeType="1"/>
              </p:cNvSpPr>
              <p:nvPr/>
            </p:nvSpPr>
            <p:spPr bwMode="auto">
              <a:xfrm>
                <a:off x="3510" y="3360"/>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4" name="Line 93"/>
              <p:cNvSpPr>
                <a:spLocks noChangeShapeType="1"/>
              </p:cNvSpPr>
              <p:nvPr/>
            </p:nvSpPr>
            <p:spPr bwMode="auto">
              <a:xfrm>
                <a:off x="3510"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5" name="Text Box 94"/>
              <p:cNvSpPr txBox="1">
                <a:spLocks noChangeArrowheads="1"/>
              </p:cNvSpPr>
              <p:nvPr/>
            </p:nvSpPr>
            <p:spPr bwMode="auto">
              <a:xfrm>
                <a:off x="3318" y="3840"/>
                <a:ext cx="330"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latin typeface="Helvetica" panose="020B0604020202020204" pitchFamily="34" charset="0"/>
                  </a:rPr>
                  <a:t>32</a:t>
                </a:r>
              </a:p>
            </p:txBody>
          </p:sp>
          <p:sp>
            <p:nvSpPr>
              <p:cNvPr id="42016" name="Line 95"/>
              <p:cNvSpPr>
                <a:spLocks noChangeShapeType="1"/>
              </p:cNvSpPr>
              <p:nvPr/>
            </p:nvSpPr>
            <p:spPr bwMode="auto">
              <a:xfrm>
                <a:off x="4752" y="3744"/>
                <a:ext cx="0"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017" name="Text Box 96"/>
              <p:cNvSpPr txBox="1">
                <a:spLocks noChangeArrowheads="1"/>
              </p:cNvSpPr>
              <p:nvPr/>
            </p:nvSpPr>
            <p:spPr bwMode="auto">
              <a:xfrm>
                <a:off x="4197" y="3408"/>
                <a:ext cx="315" cy="288"/>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2400">
                    <a:solidFill>
                      <a:srgbClr val="FF0000"/>
                    </a:solidFill>
                    <a:latin typeface="Helvetica" panose="020B0604020202020204" pitchFamily="34" charset="0"/>
                  </a:rPr>
                  <a:t>P</a:t>
                </a:r>
                <a:r>
                  <a:rPr lang="en-US" altLang="zh-CN" sz="2400" baseline="-25000">
                    <a:solidFill>
                      <a:srgbClr val="FF0000"/>
                    </a:solidFill>
                    <a:latin typeface="Helvetica" panose="020B0604020202020204" pitchFamily="34" charset="0"/>
                  </a:rPr>
                  <a:t>2</a:t>
                </a:r>
                <a:endParaRPr lang="en-US" altLang="zh-CN" sz="2400">
                  <a:solidFill>
                    <a:srgbClr val="FF0000"/>
                  </a:solidFill>
                  <a:latin typeface="Helvetica" panose="020B0604020202020204" pitchFamily="34" charset="0"/>
                </a:endParaRPr>
              </a:p>
            </p:txBody>
          </p:sp>
        </p:grpSp>
      </p:grpSp>
      <p:sp>
        <p:nvSpPr>
          <p:cNvPr id="41992" name="矩形 1"/>
          <p:cNvSpPr>
            <a:spLocks noChangeArrowheads="1"/>
          </p:cNvSpPr>
          <p:nvPr/>
        </p:nvSpPr>
        <p:spPr bwMode="auto">
          <a:xfrm>
            <a:off x="7937500" y="5557838"/>
            <a:ext cx="749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400" dirty="0"/>
              <a:t>SJF</a:t>
            </a:r>
            <a:endParaRPr lang="zh-CN" altLang="en-US" sz="2400" dirty="0"/>
          </a:p>
        </p:txBody>
      </p:sp>
      <p:sp>
        <p:nvSpPr>
          <p:cNvPr id="41993" name="矩形 70"/>
          <p:cNvSpPr>
            <a:spLocks noChangeArrowheads="1"/>
          </p:cNvSpPr>
          <p:nvPr/>
        </p:nvSpPr>
        <p:spPr bwMode="auto">
          <a:xfrm>
            <a:off x="7848600" y="1443038"/>
            <a:ext cx="630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400"/>
              <a:t>RR</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02815"/>
                                        </p:tgtEl>
                                        <p:attrNameLst>
                                          <p:attrName>style.visibility</p:attrName>
                                        </p:attrNameLst>
                                      </p:cBhvr>
                                      <p:to>
                                        <p:strVal val="visible"/>
                                      </p:to>
                                    </p:set>
                                    <p:animEffect transition="in" filter="dissolve">
                                      <p:cBhvr>
                                        <p:cTn id="7" dur="500"/>
                                        <p:tgtEl>
                                          <p:spTgt spid="2028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02824"/>
                                        </p:tgtEl>
                                        <p:attrNameLst>
                                          <p:attrName>style.visibility</p:attrName>
                                        </p:attrNameLst>
                                      </p:cBhvr>
                                      <p:to>
                                        <p:strVal val="visible"/>
                                      </p:to>
                                    </p:set>
                                    <p:animEffect transition="in" filter="dissolve">
                                      <p:cBhvr>
                                        <p:cTn id="12" dur="500"/>
                                        <p:tgtEl>
                                          <p:spTgt spid="2028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2755">
                                            <p:txEl>
                                              <p:pRg st="0" end="0"/>
                                            </p:txEl>
                                          </p:spTgt>
                                        </p:tgtEl>
                                        <p:attrNameLst>
                                          <p:attrName>style.visibility</p:attrName>
                                        </p:attrNameLst>
                                      </p:cBhvr>
                                      <p:to>
                                        <p:strVal val="visible"/>
                                      </p:to>
                                    </p:set>
                                    <p:animEffect transition="in" filter="dissolve">
                                      <p:cBhvr>
                                        <p:cTn id="17" dur="500"/>
                                        <p:tgtEl>
                                          <p:spTgt spid="20275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0284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419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build="p"/>
      <p:bldP spid="4199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381000" y="304800"/>
            <a:ext cx="8763000" cy="676275"/>
          </a:xfrm>
        </p:spPr>
        <p:txBody>
          <a:bodyPr/>
          <a:lstStyle/>
          <a:p>
            <a:pPr eaLnBrk="1" hangingPunct="1"/>
            <a:r>
              <a:rPr lang="en-US" altLang="zh-CN" smtClean="0">
                <a:sym typeface="Symbol" panose="05050102010706020507" pitchFamily="18" charset="2"/>
              </a:rPr>
              <a:t>RR</a:t>
            </a:r>
            <a:r>
              <a:rPr lang="zh-CN" altLang="en-US" smtClean="0">
                <a:sym typeface="Symbol" panose="05050102010706020507" pitchFamily="18" charset="2"/>
              </a:rPr>
              <a:t>中的时间片该如何设定</a:t>
            </a:r>
            <a:r>
              <a:rPr lang="en-US" altLang="zh-CN" smtClean="0">
                <a:sym typeface="Symbol" panose="05050102010706020507" pitchFamily="18" charset="2"/>
              </a:rPr>
              <a:t>?</a:t>
            </a:r>
          </a:p>
        </p:txBody>
      </p:sp>
      <p:grpSp>
        <p:nvGrpSpPr>
          <p:cNvPr id="204848" name="Group 48"/>
          <p:cNvGrpSpPr>
            <a:grpSpLocks/>
          </p:cNvGrpSpPr>
          <p:nvPr/>
        </p:nvGrpSpPr>
        <p:grpSpPr bwMode="auto">
          <a:xfrm>
            <a:off x="906463" y="1905000"/>
            <a:ext cx="7551737" cy="603250"/>
            <a:chOff x="571" y="1248"/>
            <a:chExt cx="4757" cy="380"/>
          </a:xfrm>
        </p:grpSpPr>
        <p:sp>
          <p:nvSpPr>
            <p:cNvPr id="43024" name="Rectangle 41"/>
            <p:cNvSpPr>
              <a:spLocks noChangeArrowheads="1"/>
            </p:cNvSpPr>
            <p:nvPr/>
          </p:nvSpPr>
          <p:spPr bwMode="auto">
            <a:xfrm>
              <a:off x="571" y="1248"/>
              <a:ext cx="4757"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solidFill>
                    <a:srgbClr val="FF0000"/>
                  </a:solidFill>
                </a:rPr>
                <a:t>响应时间太长</a:t>
              </a:r>
              <a:endParaRPr lang="zh-CN" altLang="en-US" sz="2400">
                <a:sym typeface="Symbol" panose="05050102010706020507" pitchFamily="18" charset="2"/>
              </a:endParaRPr>
            </a:p>
          </p:txBody>
        </p:sp>
        <p:pic>
          <p:nvPicPr>
            <p:cNvPr id="43025" name="Picture 42"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 y="1404"/>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4847" name="Rectangle 47"/>
          <p:cNvSpPr>
            <a:spLocks noGrp="1" noChangeArrowheads="1"/>
          </p:cNvSpPr>
          <p:nvPr>
            <p:ph type="body" idx="1"/>
          </p:nvPr>
        </p:nvSpPr>
        <p:spPr>
          <a:xfrm>
            <a:off x="685800" y="1268413"/>
            <a:ext cx="8001000" cy="865187"/>
          </a:xfrm>
          <a:noFill/>
        </p:spPr>
        <p:txBody>
          <a:bodyPr/>
          <a:lstStyle/>
          <a:p>
            <a:pPr eaLnBrk="1" hangingPunct="1">
              <a:lnSpc>
                <a:spcPct val="130000"/>
              </a:lnSpc>
            </a:pPr>
            <a:r>
              <a:rPr lang="zh-CN" altLang="en-US" smtClean="0"/>
              <a:t>时间片太大</a:t>
            </a:r>
          </a:p>
        </p:txBody>
      </p:sp>
      <p:sp>
        <p:nvSpPr>
          <p:cNvPr id="204849" name="Rectangle 49"/>
          <p:cNvSpPr>
            <a:spLocks noChangeArrowheads="1"/>
          </p:cNvSpPr>
          <p:nvPr/>
        </p:nvSpPr>
        <p:spPr bwMode="auto">
          <a:xfrm>
            <a:off x="685800" y="3021013"/>
            <a:ext cx="80010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dirty="0"/>
              <a:t>时间片太小</a:t>
            </a:r>
          </a:p>
        </p:txBody>
      </p:sp>
      <p:grpSp>
        <p:nvGrpSpPr>
          <p:cNvPr id="204850" name="Group 50"/>
          <p:cNvGrpSpPr>
            <a:grpSpLocks/>
          </p:cNvGrpSpPr>
          <p:nvPr/>
        </p:nvGrpSpPr>
        <p:grpSpPr bwMode="auto">
          <a:xfrm>
            <a:off x="914400" y="3740150"/>
            <a:ext cx="7551738" cy="603250"/>
            <a:chOff x="571" y="1248"/>
            <a:chExt cx="4757" cy="380"/>
          </a:xfrm>
        </p:grpSpPr>
        <p:sp>
          <p:nvSpPr>
            <p:cNvPr id="43022" name="Rectangle 51"/>
            <p:cNvSpPr>
              <a:spLocks noChangeArrowheads="1"/>
            </p:cNvSpPr>
            <p:nvPr/>
          </p:nvSpPr>
          <p:spPr bwMode="auto">
            <a:xfrm>
              <a:off x="571" y="1248"/>
              <a:ext cx="4757"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solidFill>
                    <a:srgbClr val="FF0000"/>
                  </a:solidFill>
                </a:rPr>
                <a:t>吞吐量变小，周转时间变长</a:t>
              </a:r>
              <a:endParaRPr lang="zh-CN" altLang="en-US" sz="2400">
                <a:sym typeface="Symbol" panose="05050102010706020507" pitchFamily="18" charset="2"/>
              </a:endParaRPr>
            </a:p>
          </p:txBody>
        </p:sp>
        <p:pic>
          <p:nvPicPr>
            <p:cNvPr id="43023" name="Picture 52"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 y="1404"/>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4853" name="Group 53"/>
          <p:cNvGrpSpPr>
            <a:grpSpLocks/>
          </p:cNvGrpSpPr>
          <p:nvPr/>
        </p:nvGrpSpPr>
        <p:grpSpPr bwMode="auto">
          <a:xfrm>
            <a:off x="914400" y="2438400"/>
            <a:ext cx="7551738" cy="603250"/>
            <a:chOff x="571" y="1248"/>
            <a:chExt cx="4757" cy="380"/>
          </a:xfrm>
        </p:grpSpPr>
        <p:sp>
          <p:nvSpPr>
            <p:cNvPr id="43020" name="Rectangle 54"/>
            <p:cNvSpPr>
              <a:spLocks noChangeArrowheads="1"/>
            </p:cNvSpPr>
            <p:nvPr/>
          </p:nvSpPr>
          <p:spPr bwMode="auto">
            <a:xfrm>
              <a:off x="571" y="1248"/>
              <a:ext cx="4757"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dirty="0"/>
                <a:t>如时间片</a:t>
              </a:r>
              <a:r>
                <a:rPr lang="en-US" altLang="zh-CN" sz="2400" dirty="0"/>
                <a:t>500ms </a:t>
              </a:r>
              <a:r>
                <a:rPr lang="en-US" altLang="zh-CN" sz="2400" dirty="0">
                  <a:sym typeface="Symbol" panose="05050102010706020507" pitchFamily="18" charset="2"/>
                </a:rPr>
                <a:t> 10</a:t>
              </a:r>
              <a:r>
                <a:rPr lang="zh-CN" altLang="en-US" sz="2400" dirty="0">
                  <a:sym typeface="Symbol" panose="05050102010706020507" pitchFamily="18" charset="2"/>
                </a:rPr>
                <a:t>任务，响应需要</a:t>
              </a:r>
              <a:r>
                <a:rPr lang="en-US" altLang="zh-CN" sz="2400" dirty="0">
                  <a:sym typeface="Symbol" panose="05050102010706020507" pitchFamily="18" charset="2"/>
                </a:rPr>
                <a:t>5</a:t>
              </a:r>
              <a:r>
                <a:rPr lang="zh-CN" altLang="en-US" sz="2400" dirty="0">
                  <a:sym typeface="Symbol" panose="05050102010706020507" pitchFamily="18" charset="2"/>
                </a:rPr>
                <a:t>秒</a:t>
              </a:r>
            </a:p>
          </p:txBody>
        </p:sp>
        <p:pic>
          <p:nvPicPr>
            <p:cNvPr id="43021" name="Picture 55"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 y="1404"/>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4856" name="Group 56"/>
          <p:cNvGrpSpPr>
            <a:grpSpLocks/>
          </p:cNvGrpSpPr>
          <p:nvPr/>
        </p:nvGrpSpPr>
        <p:grpSpPr bwMode="auto">
          <a:xfrm>
            <a:off x="914400" y="4343400"/>
            <a:ext cx="7551738" cy="603250"/>
            <a:chOff x="571" y="1248"/>
            <a:chExt cx="4757" cy="380"/>
          </a:xfrm>
        </p:grpSpPr>
        <p:sp>
          <p:nvSpPr>
            <p:cNvPr id="43018" name="Rectangle 57"/>
            <p:cNvSpPr>
              <a:spLocks noChangeArrowheads="1"/>
            </p:cNvSpPr>
            <p:nvPr/>
          </p:nvSpPr>
          <p:spPr bwMode="auto">
            <a:xfrm>
              <a:off x="571" y="1248"/>
              <a:ext cx="4757" cy="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40000"/>
                </a:lnSpc>
                <a:spcBef>
                  <a:spcPct val="0"/>
                </a:spcBef>
                <a:buClrTx/>
                <a:buSzTx/>
                <a:buFontTx/>
                <a:buNone/>
              </a:pPr>
              <a:r>
                <a:rPr lang="zh-CN" altLang="en-US" sz="2400"/>
                <a:t>如时间片</a:t>
              </a:r>
              <a:r>
                <a:rPr lang="en-US" altLang="zh-CN" sz="2400"/>
                <a:t>20ms</a:t>
              </a:r>
              <a:r>
                <a:rPr lang="zh-CN" altLang="en-US" sz="2400"/>
                <a:t>，上下文切换</a:t>
              </a:r>
              <a:r>
                <a:rPr lang="en-US" altLang="zh-CN" sz="2400">
                  <a:sym typeface="Symbol" panose="05050102010706020507" pitchFamily="18" charset="2"/>
                </a:rPr>
                <a:t>5ms</a:t>
              </a:r>
              <a:r>
                <a:rPr lang="zh-CN" altLang="en-US" sz="2400">
                  <a:sym typeface="Symbol" panose="05050102010706020507" pitchFamily="18" charset="2"/>
                </a:rPr>
                <a:t>，</a:t>
              </a:r>
              <a:r>
                <a:rPr lang="en-US" altLang="zh-CN" sz="2400">
                  <a:sym typeface="Symbol" panose="05050102010706020507" pitchFamily="18" charset="2"/>
                </a:rPr>
                <a:t>20%</a:t>
              </a:r>
              <a:r>
                <a:rPr lang="zh-CN" altLang="en-US" sz="2400">
                  <a:sym typeface="Symbol" panose="05050102010706020507" pitchFamily="18" charset="2"/>
                </a:rPr>
                <a:t>的切换代价</a:t>
              </a:r>
            </a:p>
          </p:txBody>
        </p:sp>
        <p:pic>
          <p:nvPicPr>
            <p:cNvPr id="43019" name="Picture 58"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 y="1404"/>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4859" name="Rectangle 59"/>
          <p:cNvSpPr>
            <a:spLocks noChangeArrowheads="1"/>
          </p:cNvSpPr>
          <p:nvPr/>
        </p:nvSpPr>
        <p:spPr bwMode="auto">
          <a:xfrm>
            <a:off x="685800" y="5307013"/>
            <a:ext cx="80010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a:solidFill>
                  <a:srgbClr val="FF0000"/>
                </a:solidFill>
              </a:rPr>
              <a:t>折中</a:t>
            </a:r>
            <a:r>
              <a:rPr lang="en-US" altLang="zh-CN">
                <a:solidFill>
                  <a:srgbClr val="FF0000"/>
                </a:solidFill>
              </a:rPr>
              <a:t>: </a:t>
            </a:r>
            <a:r>
              <a:rPr lang="zh-CN" altLang="en-US">
                <a:solidFill>
                  <a:srgbClr val="FF0000"/>
                </a:solidFill>
              </a:rPr>
              <a:t>时间片</a:t>
            </a:r>
            <a:r>
              <a:rPr lang="en-US" altLang="zh-CN">
                <a:solidFill>
                  <a:srgbClr val="FF0000"/>
                </a:solidFill>
              </a:rPr>
              <a:t>10-100ms</a:t>
            </a:r>
            <a:r>
              <a:rPr lang="zh-CN" altLang="en-US">
                <a:solidFill>
                  <a:srgbClr val="FF0000"/>
                </a:solidFill>
              </a:rPr>
              <a:t>，切换时间</a:t>
            </a:r>
            <a:r>
              <a:rPr lang="en-US" altLang="zh-CN">
                <a:solidFill>
                  <a:srgbClr val="FF0000"/>
                </a:solidFill>
              </a:rPr>
              <a:t>0.1-1ms(1%)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4847">
                                            <p:txEl>
                                              <p:pRg st="0" end="0"/>
                                            </p:txEl>
                                          </p:spTgt>
                                        </p:tgtEl>
                                        <p:attrNameLst>
                                          <p:attrName>style.visibility</p:attrName>
                                        </p:attrNameLst>
                                      </p:cBhvr>
                                      <p:to>
                                        <p:strVal val="visible"/>
                                      </p:to>
                                    </p:set>
                                    <p:animEffect transition="in" filter="dissolve">
                                      <p:cBhvr>
                                        <p:cTn id="7" dur="500"/>
                                        <p:tgtEl>
                                          <p:spTgt spid="2048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04848"/>
                                        </p:tgtEl>
                                        <p:attrNameLst>
                                          <p:attrName>style.visibility</p:attrName>
                                        </p:attrNameLst>
                                      </p:cBhvr>
                                      <p:to>
                                        <p:strVal val="visible"/>
                                      </p:to>
                                    </p:set>
                                    <p:animEffect transition="in" filter="dissolve">
                                      <p:cBhvr>
                                        <p:cTn id="12" dur="500"/>
                                        <p:tgtEl>
                                          <p:spTgt spid="2048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04853"/>
                                        </p:tgtEl>
                                        <p:attrNameLst>
                                          <p:attrName>style.visibility</p:attrName>
                                        </p:attrNameLst>
                                      </p:cBhvr>
                                      <p:to>
                                        <p:strVal val="visible"/>
                                      </p:to>
                                    </p:set>
                                    <p:animEffect transition="in" filter="dissolve">
                                      <p:cBhvr>
                                        <p:cTn id="17" dur="500"/>
                                        <p:tgtEl>
                                          <p:spTgt spid="2048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4849">
                                            <p:txEl>
                                              <p:pRg st="0" end="0"/>
                                            </p:txEl>
                                          </p:spTgt>
                                        </p:tgtEl>
                                        <p:attrNameLst>
                                          <p:attrName>style.visibility</p:attrName>
                                        </p:attrNameLst>
                                      </p:cBhvr>
                                      <p:to>
                                        <p:strVal val="visible"/>
                                      </p:to>
                                    </p:set>
                                    <p:animEffect transition="in" filter="dissolve">
                                      <p:cBhvr>
                                        <p:cTn id="22" dur="500"/>
                                        <p:tgtEl>
                                          <p:spTgt spid="204849">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04850"/>
                                        </p:tgtEl>
                                        <p:attrNameLst>
                                          <p:attrName>style.visibility</p:attrName>
                                        </p:attrNameLst>
                                      </p:cBhvr>
                                      <p:to>
                                        <p:strVal val="visible"/>
                                      </p:to>
                                    </p:set>
                                    <p:animEffect transition="in" filter="dissolve">
                                      <p:cBhvr>
                                        <p:cTn id="27" dur="500"/>
                                        <p:tgtEl>
                                          <p:spTgt spid="20485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204856"/>
                                        </p:tgtEl>
                                        <p:attrNameLst>
                                          <p:attrName>style.visibility</p:attrName>
                                        </p:attrNameLst>
                                      </p:cBhvr>
                                      <p:to>
                                        <p:strVal val="visible"/>
                                      </p:to>
                                    </p:set>
                                    <p:animEffect transition="in" filter="dissolve">
                                      <p:cBhvr>
                                        <p:cTn id="32" dur="500"/>
                                        <p:tgtEl>
                                          <p:spTgt spid="20485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04859">
                                            <p:txEl>
                                              <p:pRg st="0" end="0"/>
                                            </p:txEl>
                                          </p:spTgt>
                                        </p:tgtEl>
                                        <p:attrNameLst>
                                          <p:attrName>style.visibility</p:attrName>
                                        </p:attrNameLst>
                                      </p:cBhvr>
                                      <p:to>
                                        <p:strVal val="visible"/>
                                      </p:to>
                                    </p:set>
                                    <p:animEffect transition="in" filter="dissolve">
                                      <p:cBhvr>
                                        <p:cTn id="37" dur="500"/>
                                        <p:tgtEl>
                                          <p:spTgt spid="2048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7" grpId="0" build="p"/>
      <p:bldP spid="204849" grpId="0" build="p"/>
      <p:bldP spid="20485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3" y="1143000"/>
            <a:ext cx="5005387" cy="412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Rectangle 3"/>
          <p:cNvSpPr>
            <a:spLocks noGrp="1" noChangeArrowheads="1"/>
          </p:cNvSpPr>
          <p:nvPr>
            <p:ph type="title"/>
          </p:nvPr>
        </p:nvSpPr>
        <p:spPr/>
        <p:txBody>
          <a:bodyPr/>
          <a:lstStyle/>
          <a:p>
            <a:pPr eaLnBrk="1" hangingPunct="1"/>
            <a:r>
              <a:rPr lang="en-US" altLang="zh-CN" sz="2800" smtClean="0">
                <a:solidFill>
                  <a:srgbClr val="CC0000"/>
                </a:solidFill>
                <a:sym typeface="Symbol" panose="05050102010706020507" pitchFamily="18" charset="2"/>
              </a:rPr>
              <a:t>RR</a:t>
            </a:r>
            <a:r>
              <a:rPr lang="zh-CN" altLang="en-US" sz="2800" smtClean="0">
                <a:solidFill>
                  <a:srgbClr val="CC0000"/>
                </a:solidFill>
                <a:sym typeface="Symbol" panose="05050102010706020507" pitchFamily="18" charset="2"/>
              </a:rPr>
              <a:t>调度例子：周转时间随着时间片大小而变化</a:t>
            </a:r>
          </a:p>
        </p:txBody>
      </p:sp>
      <p:graphicFrame>
        <p:nvGraphicFramePr>
          <p:cNvPr id="232750" name="Group 302"/>
          <p:cNvGraphicFramePr>
            <a:graphicFrameLocks noGrp="1"/>
          </p:cNvGraphicFramePr>
          <p:nvPr>
            <p:ph sz="half" idx="1"/>
          </p:nvPr>
        </p:nvGraphicFramePr>
        <p:xfrm>
          <a:off x="3659188" y="2543175"/>
          <a:ext cx="4951412" cy="2411414"/>
        </p:xfrm>
        <a:graphic>
          <a:graphicData uri="http://schemas.openxmlformats.org/drawingml/2006/table">
            <a:tbl>
              <a:tblPr/>
              <a:tblGrid>
                <a:gridCol w="287337">
                  <a:extLst>
                    <a:ext uri="{9D8B030D-6E8A-4147-A177-3AD203B41FA5}">
                      <a16:colId xmlns:a16="http://schemas.microsoft.com/office/drawing/2014/main" val="20000"/>
                    </a:ext>
                  </a:extLst>
                </a:gridCol>
                <a:gridCol w="263525">
                  <a:extLst>
                    <a:ext uri="{9D8B030D-6E8A-4147-A177-3AD203B41FA5}">
                      <a16:colId xmlns:a16="http://schemas.microsoft.com/office/drawing/2014/main" val="20001"/>
                    </a:ext>
                  </a:extLst>
                </a:gridCol>
                <a:gridCol w="273050">
                  <a:extLst>
                    <a:ext uri="{9D8B030D-6E8A-4147-A177-3AD203B41FA5}">
                      <a16:colId xmlns:a16="http://schemas.microsoft.com/office/drawing/2014/main" val="20002"/>
                    </a:ext>
                  </a:extLst>
                </a:gridCol>
                <a:gridCol w="276225">
                  <a:extLst>
                    <a:ext uri="{9D8B030D-6E8A-4147-A177-3AD203B41FA5}">
                      <a16:colId xmlns:a16="http://schemas.microsoft.com/office/drawing/2014/main" val="20003"/>
                    </a:ext>
                  </a:extLst>
                </a:gridCol>
                <a:gridCol w="274638">
                  <a:extLst>
                    <a:ext uri="{9D8B030D-6E8A-4147-A177-3AD203B41FA5}">
                      <a16:colId xmlns:a16="http://schemas.microsoft.com/office/drawing/2014/main" val="20004"/>
                    </a:ext>
                  </a:extLst>
                </a:gridCol>
                <a:gridCol w="276225">
                  <a:extLst>
                    <a:ext uri="{9D8B030D-6E8A-4147-A177-3AD203B41FA5}">
                      <a16:colId xmlns:a16="http://schemas.microsoft.com/office/drawing/2014/main" val="20005"/>
                    </a:ext>
                  </a:extLst>
                </a:gridCol>
                <a:gridCol w="274637">
                  <a:extLst>
                    <a:ext uri="{9D8B030D-6E8A-4147-A177-3AD203B41FA5}">
                      <a16:colId xmlns:a16="http://schemas.microsoft.com/office/drawing/2014/main" val="20006"/>
                    </a:ext>
                  </a:extLst>
                </a:gridCol>
                <a:gridCol w="274638">
                  <a:extLst>
                    <a:ext uri="{9D8B030D-6E8A-4147-A177-3AD203B41FA5}">
                      <a16:colId xmlns:a16="http://schemas.microsoft.com/office/drawing/2014/main" val="20007"/>
                    </a:ext>
                  </a:extLst>
                </a:gridCol>
                <a:gridCol w="274637">
                  <a:extLst>
                    <a:ext uri="{9D8B030D-6E8A-4147-A177-3AD203B41FA5}">
                      <a16:colId xmlns:a16="http://schemas.microsoft.com/office/drawing/2014/main" val="20008"/>
                    </a:ext>
                  </a:extLst>
                </a:gridCol>
                <a:gridCol w="274638">
                  <a:extLst>
                    <a:ext uri="{9D8B030D-6E8A-4147-A177-3AD203B41FA5}">
                      <a16:colId xmlns:a16="http://schemas.microsoft.com/office/drawing/2014/main" val="20009"/>
                    </a:ext>
                  </a:extLst>
                </a:gridCol>
                <a:gridCol w="276225">
                  <a:extLst>
                    <a:ext uri="{9D8B030D-6E8A-4147-A177-3AD203B41FA5}">
                      <a16:colId xmlns:a16="http://schemas.microsoft.com/office/drawing/2014/main" val="20010"/>
                    </a:ext>
                  </a:extLst>
                </a:gridCol>
                <a:gridCol w="273050">
                  <a:extLst>
                    <a:ext uri="{9D8B030D-6E8A-4147-A177-3AD203B41FA5}">
                      <a16:colId xmlns:a16="http://schemas.microsoft.com/office/drawing/2014/main" val="20011"/>
                    </a:ext>
                  </a:extLst>
                </a:gridCol>
                <a:gridCol w="276225">
                  <a:extLst>
                    <a:ext uri="{9D8B030D-6E8A-4147-A177-3AD203B41FA5}">
                      <a16:colId xmlns:a16="http://schemas.microsoft.com/office/drawing/2014/main" val="20012"/>
                    </a:ext>
                  </a:extLst>
                </a:gridCol>
                <a:gridCol w="303212">
                  <a:extLst>
                    <a:ext uri="{9D8B030D-6E8A-4147-A177-3AD203B41FA5}">
                      <a16:colId xmlns:a16="http://schemas.microsoft.com/office/drawing/2014/main" val="20013"/>
                    </a:ext>
                  </a:extLst>
                </a:gridCol>
                <a:gridCol w="247650">
                  <a:extLst>
                    <a:ext uri="{9D8B030D-6E8A-4147-A177-3AD203B41FA5}">
                      <a16:colId xmlns:a16="http://schemas.microsoft.com/office/drawing/2014/main" val="20014"/>
                    </a:ext>
                  </a:extLst>
                </a:gridCol>
                <a:gridCol w="228600">
                  <a:extLst>
                    <a:ext uri="{9D8B030D-6E8A-4147-A177-3AD203B41FA5}">
                      <a16:colId xmlns:a16="http://schemas.microsoft.com/office/drawing/2014/main" val="20015"/>
                    </a:ext>
                  </a:extLst>
                </a:gridCol>
                <a:gridCol w="320675">
                  <a:extLst>
                    <a:ext uri="{9D8B030D-6E8A-4147-A177-3AD203B41FA5}">
                      <a16:colId xmlns:a16="http://schemas.microsoft.com/office/drawing/2014/main" val="20016"/>
                    </a:ext>
                  </a:extLst>
                </a:gridCol>
                <a:gridCol w="276225">
                  <a:extLst>
                    <a:ext uri="{9D8B030D-6E8A-4147-A177-3AD203B41FA5}">
                      <a16:colId xmlns:a16="http://schemas.microsoft.com/office/drawing/2014/main" val="20017"/>
                    </a:ext>
                  </a:extLst>
                </a:gridCol>
              </a:tblGrid>
              <a:tr h="304727">
                <a:tc rowSpan="2">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zh-CN" altLang="en-US" sz="1200" b="1" i="0" u="none" strike="noStrike" cap="none" normalizeH="0" baseline="0" smtClean="0">
                          <a:ln>
                            <a:noFill/>
                          </a:ln>
                          <a:solidFill>
                            <a:schemeClr val="tx1"/>
                          </a:solidFill>
                          <a:effectLst/>
                          <a:latin typeface="Arial" charset="0"/>
                          <a:ea typeface="宋体" pitchFamily="2" charset="-122"/>
                        </a:rPr>
                        <a:t>时间片</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17">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zh-CN" altLang="en-US" sz="1600" b="1" i="0" u="none" strike="noStrike" cap="none" normalizeH="0" baseline="0" smtClean="0">
                          <a:ln>
                            <a:noFill/>
                          </a:ln>
                          <a:solidFill>
                            <a:schemeClr val="tx1"/>
                          </a:solidFill>
                          <a:effectLst/>
                          <a:latin typeface="Arial" charset="0"/>
                          <a:ea typeface="宋体" pitchFamily="2" charset="-122"/>
                        </a:rPr>
                        <a:t>进程切换过程</a:t>
                      </a: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990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3</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5</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6</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7</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8</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9</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10</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13</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15</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16</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17</a:t>
                      </a: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876">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P3</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8702">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2</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P3</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1876">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3</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P3</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1876">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4</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P3</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r h="260288">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5</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P3</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6"/>
                  </a:ext>
                </a:extLst>
              </a:tr>
              <a:tr h="260288">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6</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6">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P3</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6">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1876">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7</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6">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P3</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7">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rgbClr val="993366"/>
                          </a:solidFill>
                          <a:effectLst/>
                          <a:latin typeface="Arial" charset="0"/>
                          <a:ea typeface="宋体" pitchFamily="2" charset="-122"/>
                        </a:rPr>
                        <a:t>P4</a:t>
                      </a: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bl>
          </a:graphicData>
        </a:graphic>
      </p:graphicFrame>
      <p:sp>
        <p:nvSpPr>
          <p:cNvPr id="45184" name="Rectangle 149"/>
          <p:cNvSpPr>
            <a:spLocks noChangeArrowheads="1"/>
          </p:cNvSpPr>
          <p:nvPr/>
        </p:nvSpPr>
        <p:spPr bwMode="auto">
          <a:xfrm>
            <a:off x="1066800" y="5080000"/>
            <a:ext cx="2362200" cy="30480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a:t>时间片（时间单位）</a:t>
            </a:r>
          </a:p>
        </p:txBody>
      </p:sp>
      <p:sp>
        <p:nvSpPr>
          <p:cNvPr id="45185" name="Rectangle 150"/>
          <p:cNvSpPr>
            <a:spLocks noChangeArrowheads="1"/>
          </p:cNvSpPr>
          <p:nvPr/>
        </p:nvSpPr>
        <p:spPr bwMode="auto">
          <a:xfrm rot="-5400000">
            <a:off x="-1257300" y="2692400"/>
            <a:ext cx="3048000" cy="38100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a:t>进程平均周转时间（时间单位）</a:t>
            </a:r>
          </a:p>
        </p:txBody>
      </p:sp>
      <p:graphicFrame>
        <p:nvGraphicFramePr>
          <p:cNvPr id="232749" name="Group 301"/>
          <p:cNvGraphicFramePr>
            <a:graphicFrameLocks noGrp="1"/>
          </p:cNvGraphicFramePr>
          <p:nvPr>
            <p:ph sz="half" idx="2"/>
          </p:nvPr>
        </p:nvGraphicFramePr>
        <p:xfrm>
          <a:off x="3352800" y="5041900"/>
          <a:ext cx="5638800" cy="1751040"/>
        </p:xfrm>
        <a:graphic>
          <a:graphicData uri="http://schemas.openxmlformats.org/drawingml/2006/table">
            <a:tbl>
              <a:tblPr/>
              <a:tblGrid>
                <a:gridCol w="606425">
                  <a:extLst>
                    <a:ext uri="{9D8B030D-6E8A-4147-A177-3AD203B41FA5}">
                      <a16:colId xmlns:a16="http://schemas.microsoft.com/office/drawing/2014/main" val="20000"/>
                    </a:ext>
                  </a:extLst>
                </a:gridCol>
                <a:gridCol w="1035050">
                  <a:extLst>
                    <a:ext uri="{9D8B030D-6E8A-4147-A177-3AD203B41FA5}">
                      <a16:colId xmlns:a16="http://schemas.microsoft.com/office/drawing/2014/main" val="20001"/>
                    </a:ext>
                  </a:extLst>
                </a:gridCol>
                <a:gridCol w="979488">
                  <a:extLst>
                    <a:ext uri="{9D8B030D-6E8A-4147-A177-3AD203B41FA5}">
                      <a16:colId xmlns:a16="http://schemas.microsoft.com/office/drawing/2014/main" val="20002"/>
                    </a:ext>
                  </a:extLst>
                </a:gridCol>
                <a:gridCol w="982662">
                  <a:extLst>
                    <a:ext uri="{9D8B030D-6E8A-4147-A177-3AD203B41FA5}">
                      <a16:colId xmlns:a16="http://schemas.microsoft.com/office/drawing/2014/main" val="20003"/>
                    </a:ext>
                  </a:extLst>
                </a:gridCol>
                <a:gridCol w="936625">
                  <a:extLst>
                    <a:ext uri="{9D8B030D-6E8A-4147-A177-3AD203B41FA5}">
                      <a16:colId xmlns:a16="http://schemas.microsoft.com/office/drawing/2014/main" val="20004"/>
                    </a:ext>
                  </a:extLst>
                </a:gridCol>
                <a:gridCol w="1098550">
                  <a:extLst>
                    <a:ext uri="{9D8B030D-6E8A-4147-A177-3AD203B41FA5}">
                      <a16:colId xmlns:a16="http://schemas.microsoft.com/office/drawing/2014/main" val="20005"/>
                    </a:ext>
                  </a:extLst>
                </a:gridCol>
              </a:tblGrid>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zh-CN" altLang="en-US" sz="1200" b="1" i="0" u="none" strike="noStrike" cap="none" normalizeH="0" baseline="0" smtClean="0">
                          <a:ln>
                            <a:noFill/>
                          </a:ln>
                          <a:solidFill>
                            <a:schemeClr val="tx1"/>
                          </a:solidFill>
                          <a:effectLst/>
                          <a:latin typeface="Arial" charset="0"/>
                          <a:ea typeface="宋体" pitchFamily="2" charset="-122"/>
                        </a:rPr>
                        <a:t>时间片</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P1</a:t>
                      </a:r>
                      <a:r>
                        <a:rPr kumimoji="0" lang="zh-CN" altLang="en-US" sz="1200" b="1" i="0" u="none" strike="noStrike" cap="none" normalizeH="0" baseline="0" smtClean="0">
                          <a:ln>
                            <a:noFill/>
                          </a:ln>
                          <a:solidFill>
                            <a:schemeClr val="tx1"/>
                          </a:solidFill>
                          <a:effectLst/>
                          <a:latin typeface="Arial" charset="0"/>
                          <a:ea typeface="宋体" pitchFamily="2" charset="-122"/>
                        </a:rPr>
                        <a:t>周转时间</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P2</a:t>
                      </a:r>
                      <a:r>
                        <a:rPr kumimoji="0" lang="zh-CN" altLang="en-US" sz="1200" b="1" i="0" u="none" strike="noStrike" cap="none" normalizeH="0" baseline="0" smtClean="0">
                          <a:ln>
                            <a:noFill/>
                          </a:ln>
                          <a:solidFill>
                            <a:schemeClr val="tx1"/>
                          </a:solidFill>
                          <a:effectLst/>
                          <a:latin typeface="Arial" charset="0"/>
                          <a:ea typeface="宋体" pitchFamily="2" charset="-122"/>
                        </a:rPr>
                        <a:t>周转时间</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P3</a:t>
                      </a:r>
                      <a:r>
                        <a:rPr kumimoji="0" lang="zh-CN" altLang="en-US" sz="1200" b="1" i="0" u="none" strike="noStrike" cap="none" normalizeH="0" baseline="0" smtClean="0">
                          <a:ln>
                            <a:noFill/>
                          </a:ln>
                          <a:solidFill>
                            <a:schemeClr val="tx1"/>
                          </a:solidFill>
                          <a:effectLst/>
                          <a:latin typeface="Arial" charset="0"/>
                          <a:ea typeface="宋体" pitchFamily="2" charset="-122"/>
                        </a:rPr>
                        <a:t>周转时间</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P4</a:t>
                      </a:r>
                      <a:r>
                        <a:rPr kumimoji="0" lang="zh-CN" altLang="en-US" sz="1200" b="1" i="0" u="none" strike="noStrike" cap="none" normalizeH="0" baseline="0" smtClean="0">
                          <a:ln>
                            <a:noFill/>
                          </a:ln>
                          <a:solidFill>
                            <a:schemeClr val="tx1"/>
                          </a:solidFill>
                          <a:effectLst/>
                          <a:latin typeface="Arial" charset="0"/>
                          <a:ea typeface="宋体" pitchFamily="2" charset="-122"/>
                        </a:rPr>
                        <a:t>周转时间</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zh-CN" altLang="en-US" sz="1200" b="1" i="0" u="none" strike="noStrike" cap="none" normalizeH="0" baseline="0" smtClean="0">
                          <a:ln>
                            <a:noFill/>
                          </a:ln>
                          <a:solidFill>
                            <a:schemeClr val="tx1"/>
                          </a:solidFill>
                          <a:effectLst/>
                          <a:latin typeface="Arial" charset="0"/>
                          <a:ea typeface="宋体" pitchFamily="2" charset="-122"/>
                        </a:rPr>
                        <a:t>平均周转时间</a:t>
                      </a: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15</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9</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3</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17</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   44/4=11.0</a:t>
                      </a: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2</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14</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10</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5</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17</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   46/4=11.5</a:t>
                      </a: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3</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13</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6</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7</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17</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   43/4=10.75</a:t>
                      </a: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4</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14</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7</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8</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17</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   46/4=11.5</a:t>
                      </a: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5</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15</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8</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9</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17</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   49/4=12.25</a:t>
                      </a: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6</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6</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9</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10</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17</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   42/4=10.5</a:t>
                      </a: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7</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6</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9</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10</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17</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   42/4=10.5</a:t>
                      </a: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
        <p:nvSpPr>
          <p:cNvPr id="232752" name="Rectangle 304"/>
          <p:cNvSpPr>
            <a:spLocks noChangeArrowheads="1"/>
          </p:cNvSpPr>
          <p:nvPr/>
        </p:nvSpPr>
        <p:spPr bwMode="auto">
          <a:xfrm>
            <a:off x="5181600" y="1524000"/>
            <a:ext cx="39624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solidFill>
                  <a:srgbClr val="CC0000"/>
                </a:solidFill>
                <a:sym typeface="Symbol" panose="05050102010706020507" pitchFamily="18" charset="2"/>
              </a:rPr>
              <a:t>当时间片≥</a:t>
            </a:r>
            <a:r>
              <a:rPr lang="en-US" altLang="zh-CN" sz="2400">
                <a:solidFill>
                  <a:srgbClr val="CC0000"/>
                </a:solidFill>
                <a:sym typeface="Symbol" panose="05050102010706020507" pitchFamily="18" charset="2"/>
              </a:rPr>
              <a:t>7</a:t>
            </a:r>
            <a:r>
              <a:rPr lang="zh-CN" altLang="en-US" sz="2400">
                <a:solidFill>
                  <a:srgbClr val="CC0000"/>
                </a:solidFill>
                <a:sym typeface="Symbol" panose="05050102010706020507" pitchFamily="18" charset="2"/>
              </a:rPr>
              <a:t>时等同</a:t>
            </a:r>
            <a:r>
              <a:rPr lang="en-US" altLang="zh-CN" sz="2400">
                <a:solidFill>
                  <a:srgbClr val="CC0000"/>
                </a:solidFill>
                <a:sym typeface="Symbol" panose="05050102010706020507" pitchFamily="18" charset="2"/>
              </a:rPr>
              <a:t>FCFS</a:t>
            </a:r>
            <a:r>
              <a:rPr lang="zh-CN" altLang="en-US" sz="2400">
                <a:solidFill>
                  <a:srgbClr val="CC0000"/>
                </a:solidFill>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32750"/>
                                        </p:tgtEl>
                                        <p:attrNameLst>
                                          <p:attrName>style.visibility</p:attrName>
                                        </p:attrNameLst>
                                      </p:cBhvr>
                                      <p:to>
                                        <p:strVal val="visible"/>
                                      </p:to>
                                    </p:set>
                                    <p:animEffect transition="in" filter="wipe(up)">
                                      <p:cBhvr>
                                        <p:cTn id="7" dur="1000"/>
                                        <p:tgtEl>
                                          <p:spTgt spid="2327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32749"/>
                                        </p:tgtEl>
                                        <p:attrNameLst>
                                          <p:attrName>style.visibility</p:attrName>
                                        </p:attrNameLst>
                                      </p:cBhvr>
                                      <p:to>
                                        <p:strVal val="visible"/>
                                      </p:to>
                                    </p:set>
                                    <p:animEffect transition="in" filter="wipe(up)">
                                      <p:cBhvr>
                                        <p:cTn id="12" dur="1000"/>
                                        <p:tgtEl>
                                          <p:spTgt spid="2327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6" presetClass="entr" presetSubtype="0" fill="hold" grpId="0" nodeType="clickEffect">
                                  <p:stCondLst>
                                    <p:cond delay="0"/>
                                  </p:stCondLst>
                                  <p:childTnLst>
                                    <p:set>
                                      <p:cBhvr>
                                        <p:cTn id="16" dur="1" fill="hold">
                                          <p:stCondLst>
                                            <p:cond delay="0"/>
                                          </p:stCondLst>
                                        </p:cTn>
                                        <p:tgtEl>
                                          <p:spTgt spid="232752"/>
                                        </p:tgtEl>
                                        <p:attrNameLst>
                                          <p:attrName>style.visibility</p:attrName>
                                        </p:attrNameLst>
                                      </p:cBhvr>
                                      <p:to>
                                        <p:strVal val="visible"/>
                                      </p:to>
                                    </p:set>
                                    <p:animEffect transition="in" filter="wipe(down)">
                                      <p:cBhvr>
                                        <p:cTn id="17" dur="580">
                                          <p:stCondLst>
                                            <p:cond delay="0"/>
                                          </p:stCondLst>
                                        </p:cTn>
                                        <p:tgtEl>
                                          <p:spTgt spid="232752"/>
                                        </p:tgtEl>
                                      </p:cBhvr>
                                    </p:animEffect>
                                    <p:anim calcmode="lin" valueType="num">
                                      <p:cBhvr>
                                        <p:cTn id="18" dur="1822" tmFilter="0,0; 0.14,0.36; 0.43,0.73; 0.71,0.91; 1.0,1.0">
                                          <p:stCondLst>
                                            <p:cond delay="0"/>
                                          </p:stCondLst>
                                        </p:cTn>
                                        <p:tgtEl>
                                          <p:spTgt spid="232752"/>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232752"/>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232752"/>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232752"/>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232752"/>
                                        </p:tgtEl>
                                        <p:attrNameLst>
                                          <p:attrName>ppt_y</p:attrName>
                                        </p:attrNameLst>
                                      </p:cBhvr>
                                      <p:tavLst>
                                        <p:tav tm="0" fmla="#ppt_y-sin(pi*$)/81">
                                          <p:val>
                                            <p:fltVal val="0"/>
                                          </p:val>
                                        </p:tav>
                                        <p:tav tm="100000">
                                          <p:val>
                                            <p:fltVal val="1"/>
                                          </p:val>
                                        </p:tav>
                                      </p:tavLst>
                                    </p:anim>
                                    <p:animScale>
                                      <p:cBhvr>
                                        <p:cTn id="23" dur="26">
                                          <p:stCondLst>
                                            <p:cond delay="650"/>
                                          </p:stCondLst>
                                        </p:cTn>
                                        <p:tgtEl>
                                          <p:spTgt spid="232752"/>
                                        </p:tgtEl>
                                      </p:cBhvr>
                                      <p:to x="100000" y="60000"/>
                                    </p:animScale>
                                    <p:animScale>
                                      <p:cBhvr>
                                        <p:cTn id="24" dur="166" decel="50000">
                                          <p:stCondLst>
                                            <p:cond delay="676"/>
                                          </p:stCondLst>
                                        </p:cTn>
                                        <p:tgtEl>
                                          <p:spTgt spid="232752"/>
                                        </p:tgtEl>
                                      </p:cBhvr>
                                      <p:to x="100000" y="100000"/>
                                    </p:animScale>
                                    <p:animScale>
                                      <p:cBhvr>
                                        <p:cTn id="25" dur="26">
                                          <p:stCondLst>
                                            <p:cond delay="1312"/>
                                          </p:stCondLst>
                                        </p:cTn>
                                        <p:tgtEl>
                                          <p:spTgt spid="232752"/>
                                        </p:tgtEl>
                                      </p:cBhvr>
                                      <p:to x="100000" y="80000"/>
                                    </p:animScale>
                                    <p:animScale>
                                      <p:cBhvr>
                                        <p:cTn id="26" dur="166" decel="50000">
                                          <p:stCondLst>
                                            <p:cond delay="1338"/>
                                          </p:stCondLst>
                                        </p:cTn>
                                        <p:tgtEl>
                                          <p:spTgt spid="232752"/>
                                        </p:tgtEl>
                                      </p:cBhvr>
                                      <p:to x="100000" y="100000"/>
                                    </p:animScale>
                                    <p:animScale>
                                      <p:cBhvr>
                                        <p:cTn id="27" dur="26">
                                          <p:stCondLst>
                                            <p:cond delay="1642"/>
                                          </p:stCondLst>
                                        </p:cTn>
                                        <p:tgtEl>
                                          <p:spTgt spid="232752"/>
                                        </p:tgtEl>
                                      </p:cBhvr>
                                      <p:to x="100000" y="90000"/>
                                    </p:animScale>
                                    <p:animScale>
                                      <p:cBhvr>
                                        <p:cTn id="28" dur="166" decel="50000">
                                          <p:stCondLst>
                                            <p:cond delay="1668"/>
                                          </p:stCondLst>
                                        </p:cTn>
                                        <p:tgtEl>
                                          <p:spTgt spid="232752"/>
                                        </p:tgtEl>
                                      </p:cBhvr>
                                      <p:to x="100000" y="100000"/>
                                    </p:animScale>
                                    <p:animScale>
                                      <p:cBhvr>
                                        <p:cTn id="29" dur="26">
                                          <p:stCondLst>
                                            <p:cond delay="1808"/>
                                          </p:stCondLst>
                                        </p:cTn>
                                        <p:tgtEl>
                                          <p:spTgt spid="232752"/>
                                        </p:tgtEl>
                                      </p:cBhvr>
                                      <p:to x="100000" y="95000"/>
                                    </p:animScale>
                                    <p:animScale>
                                      <p:cBhvr>
                                        <p:cTn id="30" dur="166" decel="50000">
                                          <p:stCondLst>
                                            <p:cond delay="1834"/>
                                          </p:stCondLst>
                                        </p:cTn>
                                        <p:tgtEl>
                                          <p:spTgt spid="23275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75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0" y="304800"/>
            <a:ext cx="9144000" cy="676275"/>
          </a:xfrm>
        </p:spPr>
        <p:txBody>
          <a:bodyPr/>
          <a:lstStyle/>
          <a:p>
            <a:pPr eaLnBrk="1" hangingPunct="1"/>
            <a:r>
              <a:rPr lang="zh-CN" altLang="en-US" smtClean="0">
                <a:sym typeface="Symbol" panose="05050102010706020507" pitchFamily="18" charset="2"/>
              </a:rPr>
              <a:t>（</a:t>
            </a:r>
            <a:r>
              <a:rPr lang="en-US" altLang="zh-CN" smtClean="0">
                <a:sym typeface="Symbol" panose="05050102010706020507" pitchFamily="18" charset="2"/>
              </a:rPr>
              <a:t>5</a:t>
            </a:r>
            <a:r>
              <a:rPr lang="zh-CN" altLang="en-US" smtClean="0">
                <a:sym typeface="Symbol" panose="05050102010706020507" pitchFamily="18" charset="2"/>
              </a:rPr>
              <a:t>）混合多种调度算法  多级队列调度</a:t>
            </a:r>
            <a:endParaRPr lang="zh-CN" altLang="zh-CN" smtClean="0">
              <a:sym typeface="Symbol" panose="05050102010706020507" pitchFamily="18" charset="2"/>
            </a:endParaRPr>
          </a:p>
        </p:txBody>
      </p:sp>
      <p:sp>
        <p:nvSpPr>
          <p:cNvPr id="200707" name="Rectangle 3"/>
          <p:cNvSpPr>
            <a:spLocks noGrp="1" noChangeArrowheads="1"/>
          </p:cNvSpPr>
          <p:nvPr>
            <p:ph type="body" idx="1"/>
          </p:nvPr>
        </p:nvSpPr>
        <p:spPr>
          <a:xfrm>
            <a:off x="685800" y="1295400"/>
            <a:ext cx="7391400" cy="1752600"/>
          </a:xfrm>
          <a:noFill/>
        </p:spPr>
        <p:txBody>
          <a:bodyPr/>
          <a:lstStyle/>
          <a:p>
            <a:pPr eaLnBrk="1" hangingPunct="1">
              <a:lnSpc>
                <a:spcPct val="130000"/>
              </a:lnSpc>
            </a:pPr>
            <a:r>
              <a:rPr lang="zh-CN" altLang="en-US" sz="2200" smtClean="0">
                <a:solidFill>
                  <a:srgbClr val="FF0000"/>
                </a:solidFill>
              </a:rPr>
              <a:t>按照一定的规则建立多个进程队列</a:t>
            </a:r>
          </a:p>
          <a:p>
            <a:pPr eaLnBrk="1" hangingPunct="1">
              <a:lnSpc>
                <a:spcPct val="130000"/>
              </a:lnSpc>
            </a:pPr>
            <a:r>
              <a:rPr lang="zh-CN" altLang="en-US" sz="2200" smtClean="0">
                <a:solidFill>
                  <a:srgbClr val="FF0000"/>
                </a:solidFill>
              </a:rPr>
              <a:t>不同的队列有固定的优先级（高优先级有抢占权）</a:t>
            </a:r>
          </a:p>
          <a:p>
            <a:pPr eaLnBrk="1" hangingPunct="1">
              <a:lnSpc>
                <a:spcPct val="130000"/>
              </a:lnSpc>
            </a:pPr>
            <a:r>
              <a:rPr lang="zh-CN" altLang="en-US" sz="2200" smtClean="0">
                <a:solidFill>
                  <a:srgbClr val="FF0000"/>
                </a:solidFill>
              </a:rPr>
              <a:t>不同的队列可以给不同的时间片和采用不同的调度方法 </a:t>
            </a:r>
          </a:p>
        </p:txBody>
      </p:sp>
      <p:grpSp>
        <p:nvGrpSpPr>
          <p:cNvPr id="200788" name="Group 84"/>
          <p:cNvGrpSpPr>
            <a:grpSpLocks/>
          </p:cNvGrpSpPr>
          <p:nvPr/>
        </p:nvGrpSpPr>
        <p:grpSpPr bwMode="auto">
          <a:xfrm>
            <a:off x="1323975" y="2971800"/>
            <a:ext cx="5991225" cy="1385888"/>
            <a:chOff x="834" y="1386"/>
            <a:chExt cx="3774" cy="873"/>
          </a:xfrm>
        </p:grpSpPr>
        <p:sp>
          <p:nvSpPr>
            <p:cNvPr id="46088" name="Text Box 53"/>
            <p:cNvSpPr txBox="1">
              <a:spLocks noChangeArrowheads="1"/>
            </p:cNvSpPr>
            <p:nvPr/>
          </p:nvSpPr>
          <p:spPr bwMode="auto">
            <a:xfrm>
              <a:off x="1890" y="1674"/>
              <a:ext cx="1488"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400"/>
                <a:t>交互式任务</a:t>
              </a:r>
            </a:p>
          </p:txBody>
        </p:sp>
        <p:sp>
          <p:nvSpPr>
            <p:cNvPr id="46089" name="Text Box 54"/>
            <p:cNvSpPr txBox="1">
              <a:spLocks noChangeArrowheads="1"/>
            </p:cNvSpPr>
            <p:nvPr/>
          </p:nvSpPr>
          <p:spPr bwMode="auto">
            <a:xfrm>
              <a:off x="1890" y="1965"/>
              <a:ext cx="1488"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400"/>
                <a:t>批处理任务</a:t>
              </a:r>
            </a:p>
          </p:txBody>
        </p:sp>
        <p:sp>
          <p:nvSpPr>
            <p:cNvPr id="46090" name="Text Box 56"/>
            <p:cNvSpPr txBox="1">
              <a:spLocks noChangeArrowheads="1"/>
            </p:cNvSpPr>
            <p:nvPr/>
          </p:nvSpPr>
          <p:spPr bwMode="auto">
            <a:xfrm>
              <a:off x="1890" y="1386"/>
              <a:ext cx="1488" cy="29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400"/>
                <a:t>系统任务</a:t>
              </a:r>
            </a:p>
          </p:txBody>
        </p:sp>
        <p:sp>
          <p:nvSpPr>
            <p:cNvPr id="46091" name="Rectangle 57"/>
            <p:cNvSpPr>
              <a:spLocks noChangeArrowheads="1"/>
            </p:cNvSpPr>
            <p:nvPr/>
          </p:nvSpPr>
          <p:spPr bwMode="auto">
            <a:xfrm>
              <a:off x="3552" y="1440"/>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6092" name="Rectangle 58"/>
            <p:cNvSpPr>
              <a:spLocks noChangeArrowheads="1"/>
            </p:cNvSpPr>
            <p:nvPr/>
          </p:nvSpPr>
          <p:spPr bwMode="auto">
            <a:xfrm>
              <a:off x="3966" y="1440"/>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6093" name="Rectangle 59"/>
            <p:cNvSpPr>
              <a:spLocks noChangeArrowheads="1"/>
            </p:cNvSpPr>
            <p:nvPr/>
          </p:nvSpPr>
          <p:spPr bwMode="auto">
            <a:xfrm>
              <a:off x="3552" y="1728"/>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6094" name="Rectangle 60"/>
            <p:cNvSpPr>
              <a:spLocks noChangeArrowheads="1"/>
            </p:cNvSpPr>
            <p:nvPr/>
          </p:nvSpPr>
          <p:spPr bwMode="auto">
            <a:xfrm>
              <a:off x="3966" y="1728"/>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6095" name="Rectangle 61"/>
            <p:cNvSpPr>
              <a:spLocks noChangeArrowheads="1"/>
            </p:cNvSpPr>
            <p:nvPr/>
          </p:nvSpPr>
          <p:spPr bwMode="auto">
            <a:xfrm>
              <a:off x="4368" y="1728"/>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6096" name="Rectangle 62"/>
            <p:cNvSpPr>
              <a:spLocks noChangeArrowheads="1"/>
            </p:cNvSpPr>
            <p:nvPr/>
          </p:nvSpPr>
          <p:spPr bwMode="auto">
            <a:xfrm>
              <a:off x="3552" y="2014"/>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6097" name="Line 63"/>
            <p:cNvSpPr>
              <a:spLocks noChangeShapeType="1"/>
            </p:cNvSpPr>
            <p:nvPr/>
          </p:nvSpPr>
          <p:spPr bwMode="auto">
            <a:xfrm>
              <a:off x="3330" y="1536"/>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8" name="Line 64"/>
            <p:cNvSpPr>
              <a:spLocks noChangeShapeType="1"/>
            </p:cNvSpPr>
            <p:nvPr/>
          </p:nvSpPr>
          <p:spPr bwMode="auto">
            <a:xfrm>
              <a:off x="3723" y="1536"/>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9" name="Line 65"/>
            <p:cNvSpPr>
              <a:spLocks noChangeShapeType="1"/>
            </p:cNvSpPr>
            <p:nvPr/>
          </p:nvSpPr>
          <p:spPr bwMode="auto">
            <a:xfrm>
              <a:off x="3321" y="1824"/>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0" name="Line 66"/>
            <p:cNvSpPr>
              <a:spLocks noChangeShapeType="1"/>
            </p:cNvSpPr>
            <p:nvPr/>
          </p:nvSpPr>
          <p:spPr bwMode="auto">
            <a:xfrm>
              <a:off x="3321" y="2133"/>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1" name="Line 67"/>
            <p:cNvSpPr>
              <a:spLocks noChangeShapeType="1"/>
            </p:cNvSpPr>
            <p:nvPr/>
          </p:nvSpPr>
          <p:spPr bwMode="auto">
            <a:xfrm>
              <a:off x="3723" y="1824"/>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2" name="Line 68"/>
            <p:cNvSpPr>
              <a:spLocks noChangeShapeType="1"/>
            </p:cNvSpPr>
            <p:nvPr/>
          </p:nvSpPr>
          <p:spPr bwMode="auto">
            <a:xfrm>
              <a:off x="4137" y="1821"/>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3" name="Rectangle 69"/>
            <p:cNvSpPr>
              <a:spLocks noChangeArrowheads="1"/>
            </p:cNvSpPr>
            <p:nvPr/>
          </p:nvSpPr>
          <p:spPr bwMode="auto">
            <a:xfrm>
              <a:off x="834" y="1392"/>
              <a:ext cx="10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最高优先级</a:t>
              </a:r>
            </a:p>
          </p:txBody>
        </p:sp>
        <p:sp>
          <p:nvSpPr>
            <p:cNvPr id="46104" name="Rectangle 71"/>
            <p:cNvSpPr>
              <a:spLocks noChangeArrowheads="1"/>
            </p:cNvSpPr>
            <p:nvPr/>
          </p:nvSpPr>
          <p:spPr bwMode="auto">
            <a:xfrm>
              <a:off x="834" y="1971"/>
              <a:ext cx="10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t>最低优先级</a:t>
              </a:r>
            </a:p>
          </p:txBody>
        </p:sp>
        <p:sp>
          <p:nvSpPr>
            <p:cNvPr id="46105" name="Rectangle 74"/>
            <p:cNvSpPr>
              <a:spLocks noChangeArrowheads="1"/>
            </p:cNvSpPr>
            <p:nvPr/>
          </p:nvSpPr>
          <p:spPr bwMode="auto">
            <a:xfrm>
              <a:off x="3957" y="2019"/>
              <a:ext cx="240" cy="192"/>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6106" name="Line 76"/>
            <p:cNvSpPr>
              <a:spLocks noChangeShapeType="1"/>
            </p:cNvSpPr>
            <p:nvPr/>
          </p:nvSpPr>
          <p:spPr bwMode="auto">
            <a:xfrm>
              <a:off x="3714" y="2115"/>
              <a:ext cx="24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00785" name="Rectangle 81"/>
          <p:cNvSpPr>
            <a:spLocks noChangeArrowheads="1"/>
          </p:cNvSpPr>
          <p:nvPr/>
        </p:nvSpPr>
        <p:spPr bwMode="auto">
          <a:xfrm>
            <a:off x="609600" y="4495800"/>
            <a:ext cx="8534400" cy="160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buFont typeface="Wingdings" panose="05000000000000000000" pitchFamily="2" charset="2"/>
              <a:buNone/>
            </a:pPr>
            <a:r>
              <a:rPr lang="en-US" altLang="zh-CN" sz="2000">
                <a:latin typeface="Courier New" panose="02070309020205020404" pitchFamily="49" charset="0"/>
              </a:rPr>
              <a:t>if(!IsEmpty(KernelQ)){ </a:t>
            </a:r>
            <a:r>
              <a:rPr lang="en-US" altLang="zh-CN" sz="2000">
                <a:solidFill>
                  <a:srgbClr val="FF0000"/>
                </a:solidFill>
                <a:latin typeface="Courier New" panose="02070309020205020404" pitchFamily="49" charset="0"/>
              </a:rPr>
              <a:t>next=Pri();</a:t>
            </a:r>
            <a:r>
              <a:rPr lang="en-US" altLang="zh-CN" sz="2000">
                <a:latin typeface="Courier New" panose="02070309020205020404" pitchFamily="49" charset="0"/>
              </a:rPr>
              <a:t> return;}</a:t>
            </a:r>
          </a:p>
          <a:p>
            <a:pPr eaLnBrk="1" hangingPunct="1">
              <a:lnSpc>
                <a:spcPct val="90000"/>
              </a:lnSpc>
              <a:buFont typeface="Wingdings" panose="05000000000000000000" pitchFamily="2" charset="2"/>
              <a:buNone/>
            </a:pPr>
            <a:r>
              <a:rPr lang="en-US" altLang="zh-CN" sz="2000">
                <a:latin typeface="Courier New" panose="02070309020205020404" pitchFamily="49" charset="0"/>
              </a:rPr>
              <a:t>if(!IsEmpty(ResponseQ)){ </a:t>
            </a:r>
            <a:r>
              <a:rPr lang="en-US" altLang="zh-CN" sz="2000">
                <a:solidFill>
                  <a:srgbClr val="FF0000"/>
                </a:solidFill>
                <a:latin typeface="Courier New" panose="02070309020205020404" pitchFamily="49" charset="0"/>
              </a:rPr>
              <a:t>next=RR();</a:t>
            </a:r>
            <a:r>
              <a:rPr lang="en-US" altLang="zh-CN" sz="2000">
                <a:latin typeface="Courier New" panose="02070309020205020404" pitchFamily="49" charset="0"/>
              </a:rPr>
              <a:t> return;}</a:t>
            </a:r>
          </a:p>
          <a:p>
            <a:pPr eaLnBrk="1" hangingPunct="1">
              <a:lnSpc>
                <a:spcPct val="90000"/>
              </a:lnSpc>
              <a:buFont typeface="Wingdings" panose="05000000000000000000" pitchFamily="2" charset="2"/>
              <a:buNone/>
            </a:pPr>
            <a:r>
              <a:rPr lang="en-US" altLang="zh-CN" sz="2000">
                <a:latin typeface="Courier New" panose="02070309020205020404" pitchFamily="49" charset="0"/>
              </a:rPr>
              <a:t>if(!IsEmpty(BatchQ)){ </a:t>
            </a:r>
            <a:r>
              <a:rPr lang="en-US" altLang="zh-CN" sz="2000">
                <a:solidFill>
                  <a:srgbClr val="FF0000"/>
                </a:solidFill>
                <a:latin typeface="Courier New" panose="02070309020205020404" pitchFamily="49" charset="0"/>
              </a:rPr>
              <a:t>next=SJF();</a:t>
            </a:r>
            <a:r>
              <a:rPr lang="en-US" altLang="zh-CN" sz="2000">
                <a:latin typeface="Courier New" panose="02070309020205020404" pitchFamily="49" charset="0"/>
              </a:rPr>
              <a:t> return;}</a:t>
            </a:r>
          </a:p>
          <a:p>
            <a:pPr eaLnBrk="1" hangingPunct="1">
              <a:lnSpc>
                <a:spcPct val="90000"/>
              </a:lnSpc>
              <a:buFont typeface="Wingdings" panose="05000000000000000000" pitchFamily="2" charset="2"/>
              <a:buNone/>
            </a:pPr>
            <a:r>
              <a:rPr lang="en-US" altLang="zh-CN" sz="2000">
                <a:latin typeface="Courier New" panose="02070309020205020404" pitchFamily="49" charset="0"/>
              </a:rPr>
              <a:t>...</a:t>
            </a:r>
          </a:p>
        </p:txBody>
      </p:sp>
      <p:sp>
        <p:nvSpPr>
          <p:cNvPr id="200786" name="Rectangle 82"/>
          <p:cNvSpPr>
            <a:spLocks noChangeArrowheads="1"/>
          </p:cNvSpPr>
          <p:nvPr/>
        </p:nvSpPr>
        <p:spPr bwMode="auto">
          <a:xfrm>
            <a:off x="685800" y="5764213"/>
            <a:ext cx="78486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dirty="0" smtClean="0">
                <a:solidFill>
                  <a:srgbClr val="FF0000"/>
                </a:solidFill>
              </a:rPr>
              <a:t>存在问题：</a:t>
            </a:r>
            <a:r>
              <a:rPr lang="zh-CN" altLang="en-US" sz="2200" dirty="0">
                <a:solidFill>
                  <a:srgbClr val="FF0000"/>
                </a:solidFill>
              </a:rPr>
              <a:t>也存在一定程度的“饥饿”现象</a:t>
            </a:r>
          </a:p>
        </p:txBody>
      </p:sp>
      <p:sp>
        <p:nvSpPr>
          <p:cNvPr id="200789" name="Line 85"/>
          <p:cNvSpPr>
            <a:spLocks noChangeShapeType="1"/>
          </p:cNvSpPr>
          <p:nvPr/>
        </p:nvSpPr>
        <p:spPr bwMode="auto">
          <a:xfrm flipV="1">
            <a:off x="2057400" y="3429000"/>
            <a:ext cx="0" cy="457200"/>
          </a:xfrm>
          <a:prstGeom prst="line">
            <a:avLst/>
          </a:prstGeom>
          <a:noFill/>
          <a:ln w="28575">
            <a:solidFill>
              <a:srgbClr val="CC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00788"/>
                                        </p:tgtEl>
                                        <p:attrNameLst>
                                          <p:attrName>style.visibility</p:attrName>
                                        </p:attrNameLst>
                                      </p:cBhvr>
                                      <p:to>
                                        <p:strVal val="visible"/>
                                      </p:to>
                                    </p:set>
                                    <p:animEffect transition="in" filter="dissolve">
                                      <p:cBhvr>
                                        <p:cTn id="7" dur="500"/>
                                        <p:tgtEl>
                                          <p:spTgt spid="200788"/>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200789"/>
                                        </p:tgtEl>
                                        <p:attrNameLst>
                                          <p:attrName>style.visibility</p:attrName>
                                        </p:attrNameLst>
                                      </p:cBhvr>
                                      <p:to>
                                        <p:strVal val="visible"/>
                                      </p:to>
                                    </p:set>
                                    <p:animEffect transition="in" filter="wipe(down)">
                                      <p:cBhvr>
                                        <p:cTn id="11" dur="500"/>
                                        <p:tgtEl>
                                          <p:spTgt spid="20078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0707">
                                            <p:txEl>
                                              <p:pRg st="0" end="0"/>
                                            </p:txEl>
                                          </p:spTgt>
                                        </p:tgtEl>
                                        <p:attrNameLst>
                                          <p:attrName>style.visibility</p:attrName>
                                        </p:attrNameLst>
                                      </p:cBhvr>
                                      <p:to>
                                        <p:strVal val="visible"/>
                                      </p:to>
                                    </p:set>
                                    <p:animEffect transition="in" filter="dissolve">
                                      <p:cBhvr>
                                        <p:cTn id="16" dur="500"/>
                                        <p:tgtEl>
                                          <p:spTgt spid="200707">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00707">
                                            <p:txEl>
                                              <p:pRg st="1" end="1"/>
                                            </p:txEl>
                                          </p:spTgt>
                                        </p:tgtEl>
                                        <p:attrNameLst>
                                          <p:attrName>style.visibility</p:attrName>
                                        </p:attrNameLst>
                                      </p:cBhvr>
                                      <p:to>
                                        <p:strVal val="visible"/>
                                      </p:to>
                                    </p:set>
                                    <p:animEffect transition="in" filter="dissolve">
                                      <p:cBhvr>
                                        <p:cTn id="21" dur="500"/>
                                        <p:tgtEl>
                                          <p:spTgt spid="200707">
                                            <p:txEl>
                                              <p:pRg st="1" end="1"/>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00707">
                                            <p:txEl>
                                              <p:pRg st="2" end="2"/>
                                            </p:txEl>
                                          </p:spTgt>
                                        </p:tgtEl>
                                        <p:attrNameLst>
                                          <p:attrName>style.visibility</p:attrName>
                                        </p:attrNameLst>
                                      </p:cBhvr>
                                      <p:to>
                                        <p:strVal val="visible"/>
                                      </p:to>
                                    </p:set>
                                    <p:animEffect transition="in" filter="dissolve">
                                      <p:cBhvr>
                                        <p:cTn id="26" dur="500"/>
                                        <p:tgtEl>
                                          <p:spTgt spid="200707">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00785"/>
                                        </p:tgtEl>
                                        <p:attrNameLst>
                                          <p:attrName>style.visibility</p:attrName>
                                        </p:attrNameLst>
                                      </p:cBhvr>
                                      <p:to>
                                        <p:strVal val="visible"/>
                                      </p:to>
                                    </p:set>
                                    <p:animEffect transition="in" filter="dissolve">
                                      <p:cBhvr>
                                        <p:cTn id="31" dur="500"/>
                                        <p:tgtEl>
                                          <p:spTgt spid="20078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00786">
                                            <p:txEl>
                                              <p:pRg st="0" end="0"/>
                                            </p:txEl>
                                          </p:spTgt>
                                        </p:tgtEl>
                                        <p:attrNameLst>
                                          <p:attrName>style.visibility</p:attrName>
                                        </p:attrNameLst>
                                      </p:cBhvr>
                                      <p:to>
                                        <p:strVal val="visible"/>
                                      </p:to>
                                    </p:set>
                                    <p:animEffect transition="in" filter="dissolve">
                                      <p:cBhvr>
                                        <p:cTn id="36" dur="500"/>
                                        <p:tgtEl>
                                          <p:spTgt spid="20078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build="p"/>
      <p:bldP spid="200785" grpId="0"/>
      <p:bldP spid="200786"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6</a:t>
            </a:r>
            <a:r>
              <a:rPr lang="zh-CN" altLang="en-US" sz="3200" smtClean="0">
                <a:sym typeface="Symbol" panose="05050102010706020507" pitchFamily="18" charset="2"/>
              </a:rPr>
              <a:t>）更成熟的多级队列调度  多级反馈队列</a:t>
            </a:r>
            <a:endParaRPr lang="zh-CN" altLang="zh-CN" sz="3200" smtClean="0">
              <a:sym typeface="Symbol" panose="05050102010706020507" pitchFamily="18" charset="2"/>
            </a:endParaRPr>
          </a:p>
        </p:txBody>
      </p:sp>
      <p:sp>
        <p:nvSpPr>
          <p:cNvPr id="201731" name="Rectangle 3"/>
          <p:cNvSpPr>
            <a:spLocks noGrp="1" noChangeArrowheads="1"/>
          </p:cNvSpPr>
          <p:nvPr>
            <p:ph type="body" idx="1"/>
          </p:nvPr>
        </p:nvSpPr>
        <p:spPr>
          <a:xfrm>
            <a:off x="685800" y="1295400"/>
            <a:ext cx="8229600" cy="865188"/>
          </a:xfrm>
          <a:noFill/>
        </p:spPr>
        <p:txBody>
          <a:bodyPr/>
          <a:lstStyle/>
          <a:p>
            <a:pPr eaLnBrk="1" hangingPunct="1">
              <a:lnSpc>
                <a:spcPct val="130000"/>
              </a:lnSpc>
            </a:pPr>
            <a:r>
              <a:rPr lang="zh-CN" altLang="en-US" sz="2400" smtClean="0">
                <a:solidFill>
                  <a:srgbClr val="FF0000"/>
                </a:solidFill>
              </a:rPr>
              <a:t>任务可以在队列之间移动，更细致的区分任务</a:t>
            </a:r>
          </a:p>
        </p:txBody>
      </p:sp>
      <p:sp>
        <p:nvSpPr>
          <p:cNvPr id="201780" name="Rectangle 52"/>
          <p:cNvSpPr>
            <a:spLocks noChangeArrowheads="1"/>
          </p:cNvSpPr>
          <p:nvPr/>
        </p:nvSpPr>
        <p:spPr bwMode="auto">
          <a:xfrm>
            <a:off x="609600" y="5181600"/>
            <a:ext cx="8229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10000"/>
              </a:lnSpc>
            </a:pPr>
            <a:r>
              <a:rPr lang="zh-CN" altLang="en-US" sz="2000" dirty="0" smtClean="0">
                <a:solidFill>
                  <a:srgbClr val="FF0000"/>
                </a:solidFill>
              </a:rPr>
              <a:t>可根据占用</a:t>
            </a:r>
            <a:r>
              <a:rPr lang="en-US" altLang="zh-CN" sz="2000" dirty="0" smtClean="0">
                <a:solidFill>
                  <a:srgbClr val="FF0000"/>
                </a:solidFill>
              </a:rPr>
              <a:t>CPU</a:t>
            </a:r>
            <a:r>
              <a:rPr lang="zh-CN" altLang="en-US" sz="2000" dirty="0">
                <a:solidFill>
                  <a:srgbClr val="FF0000"/>
                </a:solidFill>
              </a:rPr>
              <a:t>时间多少来移动队列，阻止</a:t>
            </a:r>
            <a:r>
              <a:rPr lang="zh-CN" altLang="en-US" sz="2000" dirty="0" smtClean="0">
                <a:solidFill>
                  <a:srgbClr val="FF0000"/>
                </a:solidFill>
              </a:rPr>
              <a:t>“饥饿”，可在</a:t>
            </a:r>
            <a:r>
              <a:rPr lang="en-US" altLang="zh-CN" sz="2000" dirty="0" smtClean="0">
                <a:solidFill>
                  <a:srgbClr val="FF0000"/>
                </a:solidFill>
              </a:rPr>
              <a:t>PCB</a:t>
            </a:r>
            <a:r>
              <a:rPr lang="zh-CN" altLang="en-US" sz="2000" dirty="0" smtClean="0">
                <a:solidFill>
                  <a:srgbClr val="FF0000"/>
                </a:solidFill>
              </a:rPr>
              <a:t>中记录其占用的</a:t>
            </a:r>
            <a:r>
              <a:rPr lang="en-US" altLang="zh-CN" sz="2000" dirty="0" smtClean="0">
                <a:solidFill>
                  <a:srgbClr val="FF0000"/>
                </a:solidFill>
              </a:rPr>
              <a:t>CPU</a:t>
            </a:r>
            <a:r>
              <a:rPr lang="zh-CN" altLang="en-US" sz="2000" dirty="0" smtClean="0">
                <a:solidFill>
                  <a:srgbClr val="FF0000"/>
                </a:solidFill>
              </a:rPr>
              <a:t>区间，作为移动依据</a:t>
            </a:r>
            <a:endParaRPr lang="zh-CN" altLang="en-US" sz="2000" dirty="0">
              <a:solidFill>
                <a:srgbClr val="FF0000"/>
              </a:solidFill>
            </a:endParaRPr>
          </a:p>
          <a:p>
            <a:pPr eaLnBrk="1" hangingPunct="1">
              <a:lnSpc>
                <a:spcPct val="110000"/>
              </a:lnSpc>
            </a:pPr>
            <a:r>
              <a:rPr lang="zh-CN" altLang="en-US" sz="2000" dirty="0">
                <a:solidFill>
                  <a:srgbClr val="FF0000"/>
                </a:solidFill>
              </a:rPr>
              <a:t>最通用的调度算法，多数</a:t>
            </a:r>
            <a:r>
              <a:rPr lang="en-US" altLang="zh-CN" sz="2000" dirty="0">
                <a:solidFill>
                  <a:srgbClr val="FF0000"/>
                </a:solidFill>
              </a:rPr>
              <a:t>OS</a:t>
            </a:r>
            <a:r>
              <a:rPr lang="zh-CN" altLang="en-US" sz="2000" dirty="0">
                <a:solidFill>
                  <a:srgbClr val="FF0000"/>
                </a:solidFill>
              </a:rPr>
              <a:t>都使用该方法或其变形，如</a:t>
            </a:r>
            <a:r>
              <a:rPr lang="en-US" altLang="zh-CN" sz="2000" dirty="0">
                <a:solidFill>
                  <a:srgbClr val="FF0000"/>
                </a:solidFill>
              </a:rPr>
              <a:t>UNIX</a:t>
            </a:r>
            <a:r>
              <a:rPr lang="zh-CN" altLang="en-US" sz="2000" dirty="0">
                <a:solidFill>
                  <a:srgbClr val="FF0000"/>
                </a:solidFill>
              </a:rPr>
              <a:t>、</a:t>
            </a:r>
            <a:r>
              <a:rPr lang="en-US" altLang="zh-CN" sz="2000" dirty="0">
                <a:solidFill>
                  <a:srgbClr val="FF0000"/>
                </a:solidFill>
              </a:rPr>
              <a:t>Windows</a:t>
            </a:r>
            <a:r>
              <a:rPr lang="zh-CN" altLang="en-US" sz="2000" dirty="0">
                <a:solidFill>
                  <a:srgbClr val="FF0000"/>
                </a:solidFill>
              </a:rPr>
              <a:t>等。</a:t>
            </a:r>
          </a:p>
        </p:txBody>
      </p:sp>
      <p:sp>
        <p:nvSpPr>
          <p:cNvPr id="201782" name="Text Box 54"/>
          <p:cNvSpPr txBox="1">
            <a:spLocks noChangeArrowheads="1"/>
          </p:cNvSpPr>
          <p:nvPr/>
        </p:nvSpPr>
        <p:spPr bwMode="auto">
          <a:xfrm>
            <a:off x="1447800" y="2695575"/>
            <a:ext cx="3276600" cy="4667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400"/>
              <a:t>系统任务队列</a:t>
            </a:r>
            <a:r>
              <a:rPr lang="en-US" altLang="zh-CN" sz="2400"/>
              <a:t>2</a:t>
            </a:r>
          </a:p>
        </p:txBody>
      </p:sp>
      <p:sp>
        <p:nvSpPr>
          <p:cNvPr id="201784" name="Text Box 56"/>
          <p:cNvSpPr txBox="1">
            <a:spLocks noChangeArrowheads="1"/>
          </p:cNvSpPr>
          <p:nvPr/>
        </p:nvSpPr>
        <p:spPr bwMode="auto">
          <a:xfrm>
            <a:off x="1447800" y="3244850"/>
            <a:ext cx="3276600" cy="4667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400"/>
              <a:t>用户任务</a:t>
            </a:r>
            <a:r>
              <a:rPr lang="en-US" altLang="zh-CN" sz="2400"/>
              <a:t>(</a:t>
            </a:r>
            <a:r>
              <a:rPr lang="zh-CN" altLang="en-US" sz="2400"/>
              <a:t>时间片为</a:t>
            </a:r>
            <a:r>
              <a:rPr lang="en-US" altLang="zh-CN" sz="2400"/>
              <a:t>8)</a:t>
            </a:r>
          </a:p>
        </p:txBody>
      </p:sp>
      <p:sp>
        <p:nvSpPr>
          <p:cNvPr id="201785" name="Text Box 57"/>
          <p:cNvSpPr txBox="1">
            <a:spLocks noChangeArrowheads="1"/>
          </p:cNvSpPr>
          <p:nvPr/>
        </p:nvSpPr>
        <p:spPr bwMode="auto">
          <a:xfrm>
            <a:off x="1447800" y="2224088"/>
            <a:ext cx="3276600" cy="4667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400"/>
              <a:t>系统任务队列</a:t>
            </a:r>
            <a:r>
              <a:rPr lang="en-US" altLang="zh-CN" sz="2400"/>
              <a:t>1</a:t>
            </a:r>
          </a:p>
        </p:txBody>
      </p:sp>
      <p:sp>
        <p:nvSpPr>
          <p:cNvPr id="201786" name="Rectangle 58"/>
          <p:cNvSpPr>
            <a:spLocks noChangeArrowheads="1"/>
          </p:cNvSpPr>
          <p:nvPr/>
        </p:nvSpPr>
        <p:spPr bwMode="auto">
          <a:xfrm>
            <a:off x="5000625" y="2330450"/>
            <a:ext cx="381000" cy="304800"/>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787" name="Rectangle 59"/>
          <p:cNvSpPr>
            <a:spLocks noChangeArrowheads="1"/>
          </p:cNvSpPr>
          <p:nvPr/>
        </p:nvSpPr>
        <p:spPr bwMode="auto">
          <a:xfrm>
            <a:off x="5657850" y="2330450"/>
            <a:ext cx="381000" cy="304800"/>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788" name="Rectangle 60"/>
          <p:cNvSpPr>
            <a:spLocks noChangeArrowheads="1"/>
          </p:cNvSpPr>
          <p:nvPr/>
        </p:nvSpPr>
        <p:spPr bwMode="auto">
          <a:xfrm>
            <a:off x="5000625" y="2787650"/>
            <a:ext cx="381000" cy="304800"/>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789" name="Rectangle 61"/>
          <p:cNvSpPr>
            <a:spLocks noChangeArrowheads="1"/>
          </p:cNvSpPr>
          <p:nvPr/>
        </p:nvSpPr>
        <p:spPr bwMode="auto">
          <a:xfrm>
            <a:off x="5657850" y="2787650"/>
            <a:ext cx="381000" cy="304800"/>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790" name="Rectangle 62"/>
          <p:cNvSpPr>
            <a:spLocks noChangeArrowheads="1"/>
          </p:cNvSpPr>
          <p:nvPr/>
        </p:nvSpPr>
        <p:spPr bwMode="auto">
          <a:xfrm>
            <a:off x="6296025" y="2787650"/>
            <a:ext cx="381000" cy="304800"/>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792" name="Line 64"/>
          <p:cNvSpPr>
            <a:spLocks noChangeShapeType="1"/>
          </p:cNvSpPr>
          <p:nvPr/>
        </p:nvSpPr>
        <p:spPr bwMode="auto">
          <a:xfrm>
            <a:off x="4648200" y="2482850"/>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793" name="Line 65"/>
          <p:cNvSpPr>
            <a:spLocks noChangeShapeType="1"/>
          </p:cNvSpPr>
          <p:nvPr/>
        </p:nvSpPr>
        <p:spPr bwMode="auto">
          <a:xfrm>
            <a:off x="5272088" y="2482850"/>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794" name="Line 66"/>
          <p:cNvSpPr>
            <a:spLocks noChangeShapeType="1"/>
          </p:cNvSpPr>
          <p:nvPr/>
        </p:nvSpPr>
        <p:spPr bwMode="auto">
          <a:xfrm>
            <a:off x="4633913" y="2940050"/>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796" name="Line 68"/>
          <p:cNvSpPr>
            <a:spLocks noChangeShapeType="1"/>
          </p:cNvSpPr>
          <p:nvPr/>
        </p:nvSpPr>
        <p:spPr bwMode="auto">
          <a:xfrm>
            <a:off x="5272088" y="2940050"/>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797" name="Line 69"/>
          <p:cNvSpPr>
            <a:spLocks noChangeShapeType="1"/>
          </p:cNvSpPr>
          <p:nvPr/>
        </p:nvSpPr>
        <p:spPr bwMode="auto">
          <a:xfrm>
            <a:off x="5929313" y="2935288"/>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801" name="Line 73"/>
          <p:cNvSpPr>
            <a:spLocks noChangeShapeType="1"/>
          </p:cNvSpPr>
          <p:nvPr/>
        </p:nvSpPr>
        <p:spPr bwMode="auto">
          <a:xfrm>
            <a:off x="4633913" y="3492500"/>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804" name="Text Box 76"/>
          <p:cNvSpPr txBox="1">
            <a:spLocks noChangeArrowheads="1"/>
          </p:cNvSpPr>
          <p:nvPr/>
        </p:nvSpPr>
        <p:spPr bwMode="auto">
          <a:xfrm>
            <a:off x="1447800" y="3709988"/>
            <a:ext cx="3276600" cy="4667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400"/>
              <a:t>用户任务</a:t>
            </a:r>
            <a:r>
              <a:rPr lang="en-US" altLang="zh-CN" sz="2400"/>
              <a:t>(</a:t>
            </a:r>
            <a:r>
              <a:rPr lang="zh-CN" altLang="en-US" sz="2400"/>
              <a:t>时间片为</a:t>
            </a:r>
            <a:r>
              <a:rPr lang="en-US" altLang="zh-CN" sz="2400"/>
              <a:t>16)</a:t>
            </a:r>
          </a:p>
        </p:txBody>
      </p:sp>
      <p:sp>
        <p:nvSpPr>
          <p:cNvPr id="201805" name="Text Box 77"/>
          <p:cNvSpPr txBox="1">
            <a:spLocks noChangeArrowheads="1"/>
          </p:cNvSpPr>
          <p:nvPr/>
        </p:nvSpPr>
        <p:spPr bwMode="auto">
          <a:xfrm>
            <a:off x="1447800" y="4181475"/>
            <a:ext cx="3276600" cy="4667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400"/>
              <a:t>用户任务</a:t>
            </a:r>
            <a:r>
              <a:rPr lang="en-US" altLang="zh-CN" sz="2400"/>
              <a:t>(FCFS)</a:t>
            </a:r>
          </a:p>
        </p:txBody>
      </p:sp>
      <p:sp>
        <p:nvSpPr>
          <p:cNvPr id="201807" name="AutoShape 79"/>
          <p:cNvSpPr>
            <a:spLocks noChangeArrowheads="1"/>
          </p:cNvSpPr>
          <p:nvPr/>
        </p:nvSpPr>
        <p:spPr bwMode="auto">
          <a:xfrm rot="5400000" flipH="1">
            <a:off x="266700" y="3435350"/>
            <a:ext cx="1676400" cy="76200"/>
          </a:xfrm>
          <a:prstGeom prst="rightArrow">
            <a:avLst>
              <a:gd name="adj1" fmla="val 50000"/>
              <a:gd name="adj2" fmla="val 550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812" name="Text Box 84"/>
          <p:cNvSpPr txBox="1">
            <a:spLocks noChangeArrowheads="1"/>
          </p:cNvSpPr>
          <p:nvPr/>
        </p:nvSpPr>
        <p:spPr bwMode="auto">
          <a:xfrm>
            <a:off x="457200" y="3016250"/>
            <a:ext cx="54927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优先权</a:t>
            </a:r>
          </a:p>
        </p:txBody>
      </p:sp>
      <p:sp>
        <p:nvSpPr>
          <p:cNvPr id="201813" name="Rectangle 85"/>
          <p:cNvSpPr>
            <a:spLocks noChangeArrowheads="1"/>
          </p:cNvSpPr>
          <p:nvPr/>
        </p:nvSpPr>
        <p:spPr bwMode="auto">
          <a:xfrm>
            <a:off x="5000625" y="3340100"/>
            <a:ext cx="381000" cy="304800"/>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814" name="Rectangle 86"/>
          <p:cNvSpPr>
            <a:spLocks noChangeArrowheads="1"/>
          </p:cNvSpPr>
          <p:nvPr/>
        </p:nvSpPr>
        <p:spPr bwMode="auto">
          <a:xfrm>
            <a:off x="5657850" y="3340100"/>
            <a:ext cx="381000" cy="304800"/>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815" name="Rectangle 87"/>
          <p:cNvSpPr>
            <a:spLocks noChangeArrowheads="1"/>
          </p:cNvSpPr>
          <p:nvPr/>
        </p:nvSpPr>
        <p:spPr bwMode="auto">
          <a:xfrm>
            <a:off x="6296025" y="3340100"/>
            <a:ext cx="381000" cy="304800"/>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816" name="Line 88"/>
          <p:cNvSpPr>
            <a:spLocks noChangeShapeType="1"/>
          </p:cNvSpPr>
          <p:nvPr/>
        </p:nvSpPr>
        <p:spPr bwMode="auto">
          <a:xfrm>
            <a:off x="5272088" y="3492500"/>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817" name="Line 89"/>
          <p:cNvSpPr>
            <a:spLocks noChangeShapeType="1"/>
          </p:cNvSpPr>
          <p:nvPr/>
        </p:nvSpPr>
        <p:spPr bwMode="auto">
          <a:xfrm>
            <a:off x="5929313" y="3487738"/>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818" name="Rectangle 90"/>
          <p:cNvSpPr>
            <a:spLocks noChangeArrowheads="1"/>
          </p:cNvSpPr>
          <p:nvPr/>
        </p:nvSpPr>
        <p:spPr bwMode="auto">
          <a:xfrm>
            <a:off x="6934200" y="3352800"/>
            <a:ext cx="381000" cy="304800"/>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819" name="Line 91"/>
          <p:cNvSpPr>
            <a:spLocks noChangeShapeType="1"/>
          </p:cNvSpPr>
          <p:nvPr/>
        </p:nvSpPr>
        <p:spPr bwMode="auto">
          <a:xfrm>
            <a:off x="6567488" y="3497263"/>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820" name="Line 92"/>
          <p:cNvSpPr>
            <a:spLocks noChangeShapeType="1"/>
          </p:cNvSpPr>
          <p:nvPr/>
        </p:nvSpPr>
        <p:spPr bwMode="auto">
          <a:xfrm>
            <a:off x="4652963" y="4002088"/>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821" name="Rectangle 93"/>
          <p:cNvSpPr>
            <a:spLocks noChangeArrowheads="1"/>
          </p:cNvSpPr>
          <p:nvPr/>
        </p:nvSpPr>
        <p:spPr bwMode="auto">
          <a:xfrm>
            <a:off x="5019675" y="3849688"/>
            <a:ext cx="381000" cy="304800"/>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822" name="Rectangle 94"/>
          <p:cNvSpPr>
            <a:spLocks noChangeArrowheads="1"/>
          </p:cNvSpPr>
          <p:nvPr/>
        </p:nvSpPr>
        <p:spPr bwMode="auto">
          <a:xfrm>
            <a:off x="5676900" y="3849688"/>
            <a:ext cx="381000" cy="304800"/>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823" name="Rectangle 95"/>
          <p:cNvSpPr>
            <a:spLocks noChangeArrowheads="1"/>
          </p:cNvSpPr>
          <p:nvPr/>
        </p:nvSpPr>
        <p:spPr bwMode="auto">
          <a:xfrm>
            <a:off x="5000625" y="4311650"/>
            <a:ext cx="381000" cy="304800"/>
          </a:xfrm>
          <a:prstGeom prst="rect">
            <a:avLst/>
          </a:prstGeom>
          <a:solidFill>
            <a:srgbClr val="FFFFCC"/>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824" name="Line 96"/>
          <p:cNvSpPr>
            <a:spLocks noChangeShapeType="1"/>
          </p:cNvSpPr>
          <p:nvPr/>
        </p:nvSpPr>
        <p:spPr bwMode="auto">
          <a:xfrm>
            <a:off x="5291138" y="4002088"/>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825" name="Line 97"/>
          <p:cNvSpPr>
            <a:spLocks noChangeShapeType="1"/>
          </p:cNvSpPr>
          <p:nvPr/>
        </p:nvSpPr>
        <p:spPr bwMode="auto">
          <a:xfrm>
            <a:off x="4633913" y="4459288"/>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828" name="Rectangle 100"/>
          <p:cNvSpPr>
            <a:spLocks noChangeArrowheads="1"/>
          </p:cNvSpPr>
          <p:nvPr/>
        </p:nvSpPr>
        <p:spPr bwMode="auto">
          <a:xfrm>
            <a:off x="5000625" y="3344863"/>
            <a:ext cx="381000" cy="304800"/>
          </a:xfrm>
          <a:prstGeom prst="rect">
            <a:avLst/>
          </a:prstGeom>
          <a:solidFill>
            <a:srgbClr val="000099"/>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829" name="Rectangle 101"/>
          <p:cNvSpPr>
            <a:spLocks noChangeArrowheads="1"/>
          </p:cNvSpPr>
          <p:nvPr/>
        </p:nvSpPr>
        <p:spPr bwMode="auto">
          <a:xfrm>
            <a:off x="6400800" y="3838575"/>
            <a:ext cx="381000" cy="304800"/>
          </a:xfrm>
          <a:prstGeom prst="rect">
            <a:avLst/>
          </a:prstGeom>
          <a:solidFill>
            <a:srgbClr val="000099"/>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01830" name="Line 102"/>
          <p:cNvSpPr>
            <a:spLocks noChangeShapeType="1"/>
          </p:cNvSpPr>
          <p:nvPr/>
        </p:nvSpPr>
        <p:spPr bwMode="auto">
          <a:xfrm>
            <a:off x="4648200" y="3492500"/>
            <a:ext cx="9906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1831" name="Line 103"/>
          <p:cNvSpPr>
            <a:spLocks noChangeShapeType="1"/>
          </p:cNvSpPr>
          <p:nvPr/>
        </p:nvSpPr>
        <p:spPr bwMode="auto">
          <a:xfrm>
            <a:off x="5943600" y="4002088"/>
            <a:ext cx="4572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01835" name="Group 107"/>
          <p:cNvGrpSpPr>
            <a:grpSpLocks/>
          </p:cNvGrpSpPr>
          <p:nvPr/>
        </p:nvGrpSpPr>
        <p:grpSpPr bwMode="auto">
          <a:xfrm>
            <a:off x="5153025" y="3940175"/>
            <a:ext cx="3762375" cy="1165225"/>
            <a:chOff x="3150" y="2448"/>
            <a:chExt cx="2370" cy="734"/>
          </a:xfrm>
        </p:grpSpPr>
        <p:sp>
          <p:nvSpPr>
            <p:cNvPr id="47145" name="AutoShape 105"/>
            <p:cNvSpPr>
              <a:spLocks/>
            </p:cNvSpPr>
            <p:nvPr/>
          </p:nvSpPr>
          <p:spPr bwMode="auto">
            <a:xfrm rot="6534687">
              <a:off x="3552" y="2064"/>
              <a:ext cx="240" cy="1008"/>
            </a:xfrm>
            <a:prstGeom prst="rightBrace">
              <a:avLst>
                <a:gd name="adj1" fmla="val 35000"/>
                <a:gd name="adj2" fmla="val 50139"/>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7146" name="Rectangle 106"/>
            <p:cNvSpPr>
              <a:spLocks noChangeArrowheads="1"/>
            </p:cNvSpPr>
            <p:nvPr/>
          </p:nvSpPr>
          <p:spPr bwMode="auto">
            <a:xfrm>
              <a:off x="3150" y="2736"/>
              <a:ext cx="2370" cy="446"/>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dirty="0" smtClean="0"/>
                <a:t>移动策略：可</a:t>
              </a:r>
              <a:r>
                <a:rPr lang="zh-CN" altLang="en-US" sz="2000" dirty="0"/>
                <a:t>近似</a:t>
              </a:r>
              <a:r>
                <a:rPr lang="en-US" altLang="zh-CN" sz="2000" dirty="0" err="1"/>
                <a:t>SJF</a:t>
              </a:r>
              <a:r>
                <a:rPr lang="zh-CN" altLang="en-US" sz="2000" dirty="0"/>
                <a:t>，可使</a:t>
              </a:r>
              <a:r>
                <a:rPr lang="en-US" altLang="zh-CN" sz="2000" dirty="0"/>
                <a:t>I/O bound</a:t>
              </a:r>
              <a:r>
                <a:rPr lang="zh-CN" altLang="en-US" sz="2000" dirty="0"/>
                <a:t>停留在高优先级</a:t>
              </a:r>
              <a:r>
                <a:rPr lang="en-US" altLang="zh-CN" sz="2000" dirty="0"/>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1731">
                                            <p:txEl>
                                              <p:pRg st="0" end="0"/>
                                            </p:txEl>
                                          </p:spTgt>
                                        </p:tgtEl>
                                        <p:attrNameLst>
                                          <p:attrName>style.visibility</p:attrName>
                                        </p:attrNameLst>
                                      </p:cBhvr>
                                      <p:to>
                                        <p:strVal val="visible"/>
                                      </p:to>
                                    </p:set>
                                    <p:animEffect transition="in" filter="dissolve">
                                      <p:cBhvr>
                                        <p:cTn id="7" dur="500"/>
                                        <p:tgtEl>
                                          <p:spTgt spid="2017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1782"/>
                                        </p:tgtEl>
                                        <p:attrNameLst>
                                          <p:attrName>style.visibility</p:attrName>
                                        </p:attrNameLst>
                                      </p:cBhvr>
                                      <p:to>
                                        <p:strVal val="visible"/>
                                      </p:to>
                                    </p:set>
                                    <p:animEffect transition="in" filter="dissolve">
                                      <p:cBhvr>
                                        <p:cTn id="12" dur="500"/>
                                        <p:tgtEl>
                                          <p:spTgt spid="20178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201784"/>
                                        </p:tgtEl>
                                        <p:attrNameLst>
                                          <p:attrName>style.visibility</p:attrName>
                                        </p:attrNameLst>
                                      </p:cBhvr>
                                      <p:to>
                                        <p:strVal val="visible"/>
                                      </p:to>
                                    </p:set>
                                    <p:animEffect transition="in" filter="dissolve">
                                      <p:cBhvr>
                                        <p:cTn id="15" dur="500"/>
                                        <p:tgtEl>
                                          <p:spTgt spid="20178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01785"/>
                                        </p:tgtEl>
                                        <p:attrNameLst>
                                          <p:attrName>style.visibility</p:attrName>
                                        </p:attrNameLst>
                                      </p:cBhvr>
                                      <p:to>
                                        <p:strVal val="visible"/>
                                      </p:to>
                                    </p:set>
                                    <p:animEffect transition="in" filter="dissolve">
                                      <p:cBhvr>
                                        <p:cTn id="18" dur="500"/>
                                        <p:tgtEl>
                                          <p:spTgt spid="201785"/>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01786"/>
                                        </p:tgtEl>
                                        <p:attrNameLst>
                                          <p:attrName>style.visibility</p:attrName>
                                        </p:attrNameLst>
                                      </p:cBhvr>
                                      <p:to>
                                        <p:strVal val="visible"/>
                                      </p:to>
                                    </p:set>
                                    <p:animEffect transition="in" filter="dissolve">
                                      <p:cBhvr>
                                        <p:cTn id="21" dur="500"/>
                                        <p:tgtEl>
                                          <p:spTgt spid="201786"/>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201787"/>
                                        </p:tgtEl>
                                        <p:attrNameLst>
                                          <p:attrName>style.visibility</p:attrName>
                                        </p:attrNameLst>
                                      </p:cBhvr>
                                      <p:to>
                                        <p:strVal val="visible"/>
                                      </p:to>
                                    </p:set>
                                    <p:animEffect transition="in" filter="dissolve">
                                      <p:cBhvr>
                                        <p:cTn id="24" dur="500"/>
                                        <p:tgtEl>
                                          <p:spTgt spid="201787"/>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201788"/>
                                        </p:tgtEl>
                                        <p:attrNameLst>
                                          <p:attrName>style.visibility</p:attrName>
                                        </p:attrNameLst>
                                      </p:cBhvr>
                                      <p:to>
                                        <p:strVal val="visible"/>
                                      </p:to>
                                    </p:set>
                                    <p:animEffect transition="in" filter="dissolve">
                                      <p:cBhvr>
                                        <p:cTn id="27" dur="500"/>
                                        <p:tgtEl>
                                          <p:spTgt spid="201788"/>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201789"/>
                                        </p:tgtEl>
                                        <p:attrNameLst>
                                          <p:attrName>style.visibility</p:attrName>
                                        </p:attrNameLst>
                                      </p:cBhvr>
                                      <p:to>
                                        <p:strVal val="visible"/>
                                      </p:to>
                                    </p:set>
                                    <p:animEffect transition="in" filter="dissolve">
                                      <p:cBhvr>
                                        <p:cTn id="30" dur="500"/>
                                        <p:tgtEl>
                                          <p:spTgt spid="201789"/>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201790"/>
                                        </p:tgtEl>
                                        <p:attrNameLst>
                                          <p:attrName>style.visibility</p:attrName>
                                        </p:attrNameLst>
                                      </p:cBhvr>
                                      <p:to>
                                        <p:strVal val="visible"/>
                                      </p:to>
                                    </p:set>
                                    <p:animEffect transition="in" filter="dissolve">
                                      <p:cBhvr>
                                        <p:cTn id="33" dur="500"/>
                                        <p:tgtEl>
                                          <p:spTgt spid="201790"/>
                                        </p:tgtEl>
                                      </p:cBhvr>
                                    </p:animEffect>
                                  </p:childTnLst>
                                </p:cTn>
                              </p:par>
                              <p:par>
                                <p:cTn id="34" presetID="9" presetClass="entr" presetSubtype="0" fill="hold" nodeType="withEffect">
                                  <p:stCondLst>
                                    <p:cond delay="0"/>
                                  </p:stCondLst>
                                  <p:childTnLst>
                                    <p:set>
                                      <p:cBhvr>
                                        <p:cTn id="35" dur="1" fill="hold">
                                          <p:stCondLst>
                                            <p:cond delay="0"/>
                                          </p:stCondLst>
                                        </p:cTn>
                                        <p:tgtEl>
                                          <p:spTgt spid="201792"/>
                                        </p:tgtEl>
                                        <p:attrNameLst>
                                          <p:attrName>style.visibility</p:attrName>
                                        </p:attrNameLst>
                                      </p:cBhvr>
                                      <p:to>
                                        <p:strVal val="visible"/>
                                      </p:to>
                                    </p:set>
                                    <p:animEffect transition="in" filter="dissolve">
                                      <p:cBhvr>
                                        <p:cTn id="36" dur="500"/>
                                        <p:tgtEl>
                                          <p:spTgt spid="201792"/>
                                        </p:tgtEl>
                                      </p:cBhvr>
                                    </p:animEffect>
                                  </p:childTnLst>
                                </p:cTn>
                              </p:par>
                              <p:par>
                                <p:cTn id="37" presetID="9" presetClass="entr" presetSubtype="0" fill="hold" nodeType="withEffect">
                                  <p:stCondLst>
                                    <p:cond delay="0"/>
                                  </p:stCondLst>
                                  <p:childTnLst>
                                    <p:set>
                                      <p:cBhvr>
                                        <p:cTn id="38" dur="1" fill="hold">
                                          <p:stCondLst>
                                            <p:cond delay="0"/>
                                          </p:stCondLst>
                                        </p:cTn>
                                        <p:tgtEl>
                                          <p:spTgt spid="201793"/>
                                        </p:tgtEl>
                                        <p:attrNameLst>
                                          <p:attrName>style.visibility</p:attrName>
                                        </p:attrNameLst>
                                      </p:cBhvr>
                                      <p:to>
                                        <p:strVal val="visible"/>
                                      </p:to>
                                    </p:set>
                                    <p:animEffect transition="in" filter="dissolve">
                                      <p:cBhvr>
                                        <p:cTn id="39" dur="500"/>
                                        <p:tgtEl>
                                          <p:spTgt spid="201793"/>
                                        </p:tgtEl>
                                      </p:cBhvr>
                                    </p:animEffect>
                                  </p:childTnLst>
                                </p:cTn>
                              </p:par>
                              <p:par>
                                <p:cTn id="40" presetID="9" presetClass="entr" presetSubtype="0" fill="hold" nodeType="withEffect">
                                  <p:stCondLst>
                                    <p:cond delay="0"/>
                                  </p:stCondLst>
                                  <p:childTnLst>
                                    <p:set>
                                      <p:cBhvr>
                                        <p:cTn id="41" dur="1" fill="hold">
                                          <p:stCondLst>
                                            <p:cond delay="0"/>
                                          </p:stCondLst>
                                        </p:cTn>
                                        <p:tgtEl>
                                          <p:spTgt spid="201794"/>
                                        </p:tgtEl>
                                        <p:attrNameLst>
                                          <p:attrName>style.visibility</p:attrName>
                                        </p:attrNameLst>
                                      </p:cBhvr>
                                      <p:to>
                                        <p:strVal val="visible"/>
                                      </p:to>
                                    </p:set>
                                    <p:animEffect transition="in" filter="dissolve">
                                      <p:cBhvr>
                                        <p:cTn id="42" dur="500"/>
                                        <p:tgtEl>
                                          <p:spTgt spid="201794"/>
                                        </p:tgtEl>
                                      </p:cBhvr>
                                    </p:animEffect>
                                  </p:childTnLst>
                                </p:cTn>
                              </p:par>
                              <p:par>
                                <p:cTn id="43" presetID="9" presetClass="entr" presetSubtype="0" fill="hold" nodeType="withEffect">
                                  <p:stCondLst>
                                    <p:cond delay="0"/>
                                  </p:stCondLst>
                                  <p:childTnLst>
                                    <p:set>
                                      <p:cBhvr>
                                        <p:cTn id="44" dur="1" fill="hold">
                                          <p:stCondLst>
                                            <p:cond delay="0"/>
                                          </p:stCondLst>
                                        </p:cTn>
                                        <p:tgtEl>
                                          <p:spTgt spid="201796"/>
                                        </p:tgtEl>
                                        <p:attrNameLst>
                                          <p:attrName>style.visibility</p:attrName>
                                        </p:attrNameLst>
                                      </p:cBhvr>
                                      <p:to>
                                        <p:strVal val="visible"/>
                                      </p:to>
                                    </p:set>
                                    <p:animEffect transition="in" filter="dissolve">
                                      <p:cBhvr>
                                        <p:cTn id="45" dur="500"/>
                                        <p:tgtEl>
                                          <p:spTgt spid="201796"/>
                                        </p:tgtEl>
                                      </p:cBhvr>
                                    </p:animEffect>
                                  </p:childTnLst>
                                </p:cTn>
                              </p:par>
                              <p:par>
                                <p:cTn id="46" presetID="9" presetClass="entr" presetSubtype="0" fill="hold" nodeType="withEffect">
                                  <p:stCondLst>
                                    <p:cond delay="0"/>
                                  </p:stCondLst>
                                  <p:childTnLst>
                                    <p:set>
                                      <p:cBhvr>
                                        <p:cTn id="47" dur="1" fill="hold">
                                          <p:stCondLst>
                                            <p:cond delay="0"/>
                                          </p:stCondLst>
                                        </p:cTn>
                                        <p:tgtEl>
                                          <p:spTgt spid="201797"/>
                                        </p:tgtEl>
                                        <p:attrNameLst>
                                          <p:attrName>style.visibility</p:attrName>
                                        </p:attrNameLst>
                                      </p:cBhvr>
                                      <p:to>
                                        <p:strVal val="visible"/>
                                      </p:to>
                                    </p:set>
                                    <p:animEffect transition="in" filter="dissolve">
                                      <p:cBhvr>
                                        <p:cTn id="48" dur="500"/>
                                        <p:tgtEl>
                                          <p:spTgt spid="201797"/>
                                        </p:tgtEl>
                                      </p:cBhvr>
                                    </p:animEffect>
                                  </p:childTnLst>
                                </p:cTn>
                              </p:par>
                              <p:par>
                                <p:cTn id="49" presetID="9" presetClass="entr" presetSubtype="0" fill="hold" nodeType="withEffect">
                                  <p:stCondLst>
                                    <p:cond delay="0"/>
                                  </p:stCondLst>
                                  <p:childTnLst>
                                    <p:set>
                                      <p:cBhvr>
                                        <p:cTn id="50" dur="1" fill="hold">
                                          <p:stCondLst>
                                            <p:cond delay="0"/>
                                          </p:stCondLst>
                                        </p:cTn>
                                        <p:tgtEl>
                                          <p:spTgt spid="201801"/>
                                        </p:tgtEl>
                                        <p:attrNameLst>
                                          <p:attrName>style.visibility</p:attrName>
                                        </p:attrNameLst>
                                      </p:cBhvr>
                                      <p:to>
                                        <p:strVal val="visible"/>
                                      </p:to>
                                    </p:set>
                                    <p:animEffect transition="in" filter="dissolve">
                                      <p:cBhvr>
                                        <p:cTn id="51" dur="500"/>
                                        <p:tgtEl>
                                          <p:spTgt spid="201801"/>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201804"/>
                                        </p:tgtEl>
                                        <p:attrNameLst>
                                          <p:attrName>style.visibility</p:attrName>
                                        </p:attrNameLst>
                                      </p:cBhvr>
                                      <p:to>
                                        <p:strVal val="visible"/>
                                      </p:to>
                                    </p:set>
                                    <p:animEffect transition="in" filter="dissolve">
                                      <p:cBhvr>
                                        <p:cTn id="54" dur="500"/>
                                        <p:tgtEl>
                                          <p:spTgt spid="201804"/>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201805"/>
                                        </p:tgtEl>
                                        <p:attrNameLst>
                                          <p:attrName>style.visibility</p:attrName>
                                        </p:attrNameLst>
                                      </p:cBhvr>
                                      <p:to>
                                        <p:strVal val="visible"/>
                                      </p:to>
                                    </p:set>
                                    <p:animEffect transition="in" filter="dissolve">
                                      <p:cBhvr>
                                        <p:cTn id="57" dur="500"/>
                                        <p:tgtEl>
                                          <p:spTgt spid="201805"/>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201807"/>
                                        </p:tgtEl>
                                        <p:attrNameLst>
                                          <p:attrName>style.visibility</p:attrName>
                                        </p:attrNameLst>
                                      </p:cBhvr>
                                      <p:to>
                                        <p:strVal val="visible"/>
                                      </p:to>
                                    </p:set>
                                    <p:animEffect transition="in" filter="dissolve">
                                      <p:cBhvr>
                                        <p:cTn id="60" dur="500"/>
                                        <p:tgtEl>
                                          <p:spTgt spid="201807"/>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201812"/>
                                        </p:tgtEl>
                                        <p:attrNameLst>
                                          <p:attrName>style.visibility</p:attrName>
                                        </p:attrNameLst>
                                      </p:cBhvr>
                                      <p:to>
                                        <p:strVal val="visible"/>
                                      </p:to>
                                    </p:set>
                                    <p:animEffect transition="in" filter="dissolve">
                                      <p:cBhvr>
                                        <p:cTn id="63" dur="500"/>
                                        <p:tgtEl>
                                          <p:spTgt spid="201812"/>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201813"/>
                                        </p:tgtEl>
                                        <p:attrNameLst>
                                          <p:attrName>style.visibility</p:attrName>
                                        </p:attrNameLst>
                                      </p:cBhvr>
                                      <p:to>
                                        <p:strVal val="visible"/>
                                      </p:to>
                                    </p:set>
                                    <p:animEffect transition="in" filter="dissolve">
                                      <p:cBhvr>
                                        <p:cTn id="66" dur="500"/>
                                        <p:tgtEl>
                                          <p:spTgt spid="201813"/>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201814"/>
                                        </p:tgtEl>
                                        <p:attrNameLst>
                                          <p:attrName>style.visibility</p:attrName>
                                        </p:attrNameLst>
                                      </p:cBhvr>
                                      <p:to>
                                        <p:strVal val="visible"/>
                                      </p:to>
                                    </p:set>
                                    <p:animEffect transition="in" filter="dissolve">
                                      <p:cBhvr>
                                        <p:cTn id="69" dur="500"/>
                                        <p:tgtEl>
                                          <p:spTgt spid="201814"/>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201815"/>
                                        </p:tgtEl>
                                        <p:attrNameLst>
                                          <p:attrName>style.visibility</p:attrName>
                                        </p:attrNameLst>
                                      </p:cBhvr>
                                      <p:to>
                                        <p:strVal val="visible"/>
                                      </p:to>
                                    </p:set>
                                    <p:animEffect transition="in" filter="dissolve">
                                      <p:cBhvr>
                                        <p:cTn id="72" dur="500"/>
                                        <p:tgtEl>
                                          <p:spTgt spid="201815"/>
                                        </p:tgtEl>
                                      </p:cBhvr>
                                    </p:animEffect>
                                  </p:childTnLst>
                                </p:cTn>
                              </p:par>
                              <p:par>
                                <p:cTn id="73" presetID="9" presetClass="entr" presetSubtype="0" fill="hold" nodeType="withEffect">
                                  <p:stCondLst>
                                    <p:cond delay="0"/>
                                  </p:stCondLst>
                                  <p:childTnLst>
                                    <p:set>
                                      <p:cBhvr>
                                        <p:cTn id="74" dur="1" fill="hold">
                                          <p:stCondLst>
                                            <p:cond delay="0"/>
                                          </p:stCondLst>
                                        </p:cTn>
                                        <p:tgtEl>
                                          <p:spTgt spid="201816"/>
                                        </p:tgtEl>
                                        <p:attrNameLst>
                                          <p:attrName>style.visibility</p:attrName>
                                        </p:attrNameLst>
                                      </p:cBhvr>
                                      <p:to>
                                        <p:strVal val="visible"/>
                                      </p:to>
                                    </p:set>
                                    <p:animEffect transition="in" filter="dissolve">
                                      <p:cBhvr>
                                        <p:cTn id="75" dur="500"/>
                                        <p:tgtEl>
                                          <p:spTgt spid="201816"/>
                                        </p:tgtEl>
                                      </p:cBhvr>
                                    </p:animEffect>
                                  </p:childTnLst>
                                </p:cTn>
                              </p:par>
                              <p:par>
                                <p:cTn id="76" presetID="9" presetClass="entr" presetSubtype="0" fill="hold" nodeType="withEffect">
                                  <p:stCondLst>
                                    <p:cond delay="0"/>
                                  </p:stCondLst>
                                  <p:childTnLst>
                                    <p:set>
                                      <p:cBhvr>
                                        <p:cTn id="77" dur="1" fill="hold">
                                          <p:stCondLst>
                                            <p:cond delay="0"/>
                                          </p:stCondLst>
                                        </p:cTn>
                                        <p:tgtEl>
                                          <p:spTgt spid="201817"/>
                                        </p:tgtEl>
                                        <p:attrNameLst>
                                          <p:attrName>style.visibility</p:attrName>
                                        </p:attrNameLst>
                                      </p:cBhvr>
                                      <p:to>
                                        <p:strVal val="visible"/>
                                      </p:to>
                                    </p:set>
                                    <p:animEffect transition="in" filter="dissolve">
                                      <p:cBhvr>
                                        <p:cTn id="78" dur="500"/>
                                        <p:tgtEl>
                                          <p:spTgt spid="201817"/>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201818"/>
                                        </p:tgtEl>
                                        <p:attrNameLst>
                                          <p:attrName>style.visibility</p:attrName>
                                        </p:attrNameLst>
                                      </p:cBhvr>
                                      <p:to>
                                        <p:strVal val="visible"/>
                                      </p:to>
                                    </p:set>
                                    <p:animEffect transition="in" filter="dissolve">
                                      <p:cBhvr>
                                        <p:cTn id="81" dur="500"/>
                                        <p:tgtEl>
                                          <p:spTgt spid="201818"/>
                                        </p:tgtEl>
                                      </p:cBhvr>
                                    </p:animEffect>
                                  </p:childTnLst>
                                </p:cTn>
                              </p:par>
                              <p:par>
                                <p:cTn id="82" presetID="9" presetClass="entr" presetSubtype="0" fill="hold" nodeType="withEffect">
                                  <p:stCondLst>
                                    <p:cond delay="0"/>
                                  </p:stCondLst>
                                  <p:childTnLst>
                                    <p:set>
                                      <p:cBhvr>
                                        <p:cTn id="83" dur="1" fill="hold">
                                          <p:stCondLst>
                                            <p:cond delay="0"/>
                                          </p:stCondLst>
                                        </p:cTn>
                                        <p:tgtEl>
                                          <p:spTgt spid="201819"/>
                                        </p:tgtEl>
                                        <p:attrNameLst>
                                          <p:attrName>style.visibility</p:attrName>
                                        </p:attrNameLst>
                                      </p:cBhvr>
                                      <p:to>
                                        <p:strVal val="visible"/>
                                      </p:to>
                                    </p:set>
                                    <p:animEffect transition="in" filter="dissolve">
                                      <p:cBhvr>
                                        <p:cTn id="84" dur="500"/>
                                        <p:tgtEl>
                                          <p:spTgt spid="201819"/>
                                        </p:tgtEl>
                                      </p:cBhvr>
                                    </p:animEffect>
                                  </p:childTnLst>
                                </p:cTn>
                              </p:par>
                              <p:par>
                                <p:cTn id="85" presetID="9" presetClass="entr" presetSubtype="0" fill="hold" nodeType="withEffect">
                                  <p:stCondLst>
                                    <p:cond delay="0"/>
                                  </p:stCondLst>
                                  <p:childTnLst>
                                    <p:set>
                                      <p:cBhvr>
                                        <p:cTn id="86" dur="1" fill="hold">
                                          <p:stCondLst>
                                            <p:cond delay="0"/>
                                          </p:stCondLst>
                                        </p:cTn>
                                        <p:tgtEl>
                                          <p:spTgt spid="201820"/>
                                        </p:tgtEl>
                                        <p:attrNameLst>
                                          <p:attrName>style.visibility</p:attrName>
                                        </p:attrNameLst>
                                      </p:cBhvr>
                                      <p:to>
                                        <p:strVal val="visible"/>
                                      </p:to>
                                    </p:set>
                                    <p:animEffect transition="in" filter="dissolve">
                                      <p:cBhvr>
                                        <p:cTn id="87" dur="500"/>
                                        <p:tgtEl>
                                          <p:spTgt spid="201820"/>
                                        </p:tgtEl>
                                      </p:cBhvr>
                                    </p:animEffect>
                                  </p:childTnLst>
                                </p:cTn>
                              </p:par>
                              <p:par>
                                <p:cTn id="88" presetID="9" presetClass="entr" presetSubtype="0" fill="hold" grpId="0" nodeType="withEffect">
                                  <p:stCondLst>
                                    <p:cond delay="0"/>
                                  </p:stCondLst>
                                  <p:childTnLst>
                                    <p:set>
                                      <p:cBhvr>
                                        <p:cTn id="89" dur="1" fill="hold">
                                          <p:stCondLst>
                                            <p:cond delay="0"/>
                                          </p:stCondLst>
                                        </p:cTn>
                                        <p:tgtEl>
                                          <p:spTgt spid="201821"/>
                                        </p:tgtEl>
                                        <p:attrNameLst>
                                          <p:attrName>style.visibility</p:attrName>
                                        </p:attrNameLst>
                                      </p:cBhvr>
                                      <p:to>
                                        <p:strVal val="visible"/>
                                      </p:to>
                                    </p:set>
                                    <p:animEffect transition="in" filter="dissolve">
                                      <p:cBhvr>
                                        <p:cTn id="90" dur="500"/>
                                        <p:tgtEl>
                                          <p:spTgt spid="201821"/>
                                        </p:tgtEl>
                                      </p:cBhvr>
                                    </p:animEffect>
                                  </p:childTnLst>
                                </p:cTn>
                              </p:par>
                              <p:par>
                                <p:cTn id="91" presetID="9" presetClass="entr" presetSubtype="0" fill="hold" grpId="0" nodeType="withEffect">
                                  <p:stCondLst>
                                    <p:cond delay="0"/>
                                  </p:stCondLst>
                                  <p:childTnLst>
                                    <p:set>
                                      <p:cBhvr>
                                        <p:cTn id="92" dur="1" fill="hold">
                                          <p:stCondLst>
                                            <p:cond delay="0"/>
                                          </p:stCondLst>
                                        </p:cTn>
                                        <p:tgtEl>
                                          <p:spTgt spid="201822"/>
                                        </p:tgtEl>
                                        <p:attrNameLst>
                                          <p:attrName>style.visibility</p:attrName>
                                        </p:attrNameLst>
                                      </p:cBhvr>
                                      <p:to>
                                        <p:strVal val="visible"/>
                                      </p:to>
                                    </p:set>
                                    <p:animEffect transition="in" filter="dissolve">
                                      <p:cBhvr>
                                        <p:cTn id="93" dur="500"/>
                                        <p:tgtEl>
                                          <p:spTgt spid="201822"/>
                                        </p:tgtEl>
                                      </p:cBhvr>
                                    </p:animEffect>
                                  </p:childTnLst>
                                </p:cTn>
                              </p:par>
                              <p:par>
                                <p:cTn id="94" presetID="9" presetClass="entr" presetSubtype="0" fill="hold" grpId="0" nodeType="withEffect">
                                  <p:stCondLst>
                                    <p:cond delay="0"/>
                                  </p:stCondLst>
                                  <p:childTnLst>
                                    <p:set>
                                      <p:cBhvr>
                                        <p:cTn id="95" dur="1" fill="hold">
                                          <p:stCondLst>
                                            <p:cond delay="0"/>
                                          </p:stCondLst>
                                        </p:cTn>
                                        <p:tgtEl>
                                          <p:spTgt spid="201823"/>
                                        </p:tgtEl>
                                        <p:attrNameLst>
                                          <p:attrName>style.visibility</p:attrName>
                                        </p:attrNameLst>
                                      </p:cBhvr>
                                      <p:to>
                                        <p:strVal val="visible"/>
                                      </p:to>
                                    </p:set>
                                    <p:animEffect transition="in" filter="dissolve">
                                      <p:cBhvr>
                                        <p:cTn id="96" dur="500"/>
                                        <p:tgtEl>
                                          <p:spTgt spid="201823"/>
                                        </p:tgtEl>
                                      </p:cBhvr>
                                    </p:animEffect>
                                  </p:childTnLst>
                                </p:cTn>
                              </p:par>
                              <p:par>
                                <p:cTn id="97" presetID="9" presetClass="entr" presetSubtype="0" fill="hold" nodeType="withEffect">
                                  <p:stCondLst>
                                    <p:cond delay="0"/>
                                  </p:stCondLst>
                                  <p:childTnLst>
                                    <p:set>
                                      <p:cBhvr>
                                        <p:cTn id="98" dur="1" fill="hold">
                                          <p:stCondLst>
                                            <p:cond delay="0"/>
                                          </p:stCondLst>
                                        </p:cTn>
                                        <p:tgtEl>
                                          <p:spTgt spid="201824"/>
                                        </p:tgtEl>
                                        <p:attrNameLst>
                                          <p:attrName>style.visibility</p:attrName>
                                        </p:attrNameLst>
                                      </p:cBhvr>
                                      <p:to>
                                        <p:strVal val="visible"/>
                                      </p:to>
                                    </p:set>
                                    <p:animEffect transition="in" filter="dissolve">
                                      <p:cBhvr>
                                        <p:cTn id="99" dur="500"/>
                                        <p:tgtEl>
                                          <p:spTgt spid="201824"/>
                                        </p:tgtEl>
                                      </p:cBhvr>
                                    </p:animEffect>
                                  </p:childTnLst>
                                </p:cTn>
                              </p:par>
                              <p:par>
                                <p:cTn id="100" presetID="9" presetClass="entr" presetSubtype="0" fill="hold" nodeType="withEffect">
                                  <p:stCondLst>
                                    <p:cond delay="0"/>
                                  </p:stCondLst>
                                  <p:childTnLst>
                                    <p:set>
                                      <p:cBhvr>
                                        <p:cTn id="101" dur="1" fill="hold">
                                          <p:stCondLst>
                                            <p:cond delay="0"/>
                                          </p:stCondLst>
                                        </p:cTn>
                                        <p:tgtEl>
                                          <p:spTgt spid="201825"/>
                                        </p:tgtEl>
                                        <p:attrNameLst>
                                          <p:attrName>style.visibility</p:attrName>
                                        </p:attrNameLst>
                                      </p:cBhvr>
                                      <p:to>
                                        <p:strVal val="visible"/>
                                      </p:to>
                                    </p:set>
                                    <p:animEffect transition="in" filter="dissolve">
                                      <p:cBhvr>
                                        <p:cTn id="102" dur="500"/>
                                        <p:tgtEl>
                                          <p:spTgt spid="20182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xit" presetSubtype="0" fill="hold" grpId="1" nodeType="clickEffect">
                                  <p:stCondLst>
                                    <p:cond delay="0"/>
                                  </p:stCondLst>
                                  <p:childTnLst>
                                    <p:set>
                                      <p:cBhvr>
                                        <p:cTn id="106" dur="1" fill="hold">
                                          <p:stCondLst>
                                            <p:cond delay="0"/>
                                          </p:stCondLst>
                                        </p:cTn>
                                        <p:tgtEl>
                                          <p:spTgt spid="201813"/>
                                        </p:tgtEl>
                                        <p:attrNameLst>
                                          <p:attrName>style.visibility</p:attrName>
                                        </p:attrNameLst>
                                      </p:cBhvr>
                                      <p:to>
                                        <p:strVal val="hidden"/>
                                      </p:to>
                                    </p:set>
                                  </p:childTnLst>
                                </p:cTn>
                              </p:par>
                              <p:par>
                                <p:cTn id="107" presetID="9" presetClass="entr" presetSubtype="0" fill="hold" grpId="0" nodeType="withEffect">
                                  <p:stCondLst>
                                    <p:cond delay="0"/>
                                  </p:stCondLst>
                                  <p:childTnLst>
                                    <p:set>
                                      <p:cBhvr>
                                        <p:cTn id="108" dur="1" fill="hold">
                                          <p:stCondLst>
                                            <p:cond delay="0"/>
                                          </p:stCondLst>
                                        </p:cTn>
                                        <p:tgtEl>
                                          <p:spTgt spid="201828"/>
                                        </p:tgtEl>
                                        <p:attrNameLst>
                                          <p:attrName>style.visibility</p:attrName>
                                        </p:attrNameLst>
                                      </p:cBhvr>
                                      <p:to>
                                        <p:strVal val="visible"/>
                                      </p:to>
                                    </p:set>
                                    <p:animEffect transition="in" filter="dissolve">
                                      <p:cBhvr>
                                        <p:cTn id="109" dur="500"/>
                                        <p:tgtEl>
                                          <p:spTgt spid="201828"/>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xit" presetSubtype="0" fill="hold" grpId="1" nodeType="clickEffect">
                                  <p:stCondLst>
                                    <p:cond delay="0"/>
                                  </p:stCondLst>
                                  <p:childTnLst>
                                    <p:set>
                                      <p:cBhvr>
                                        <p:cTn id="113" dur="1" fill="hold">
                                          <p:stCondLst>
                                            <p:cond delay="0"/>
                                          </p:stCondLst>
                                        </p:cTn>
                                        <p:tgtEl>
                                          <p:spTgt spid="201828"/>
                                        </p:tgtEl>
                                        <p:attrNameLst>
                                          <p:attrName>style.visibility</p:attrName>
                                        </p:attrNameLst>
                                      </p:cBhvr>
                                      <p:to>
                                        <p:strVal val="hidden"/>
                                      </p:to>
                                    </p:set>
                                  </p:childTnLst>
                                </p:cTn>
                              </p:par>
                              <p:par>
                                <p:cTn id="114" presetID="9" presetClass="entr" presetSubtype="0" fill="hold" grpId="0" nodeType="withEffect">
                                  <p:stCondLst>
                                    <p:cond delay="0"/>
                                  </p:stCondLst>
                                  <p:childTnLst>
                                    <p:set>
                                      <p:cBhvr>
                                        <p:cTn id="115" dur="1" fill="hold">
                                          <p:stCondLst>
                                            <p:cond delay="0"/>
                                          </p:stCondLst>
                                        </p:cTn>
                                        <p:tgtEl>
                                          <p:spTgt spid="201829"/>
                                        </p:tgtEl>
                                        <p:attrNameLst>
                                          <p:attrName>style.visibility</p:attrName>
                                        </p:attrNameLst>
                                      </p:cBhvr>
                                      <p:to>
                                        <p:strVal val="visible"/>
                                      </p:to>
                                    </p:set>
                                    <p:animEffect transition="in" filter="dissolve">
                                      <p:cBhvr>
                                        <p:cTn id="116" dur="500"/>
                                        <p:tgtEl>
                                          <p:spTgt spid="201829"/>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 presetClass="exit" presetSubtype="0" fill="hold" nodeType="clickEffect">
                                  <p:stCondLst>
                                    <p:cond delay="0"/>
                                  </p:stCondLst>
                                  <p:childTnLst>
                                    <p:set>
                                      <p:cBhvr>
                                        <p:cTn id="120" dur="1" fill="hold">
                                          <p:stCondLst>
                                            <p:cond delay="0"/>
                                          </p:stCondLst>
                                        </p:cTn>
                                        <p:tgtEl>
                                          <p:spTgt spid="201816"/>
                                        </p:tgtEl>
                                        <p:attrNameLst>
                                          <p:attrName>style.visibility</p:attrName>
                                        </p:attrNameLst>
                                      </p:cBhvr>
                                      <p:to>
                                        <p:strVal val="hidden"/>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xit" presetSubtype="0" fill="hold" nodeType="clickEffect">
                                  <p:stCondLst>
                                    <p:cond delay="0"/>
                                  </p:stCondLst>
                                  <p:childTnLst>
                                    <p:set>
                                      <p:cBhvr>
                                        <p:cTn id="124" dur="1" fill="hold">
                                          <p:stCondLst>
                                            <p:cond delay="0"/>
                                          </p:stCondLst>
                                        </p:cTn>
                                        <p:tgtEl>
                                          <p:spTgt spid="201801"/>
                                        </p:tgtEl>
                                        <p:attrNameLst>
                                          <p:attrName>style.visibility</p:attrName>
                                        </p:attrNameLst>
                                      </p:cBhvr>
                                      <p:to>
                                        <p:strVal val="hidden"/>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9" presetClass="entr" presetSubtype="0" fill="hold" nodeType="clickEffect">
                                  <p:stCondLst>
                                    <p:cond delay="0"/>
                                  </p:stCondLst>
                                  <p:childTnLst>
                                    <p:set>
                                      <p:cBhvr>
                                        <p:cTn id="128" dur="1" fill="hold">
                                          <p:stCondLst>
                                            <p:cond delay="0"/>
                                          </p:stCondLst>
                                        </p:cTn>
                                        <p:tgtEl>
                                          <p:spTgt spid="201830"/>
                                        </p:tgtEl>
                                        <p:attrNameLst>
                                          <p:attrName>style.visibility</p:attrName>
                                        </p:attrNameLst>
                                      </p:cBhvr>
                                      <p:to>
                                        <p:strVal val="visible"/>
                                      </p:to>
                                    </p:set>
                                    <p:animEffect transition="in" filter="dissolve">
                                      <p:cBhvr>
                                        <p:cTn id="129" dur="500"/>
                                        <p:tgtEl>
                                          <p:spTgt spid="201830"/>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9" presetClass="entr" presetSubtype="0" fill="hold" nodeType="clickEffect">
                                  <p:stCondLst>
                                    <p:cond delay="0"/>
                                  </p:stCondLst>
                                  <p:childTnLst>
                                    <p:set>
                                      <p:cBhvr>
                                        <p:cTn id="133" dur="1" fill="hold">
                                          <p:stCondLst>
                                            <p:cond delay="0"/>
                                          </p:stCondLst>
                                        </p:cTn>
                                        <p:tgtEl>
                                          <p:spTgt spid="201831"/>
                                        </p:tgtEl>
                                        <p:attrNameLst>
                                          <p:attrName>style.visibility</p:attrName>
                                        </p:attrNameLst>
                                      </p:cBhvr>
                                      <p:to>
                                        <p:strVal val="visible"/>
                                      </p:to>
                                    </p:set>
                                    <p:animEffect transition="in" filter="dissolve">
                                      <p:cBhvr>
                                        <p:cTn id="134" dur="500"/>
                                        <p:tgtEl>
                                          <p:spTgt spid="201831"/>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9" presetClass="entr" presetSubtype="0" fill="hold" nodeType="clickEffect">
                                  <p:stCondLst>
                                    <p:cond delay="0"/>
                                  </p:stCondLst>
                                  <p:childTnLst>
                                    <p:set>
                                      <p:cBhvr>
                                        <p:cTn id="138" dur="1" fill="hold">
                                          <p:stCondLst>
                                            <p:cond delay="0"/>
                                          </p:stCondLst>
                                        </p:cTn>
                                        <p:tgtEl>
                                          <p:spTgt spid="201835"/>
                                        </p:tgtEl>
                                        <p:attrNameLst>
                                          <p:attrName>style.visibility</p:attrName>
                                        </p:attrNameLst>
                                      </p:cBhvr>
                                      <p:to>
                                        <p:strVal val="visible"/>
                                      </p:to>
                                    </p:set>
                                    <p:animEffect transition="in" filter="dissolve">
                                      <p:cBhvr>
                                        <p:cTn id="139" dur="500"/>
                                        <p:tgtEl>
                                          <p:spTgt spid="201835"/>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9" presetClass="entr" presetSubtype="0" fill="hold" grpId="0" nodeType="clickEffect">
                                  <p:stCondLst>
                                    <p:cond delay="0"/>
                                  </p:stCondLst>
                                  <p:childTnLst>
                                    <p:set>
                                      <p:cBhvr>
                                        <p:cTn id="143" dur="1" fill="hold">
                                          <p:stCondLst>
                                            <p:cond delay="0"/>
                                          </p:stCondLst>
                                        </p:cTn>
                                        <p:tgtEl>
                                          <p:spTgt spid="201780">
                                            <p:txEl>
                                              <p:pRg st="0" end="0"/>
                                            </p:txEl>
                                          </p:spTgt>
                                        </p:tgtEl>
                                        <p:attrNameLst>
                                          <p:attrName>style.visibility</p:attrName>
                                        </p:attrNameLst>
                                      </p:cBhvr>
                                      <p:to>
                                        <p:strVal val="visible"/>
                                      </p:to>
                                    </p:set>
                                    <p:animEffect transition="in" filter="dissolve">
                                      <p:cBhvr>
                                        <p:cTn id="144" dur="500"/>
                                        <p:tgtEl>
                                          <p:spTgt spid="201780">
                                            <p:txEl>
                                              <p:pRg st="0" end="0"/>
                                            </p:txEl>
                                          </p:spTgt>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9" presetClass="entr" presetSubtype="0" fill="hold" grpId="0" nodeType="clickEffect">
                                  <p:stCondLst>
                                    <p:cond delay="0"/>
                                  </p:stCondLst>
                                  <p:childTnLst>
                                    <p:set>
                                      <p:cBhvr>
                                        <p:cTn id="148" dur="1" fill="hold">
                                          <p:stCondLst>
                                            <p:cond delay="0"/>
                                          </p:stCondLst>
                                        </p:cTn>
                                        <p:tgtEl>
                                          <p:spTgt spid="201780">
                                            <p:txEl>
                                              <p:pRg st="1" end="1"/>
                                            </p:txEl>
                                          </p:spTgt>
                                        </p:tgtEl>
                                        <p:attrNameLst>
                                          <p:attrName>style.visibility</p:attrName>
                                        </p:attrNameLst>
                                      </p:cBhvr>
                                      <p:to>
                                        <p:strVal val="visible"/>
                                      </p:to>
                                    </p:set>
                                    <p:animEffect transition="in" filter="dissolve">
                                      <p:cBhvr>
                                        <p:cTn id="149" dur="500"/>
                                        <p:tgtEl>
                                          <p:spTgt spid="20178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1" grpId="0" build="p"/>
      <p:bldP spid="201780" grpId="0" build="p"/>
      <p:bldP spid="201782" grpId="0" animBg="1"/>
      <p:bldP spid="201784" grpId="0" animBg="1"/>
      <p:bldP spid="201785" grpId="0" animBg="1"/>
      <p:bldP spid="201786" grpId="0" animBg="1"/>
      <p:bldP spid="201787" grpId="0" animBg="1"/>
      <p:bldP spid="201788" grpId="0" animBg="1"/>
      <p:bldP spid="201789" grpId="0" animBg="1"/>
      <p:bldP spid="201790" grpId="0" animBg="1"/>
      <p:bldP spid="201804" grpId="0" animBg="1"/>
      <p:bldP spid="201805" grpId="0" animBg="1"/>
      <p:bldP spid="201807" grpId="0" animBg="1"/>
      <p:bldP spid="201812" grpId="0"/>
      <p:bldP spid="201813" grpId="0" animBg="1"/>
      <p:bldP spid="201813" grpId="1" animBg="1"/>
      <p:bldP spid="201814" grpId="0" animBg="1"/>
      <p:bldP spid="201815" grpId="0" animBg="1"/>
      <p:bldP spid="201818" grpId="0" animBg="1"/>
      <p:bldP spid="201821" grpId="0" animBg="1"/>
      <p:bldP spid="201822" grpId="0" animBg="1"/>
      <p:bldP spid="201823" grpId="0" animBg="1"/>
      <p:bldP spid="201828" grpId="0" animBg="1"/>
      <p:bldP spid="201828" grpId="1" animBg="1"/>
      <p:bldP spid="20182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ChangeArrowheads="1"/>
          </p:cNvSpPr>
          <p:nvPr/>
        </p:nvSpPr>
        <p:spPr bwMode="auto">
          <a:xfrm>
            <a:off x="990600" y="981075"/>
            <a:ext cx="7788275"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37931725" indent="-37474525">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08585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42875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177165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22885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68605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14325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60045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35000"/>
              </a:spcBef>
              <a:buFont typeface="Monotype Sorts"/>
              <a:buChar char="n"/>
            </a:pPr>
            <a:endParaRPr kumimoji="1" lang="zh-CN" altLang="en-US" sz="1800">
              <a:latin typeface="Helvetica" panose="020B0604020202020204" pitchFamily="34" charset="0"/>
              <a:ea typeface="ＭＳ Ｐゴシック" panose="020B0600070205080204" pitchFamily="34" charset="-128"/>
            </a:endParaRPr>
          </a:p>
        </p:txBody>
      </p:sp>
      <p:pic>
        <p:nvPicPr>
          <p:cNvPr id="48131" name="图片 1"/>
          <p:cNvPicPr>
            <a:picLocks noChangeAspect="1"/>
          </p:cNvPicPr>
          <p:nvPr/>
        </p:nvPicPr>
        <p:blipFill>
          <a:blip r:embed="rId3">
            <a:extLst>
              <a:ext uri="{28A0092B-C50C-407E-A947-70E740481C1C}">
                <a14:useLocalDpi xmlns:a14="http://schemas.microsoft.com/office/drawing/2010/main" val="0"/>
              </a:ext>
            </a:extLst>
          </a:blip>
          <a:srcRect r="5328"/>
          <a:stretch>
            <a:fillRect/>
          </a:stretch>
        </p:blipFill>
        <p:spPr bwMode="auto">
          <a:xfrm>
            <a:off x="2859500" y="1473359"/>
            <a:ext cx="3224213" cy="177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矩形 3"/>
          <p:cNvSpPr>
            <a:spLocks noChangeArrowheads="1"/>
          </p:cNvSpPr>
          <p:nvPr/>
        </p:nvSpPr>
        <p:spPr bwMode="auto">
          <a:xfrm>
            <a:off x="3778250" y="1085596"/>
            <a:ext cx="1114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dirty="0">
                <a:latin typeface="宋体" panose="02010600030101010101" pitchFamily="2" charset="-122"/>
              </a:rPr>
              <a:t>多处理器</a:t>
            </a:r>
          </a:p>
        </p:txBody>
      </p:sp>
      <p:sp>
        <p:nvSpPr>
          <p:cNvPr id="48133" name="矩形 63"/>
          <p:cNvSpPr>
            <a:spLocks noChangeArrowheads="1"/>
          </p:cNvSpPr>
          <p:nvPr/>
        </p:nvSpPr>
        <p:spPr bwMode="auto">
          <a:xfrm>
            <a:off x="6970712" y="1074738"/>
            <a:ext cx="1230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latin typeface="宋体" panose="02010600030101010101" pitchFamily="2" charset="-122"/>
              </a:rPr>
              <a:t>多核</a:t>
            </a:r>
            <a:r>
              <a:rPr lang="en-US" altLang="zh-CN" sz="1800">
                <a:latin typeface="宋体" panose="02010600030101010101" pitchFamily="2" charset="-122"/>
              </a:rPr>
              <a:t>/</a:t>
            </a:r>
            <a:r>
              <a:rPr lang="zh-CN" altLang="en-US" sz="1800">
                <a:latin typeface="宋体" panose="02010600030101010101" pitchFamily="2" charset="-122"/>
              </a:rPr>
              <a:t>众核</a:t>
            </a:r>
          </a:p>
        </p:txBody>
      </p:sp>
      <p:pic>
        <p:nvPicPr>
          <p:cNvPr id="48134" name="图片 2"/>
          <p:cNvPicPr>
            <a:picLocks noChangeAspect="1"/>
          </p:cNvPicPr>
          <p:nvPr/>
        </p:nvPicPr>
        <p:blipFill>
          <a:blip r:embed="rId4">
            <a:extLst>
              <a:ext uri="{28A0092B-C50C-407E-A947-70E740481C1C}">
                <a14:useLocalDpi xmlns:a14="http://schemas.microsoft.com/office/drawing/2010/main" val="0"/>
              </a:ext>
            </a:extLst>
          </a:blip>
          <a:srcRect r="6149"/>
          <a:stretch>
            <a:fillRect/>
          </a:stretch>
        </p:blipFill>
        <p:spPr bwMode="auto">
          <a:xfrm>
            <a:off x="5951537" y="1466850"/>
            <a:ext cx="3268663"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p:cNvSpPr txBox="1">
            <a:spLocks noChangeArrowheads="1"/>
          </p:cNvSpPr>
          <p:nvPr/>
        </p:nvSpPr>
        <p:spPr>
          <a:xfrm>
            <a:off x="0" y="304800"/>
            <a:ext cx="9144000" cy="676275"/>
          </a:xfrm>
          <a:prstGeom prst="rect">
            <a:avLst/>
          </a:prstGeom>
        </p:spPr>
        <p:txBody>
          <a:bodyP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pPr eaLnBrk="1" hangingPunct="1">
              <a:defRPr/>
            </a:pPr>
            <a:r>
              <a:rPr lang="zh-CN" altLang="en-US" sz="3200" kern="0" dirty="0" smtClean="0">
                <a:sym typeface="Symbol" panose="05050102010706020507" pitchFamily="18" charset="2"/>
              </a:rPr>
              <a:t>（</a:t>
            </a:r>
            <a:r>
              <a:rPr lang="en-US" altLang="zh-CN" sz="3200" kern="0" dirty="0" smtClean="0">
                <a:sym typeface="Symbol" panose="05050102010706020507" pitchFamily="18" charset="2"/>
              </a:rPr>
              <a:t>7</a:t>
            </a:r>
            <a:r>
              <a:rPr lang="zh-CN" altLang="en-US" sz="3200" kern="0" dirty="0" smtClean="0">
                <a:sym typeface="Symbol" panose="05050102010706020507" pitchFamily="18" charset="2"/>
              </a:rPr>
              <a:t>）</a:t>
            </a:r>
            <a:r>
              <a:rPr lang="zh-CN" altLang="en-US" sz="3200" kern="0" dirty="0" smtClean="0">
                <a:latin typeface="宋体" panose="02010600030101010101" pitchFamily="2" charset="-122"/>
              </a:rPr>
              <a:t>多核</a:t>
            </a:r>
            <a:r>
              <a:rPr lang="en-US" altLang="zh-CN" sz="3200" kern="0" dirty="0" smtClean="0">
                <a:latin typeface="宋体" panose="02010600030101010101" pitchFamily="2" charset="-122"/>
              </a:rPr>
              <a:t>CPU</a:t>
            </a:r>
            <a:r>
              <a:rPr lang="zh-CN" altLang="en-US" sz="3200" kern="0" dirty="0" smtClean="0">
                <a:latin typeface="宋体" panose="02010600030101010101" pitchFamily="2" charset="-122"/>
              </a:rPr>
              <a:t>调度算法</a:t>
            </a:r>
            <a:endParaRPr lang="zh-CN" altLang="zh-CN" sz="3200" kern="0" dirty="0" smtClean="0">
              <a:sym typeface="Symbol" panose="05050102010706020507" pitchFamily="18" charset="2"/>
            </a:endParaRPr>
          </a:p>
        </p:txBody>
      </p:sp>
      <p:grpSp>
        <p:nvGrpSpPr>
          <p:cNvPr id="4" name="组合 3"/>
          <p:cNvGrpSpPr>
            <a:grpSpLocks/>
          </p:cNvGrpSpPr>
          <p:nvPr/>
        </p:nvGrpSpPr>
        <p:grpSpPr bwMode="auto">
          <a:xfrm>
            <a:off x="511175" y="3644900"/>
            <a:ext cx="3505200" cy="3116263"/>
            <a:chOff x="511901" y="3644852"/>
            <a:chExt cx="3505200" cy="3115980"/>
          </a:xfrm>
        </p:grpSpPr>
        <p:pic>
          <p:nvPicPr>
            <p:cNvPr id="48138" name="Picture 9" descr="https://timgsa.baidu.com/timg?image&amp;quality=80&amp;size=b9999_10000&amp;sec=1589519470196&amp;di=0d425ff358923a8e3ecfed22415d1041&amp;imgtype=0&amp;src=http%3A%2F%2Fwww.yyxt.com%2Fuploads%2Fallimg%2F150309%2F4-150309150601318.png"/>
            <p:cNvPicPr>
              <a:picLocks noChangeAspect="1" noChangeArrowheads="1"/>
            </p:cNvPicPr>
            <p:nvPr/>
          </p:nvPicPr>
          <p:blipFill>
            <a:blip r:embed="rId5">
              <a:extLst>
                <a:ext uri="{28A0092B-C50C-407E-A947-70E740481C1C}">
                  <a14:useLocalDpi xmlns:a14="http://schemas.microsoft.com/office/drawing/2010/main" val="0"/>
                </a:ext>
              </a:extLst>
            </a:blip>
            <a:srcRect l="15224" t="6660" r="14748" b="6509"/>
            <a:stretch>
              <a:fillRect/>
            </a:stretch>
          </p:blipFill>
          <p:spPr bwMode="auto">
            <a:xfrm>
              <a:off x="557349" y="3644852"/>
              <a:ext cx="3245825" cy="2469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9" name="矩形 1"/>
            <p:cNvSpPr>
              <a:spLocks noChangeArrowheads="1"/>
            </p:cNvSpPr>
            <p:nvPr/>
          </p:nvSpPr>
          <p:spPr bwMode="auto">
            <a:xfrm>
              <a:off x="511901" y="6114501"/>
              <a:ext cx="3505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zh-CN" altLang="en-US" sz="1800" b="0" dirty="0"/>
                <a:t>图形处理器</a:t>
              </a:r>
              <a:r>
                <a:rPr lang="en-US" altLang="zh-CN" sz="1800" b="0" dirty="0"/>
                <a:t>(Graphics Processing Unit</a:t>
              </a:r>
              <a:r>
                <a:rPr lang="zh-CN" altLang="en-US" sz="1800" b="0" dirty="0"/>
                <a:t>：</a:t>
              </a:r>
              <a:r>
                <a:rPr lang="en-US" altLang="zh-CN" sz="1800" b="0" dirty="0"/>
                <a:t>GPU</a:t>
              </a:r>
              <a:r>
                <a:rPr lang="zh-CN" altLang="en-US" sz="1800" b="0" dirty="0"/>
                <a:t>）</a:t>
              </a:r>
              <a:endParaRPr lang="en-US" altLang="zh-CN" sz="1800" b="0" dirty="0"/>
            </a:p>
          </p:txBody>
        </p:sp>
      </p:grpSp>
      <p:pic>
        <p:nvPicPr>
          <p:cNvPr id="3" name="图片 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783868" y="2821906"/>
            <a:ext cx="6202391"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19967" y="1355725"/>
            <a:ext cx="2812842" cy="2031325"/>
          </a:xfrm>
          <a:prstGeom prst="rect">
            <a:avLst/>
          </a:prstGeom>
        </p:spPr>
        <p:txBody>
          <a:bodyPr wrap="square">
            <a:spAutoFit/>
          </a:bodyPr>
          <a:lstStyle/>
          <a:p>
            <a:pPr marL="342900" indent="-342900" algn="just">
              <a:buFont typeface="Wingdings" panose="05000000000000000000" pitchFamily="2" charset="2"/>
              <a:buChar char="l"/>
            </a:pPr>
            <a:r>
              <a:rPr lang="zh-CN" altLang="en-US" sz="1800" dirty="0" smtClean="0"/>
              <a:t>当系统</a:t>
            </a:r>
            <a:r>
              <a:rPr lang="en-US" altLang="zh-CN" sz="1800" dirty="0" smtClean="0"/>
              <a:t>CPU</a:t>
            </a:r>
            <a:r>
              <a:rPr lang="zh-CN" altLang="en-US" sz="1800" dirty="0" smtClean="0"/>
              <a:t>只有一个核心或一个处理器时，上述的算法策略已经较为充分。</a:t>
            </a:r>
            <a:endParaRPr lang="en-US" altLang="zh-CN" sz="1800" dirty="0" smtClean="0"/>
          </a:p>
          <a:p>
            <a:pPr marL="342900" indent="-342900" algn="just">
              <a:buFont typeface="Wingdings" panose="05000000000000000000" pitchFamily="2" charset="2"/>
              <a:buChar char="l"/>
            </a:pPr>
            <a:r>
              <a:rPr lang="zh-CN" altLang="en-US" sz="1800" dirty="0" smtClean="0"/>
              <a:t>多核</a:t>
            </a:r>
            <a:r>
              <a:rPr lang="en-US" altLang="zh-CN" sz="1800" dirty="0" smtClean="0"/>
              <a:t>/</a:t>
            </a:r>
            <a:r>
              <a:rPr lang="zh-CN" altLang="en-US" sz="1800" dirty="0" smtClean="0"/>
              <a:t>多处理器会给调度带来什么问题？</a:t>
            </a:r>
            <a:endParaRPr lang="en-US" altLang="zh-CN" sz="1800" dirty="0" smtClean="0"/>
          </a:p>
          <a:p>
            <a:pPr algn="ctr"/>
            <a:r>
              <a:rPr lang="zh-CN" altLang="en-US" sz="1800" dirty="0" smtClean="0">
                <a:solidFill>
                  <a:srgbClr val="FF0000"/>
                </a:solidFill>
              </a:rPr>
              <a:t>负载、竞争、</a:t>
            </a:r>
            <a:r>
              <a:rPr lang="en-US" altLang="zh-CN" sz="1800" dirty="0" smtClean="0">
                <a:solidFill>
                  <a:srgbClr val="FF0000"/>
                </a:solidFill>
              </a:rPr>
              <a:t>Cache</a:t>
            </a:r>
            <a:endParaRPr lang="zh-CN" altLang="en-US" sz="1800" dirty="0">
              <a:solidFill>
                <a:srgbClr val="FF000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 presetClass="exit" presetSubtype="4" fill="hold" nodeType="clickEffect">
                                  <p:stCondLst>
                                    <p:cond delay="0"/>
                                  </p:stCondLst>
                                  <p:childTnLst>
                                    <p:anim calcmode="lin" valueType="num">
                                      <p:cBhvr additive="base">
                                        <p:cTn id="13" dur="500"/>
                                        <p:tgtEl>
                                          <p:spTgt spid="3"/>
                                        </p:tgtEl>
                                        <p:attrNameLst>
                                          <p:attrName>ppt_x</p:attrName>
                                        </p:attrNameLst>
                                      </p:cBhvr>
                                      <p:tavLst>
                                        <p:tav tm="0">
                                          <p:val>
                                            <p:strVal val="ppt_x"/>
                                          </p:val>
                                        </p:tav>
                                        <p:tav tm="100000">
                                          <p:val>
                                            <p:strVal val="ppt_x"/>
                                          </p:val>
                                        </p:tav>
                                      </p:tavLst>
                                    </p:anim>
                                    <p:anim calcmode="lin" valueType="num">
                                      <p:cBhvr additive="base">
                                        <p:cTn id="14" dur="500"/>
                                        <p:tgtEl>
                                          <p:spTgt spid="3"/>
                                        </p:tgtEl>
                                        <p:attrNameLst>
                                          <p:attrName>ppt_y</p:attrName>
                                        </p:attrNameLst>
                                      </p:cBhvr>
                                      <p:tavLst>
                                        <p:tav tm="0">
                                          <p:val>
                                            <p:strVal val="ppt_y"/>
                                          </p:val>
                                        </p:tav>
                                        <p:tav tm="100000">
                                          <p:val>
                                            <p:strVal val="1+ppt_h/2"/>
                                          </p:val>
                                        </p:tav>
                                      </p:tavLst>
                                    </p:anim>
                                    <p:set>
                                      <p:cBhvr>
                                        <p:cTn id="15" dur="1" fill="hold">
                                          <p:stCondLst>
                                            <p:cond delay="499"/>
                                          </p:stCondLst>
                                        </p:cTn>
                                        <p:tgtEl>
                                          <p:spTgt spid="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ppt_x"/>
                                          </p:val>
                                        </p:tav>
                                        <p:tav tm="100000">
                                          <p:val>
                                            <p:strVal val="#ppt_x"/>
                                          </p:val>
                                        </p:tav>
                                      </p:tavLst>
                                    </p:anim>
                                    <p:anim calcmode="lin" valueType="num">
                                      <p:cBhvr additive="base">
                                        <p:cTn id="2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内容占位符 1"/>
          <p:cNvSpPr>
            <a:spLocks noGrp="1"/>
          </p:cNvSpPr>
          <p:nvPr>
            <p:ph idx="1"/>
          </p:nvPr>
        </p:nvSpPr>
        <p:spPr>
          <a:xfrm>
            <a:off x="152400" y="1260475"/>
            <a:ext cx="8610600" cy="4530725"/>
          </a:xfrm>
        </p:spPr>
        <p:txBody>
          <a:bodyPr/>
          <a:lstStyle/>
          <a:p>
            <a:pPr algn="just"/>
            <a:r>
              <a:rPr lang="en-US" altLang="zh-CN" sz="2400" dirty="0" smtClean="0"/>
              <a:t>CPU</a:t>
            </a:r>
            <a:r>
              <a:rPr lang="zh-CN" altLang="en-US" sz="2400" dirty="0" smtClean="0"/>
              <a:t>的亲和性</a:t>
            </a:r>
            <a:r>
              <a:rPr lang="en-US" altLang="zh-CN" sz="2400" dirty="0" smtClean="0"/>
              <a:t>affinity </a:t>
            </a:r>
            <a:r>
              <a:rPr lang="zh-CN" altLang="en-US" sz="2400" b="0" dirty="0" smtClean="0"/>
              <a:t>：就是进程</a:t>
            </a:r>
            <a:r>
              <a:rPr lang="en-US" altLang="zh-CN" sz="2400" b="0" dirty="0" smtClean="0"/>
              <a:t>/</a:t>
            </a:r>
            <a:r>
              <a:rPr lang="zh-CN" altLang="en-US" sz="2400" b="0" dirty="0" smtClean="0"/>
              <a:t>线程要在指定的 </a:t>
            </a:r>
            <a:r>
              <a:rPr lang="en-US" altLang="zh-CN" sz="2400" b="0" dirty="0" smtClean="0"/>
              <a:t>CPU </a:t>
            </a:r>
            <a:r>
              <a:rPr lang="zh-CN" altLang="en-US" sz="2400" b="0" dirty="0" smtClean="0"/>
              <a:t>上尽量长时间地运行而不被迁移到其他处理器，也称为</a:t>
            </a:r>
            <a:r>
              <a:rPr lang="en-US" altLang="zh-CN" sz="2400" dirty="0" smtClean="0"/>
              <a:t>CPU</a:t>
            </a:r>
            <a:r>
              <a:rPr lang="zh-CN" altLang="en-US" sz="2400" dirty="0" smtClean="0"/>
              <a:t>关联性</a:t>
            </a:r>
            <a:r>
              <a:rPr lang="zh-CN" altLang="en-US" sz="2400" b="0" dirty="0" smtClean="0"/>
              <a:t>；</a:t>
            </a:r>
            <a:endParaRPr lang="en-US" altLang="zh-CN" sz="2400" b="0" dirty="0" smtClean="0"/>
          </a:p>
          <a:p>
            <a:pPr algn="just"/>
            <a:r>
              <a:rPr lang="zh-CN" altLang="en-US" sz="2400" b="0" dirty="0" smtClean="0"/>
              <a:t>多核处理器，每个</a:t>
            </a:r>
            <a:r>
              <a:rPr lang="en-US" altLang="zh-CN" sz="2400" b="0" dirty="0" smtClean="0"/>
              <a:t>CPU</a:t>
            </a:r>
            <a:r>
              <a:rPr lang="zh-CN" altLang="en-US" sz="2400" b="0" dirty="0" smtClean="0"/>
              <a:t>（或特定几个</a:t>
            </a:r>
            <a:r>
              <a:rPr lang="en-US" altLang="zh-CN" sz="2400" b="0" dirty="0" smtClean="0"/>
              <a:t>CPU</a:t>
            </a:r>
            <a:r>
              <a:rPr lang="zh-CN" altLang="en-US" sz="2400" b="0" dirty="0" smtClean="0"/>
              <a:t>共享）有缓存，缓存着进程使用</a:t>
            </a:r>
            <a:r>
              <a:rPr lang="zh-CN" altLang="en-US" sz="2400" dirty="0" smtClean="0"/>
              <a:t>内存或寄存器</a:t>
            </a:r>
            <a:r>
              <a:rPr lang="zh-CN" altLang="en-US" sz="2400" b="0" dirty="0" smtClean="0"/>
              <a:t>等信息，当进程被</a:t>
            </a:r>
            <a:r>
              <a:rPr lang="en-US" altLang="zh-CN" sz="2400" b="0" dirty="0" smtClean="0"/>
              <a:t>OS</a:t>
            </a:r>
            <a:r>
              <a:rPr lang="zh-CN" altLang="en-US" sz="2400" b="0" dirty="0" smtClean="0"/>
              <a:t>调度到其他</a:t>
            </a:r>
            <a:r>
              <a:rPr lang="en-US" altLang="zh-CN" sz="2400" b="0" dirty="0" smtClean="0"/>
              <a:t>CPU</a:t>
            </a:r>
            <a:r>
              <a:rPr lang="zh-CN" altLang="en-US" sz="2400" b="0" dirty="0"/>
              <a:t>时</a:t>
            </a:r>
            <a:r>
              <a:rPr lang="zh-CN" altLang="en-US" sz="2400" b="0" dirty="0" smtClean="0"/>
              <a:t>，</a:t>
            </a:r>
            <a:r>
              <a:rPr lang="en-US" altLang="zh-CN" sz="2400" b="0" dirty="0" smtClean="0"/>
              <a:t>CPU cache</a:t>
            </a:r>
            <a:r>
              <a:rPr lang="zh-CN" altLang="en-US" sz="2400" b="0" dirty="0" smtClean="0"/>
              <a:t>命中率可能就会降低。</a:t>
            </a:r>
            <a:endParaRPr lang="zh-CN" altLang="en-US" sz="1100" dirty="0" smtClean="0">
              <a:latin typeface="宋体" panose="02010600030101010101" pitchFamily="2" charset="-122"/>
            </a:endParaRPr>
          </a:p>
        </p:txBody>
      </p:sp>
      <p:sp>
        <p:nvSpPr>
          <p:cNvPr id="50179"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pic>
        <p:nvPicPr>
          <p:cNvPr id="4" name="图片 2"/>
          <p:cNvPicPr>
            <a:picLocks noChangeAspect="1"/>
          </p:cNvPicPr>
          <p:nvPr/>
        </p:nvPicPr>
        <p:blipFill>
          <a:blip r:embed="rId3">
            <a:extLst>
              <a:ext uri="{28A0092B-C50C-407E-A947-70E740481C1C}">
                <a14:useLocalDpi xmlns:a14="http://schemas.microsoft.com/office/drawing/2010/main" val="0"/>
              </a:ext>
            </a:extLst>
          </a:blip>
          <a:srcRect r="6149"/>
          <a:stretch>
            <a:fillRect/>
          </a:stretch>
        </p:blipFill>
        <p:spPr bwMode="auto">
          <a:xfrm>
            <a:off x="5105400" y="3950970"/>
            <a:ext cx="3268663"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1"/>
          <p:cNvPicPr>
            <a:picLocks noChangeAspect="1"/>
          </p:cNvPicPr>
          <p:nvPr/>
        </p:nvPicPr>
        <p:blipFill>
          <a:blip r:embed="rId4">
            <a:extLst>
              <a:ext uri="{28A0092B-C50C-407E-A947-70E740481C1C}">
                <a14:useLocalDpi xmlns:a14="http://schemas.microsoft.com/office/drawing/2010/main" val="0"/>
              </a:ext>
            </a:extLst>
          </a:blip>
          <a:srcRect r="5328"/>
          <a:stretch>
            <a:fillRect/>
          </a:stretch>
        </p:blipFill>
        <p:spPr bwMode="auto">
          <a:xfrm>
            <a:off x="838200" y="3957065"/>
            <a:ext cx="3352800" cy="184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内容占位符 1"/>
          <p:cNvSpPr>
            <a:spLocks noGrp="1"/>
          </p:cNvSpPr>
          <p:nvPr>
            <p:ph idx="1"/>
          </p:nvPr>
        </p:nvSpPr>
        <p:spPr>
          <a:xfrm>
            <a:off x="152400" y="1260475"/>
            <a:ext cx="8839200" cy="4530725"/>
          </a:xfrm>
        </p:spPr>
        <p:txBody>
          <a:bodyPr/>
          <a:lstStyle/>
          <a:p>
            <a:r>
              <a:rPr lang="zh-CN" altLang="en-US" sz="2000" dirty="0" smtClean="0"/>
              <a:t>软亲和性</a:t>
            </a:r>
            <a:r>
              <a:rPr lang="en-US" altLang="zh-CN" sz="2000" dirty="0" smtClean="0"/>
              <a:t>:  </a:t>
            </a:r>
            <a:r>
              <a:rPr lang="zh-CN" altLang="en-US" sz="2000" b="0" dirty="0" smtClean="0"/>
              <a:t>进程要在指定的 </a:t>
            </a:r>
            <a:r>
              <a:rPr lang="en-US" altLang="zh-CN" sz="2000" b="0" dirty="0" smtClean="0"/>
              <a:t>CPU </a:t>
            </a:r>
            <a:r>
              <a:rPr lang="zh-CN" altLang="en-US" sz="2000" b="0" dirty="0" smtClean="0"/>
              <a:t>上尽量保持长时间。当前</a:t>
            </a:r>
            <a:r>
              <a:rPr lang="en-US" altLang="zh-CN" sz="2000" b="0" dirty="0" smtClean="0"/>
              <a:t>Linux </a:t>
            </a:r>
            <a:r>
              <a:rPr lang="zh-CN" altLang="en-US" sz="2000" b="0" dirty="0" smtClean="0"/>
              <a:t>内核进程调度器具有</a:t>
            </a:r>
            <a:r>
              <a:rPr lang="zh-CN" altLang="en-US" sz="2000" b="0" dirty="0" smtClean="0">
                <a:solidFill>
                  <a:srgbClr val="FF0000"/>
                </a:solidFill>
              </a:rPr>
              <a:t>软 </a:t>
            </a:r>
            <a:r>
              <a:rPr lang="en-US" altLang="zh-CN" sz="2000" b="0" dirty="0" smtClean="0">
                <a:solidFill>
                  <a:srgbClr val="FF0000"/>
                </a:solidFill>
              </a:rPr>
              <a:t>CPU </a:t>
            </a:r>
            <a:r>
              <a:rPr lang="zh-CN" altLang="en-US" sz="2000" b="0" dirty="0" smtClean="0">
                <a:solidFill>
                  <a:srgbClr val="FF0000"/>
                </a:solidFill>
              </a:rPr>
              <a:t>亲和性</a:t>
            </a:r>
            <a:r>
              <a:rPr lang="zh-CN" altLang="en-US" sz="2000" b="0" dirty="0" smtClean="0"/>
              <a:t>，这意味着进程通常不会在处理器之间频繁迁移。</a:t>
            </a:r>
          </a:p>
          <a:p>
            <a:r>
              <a:rPr lang="zh-CN" altLang="en-US" sz="2000" dirty="0" smtClean="0"/>
              <a:t>硬亲和性：</a:t>
            </a:r>
            <a:r>
              <a:rPr lang="zh-CN" altLang="en-US" sz="2000" b="0" dirty="0" smtClean="0"/>
              <a:t>简单来说就是利用内核提供给用户的</a:t>
            </a:r>
            <a:r>
              <a:rPr lang="en-US" altLang="zh-CN" sz="2000" b="0" dirty="0" smtClean="0"/>
              <a:t>API</a:t>
            </a:r>
            <a:r>
              <a:rPr lang="zh-CN" altLang="en-US" sz="2000" b="0" dirty="0" smtClean="0"/>
              <a:t>，强行将进程或者线程绑定到某一个指定的</a:t>
            </a:r>
            <a:r>
              <a:rPr lang="en-US" altLang="zh-CN" sz="2000" b="0" dirty="0" err="1" smtClean="0"/>
              <a:t>cpu</a:t>
            </a:r>
            <a:r>
              <a:rPr lang="zh-CN" altLang="en-US" sz="2000" b="0" dirty="0" smtClean="0"/>
              <a:t>核运行。</a:t>
            </a:r>
          </a:p>
        </p:txBody>
      </p:sp>
      <p:sp>
        <p:nvSpPr>
          <p:cNvPr id="52227"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pic>
        <p:nvPicPr>
          <p:cNvPr id="2" name="图片 1"/>
          <p:cNvPicPr>
            <a:picLocks noChangeAspect="1"/>
          </p:cNvPicPr>
          <p:nvPr/>
        </p:nvPicPr>
        <p:blipFill>
          <a:blip r:embed="rId3"/>
          <a:stretch>
            <a:fillRect/>
          </a:stretch>
        </p:blipFill>
        <p:spPr>
          <a:xfrm>
            <a:off x="2400300" y="2971800"/>
            <a:ext cx="4343400" cy="3463952"/>
          </a:xfrm>
          <a:prstGeom prst="rect">
            <a:avLst/>
          </a:prstGeom>
        </p:spPr>
      </p:pic>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内容占位符 2"/>
          <p:cNvSpPr>
            <a:spLocks noGrp="1"/>
          </p:cNvSpPr>
          <p:nvPr>
            <p:ph idx="1"/>
          </p:nvPr>
        </p:nvSpPr>
        <p:spPr>
          <a:xfrm>
            <a:off x="0" y="1143000"/>
            <a:ext cx="8839200" cy="5437188"/>
          </a:xfrm>
        </p:spPr>
        <p:txBody>
          <a:bodyPr/>
          <a:lstStyle/>
          <a:p>
            <a:pPr marL="0" indent="0">
              <a:buFont typeface="Wingdings" panose="05000000000000000000" pitchFamily="2" charset="2"/>
              <a:buNone/>
              <a:defRPr/>
            </a:pPr>
            <a:r>
              <a:rPr lang="en-US" altLang="zh-CN" sz="2400" dirty="0" smtClean="0"/>
              <a:t>windows</a:t>
            </a:r>
            <a:r>
              <a:rPr lang="zh-CN" altLang="en-US" sz="2400" dirty="0" smtClean="0"/>
              <a:t>软关联（软亲和性）</a:t>
            </a:r>
            <a:r>
              <a:rPr lang="en-US" altLang="zh-CN" sz="2400" dirty="0" smtClean="0"/>
              <a:t>:</a:t>
            </a:r>
          </a:p>
          <a:p>
            <a:pPr>
              <a:defRPr/>
            </a:pPr>
            <a:r>
              <a:rPr lang="en-US" altLang="zh-CN" sz="2400" b="0" dirty="0" err="1" smtClean="0"/>
              <a:t>SetProcessAffinityMask</a:t>
            </a:r>
            <a:r>
              <a:rPr lang="en-US" altLang="zh-CN" sz="2400" b="0" dirty="0" smtClean="0"/>
              <a:t> </a:t>
            </a:r>
            <a:r>
              <a:rPr lang="zh-CN" altLang="en-US" sz="2400" b="0" dirty="0" smtClean="0"/>
              <a:t>用于设置进程的</a:t>
            </a:r>
            <a:r>
              <a:rPr lang="en-US" altLang="zh-CN" sz="2400" b="0" dirty="0" smtClean="0"/>
              <a:t>CPU</a:t>
            </a:r>
            <a:r>
              <a:rPr lang="zh-CN" altLang="en-US" sz="2400" b="0" dirty="0" smtClean="0"/>
              <a:t>集合，具有对应的</a:t>
            </a:r>
            <a:r>
              <a:rPr lang="en-US" altLang="zh-CN" sz="2400" b="0" dirty="0" smtClean="0"/>
              <a:t>Get</a:t>
            </a:r>
            <a:r>
              <a:rPr lang="zh-CN" altLang="en-US" sz="2400" b="0" dirty="0" smtClean="0"/>
              <a:t>函数；</a:t>
            </a:r>
            <a:endParaRPr lang="en-US" altLang="zh-CN" sz="2400" b="0" dirty="0" smtClean="0"/>
          </a:p>
          <a:p>
            <a:pPr>
              <a:defRPr/>
            </a:pPr>
            <a:r>
              <a:rPr lang="en-US" altLang="zh-CN" sz="2400" b="0" dirty="0" err="1" smtClean="0"/>
              <a:t>SetThreadAffinityMask</a:t>
            </a:r>
            <a:r>
              <a:rPr lang="en-US" altLang="zh-CN" sz="2400" b="0" dirty="0" smtClean="0"/>
              <a:t> </a:t>
            </a:r>
            <a:r>
              <a:rPr lang="zh-CN" altLang="en-US" sz="2400" b="0" dirty="0" smtClean="0"/>
              <a:t>用于设置线程的</a:t>
            </a:r>
            <a:r>
              <a:rPr lang="en-US" altLang="zh-CN" sz="2400" b="0" dirty="0" smtClean="0"/>
              <a:t>CPU</a:t>
            </a:r>
            <a:r>
              <a:rPr lang="zh-CN" altLang="en-US" sz="2400" b="0" dirty="0" smtClean="0"/>
              <a:t>集合，具有对应的</a:t>
            </a:r>
            <a:r>
              <a:rPr lang="en-US" altLang="zh-CN" sz="2400" b="0" dirty="0" smtClean="0"/>
              <a:t>Get</a:t>
            </a:r>
            <a:r>
              <a:rPr lang="zh-CN" altLang="en-US" sz="2400" b="0" dirty="0" smtClean="0"/>
              <a:t>函数。</a:t>
            </a:r>
            <a:endParaRPr lang="zh-CN" altLang="en-US" sz="1100" dirty="0" smtClean="0"/>
          </a:p>
        </p:txBody>
      </p:sp>
      <p:pic>
        <p:nvPicPr>
          <p:cNvPr id="54275"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51113" y="3200400"/>
            <a:ext cx="373697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txBox="1">
            <a:spLocks noChangeArrowheads="1"/>
          </p:cNvSpPr>
          <p:nvPr/>
        </p:nvSpPr>
        <p:spPr bwMode="auto">
          <a:xfrm>
            <a:off x="0" y="304800"/>
            <a:ext cx="91440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3600" b="1">
                <a:solidFill>
                  <a:schemeClr val="tx1"/>
                </a:solidFill>
                <a:latin typeface="+mj-lt"/>
                <a:ea typeface="+mj-ea"/>
                <a:cs typeface="+mj-cs"/>
              </a:defRPr>
            </a:lvl1pPr>
            <a:lvl2pPr algn="l" rtl="0" eaLnBrk="0" fontAlgn="base" hangingPunct="0">
              <a:spcBef>
                <a:spcPct val="0"/>
              </a:spcBef>
              <a:spcAft>
                <a:spcPct val="0"/>
              </a:spcAft>
              <a:defRPr sz="3600" b="1">
                <a:solidFill>
                  <a:schemeClr val="tx1"/>
                </a:solidFill>
                <a:latin typeface="Arial" charset="0"/>
                <a:ea typeface="宋体" pitchFamily="2" charset="-122"/>
              </a:defRPr>
            </a:lvl2pPr>
            <a:lvl3pPr algn="l" rtl="0" eaLnBrk="0" fontAlgn="base" hangingPunct="0">
              <a:spcBef>
                <a:spcPct val="0"/>
              </a:spcBef>
              <a:spcAft>
                <a:spcPct val="0"/>
              </a:spcAft>
              <a:defRPr sz="3600" b="1">
                <a:solidFill>
                  <a:schemeClr val="tx1"/>
                </a:solidFill>
                <a:latin typeface="Arial" charset="0"/>
                <a:ea typeface="宋体" pitchFamily="2" charset="-122"/>
              </a:defRPr>
            </a:lvl3pPr>
            <a:lvl4pPr algn="l" rtl="0" eaLnBrk="0" fontAlgn="base" hangingPunct="0">
              <a:spcBef>
                <a:spcPct val="0"/>
              </a:spcBef>
              <a:spcAft>
                <a:spcPct val="0"/>
              </a:spcAft>
              <a:defRPr sz="3600" b="1">
                <a:solidFill>
                  <a:schemeClr val="tx1"/>
                </a:solidFill>
                <a:latin typeface="Arial" charset="0"/>
                <a:ea typeface="宋体" pitchFamily="2" charset="-122"/>
              </a:defRPr>
            </a:lvl4pPr>
            <a:lvl5pPr algn="l" rtl="0" eaLnBrk="0" fontAlgn="base" hangingPunct="0">
              <a:spcBef>
                <a:spcPct val="0"/>
              </a:spcBef>
              <a:spcAft>
                <a:spcPct val="0"/>
              </a:spcAft>
              <a:defRPr sz="3600" b="1">
                <a:solidFill>
                  <a:schemeClr val="tx1"/>
                </a:solidFill>
                <a:latin typeface="Arial" charset="0"/>
                <a:ea typeface="宋体" pitchFamily="2" charset="-122"/>
              </a:defRPr>
            </a:lvl5pPr>
            <a:lvl6pPr marL="457200" algn="l" rtl="0" fontAlgn="base">
              <a:spcBef>
                <a:spcPct val="0"/>
              </a:spcBef>
              <a:spcAft>
                <a:spcPct val="0"/>
              </a:spcAft>
              <a:defRPr sz="3600" b="1">
                <a:solidFill>
                  <a:schemeClr val="tx1"/>
                </a:solidFill>
                <a:latin typeface="Arial" charset="0"/>
                <a:ea typeface="宋体" pitchFamily="2" charset="-122"/>
              </a:defRPr>
            </a:lvl6pPr>
            <a:lvl7pPr marL="914400" algn="l" rtl="0" fontAlgn="base">
              <a:spcBef>
                <a:spcPct val="0"/>
              </a:spcBef>
              <a:spcAft>
                <a:spcPct val="0"/>
              </a:spcAft>
              <a:defRPr sz="3600" b="1">
                <a:solidFill>
                  <a:schemeClr val="tx1"/>
                </a:solidFill>
                <a:latin typeface="Arial" charset="0"/>
                <a:ea typeface="宋体" pitchFamily="2" charset="-122"/>
              </a:defRPr>
            </a:lvl7pPr>
            <a:lvl8pPr marL="1371600" algn="l" rtl="0" fontAlgn="base">
              <a:spcBef>
                <a:spcPct val="0"/>
              </a:spcBef>
              <a:spcAft>
                <a:spcPct val="0"/>
              </a:spcAft>
              <a:defRPr sz="3600" b="1">
                <a:solidFill>
                  <a:schemeClr val="tx1"/>
                </a:solidFill>
                <a:latin typeface="Arial" charset="0"/>
                <a:ea typeface="宋体" pitchFamily="2" charset="-122"/>
              </a:defRPr>
            </a:lvl8pPr>
            <a:lvl9pPr marL="1828800" algn="l" rtl="0" fontAlgn="base">
              <a:spcBef>
                <a:spcPct val="0"/>
              </a:spcBef>
              <a:spcAft>
                <a:spcPct val="0"/>
              </a:spcAft>
              <a:defRPr sz="3600" b="1">
                <a:solidFill>
                  <a:schemeClr val="tx1"/>
                </a:solidFill>
                <a:latin typeface="Arial" charset="0"/>
                <a:ea typeface="宋体" pitchFamily="2" charset="-122"/>
              </a:defRPr>
            </a:lvl9pPr>
          </a:lstStyle>
          <a:p>
            <a:pPr eaLnBrk="1" hangingPunct="1">
              <a:defRPr/>
            </a:pPr>
            <a:r>
              <a:rPr lang="zh-CN" altLang="en-US" sz="3200" kern="0" dirty="0" smtClean="0">
                <a:sym typeface="Symbol" panose="05050102010706020507" pitchFamily="18" charset="2"/>
              </a:rPr>
              <a:t>（</a:t>
            </a:r>
            <a:r>
              <a:rPr lang="en-US" altLang="zh-CN" sz="3200" kern="0" dirty="0" smtClean="0">
                <a:sym typeface="Symbol" panose="05050102010706020507" pitchFamily="18" charset="2"/>
              </a:rPr>
              <a:t>7</a:t>
            </a:r>
            <a:r>
              <a:rPr lang="zh-CN" altLang="en-US" sz="3200" kern="0" dirty="0" smtClean="0">
                <a:sym typeface="Symbol" panose="05050102010706020507" pitchFamily="18" charset="2"/>
              </a:rPr>
              <a:t>）</a:t>
            </a:r>
            <a:r>
              <a:rPr lang="zh-CN" altLang="en-US" sz="3200" kern="0" dirty="0" smtClean="0">
                <a:latin typeface="宋体" panose="02010600030101010101" pitchFamily="2" charset="-122"/>
              </a:rPr>
              <a:t>多核</a:t>
            </a:r>
            <a:r>
              <a:rPr lang="en-US" altLang="zh-CN" sz="3200" kern="0" dirty="0" smtClean="0">
                <a:latin typeface="宋体" panose="02010600030101010101" pitchFamily="2" charset="-122"/>
              </a:rPr>
              <a:t>CPU</a:t>
            </a:r>
            <a:r>
              <a:rPr lang="zh-CN" altLang="en-US" sz="3200" kern="0" dirty="0" smtClean="0">
                <a:latin typeface="宋体" panose="02010600030101010101" pitchFamily="2" charset="-122"/>
              </a:rPr>
              <a:t>调度算法</a:t>
            </a:r>
            <a:endParaRPr lang="zh-CN" altLang="zh-CN" sz="3200" kern="0" dirty="0" smtClean="0">
              <a:sym typeface="Symbol" panose="05050102010706020507" pitchFamily="18" charset="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1"/>
          <p:cNvSpPr>
            <a:spLocks noGrp="1"/>
          </p:cNvSpPr>
          <p:nvPr>
            <p:ph idx="1"/>
          </p:nvPr>
        </p:nvSpPr>
        <p:spPr>
          <a:xfrm>
            <a:off x="304800" y="1766253"/>
            <a:ext cx="8458200" cy="4724400"/>
          </a:xfrm>
        </p:spPr>
        <p:txBody>
          <a:bodyPr/>
          <a:lstStyle/>
          <a:p>
            <a:pPr algn="just"/>
            <a:r>
              <a:rPr lang="zh-CN" altLang="en-US" sz="2400" b="0" dirty="0" smtClean="0"/>
              <a:t>在 </a:t>
            </a:r>
            <a:r>
              <a:rPr lang="en-US" altLang="zh-CN" sz="2400" b="0" dirty="0" smtClean="0"/>
              <a:t>Linux </a:t>
            </a:r>
            <a:r>
              <a:rPr lang="zh-CN" altLang="en-US" sz="2400" b="0" dirty="0" smtClean="0"/>
              <a:t>内核中，进程控制块 </a:t>
            </a:r>
            <a:r>
              <a:rPr lang="en-US" altLang="zh-CN" sz="2400" b="0" dirty="0" err="1" smtClean="0"/>
              <a:t>task_struct</a:t>
            </a:r>
            <a:r>
              <a:rPr lang="zh-CN" altLang="en-US" sz="2400" b="0" dirty="0"/>
              <a:t>中</a:t>
            </a:r>
            <a:r>
              <a:rPr lang="zh-CN" altLang="en-US" sz="2400" b="0" dirty="0" smtClean="0"/>
              <a:t>与亲和性（</a:t>
            </a:r>
            <a:r>
              <a:rPr lang="en-US" altLang="zh-CN" sz="2400" b="0" dirty="0" smtClean="0"/>
              <a:t>affinity</a:t>
            </a:r>
            <a:r>
              <a:rPr lang="zh-CN" altLang="en-US" sz="2400" b="0" dirty="0" smtClean="0"/>
              <a:t>）相关是 </a:t>
            </a:r>
            <a:r>
              <a:rPr lang="en-US" altLang="zh-CN" sz="2400" b="0" dirty="0" err="1" smtClean="0"/>
              <a:t>cpus_allowed</a:t>
            </a:r>
            <a:r>
              <a:rPr lang="en-US" altLang="zh-CN" sz="2400" b="0" dirty="0" smtClean="0"/>
              <a:t> </a:t>
            </a:r>
            <a:r>
              <a:rPr lang="zh-CN" altLang="en-US" sz="2400" b="0" dirty="0" smtClean="0"/>
              <a:t>位掩码。</a:t>
            </a:r>
            <a:endParaRPr lang="en-US" altLang="zh-CN" sz="2400" b="0" dirty="0" smtClean="0"/>
          </a:p>
          <a:p>
            <a:pPr algn="just"/>
            <a:r>
              <a:rPr lang="zh-CN" altLang="en-US" sz="2400" b="0" dirty="0" smtClean="0"/>
              <a:t>这个位掩码由 </a:t>
            </a:r>
            <a:r>
              <a:rPr lang="en-US" altLang="zh-CN" sz="2400" b="0" dirty="0" smtClean="0"/>
              <a:t>n </a:t>
            </a:r>
            <a:r>
              <a:rPr lang="zh-CN" altLang="en-US" sz="2400" b="0" dirty="0" smtClean="0"/>
              <a:t>位组成，与系统中的 </a:t>
            </a:r>
            <a:r>
              <a:rPr lang="en-US" altLang="zh-CN" sz="2400" b="0" dirty="0" smtClean="0"/>
              <a:t>n </a:t>
            </a:r>
            <a:r>
              <a:rPr lang="zh-CN" altLang="en-US" sz="2400" b="0" dirty="0" smtClean="0"/>
              <a:t>个逻辑处理器一一对应。 </a:t>
            </a:r>
            <a:endParaRPr lang="en-US" altLang="zh-CN" sz="2400" b="0" dirty="0" smtClean="0"/>
          </a:p>
          <a:p>
            <a:pPr algn="just"/>
            <a:r>
              <a:rPr lang="zh-CN" altLang="en-US" sz="2400" b="0" dirty="0" smtClean="0"/>
              <a:t>具有 </a:t>
            </a:r>
            <a:r>
              <a:rPr lang="en-US" altLang="zh-CN" sz="2400" b="0" dirty="0" smtClean="0"/>
              <a:t>4 </a:t>
            </a:r>
            <a:r>
              <a:rPr lang="zh-CN" altLang="en-US" sz="2400" b="0" dirty="0" smtClean="0"/>
              <a:t>个物理 </a:t>
            </a:r>
            <a:r>
              <a:rPr lang="en-US" altLang="zh-CN" sz="2400" b="0" dirty="0" smtClean="0"/>
              <a:t>CPU </a:t>
            </a:r>
            <a:r>
              <a:rPr lang="zh-CN" altLang="en-US" sz="2400" b="0" dirty="0" smtClean="0"/>
              <a:t>的系统可以有 </a:t>
            </a:r>
            <a:r>
              <a:rPr lang="en-US" altLang="zh-CN" sz="2400" b="0" dirty="0" smtClean="0"/>
              <a:t>4 </a:t>
            </a:r>
            <a:r>
              <a:rPr lang="zh-CN" altLang="en-US" sz="2400" b="0" dirty="0" smtClean="0"/>
              <a:t>位。如果这些 </a:t>
            </a:r>
            <a:r>
              <a:rPr lang="en-US" altLang="zh-CN" sz="2400" b="0" dirty="0" smtClean="0"/>
              <a:t>CPU </a:t>
            </a:r>
            <a:r>
              <a:rPr lang="zh-CN" altLang="en-US" sz="2400" b="0" dirty="0" smtClean="0"/>
              <a:t>都启用了超线程，那么这个系统就有一个 </a:t>
            </a:r>
            <a:r>
              <a:rPr lang="en-US" altLang="zh-CN" sz="2400" b="0" dirty="0" smtClean="0"/>
              <a:t>8 </a:t>
            </a:r>
            <a:r>
              <a:rPr lang="zh-CN" altLang="en-US" sz="2400" b="0" dirty="0" smtClean="0"/>
              <a:t>位的位掩码。</a:t>
            </a:r>
            <a:endParaRPr lang="en-US" altLang="zh-CN" sz="2400" b="0" dirty="0" smtClean="0"/>
          </a:p>
          <a:p>
            <a:pPr algn="just"/>
            <a:r>
              <a:rPr lang="en-US" altLang="zh-CN" sz="2400" b="0" dirty="0" smtClean="0"/>
              <a:t>Linux </a:t>
            </a:r>
            <a:r>
              <a:rPr lang="zh-CN" altLang="en-US" sz="2400" b="0" dirty="0"/>
              <a:t>中通过</a:t>
            </a:r>
            <a:r>
              <a:rPr lang="en-US" altLang="zh-CN" sz="2400" b="0" dirty="0" err="1"/>
              <a:t>set_cpus_allowed_ptr</a:t>
            </a:r>
            <a:r>
              <a:rPr lang="zh-CN" altLang="en-US" sz="2400" b="0" dirty="0"/>
              <a:t>函数设置特定</a:t>
            </a:r>
            <a:r>
              <a:rPr lang="en-US" altLang="zh-CN" sz="2400" b="0" dirty="0"/>
              <a:t>CPU</a:t>
            </a:r>
            <a:endParaRPr lang="zh-CN" altLang="en-US" sz="2400" b="0" dirty="0"/>
          </a:p>
        </p:txBody>
      </p:sp>
      <p:sp>
        <p:nvSpPr>
          <p:cNvPr id="55299"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sp>
        <p:nvSpPr>
          <p:cNvPr id="55300" name="矩形 3"/>
          <p:cNvSpPr>
            <a:spLocks noChangeArrowheads="1"/>
          </p:cNvSpPr>
          <p:nvPr/>
        </p:nvSpPr>
        <p:spPr bwMode="auto">
          <a:xfrm>
            <a:off x="304800" y="1135063"/>
            <a:ext cx="37068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en-US" altLang="zh-CN" b="0"/>
              <a:t>Linux</a:t>
            </a:r>
            <a:r>
              <a:rPr lang="zh-CN" altLang="en-US"/>
              <a:t>多核调度器的亲和性</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内容占位符 1"/>
          <p:cNvSpPr>
            <a:spLocks noGrp="1"/>
          </p:cNvSpPr>
          <p:nvPr>
            <p:ph idx="1"/>
          </p:nvPr>
        </p:nvSpPr>
        <p:spPr>
          <a:xfrm>
            <a:off x="152400" y="1752600"/>
            <a:ext cx="8991600" cy="4724400"/>
          </a:xfrm>
        </p:spPr>
        <p:txBody>
          <a:bodyPr/>
          <a:lstStyle/>
          <a:p>
            <a:pPr>
              <a:defRPr/>
            </a:pPr>
            <a:r>
              <a:rPr lang="zh-CN" altLang="en-US" sz="2400" b="0" dirty="0" smtClean="0"/>
              <a:t>如果为给定的进程</a:t>
            </a:r>
            <a:r>
              <a:rPr lang="zh-CN" altLang="en-US" sz="2400" dirty="0" smtClean="0"/>
              <a:t>设置了给定的位</a:t>
            </a:r>
            <a:r>
              <a:rPr lang="zh-CN" altLang="en-US" sz="2400" b="0" dirty="0" smtClean="0"/>
              <a:t>，那么这个</a:t>
            </a:r>
            <a:r>
              <a:rPr lang="zh-CN" altLang="en-US" sz="2400" dirty="0" smtClean="0"/>
              <a:t>进程就可以在相关的 </a:t>
            </a:r>
            <a:r>
              <a:rPr lang="en-US" altLang="zh-CN" sz="2400" dirty="0" smtClean="0"/>
              <a:t>CPU </a:t>
            </a:r>
            <a:r>
              <a:rPr lang="zh-CN" altLang="en-US" sz="2400" dirty="0" smtClean="0"/>
              <a:t>上运行</a:t>
            </a:r>
            <a:r>
              <a:rPr lang="zh-CN" altLang="en-US" sz="2400" b="0" dirty="0" smtClean="0"/>
              <a:t>。如果一个进程可以在</a:t>
            </a:r>
            <a:r>
              <a:rPr lang="zh-CN" altLang="en-US" sz="2400" dirty="0" smtClean="0"/>
              <a:t>任何 </a:t>
            </a:r>
            <a:r>
              <a:rPr lang="en-US" altLang="zh-CN" sz="2400" dirty="0" smtClean="0"/>
              <a:t>CPU </a:t>
            </a:r>
            <a:r>
              <a:rPr lang="zh-CN" altLang="en-US" sz="2400" dirty="0" smtClean="0"/>
              <a:t>上运行，可在处理器之间进行迁移，那么位掩码就全是 </a:t>
            </a:r>
            <a:r>
              <a:rPr lang="en-US" altLang="zh-CN" sz="2400" dirty="0" smtClean="0"/>
              <a:t>1</a:t>
            </a:r>
            <a:r>
              <a:rPr lang="zh-CN" altLang="en-US" sz="2400" b="0" dirty="0" smtClean="0"/>
              <a:t>（缺省状态）。</a:t>
            </a:r>
          </a:p>
          <a:p>
            <a:pPr>
              <a:defRPr/>
            </a:pPr>
            <a:r>
              <a:rPr lang="en-US" altLang="zh-CN" sz="2400" b="0" dirty="0" smtClean="0"/>
              <a:t>Linux </a:t>
            </a:r>
            <a:r>
              <a:rPr lang="zh-CN" altLang="en-US" sz="2400" b="0" dirty="0" smtClean="0"/>
              <a:t>内核 </a:t>
            </a:r>
            <a:r>
              <a:rPr lang="en-US" altLang="zh-CN" sz="2400" b="0" dirty="0" smtClean="0"/>
              <a:t>API </a:t>
            </a:r>
            <a:r>
              <a:rPr lang="zh-CN" altLang="en-US" sz="2400" b="0" dirty="0" smtClean="0"/>
              <a:t>提供了：</a:t>
            </a:r>
          </a:p>
          <a:p>
            <a:pPr marL="457200" indent="-457200">
              <a:buFont typeface="+mj-ea"/>
              <a:buAutoNum type="circleNumDbPlain"/>
              <a:defRPr/>
            </a:pPr>
            <a:r>
              <a:rPr lang="en-US" altLang="zh-CN" sz="2400" b="0" dirty="0" err="1" smtClean="0">
                <a:solidFill>
                  <a:srgbClr val="FF0000"/>
                </a:solidFill>
              </a:rPr>
              <a:t>sched_set_affinity</a:t>
            </a:r>
            <a:r>
              <a:rPr lang="en-US" altLang="zh-CN" sz="2400" b="0" dirty="0" smtClean="0">
                <a:solidFill>
                  <a:srgbClr val="FF0000"/>
                </a:solidFill>
              </a:rPr>
              <a:t>() </a:t>
            </a:r>
            <a:r>
              <a:rPr lang="zh-CN" altLang="en-US" sz="2400" b="0" dirty="0" smtClean="0">
                <a:solidFill>
                  <a:srgbClr val="FF0000"/>
                </a:solidFill>
              </a:rPr>
              <a:t>（用来修改位掩码）</a:t>
            </a:r>
          </a:p>
          <a:p>
            <a:pPr marL="457200" indent="-457200">
              <a:buFont typeface="+mj-ea"/>
              <a:buAutoNum type="circleNumDbPlain"/>
              <a:defRPr/>
            </a:pPr>
            <a:r>
              <a:rPr lang="en-US" altLang="zh-CN" sz="2400" b="0" dirty="0" err="1" smtClean="0">
                <a:solidFill>
                  <a:srgbClr val="FF0000"/>
                </a:solidFill>
              </a:rPr>
              <a:t>sched_get_affinity</a:t>
            </a:r>
            <a:r>
              <a:rPr lang="en-US" altLang="zh-CN" sz="2400" b="0" dirty="0" smtClean="0">
                <a:solidFill>
                  <a:srgbClr val="FF0000"/>
                </a:solidFill>
              </a:rPr>
              <a:t>() </a:t>
            </a:r>
            <a:r>
              <a:rPr lang="zh-CN" altLang="en-US" sz="2400" b="0" dirty="0" smtClean="0">
                <a:solidFill>
                  <a:srgbClr val="FF0000"/>
                </a:solidFill>
              </a:rPr>
              <a:t>（用来查看当前的位掩码）</a:t>
            </a:r>
          </a:p>
          <a:p>
            <a:pPr marL="457200" indent="-457200">
              <a:buFont typeface="+mj-ea"/>
              <a:buAutoNum type="circleNumDbPlain"/>
              <a:defRPr/>
            </a:pPr>
            <a:r>
              <a:rPr lang="en-US" altLang="zh-CN" sz="2400" b="0" dirty="0" err="1" smtClean="0">
                <a:solidFill>
                  <a:srgbClr val="FF0000"/>
                </a:solidFill>
              </a:rPr>
              <a:t>cpu_affinity</a:t>
            </a:r>
            <a:r>
              <a:rPr lang="en-US" altLang="zh-CN" sz="2400" b="0" dirty="0" smtClean="0">
                <a:solidFill>
                  <a:srgbClr val="FF0000"/>
                </a:solidFill>
              </a:rPr>
              <a:t> </a:t>
            </a:r>
            <a:r>
              <a:rPr lang="zh-CN" altLang="en-US" sz="2400" b="0" dirty="0" smtClean="0">
                <a:solidFill>
                  <a:srgbClr val="FF0000"/>
                </a:solidFill>
              </a:rPr>
              <a:t>会被传递给子线程</a:t>
            </a:r>
            <a:endParaRPr lang="zh-CN" altLang="en-US" sz="1100" dirty="0" smtClean="0">
              <a:solidFill>
                <a:srgbClr val="FF0000"/>
              </a:solidFill>
              <a:latin typeface="宋体" panose="02010600030101010101" pitchFamily="2" charset="-122"/>
            </a:endParaRPr>
          </a:p>
        </p:txBody>
      </p:sp>
      <p:sp>
        <p:nvSpPr>
          <p:cNvPr id="57347"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sp>
        <p:nvSpPr>
          <p:cNvPr id="57348" name="矩形 3"/>
          <p:cNvSpPr>
            <a:spLocks noChangeArrowheads="1"/>
          </p:cNvSpPr>
          <p:nvPr/>
        </p:nvSpPr>
        <p:spPr bwMode="auto">
          <a:xfrm>
            <a:off x="304800" y="1135063"/>
            <a:ext cx="42910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en-US" altLang="zh-CN" sz="2800" b="0"/>
              <a:t>Linux</a:t>
            </a:r>
            <a:r>
              <a:rPr lang="zh-CN" altLang="en-US" sz="2800"/>
              <a:t>多核调度器的亲和性</a:t>
            </a: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1"/>
          <p:cNvSpPr>
            <a:spLocks noGrp="1"/>
          </p:cNvSpPr>
          <p:nvPr>
            <p:ph idx="1"/>
          </p:nvPr>
        </p:nvSpPr>
        <p:spPr>
          <a:xfrm>
            <a:off x="152400" y="1260475"/>
            <a:ext cx="8839200" cy="5597525"/>
          </a:xfrm>
        </p:spPr>
        <p:txBody>
          <a:bodyPr/>
          <a:lstStyle/>
          <a:p>
            <a:pPr>
              <a:defRPr/>
            </a:pPr>
            <a:r>
              <a:rPr lang="zh-CN" altLang="en-US" sz="2400" dirty="0" smtClean="0"/>
              <a:t>在 </a:t>
            </a:r>
            <a:r>
              <a:rPr lang="en-US" altLang="zh-CN" sz="2400" dirty="0" err="1" smtClean="0"/>
              <a:t>linux</a:t>
            </a:r>
            <a:r>
              <a:rPr lang="en-US" altLang="zh-CN" sz="2400" dirty="0" smtClean="0"/>
              <a:t> 2.4 </a:t>
            </a:r>
            <a:r>
              <a:rPr lang="zh-CN" altLang="en-US" sz="2400" dirty="0" smtClean="0"/>
              <a:t>版本</a:t>
            </a:r>
            <a:r>
              <a:rPr lang="en-US" altLang="zh-CN" sz="2400" dirty="0" smtClean="0"/>
              <a:t>O(n)</a:t>
            </a:r>
            <a:r>
              <a:rPr lang="zh-CN" altLang="en-US" sz="2400" dirty="0" smtClean="0"/>
              <a:t>调度器</a:t>
            </a:r>
            <a:endParaRPr lang="en-US" altLang="zh-CN" sz="2400" dirty="0" smtClean="0"/>
          </a:p>
          <a:p>
            <a:pPr marL="457200" indent="-457200">
              <a:buFont typeface="+mj-ea"/>
              <a:buAutoNum type="circleNumDbPlain"/>
              <a:defRPr/>
            </a:pPr>
            <a:r>
              <a:rPr lang="zh-CN" altLang="en-US" sz="2000" b="0" dirty="0" smtClean="0"/>
              <a:t>采用一个</a:t>
            </a:r>
            <a:r>
              <a:rPr lang="en-US" altLang="zh-CN" sz="2000" b="0" dirty="0" err="1" smtClean="0"/>
              <a:t>runqueue</a:t>
            </a:r>
            <a:r>
              <a:rPr lang="zh-CN" altLang="en-US" sz="2000" b="0" dirty="0" smtClean="0"/>
              <a:t>运行队列来管理所有就绪进程，调度器</a:t>
            </a:r>
            <a:r>
              <a:rPr lang="en-US" altLang="zh-CN" sz="2000" b="0" dirty="0" smtClean="0"/>
              <a:t>schedule</a:t>
            </a:r>
            <a:r>
              <a:rPr lang="zh-CN" altLang="en-US" sz="2000" b="0" dirty="0" smtClean="0"/>
              <a:t>中会选择一个优先级最高（时间片最大）进程运行，同时对睡眠的进程增加一些时间片。</a:t>
            </a:r>
            <a:endParaRPr lang="en-US" altLang="zh-CN" sz="2000" b="0" dirty="0" smtClean="0"/>
          </a:p>
          <a:p>
            <a:pPr marL="457200" indent="-457200">
              <a:buFont typeface="+mj-ea"/>
              <a:buAutoNum type="circleNumDbPlain"/>
              <a:defRPr/>
            </a:pPr>
            <a:r>
              <a:rPr lang="zh-CN" altLang="en-US" sz="2000" b="0" dirty="0" smtClean="0"/>
              <a:t>当</a:t>
            </a:r>
            <a:r>
              <a:rPr lang="en-US" altLang="zh-CN" sz="2000" b="0" dirty="0" err="1" smtClean="0"/>
              <a:t>runqueue</a:t>
            </a:r>
            <a:r>
              <a:rPr lang="zh-CN" altLang="en-US" sz="2000" b="0" dirty="0" smtClean="0"/>
              <a:t>运行队列中无进程可选择时，则会对系统中所有的进程进行一次重新计算时间片的操作，同时也会对剩余时间片的进程做一次补偿。</a:t>
            </a:r>
          </a:p>
          <a:p>
            <a:pPr>
              <a:defRPr/>
            </a:pPr>
            <a:endParaRPr lang="en-US" altLang="zh-CN" sz="2000" b="0" dirty="0" smtClean="0"/>
          </a:p>
        </p:txBody>
      </p:sp>
      <p:sp>
        <p:nvSpPr>
          <p:cNvPr id="59395"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pic>
        <p:nvPicPr>
          <p:cNvPr id="59396" name="图片 2"/>
          <p:cNvPicPr>
            <a:picLocks noChangeAspect="1"/>
          </p:cNvPicPr>
          <p:nvPr/>
        </p:nvPicPr>
        <p:blipFill>
          <a:blip r:embed="rId3">
            <a:extLst>
              <a:ext uri="{28A0092B-C50C-407E-A947-70E740481C1C}">
                <a14:useLocalDpi xmlns:a14="http://schemas.microsoft.com/office/drawing/2010/main" val="0"/>
              </a:ext>
            </a:extLst>
          </a:blip>
          <a:srcRect l="3947" t="15352" r="3947" b="10448"/>
          <a:stretch>
            <a:fillRect/>
          </a:stretch>
        </p:blipFill>
        <p:spPr bwMode="auto">
          <a:xfrm>
            <a:off x="609600" y="3505200"/>
            <a:ext cx="6019800" cy="249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p:cNvPicPr>
          <p:nvPr/>
        </p:nvPicPr>
        <p:blipFill rotWithShape="1">
          <a:blip r:embed="rId4"/>
          <a:srcRect b="63106"/>
          <a:stretch/>
        </p:blipFill>
        <p:spPr>
          <a:xfrm>
            <a:off x="457200" y="3529933"/>
            <a:ext cx="8404520" cy="1676400"/>
          </a:xfrm>
          <a:prstGeom prst="rect">
            <a:avLst/>
          </a:prstGeom>
          <a:ln>
            <a:solidFill>
              <a:srgbClr val="C00000"/>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shade val="50000"/>
            </a:schemeClr>
          </a:lnRef>
          <a:fillRef idx="1">
            <a:schemeClr val="dk1"/>
          </a:fillRef>
          <a:effectRef idx="0">
            <a:schemeClr val="dk1"/>
          </a:effectRef>
          <a:fontRef idx="minor">
            <a:schemeClr val="lt1"/>
          </a:fontRef>
        </p:style>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内容占位符 1"/>
          <p:cNvSpPr>
            <a:spLocks noGrp="1"/>
          </p:cNvSpPr>
          <p:nvPr>
            <p:ph idx="1"/>
          </p:nvPr>
        </p:nvSpPr>
        <p:spPr>
          <a:xfrm>
            <a:off x="419100" y="1087438"/>
            <a:ext cx="8305800" cy="5597525"/>
          </a:xfrm>
        </p:spPr>
        <p:txBody>
          <a:bodyPr/>
          <a:lstStyle/>
          <a:p>
            <a:r>
              <a:rPr lang="en-US" altLang="zh-CN" sz="2000" dirty="0" smtClean="0"/>
              <a:t>O(n)</a:t>
            </a:r>
            <a:r>
              <a:rPr lang="zh-CN" altLang="en-US" sz="2000" dirty="0" smtClean="0"/>
              <a:t>调度器的缺陷：</a:t>
            </a:r>
          </a:p>
          <a:p>
            <a:r>
              <a:rPr lang="zh-CN" altLang="en-US" sz="2000" b="0" dirty="0" smtClean="0"/>
              <a:t>时间复杂度是</a:t>
            </a:r>
            <a:r>
              <a:rPr lang="en-US" altLang="zh-CN" sz="2000" b="0" dirty="0" smtClean="0"/>
              <a:t>O(n)</a:t>
            </a:r>
          </a:p>
          <a:p>
            <a:r>
              <a:rPr lang="en-US" altLang="zh-CN" sz="2000" b="0" dirty="0" smtClean="0"/>
              <a:t>SMP</a:t>
            </a:r>
            <a:r>
              <a:rPr lang="zh-CN" altLang="en-US" sz="2000" b="0" dirty="0" smtClean="0"/>
              <a:t>系统扩展不好，各</a:t>
            </a:r>
            <a:r>
              <a:rPr lang="en-US" altLang="zh-CN" sz="2000" b="0" dirty="0" smtClean="0"/>
              <a:t>CPU</a:t>
            </a:r>
            <a:r>
              <a:rPr lang="zh-CN" altLang="en-US" sz="2000" b="0" dirty="0" smtClean="0"/>
              <a:t>空闲访问</a:t>
            </a:r>
            <a:r>
              <a:rPr lang="en-US" altLang="zh-CN" sz="2000" b="0" dirty="0" err="1" smtClean="0"/>
              <a:t>runqueue</a:t>
            </a:r>
            <a:r>
              <a:rPr lang="zh-CN" altLang="en-US" sz="2000" b="0" dirty="0" smtClean="0"/>
              <a:t>需要加锁</a:t>
            </a:r>
          </a:p>
          <a:p>
            <a:r>
              <a:rPr lang="zh-CN" altLang="en-US" sz="2000" b="0" dirty="0" smtClean="0"/>
              <a:t>实时、交互进程不能及时调度</a:t>
            </a:r>
          </a:p>
          <a:p>
            <a:r>
              <a:rPr lang="en-US" altLang="zh-CN" sz="2000" b="0" dirty="0" smtClean="0"/>
              <a:t>CPU</a:t>
            </a:r>
            <a:r>
              <a:rPr lang="zh-CN" altLang="en-US" sz="2000" b="0" dirty="0" smtClean="0"/>
              <a:t>空转的现象存在（等待锁，多</a:t>
            </a:r>
            <a:r>
              <a:rPr lang="en-US" altLang="zh-CN" sz="2000" b="0" dirty="0" smtClean="0"/>
              <a:t>CPU</a:t>
            </a:r>
            <a:r>
              <a:rPr lang="zh-CN" altLang="en-US" sz="2000" b="0" dirty="0" smtClean="0"/>
              <a:t>访问共享数据）</a:t>
            </a:r>
          </a:p>
          <a:p>
            <a:r>
              <a:rPr lang="zh-CN" altLang="en-US" sz="2000" b="0" dirty="0" smtClean="0"/>
              <a:t>进程在各个</a:t>
            </a:r>
            <a:r>
              <a:rPr lang="en-US" altLang="zh-CN" sz="2000" b="0" dirty="0" smtClean="0"/>
              <a:t>CPU</a:t>
            </a:r>
            <a:r>
              <a:rPr lang="zh-CN" altLang="en-US" sz="2000" b="0" dirty="0" smtClean="0"/>
              <a:t>之间迁移。如果任务被调度到 </a:t>
            </a:r>
            <a:r>
              <a:rPr lang="en-US" altLang="zh-CN" sz="2000" b="0" dirty="0" smtClean="0"/>
              <a:t>CPU-2 </a:t>
            </a:r>
            <a:r>
              <a:rPr lang="zh-CN" altLang="en-US" sz="2000" b="0" dirty="0" smtClean="0"/>
              <a:t>上执行，那么在 </a:t>
            </a:r>
            <a:r>
              <a:rPr lang="en-US" altLang="zh-CN" sz="2000" b="0" dirty="0" smtClean="0"/>
              <a:t>CPU-1</a:t>
            </a:r>
            <a:r>
              <a:rPr lang="zh-CN" altLang="en-US" sz="2000" b="0" dirty="0" smtClean="0"/>
              <a:t>中</a:t>
            </a:r>
            <a:r>
              <a:rPr lang="en-US" altLang="zh-CN" sz="2000" b="0" dirty="0" smtClean="0"/>
              <a:t> cache</a:t>
            </a:r>
            <a:r>
              <a:rPr lang="zh-CN" altLang="en-US" sz="2000" b="0" dirty="0" smtClean="0"/>
              <a:t>数据将无效，并将其缓存到 </a:t>
            </a:r>
            <a:r>
              <a:rPr lang="en-US" altLang="zh-CN" sz="2000" b="0" dirty="0" smtClean="0"/>
              <a:t>CPU-2 </a:t>
            </a:r>
            <a:r>
              <a:rPr lang="zh-CN" altLang="en-US" sz="2000" b="0" dirty="0" smtClean="0"/>
              <a:t>的</a:t>
            </a:r>
            <a:r>
              <a:rPr lang="en-US" altLang="zh-CN" sz="2000" b="0" dirty="0" smtClean="0"/>
              <a:t>cache</a:t>
            </a:r>
            <a:r>
              <a:rPr lang="zh-CN" altLang="en-US" sz="2000" b="0" dirty="0" smtClean="0"/>
              <a:t>中。</a:t>
            </a:r>
          </a:p>
          <a:p>
            <a:endParaRPr lang="zh-CN" altLang="en-US" sz="2000" b="0" dirty="0" smtClean="0"/>
          </a:p>
          <a:p>
            <a:endParaRPr lang="zh-CN" altLang="en-US" sz="900" dirty="0" smtClean="0">
              <a:latin typeface="宋体" panose="02010600030101010101" pitchFamily="2" charset="-122"/>
            </a:endParaRPr>
          </a:p>
        </p:txBody>
      </p:sp>
      <p:sp>
        <p:nvSpPr>
          <p:cNvPr id="61443"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pic>
        <p:nvPicPr>
          <p:cNvPr id="61444" name="图片 2"/>
          <p:cNvPicPr>
            <a:picLocks noChangeAspect="1"/>
          </p:cNvPicPr>
          <p:nvPr/>
        </p:nvPicPr>
        <p:blipFill>
          <a:blip r:embed="rId3">
            <a:extLst>
              <a:ext uri="{28A0092B-C50C-407E-A947-70E740481C1C}">
                <a14:useLocalDpi xmlns:a14="http://schemas.microsoft.com/office/drawing/2010/main" val="0"/>
              </a:ext>
            </a:extLst>
          </a:blip>
          <a:srcRect l="3947" t="15565" r="3947" b="7677"/>
          <a:stretch>
            <a:fillRect/>
          </a:stretch>
        </p:blipFill>
        <p:spPr bwMode="auto">
          <a:xfrm>
            <a:off x="152400" y="3886200"/>
            <a:ext cx="5410200" cy="231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2"/>
          <p:cNvPicPr>
            <a:picLocks noChangeAspect="1"/>
          </p:cNvPicPr>
          <p:nvPr/>
        </p:nvPicPr>
        <p:blipFill>
          <a:blip r:embed="rId4">
            <a:extLst>
              <a:ext uri="{28A0092B-C50C-407E-A947-70E740481C1C}">
                <a14:useLocalDpi xmlns:a14="http://schemas.microsoft.com/office/drawing/2010/main" val="0"/>
              </a:ext>
            </a:extLst>
          </a:blip>
          <a:srcRect r="6149"/>
          <a:stretch>
            <a:fillRect/>
          </a:stretch>
        </p:blipFill>
        <p:spPr bwMode="auto">
          <a:xfrm>
            <a:off x="5943600" y="3657600"/>
            <a:ext cx="218854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1"/>
          <p:cNvPicPr>
            <a:picLocks noChangeAspect="1"/>
          </p:cNvPicPr>
          <p:nvPr/>
        </p:nvPicPr>
        <p:blipFill>
          <a:blip r:embed="rId5">
            <a:extLst>
              <a:ext uri="{28A0092B-C50C-407E-A947-70E740481C1C}">
                <a14:useLocalDpi xmlns:a14="http://schemas.microsoft.com/office/drawing/2010/main" val="0"/>
              </a:ext>
            </a:extLst>
          </a:blip>
          <a:srcRect r="5328"/>
          <a:stretch>
            <a:fillRect/>
          </a:stretch>
        </p:blipFill>
        <p:spPr bwMode="auto">
          <a:xfrm>
            <a:off x="6019800" y="5257800"/>
            <a:ext cx="2057401" cy="1201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556761" y="1087438"/>
            <a:ext cx="4572000" cy="646331"/>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marL="342900" indent="-342900" algn="just">
              <a:buFont typeface="Wingdings" panose="05000000000000000000" pitchFamily="2" charset="2"/>
              <a:buChar char="l"/>
            </a:pPr>
            <a:r>
              <a:rPr lang="zh-CN" altLang="en-US" sz="1800" dirty="0"/>
              <a:t>多核</a:t>
            </a:r>
            <a:r>
              <a:rPr lang="en-US" altLang="zh-CN" sz="1800" dirty="0"/>
              <a:t>/</a:t>
            </a:r>
            <a:r>
              <a:rPr lang="zh-CN" altLang="en-US" sz="1800" dirty="0"/>
              <a:t>多处理器会给调度带来什么问题？</a:t>
            </a:r>
            <a:endParaRPr lang="en-US" altLang="zh-CN" sz="1800" dirty="0"/>
          </a:p>
          <a:p>
            <a:pPr algn="ctr"/>
            <a:r>
              <a:rPr lang="zh-CN" altLang="en-US" sz="1800" dirty="0">
                <a:solidFill>
                  <a:srgbClr val="FF0000"/>
                </a:solidFill>
              </a:rPr>
              <a:t>负载、竞争、</a:t>
            </a:r>
            <a:r>
              <a:rPr lang="en-US" altLang="zh-CN" sz="1800" dirty="0">
                <a:solidFill>
                  <a:srgbClr val="FF0000"/>
                </a:solidFill>
              </a:rPr>
              <a:t>Cache</a:t>
            </a:r>
            <a:endParaRPr lang="zh-CN" altLang="en-US" sz="1800" dirty="0">
              <a:solidFill>
                <a:srgbClr val="FF0000"/>
              </a:solidFill>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内容占位符 1"/>
          <p:cNvSpPr>
            <a:spLocks noGrp="1"/>
          </p:cNvSpPr>
          <p:nvPr>
            <p:ph idx="1"/>
          </p:nvPr>
        </p:nvSpPr>
        <p:spPr>
          <a:xfrm>
            <a:off x="152400" y="1260475"/>
            <a:ext cx="8763000" cy="568325"/>
          </a:xfrm>
        </p:spPr>
        <p:txBody>
          <a:bodyPr/>
          <a:lstStyle/>
          <a:p>
            <a:pPr algn="just">
              <a:defRPr/>
            </a:pPr>
            <a:r>
              <a:rPr lang="en-US" altLang="zh-CN" sz="2400" dirty="0" smtClean="0"/>
              <a:t>Linux</a:t>
            </a:r>
            <a:r>
              <a:rPr lang="zh-CN" altLang="en-US" sz="2400" dirty="0" smtClean="0"/>
              <a:t>调度器</a:t>
            </a:r>
            <a:r>
              <a:rPr lang="zh-CN" altLang="en-US" sz="2400" dirty="0"/>
              <a:t>发展</a:t>
            </a:r>
            <a:r>
              <a:rPr lang="zh-CN" altLang="en-US" sz="2400" dirty="0" smtClean="0"/>
              <a:t>过程</a:t>
            </a:r>
            <a:r>
              <a:rPr lang="en-US" altLang="zh-CN" sz="2400" dirty="0" smtClean="0"/>
              <a:t>:</a:t>
            </a:r>
            <a:r>
              <a:rPr lang="en-US" altLang="zh-CN" sz="2400" dirty="0"/>
              <a:t>O(n)-&gt;O(1)-&gt;O(log(n))</a:t>
            </a:r>
          </a:p>
          <a:p>
            <a:pPr algn="just">
              <a:defRPr/>
            </a:pPr>
            <a:endParaRPr lang="en-US" altLang="zh-CN" sz="2400" b="0" dirty="0" smtClean="0"/>
          </a:p>
          <a:p>
            <a:pPr algn="just">
              <a:defRPr/>
            </a:pPr>
            <a:endParaRPr lang="zh-CN" altLang="en-US" sz="1050" dirty="0" smtClean="0">
              <a:latin typeface="宋体" panose="02010600030101010101" pitchFamily="2" charset="-122"/>
            </a:endParaRPr>
          </a:p>
        </p:txBody>
      </p:sp>
      <p:sp>
        <p:nvSpPr>
          <p:cNvPr id="63491"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pic>
        <p:nvPicPr>
          <p:cNvPr id="63492" name="图片 4"/>
          <p:cNvPicPr>
            <a:picLocks noChangeAspect="1"/>
          </p:cNvPicPr>
          <p:nvPr/>
        </p:nvPicPr>
        <p:blipFill>
          <a:blip r:embed="rId3">
            <a:extLst>
              <a:ext uri="{28A0092B-C50C-407E-A947-70E740481C1C}">
                <a14:useLocalDpi xmlns:a14="http://schemas.microsoft.com/office/drawing/2010/main" val="0"/>
              </a:ext>
            </a:extLst>
          </a:blip>
          <a:srcRect l="18333" r="15001"/>
          <a:stretch>
            <a:fillRect/>
          </a:stretch>
        </p:blipFill>
        <p:spPr bwMode="auto">
          <a:xfrm>
            <a:off x="609600" y="1828800"/>
            <a:ext cx="7291388"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1"/>
          <p:cNvSpPr txBox="1">
            <a:spLocks/>
          </p:cNvSpPr>
          <p:nvPr/>
        </p:nvSpPr>
        <p:spPr bwMode="auto">
          <a:xfrm>
            <a:off x="134938" y="3733800"/>
            <a:ext cx="80772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rgbClr val="993300"/>
              </a:buClr>
              <a:buSzPct val="90000"/>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CC6600"/>
              </a:buClr>
              <a:buSzPct val="80000"/>
              <a:buFont typeface="Wingdings" panose="05000000000000000000"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rgbClr val="009900"/>
              </a:buClr>
              <a:buSzPct val="75000"/>
              <a:buFont typeface="Webdings" panose="05030102010509060703" pitchFamily="18" charset="2"/>
              <a:buChar char="4"/>
              <a:defRPr sz="2000">
                <a:solidFill>
                  <a:schemeClr val="tx1"/>
                </a:solidFill>
                <a:latin typeface="+mn-lt"/>
                <a:ea typeface="+mn-ea"/>
              </a:defRPr>
            </a:lvl3pPr>
            <a:lvl4pPr marL="1600200" indent="-228600" algn="l" rtl="0" eaLnBrk="0" fontAlgn="base" hangingPunct="0">
              <a:spcBef>
                <a:spcPct val="20000"/>
              </a:spcBef>
              <a:spcAft>
                <a:spcPct val="0"/>
              </a:spcAft>
              <a:buClr>
                <a:srgbClr val="FF6600"/>
              </a:buClr>
              <a:buSzPct val="75000"/>
              <a:buFont typeface="Times New Roman" panose="02020603050405020304" pitchFamily="18" charset="0"/>
              <a:buChar char="–"/>
              <a:defRPr>
                <a:solidFill>
                  <a:schemeClr val="tx1"/>
                </a:solidFill>
                <a:latin typeface="+mn-lt"/>
                <a:ea typeface="+mn-ea"/>
              </a:defRPr>
            </a:lvl4pPr>
            <a:lvl5pPr marL="2057400" indent="-228600" algn="l" rtl="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mn-lt"/>
                <a:ea typeface="+mn-ea"/>
              </a:defRPr>
            </a:lvl5pPr>
            <a:lvl6pPr marL="25146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6pPr>
            <a:lvl7pPr marL="29718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7pPr>
            <a:lvl8pPr marL="34290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8pPr>
            <a:lvl9pPr marL="3886200" indent="-228600" algn="l" rtl="0" fontAlgn="base">
              <a:spcBef>
                <a:spcPct val="20000"/>
              </a:spcBef>
              <a:spcAft>
                <a:spcPct val="0"/>
              </a:spcAft>
              <a:buClr>
                <a:srgbClr val="FF0066"/>
              </a:buClr>
              <a:buSzPct val="75000"/>
              <a:buFont typeface="Times New Roman" pitchFamily="18" charset="0"/>
              <a:buChar char="»"/>
              <a:defRPr>
                <a:solidFill>
                  <a:schemeClr val="tx1"/>
                </a:solidFill>
                <a:latin typeface="+mn-lt"/>
                <a:ea typeface="+mn-ea"/>
              </a:defRPr>
            </a:lvl9pPr>
          </a:lstStyle>
          <a:p>
            <a:pPr algn="just">
              <a:defRPr/>
            </a:pPr>
            <a:r>
              <a:rPr lang="en-US" altLang="zh-CN" sz="2400" kern="0" dirty="0" smtClean="0">
                <a:solidFill>
                  <a:srgbClr val="FF0000"/>
                </a:solidFill>
              </a:rPr>
              <a:t>Linux O(1) </a:t>
            </a:r>
            <a:r>
              <a:rPr lang="zh-CN" altLang="en-US" sz="2400" kern="0" dirty="0" smtClean="0">
                <a:solidFill>
                  <a:srgbClr val="FF0000"/>
                </a:solidFill>
              </a:rPr>
              <a:t>调度器</a:t>
            </a:r>
            <a:r>
              <a:rPr lang="zh-CN" altLang="en-US" sz="2400" b="0" kern="0" dirty="0" smtClean="0"/>
              <a:t>中引入了</a:t>
            </a:r>
            <a:r>
              <a:rPr lang="en-US" altLang="zh-CN" sz="2400" b="0" kern="0" dirty="0" smtClean="0"/>
              <a:t>per-CPU </a:t>
            </a:r>
            <a:r>
              <a:rPr lang="en-US" altLang="zh-CN" sz="2400" b="0" kern="0" dirty="0" err="1" smtClean="0"/>
              <a:t>runqueue</a:t>
            </a:r>
            <a:r>
              <a:rPr lang="zh-CN" altLang="en-US" sz="2400" b="0" kern="0" dirty="0" smtClean="0"/>
              <a:t>的结构。系统中所有的可运行状态的进程首先经过</a:t>
            </a:r>
            <a:r>
              <a:rPr lang="zh-CN" altLang="en-US" sz="2400" kern="0" dirty="0" smtClean="0"/>
              <a:t>负载均衡模块</a:t>
            </a:r>
            <a:r>
              <a:rPr lang="zh-CN" altLang="en-US" sz="2400" b="0" kern="0" dirty="0" smtClean="0"/>
              <a:t>挂入各</a:t>
            </a:r>
            <a:r>
              <a:rPr lang="en-US" altLang="zh-CN" sz="2400" b="0" kern="0" dirty="0" smtClean="0"/>
              <a:t>CPU</a:t>
            </a:r>
            <a:r>
              <a:rPr lang="zh-CN" altLang="en-US" sz="2400" b="0" kern="0" dirty="0" smtClean="0"/>
              <a:t>的</a:t>
            </a:r>
            <a:r>
              <a:rPr lang="en-US" altLang="zh-CN" sz="2400" b="0" kern="0" dirty="0" err="1" smtClean="0"/>
              <a:t>runqueue</a:t>
            </a:r>
            <a:endParaRPr lang="en-US" altLang="zh-CN" sz="2400" b="0" kern="0" dirty="0" smtClean="0"/>
          </a:p>
          <a:p>
            <a:pPr algn="just">
              <a:defRPr/>
            </a:pPr>
            <a:r>
              <a:rPr lang="zh-CN" altLang="en-US" sz="2400" b="0" kern="0" dirty="0" smtClean="0"/>
              <a:t>每隔 </a:t>
            </a:r>
            <a:r>
              <a:rPr lang="en-US" altLang="zh-CN" sz="2400" b="0" kern="0" dirty="0" err="1" smtClean="0"/>
              <a:t>200ms</a:t>
            </a:r>
            <a:r>
              <a:rPr lang="zh-CN" altLang="en-US" sz="2400" b="0" kern="0" dirty="0" smtClean="0"/>
              <a:t>检查 </a:t>
            </a:r>
            <a:r>
              <a:rPr lang="en-US" altLang="zh-CN" sz="2400" b="0" kern="0" dirty="0" smtClean="0"/>
              <a:t>CPU </a:t>
            </a:r>
            <a:r>
              <a:rPr lang="zh-CN" altLang="en-US" sz="2400" b="0" kern="0" dirty="0" smtClean="0"/>
              <a:t>的负载是否均衡，如果不均衡，</a:t>
            </a:r>
            <a:r>
              <a:rPr lang="zh-CN" altLang="en-US" sz="2400" kern="0" dirty="0" smtClean="0"/>
              <a:t>负载均衡模块</a:t>
            </a:r>
            <a:r>
              <a:rPr lang="zh-CN" altLang="en-US" sz="2400" b="0" kern="0" dirty="0" smtClean="0"/>
              <a:t>在 </a:t>
            </a:r>
            <a:r>
              <a:rPr lang="en-US" altLang="zh-CN" sz="2400" b="0" kern="0" dirty="0" smtClean="0"/>
              <a:t>CPU </a:t>
            </a:r>
            <a:r>
              <a:rPr lang="zh-CN" altLang="en-US" sz="2400" b="0" kern="0" dirty="0" smtClean="0"/>
              <a:t>之间进行一次任务均衡操作。然后由各</a:t>
            </a:r>
            <a:r>
              <a:rPr lang="en-US" altLang="zh-CN" sz="2400" b="0" kern="0" dirty="0" smtClean="0"/>
              <a:t>CPU</a:t>
            </a:r>
            <a:r>
              <a:rPr lang="zh-CN" altLang="en-US" sz="2400" b="0" kern="0" dirty="0" smtClean="0"/>
              <a:t>调度器调度。</a:t>
            </a:r>
            <a:endParaRPr lang="zh-CN" altLang="en-US" sz="1050" kern="0" dirty="0" smtClean="0">
              <a:latin typeface="宋体" panose="02010600030101010101" pitchFamily="2" charset="-122"/>
            </a:endParaRPr>
          </a:p>
        </p:txBody>
      </p:sp>
      <p:sp>
        <p:nvSpPr>
          <p:cNvPr id="2" name="矩形 1"/>
          <p:cNvSpPr/>
          <p:nvPr/>
        </p:nvSpPr>
        <p:spPr>
          <a:xfrm>
            <a:off x="5791200" y="546100"/>
            <a:ext cx="2717800" cy="460375"/>
          </a:xfrm>
          <a:prstGeom prst="rect">
            <a:avLst/>
          </a:prstGeom>
        </p:spPr>
        <p:txBody>
          <a:bodyPr wrap="none">
            <a:spAutoFit/>
          </a:bodyPr>
          <a:lstStyle/>
          <a:p>
            <a:pPr>
              <a:defRPr/>
            </a:pPr>
            <a:r>
              <a:rPr lang="en-US" altLang="zh-CN" kern="0" dirty="0">
                <a:solidFill>
                  <a:srgbClr val="FF0000"/>
                </a:solidFill>
              </a:rPr>
              <a:t>Linux O(1) </a:t>
            </a:r>
            <a:r>
              <a:rPr lang="zh-CN" altLang="en-US" kern="0" dirty="0">
                <a:solidFill>
                  <a:srgbClr val="FF0000"/>
                </a:solidFill>
              </a:rPr>
              <a:t>调度器</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内容占位符 1"/>
          <p:cNvSpPr>
            <a:spLocks noGrp="1"/>
          </p:cNvSpPr>
          <p:nvPr>
            <p:ph idx="1"/>
          </p:nvPr>
        </p:nvSpPr>
        <p:spPr>
          <a:xfrm>
            <a:off x="152400" y="1260475"/>
            <a:ext cx="8991600" cy="5597525"/>
          </a:xfrm>
        </p:spPr>
        <p:txBody>
          <a:bodyPr/>
          <a:lstStyle/>
          <a:p>
            <a:r>
              <a:rPr lang="en-US" altLang="zh-CN" sz="2000" b="0" dirty="0" smtClean="0"/>
              <a:t>O(1)</a:t>
            </a:r>
            <a:r>
              <a:rPr lang="zh-CN" altLang="en-US" sz="2000" b="0" dirty="0" smtClean="0"/>
              <a:t>调度有</a:t>
            </a:r>
            <a:r>
              <a:rPr lang="en-US" altLang="zh-CN" sz="2000" b="0" dirty="0" smtClean="0"/>
              <a:t>140</a:t>
            </a:r>
            <a:r>
              <a:rPr lang="zh-CN" altLang="en-US" sz="2000" b="0" dirty="0" smtClean="0"/>
              <a:t>个优先级级别，由</a:t>
            </a:r>
            <a:r>
              <a:rPr lang="en-US" altLang="zh-CN" sz="2000" b="0" dirty="0" smtClean="0"/>
              <a:t>0</a:t>
            </a:r>
            <a:r>
              <a:rPr lang="zh-CN" altLang="en-US" sz="2000" b="0" dirty="0" smtClean="0"/>
              <a:t>～</a:t>
            </a:r>
            <a:r>
              <a:rPr lang="en-US" altLang="zh-CN" sz="2000" b="0" dirty="0" smtClean="0"/>
              <a:t>139, 0</a:t>
            </a:r>
            <a:r>
              <a:rPr lang="zh-CN" altLang="en-US" sz="2000" b="0" dirty="0" smtClean="0"/>
              <a:t>～</a:t>
            </a:r>
            <a:r>
              <a:rPr lang="en-US" altLang="zh-CN" sz="2000" b="0" dirty="0" smtClean="0"/>
              <a:t>99 </a:t>
            </a:r>
            <a:r>
              <a:rPr lang="zh-CN" altLang="en-US" sz="2000" b="0" dirty="0" smtClean="0"/>
              <a:t>为实时优先级，而</a:t>
            </a:r>
            <a:r>
              <a:rPr lang="en-US" altLang="zh-CN" sz="2000" b="0" dirty="0" smtClean="0"/>
              <a:t>100</a:t>
            </a:r>
            <a:r>
              <a:rPr lang="zh-CN" altLang="en-US" sz="2000" b="0" dirty="0" smtClean="0"/>
              <a:t>～</a:t>
            </a:r>
            <a:r>
              <a:rPr lang="en-US" altLang="zh-CN" sz="2000" b="0" dirty="0" smtClean="0"/>
              <a:t>139</a:t>
            </a:r>
            <a:r>
              <a:rPr lang="zh-CN" altLang="en-US" sz="2000" b="0" dirty="0" smtClean="0"/>
              <a:t>为非实时优先级。</a:t>
            </a:r>
            <a:endParaRPr lang="en-US" altLang="zh-CN" sz="2000" b="0" dirty="0" smtClean="0"/>
          </a:p>
          <a:p>
            <a:r>
              <a:rPr lang="zh-CN" altLang="en-US" sz="2000" b="0" dirty="0" smtClean="0"/>
              <a:t>每个</a:t>
            </a:r>
            <a:r>
              <a:rPr lang="en-US" altLang="zh-CN" sz="2000" b="0" dirty="0" err="1" smtClean="0"/>
              <a:t>cpu</a:t>
            </a:r>
            <a:r>
              <a:rPr lang="en-US" altLang="zh-CN" sz="2000" b="0" dirty="0" smtClean="0"/>
              <a:t> </a:t>
            </a:r>
            <a:r>
              <a:rPr lang="en-US" altLang="zh-CN" sz="2000" b="0" dirty="0" err="1" smtClean="0"/>
              <a:t>runqueue</a:t>
            </a:r>
            <a:r>
              <a:rPr lang="zh-CN" altLang="en-US" sz="2000" b="0" dirty="0" smtClean="0"/>
              <a:t>维护自己的</a:t>
            </a:r>
            <a:r>
              <a:rPr lang="en-US" altLang="zh-CN" sz="2000" b="0" dirty="0" smtClean="0"/>
              <a:t>active</a:t>
            </a:r>
            <a:r>
              <a:rPr lang="zh-CN" altLang="en-US" sz="2000" b="0" dirty="0" smtClean="0"/>
              <a:t>队列与</a:t>
            </a:r>
            <a:r>
              <a:rPr lang="en-US" altLang="zh-CN" sz="2000" b="0" dirty="0" err="1" smtClean="0"/>
              <a:t>expried</a:t>
            </a:r>
            <a:r>
              <a:rPr lang="zh-CN" altLang="en-US" sz="2000" b="0" dirty="0" smtClean="0"/>
              <a:t>队列。当前</a:t>
            </a:r>
            <a:r>
              <a:rPr lang="en-US" altLang="zh-CN" sz="2000" b="0" dirty="0" err="1" smtClean="0"/>
              <a:t>cpu</a:t>
            </a:r>
            <a:r>
              <a:rPr lang="zh-CN" altLang="en-US" sz="2000" b="0" dirty="0" smtClean="0"/>
              <a:t>上运行进程的时间片用完后就会被放入</a:t>
            </a:r>
            <a:r>
              <a:rPr lang="en-US" altLang="zh-CN" sz="2000" b="0" dirty="0" smtClean="0"/>
              <a:t>expired</a:t>
            </a:r>
            <a:r>
              <a:rPr lang="zh-CN" altLang="en-US" sz="2000" b="0" dirty="0" smtClean="0"/>
              <a:t>队列中。</a:t>
            </a:r>
            <a:endParaRPr lang="en-US" altLang="zh-CN" sz="2000" b="0" dirty="0" smtClean="0"/>
          </a:p>
          <a:p>
            <a:r>
              <a:rPr lang="zh-CN" altLang="en-US" sz="2000" b="0" dirty="0" smtClean="0"/>
              <a:t>当</a:t>
            </a:r>
            <a:r>
              <a:rPr lang="en-US" altLang="zh-CN" sz="2000" b="0" dirty="0" smtClean="0"/>
              <a:t>active</a:t>
            </a:r>
            <a:r>
              <a:rPr lang="zh-CN" altLang="en-US" sz="2000" b="0" dirty="0" smtClean="0"/>
              <a:t>队列中所有进程的时间片都用完，进程执行完毕后，交换</a:t>
            </a:r>
            <a:r>
              <a:rPr lang="en-US" altLang="zh-CN" sz="2000" b="0" dirty="0" smtClean="0"/>
              <a:t>active</a:t>
            </a:r>
            <a:r>
              <a:rPr lang="zh-CN" altLang="en-US" sz="2000" b="0" dirty="0" smtClean="0"/>
              <a:t>队列和</a:t>
            </a:r>
            <a:r>
              <a:rPr lang="en-US" altLang="zh-CN" sz="2000" b="0" dirty="0" err="1" smtClean="0"/>
              <a:t>expried</a:t>
            </a:r>
            <a:r>
              <a:rPr lang="zh-CN" altLang="en-US" sz="2000" b="0" dirty="0" smtClean="0"/>
              <a:t>。</a:t>
            </a:r>
            <a:endParaRPr lang="en-US" altLang="zh-CN" sz="2000" b="0" dirty="0" smtClean="0"/>
          </a:p>
          <a:p>
            <a:r>
              <a:rPr lang="en-US" altLang="zh-CN" sz="2000" b="0" dirty="0" err="1" smtClean="0"/>
              <a:t>expried</a:t>
            </a:r>
            <a:r>
              <a:rPr lang="zh-CN" altLang="en-US" sz="2000" b="0" dirty="0" smtClean="0"/>
              <a:t>队列就成为了</a:t>
            </a:r>
            <a:r>
              <a:rPr lang="en-US" altLang="zh-CN" sz="2000" b="0" dirty="0" smtClean="0"/>
              <a:t>active</a:t>
            </a:r>
            <a:r>
              <a:rPr lang="zh-CN" altLang="en-US" sz="2000" b="0" dirty="0" smtClean="0"/>
              <a:t>队列。这样做只需要指针的交换。</a:t>
            </a:r>
            <a:endParaRPr lang="en-US" altLang="zh-CN" sz="2000" b="0" dirty="0" smtClean="0"/>
          </a:p>
          <a:p>
            <a:endParaRPr lang="zh-CN" altLang="en-US" sz="2000" dirty="0" smtClean="0">
              <a:latin typeface="宋体" panose="02010600030101010101" pitchFamily="2" charset="-122"/>
            </a:endParaRPr>
          </a:p>
        </p:txBody>
      </p:sp>
      <p:sp>
        <p:nvSpPr>
          <p:cNvPr id="65539"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pic>
        <p:nvPicPr>
          <p:cNvPr id="65540" name="图片 2"/>
          <p:cNvPicPr>
            <a:picLocks noChangeAspect="1"/>
          </p:cNvPicPr>
          <p:nvPr/>
        </p:nvPicPr>
        <p:blipFill>
          <a:blip r:embed="rId3">
            <a:extLst>
              <a:ext uri="{28A0092B-C50C-407E-A947-70E740481C1C}">
                <a14:useLocalDpi xmlns:a14="http://schemas.microsoft.com/office/drawing/2010/main" val="0"/>
              </a:ext>
            </a:extLst>
          </a:blip>
          <a:srcRect l="7446" t="13535" r="2718" b="4010"/>
          <a:stretch>
            <a:fillRect/>
          </a:stretch>
        </p:blipFill>
        <p:spPr bwMode="auto">
          <a:xfrm>
            <a:off x="110396" y="3581400"/>
            <a:ext cx="6138003" cy="303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6019800" y="493713"/>
            <a:ext cx="2717800" cy="461962"/>
          </a:xfrm>
          <a:prstGeom prst="rect">
            <a:avLst/>
          </a:prstGeom>
        </p:spPr>
        <p:txBody>
          <a:bodyPr wrap="none">
            <a:spAutoFit/>
          </a:bodyPr>
          <a:lstStyle/>
          <a:p>
            <a:pPr>
              <a:defRPr/>
            </a:pPr>
            <a:r>
              <a:rPr lang="en-US" altLang="zh-CN" kern="0" dirty="0">
                <a:solidFill>
                  <a:srgbClr val="FF0000"/>
                </a:solidFill>
              </a:rPr>
              <a:t>Linux O(1) </a:t>
            </a:r>
            <a:r>
              <a:rPr lang="zh-CN" altLang="en-US" kern="0" dirty="0">
                <a:solidFill>
                  <a:srgbClr val="FF0000"/>
                </a:solidFill>
              </a:rPr>
              <a:t>调度器</a:t>
            </a:r>
            <a:endParaRPr lang="zh-CN" altLang="en-US" dirty="0"/>
          </a:p>
        </p:txBody>
      </p:sp>
      <p:pic>
        <p:nvPicPr>
          <p:cNvPr id="3" name="图片 2"/>
          <p:cNvPicPr>
            <a:picLocks noChangeAspect="1"/>
          </p:cNvPicPr>
          <p:nvPr/>
        </p:nvPicPr>
        <p:blipFill>
          <a:blip r:embed="rId4"/>
          <a:stretch>
            <a:fillRect/>
          </a:stretch>
        </p:blipFill>
        <p:spPr>
          <a:xfrm>
            <a:off x="3810000" y="4343400"/>
            <a:ext cx="5200650" cy="1966913"/>
          </a:xfrm>
          <a:prstGeom prst="rect">
            <a:avLst/>
          </a:prstGeom>
          <a:effectLst>
            <a:innerShdw blurRad="114300">
              <a:prstClr val="black"/>
            </a:inn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3"/>
                                        </p:tgtEl>
                                        <p:attrNameLst>
                                          <p:attrName>ppt_x</p:attrName>
                                        </p:attrNameLst>
                                      </p:cBhvr>
                                      <p:tavLst>
                                        <p:tav tm="0">
                                          <p:val>
                                            <p:strVal val="ppt_x"/>
                                          </p:val>
                                        </p:tav>
                                        <p:tav tm="100000">
                                          <p:val>
                                            <p:strVal val="ppt_x"/>
                                          </p:val>
                                        </p:tav>
                                      </p:tavLst>
                                    </p:anim>
                                    <p:anim calcmode="lin" valueType="num">
                                      <p:cBhvr additive="base">
                                        <p:cTn id="7" dur="500"/>
                                        <p:tgtEl>
                                          <p:spTgt spid="3"/>
                                        </p:tgtEl>
                                        <p:attrNameLst>
                                          <p:attrName>ppt_y</p:attrName>
                                        </p:attrNameLst>
                                      </p:cBhvr>
                                      <p:tavLst>
                                        <p:tav tm="0">
                                          <p:val>
                                            <p:strVal val="ppt_y"/>
                                          </p:val>
                                        </p:tav>
                                        <p:tav tm="100000">
                                          <p:val>
                                            <p:strVal val="1+ppt_h/2"/>
                                          </p:val>
                                        </p:tav>
                                      </p:tavLst>
                                    </p:anim>
                                    <p:set>
                                      <p:cBhvr>
                                        <p:cTn id="8" dur="1" fill="hold">
                                          <p:stCondLst>
                                            <p:cond delay="499"/>
                                          </p:stCondLst>
                                        </p:cTn>
                                        <p:tgtEl>
                                          <p:spTgt spid="3"/>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5540"/>
                                        </p:tgtEl>
                                        <p:attrNameLst>
                                          <p:attrName>style.visibility</p:attrName>
                                        </p:attrNameLst>
                                      </p:cBhvr>
                                      <p:to>
                                        <p:strVal val="visible"/>
                                      </p:to>
                                    </p:set>
                                    <p:anim calcmode="lin" valueType="num">
                                      <p:cBhvr additive="base">
                                        <p:cTn id="13" dur="500" fill="hold"/>
                                        <p:tgtEl>
                                          <p:spTgt spid="65540"/>
                                        </p:tgtEl>
                                        <p:attrNameLst>
                                          <p:attrName>ppt_x</p:attrName>
                                        </p:attrNameLst>
                                      </p:cBhvr>
                                      <p:tavLst>
                                        <p:tav tm="0">
                                          <p:val>
                                            <p:strVal val="#ppt_x"/>
                                          </p:val>
                                        </p:tav>
                                        <p:tav tm="100000">
                                          <p:val>
                                            <p:strVal val="#ppt_x"/>
                                          </p:val>
                                        </p:tav>
                                      </p:tavLst>
                                    </p:anim>
                                    <p:anim calcmode="lin" valueType="num">
                                      <p:cBhvr additive="base">
                                        <p:cTn id="14" dur="500" fill="hold"/>
                                        <p:tgtEl>
                                          <p:spTgt spid="655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5538">
                                            <p:txEl>
                                              <p:pRg st="1" end="1"/>
                                            </p:txEl>
                                          </p:spTgt>
                                        </p:tgtEl>
                                        <p:attrNameLst>
                                          <p:attrName>style.visibility</p:attrName>
                                        </p:attrNameLst>
                                      </p:cBhvr>
                                      <p:to>
                                        <p:strVal val="visible"/>
                                      </p:to>
                                    </p:set>
                                    <p:anim calcmode="lin" valueType="num">
                                      <p:cBhvr additive="base">
                                        <p:cTn id="19" dur="500" fill="hold"/>
                                        <p:tgtEl>
                                          <p:spTgt spid="6553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553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5538">
                                            <p:txEl>
                                              <p:pRg st="2" end="2"/>
                                            </p:txEl>
                                          </p:spTgt>
                                        </p:tgtEl>
                                        <p:attrNameLst>
                                          <p:attrName>style.visibility</p:attrName>
                                        </p:attrNameLst>
                                      </p:cBhvr>
                                      <p:to>
                                        <p:strVal val="visible"/>
                                      </p:to>
                                    </p:set>
                                    <p:anim calcmode="lin" valueType="num">
                                      <p:cBhvr additive="base">
                                        <p:cTn id="25" dur="500" fill="hold"/>
                                        <p:tgtEl>
                                          <p:spTgt spid="6553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553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5538">
                                            <p:txEl>
                                              <p:pRg st="3" end="3"/>
                                            </p:txEl>
                                          </p:spTgt>
                                        </p:tgtEl>
                                        <p:attrNameLst>
                                          <p:attrName>style.visibility</p:attrName>
                                        </p:attrNameLst>
                                      </p:cBhvr>
                                      <p:to>
                                        <p:strVal val="visible"/>
                                      </p:to>
                                    </p:set>
                                    <p:anim calcmode="lin" valueType="num">
                                      <p:cBhvr additive="base">
                                        <p:cTn id="31" dur="500" fill="hold"/>
                                        <p:tgtEl>
                                          <p:spTgt spid="65538">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553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内容占位符 1"/>
          <p:cNvSpPr>
            <a:spLocks noGrp="1"/>
          </p:cNvSpPr>
          <p:nvPr>
            <p:ph idx="1"/>
          </p:nvPr>
        </p:nvSpPr>
        <p:spPr>
          <a:xfrm>
            <a:off x="152400" y="1260475"/>
            <a:ext cx="8991600" cy="5597525"/>
          </a:xfrm>
        </p:spPr>
        <p:txBody>
          <a:bodyPr/>
          <a:lstStyle/>
          <a:p>
            <a:r>
              <a:rPr lang="en-US" altLang="zh-CN" sz="2000" b="0" dirty="0" err="1" smtClean="0"/>
              <a:t>runqueue</a:t>
            </a:r>
            <a:r>
              <a:rPr lang="zh-CN" altLang="en-US" sz="2000" b="0" dirty="0" smtClean="0"/>
              <a:t>是一个</a:t>
            </a:r>
            <a:r>
              <a:rPr lang="en-US" altLang="zh-CN" sz="2000" b="0" dirty="0" err="1" smtClean="0"/>
              <a:t>PER_CPU</a:t>
            </a:r>
            <a:r>
              <a:rPr lang="zh-CN" altLang="en-US" sz="2000" b="0" dirty="0" smtClean="0"/>
              <a:t>变量，</a:t>
            </a:r>
            <a:r>
              <a:rPr lang="en-US" altLang="zh-CN" sz="2000" b="0" dirty="0" err="1" smtClean="0"/>
              <a:t>SMP</a:t>
            </a:r>
            <a:r>
              <a:rPr lang="zh-CN" altLang="en-US" sz="2000" b="0" dirty="0" smtClean="0"/>
              <a:t>系统可有效的避免多个</a:t>
            </a:r>
            <a:r>
              <a:rPr lang="en-US" altLang="zh-CN" sz="2000" b="0" dirty="0" smtClean="0"/>
              <a:t>CPU</a:t>
            </a:r>
            <a:r>
              <a:rPr lang="zh-CN" altLang="en-US" sz="2000" b="0" dirty="0" smtClean="0"/>
              <a:t>去访问同一个</a:t>
            </a:r>
            <a:r>
              <a:rPr lang="en-US" altLang="zh-CN" sz="2000" b="0" dirty="0" err="1" smtClean="0"/>
              <a:t>runqueue</a:t>
            </a:r>
            <a:r>
              <a:rPr lang="zh-CN" altLang="en-US" sz="2000" b="0" dirty="0" smtClean="0"/>
              <a:t>（避免竞争）。</a:t>
            </a:r>
          </a:p>
          <a:p>
            <a:r>
              <a:rPr lang="zh-CN" altLang="en-US" sz="2000" b="0" dirty="0" smtClean="0"/>
              <a:t>为了解决</a:t>
            </a:r>
            <a:r>
              <a:rPr lang="en-US" altLang="zh-CN" sz="2000" b="0" dirty="0" smtClean="0"/>
              <a:t>O(n)</a:t>
            </a:r>
            <a:r>
              <a:rPr lang="zh-CN" altLang="en-US" sz="2000" b="0" dirty="0" smtClean="0"/>
              <a:t>中所有的进程都无序排列在</a:t>
            </a:r>
            <a:r>
              <a:rPr lang="en-US" altLang="zh-CN" sz="2000" b="0" dirty="0" err="1" smtClean="0"/>
              <a:t>runqueue</a:t>
            </a:r>
            <a:r>
              <a:rPr lang="zh-CN" altLang="en-US" sz="2000" b="0" dirty="0" smtClean="0"/>
              <a:t>中，</a:t>
            </a:r>
            <a:r>
              <a:rPr lang="en-US" altLang="zh-CN" sz="2000" b="0" dirty="0" smtClean="0"/>
              <a:t>O(1)</a:t>
            </a:r>
            <a:r>
              <a:rPr lang="zh-CN" altLang="en-US" sz="2000" b="0" dirty="0" smtClean="0"/>
              <a:t>算法中将进程按照优先级排列，而且相同优先级的都挂在同优先级的队列中。</a:t>
            </a:r>
            <a:endParaRPr lang="en-US" altLang="zh-CN" sz="2000" b="0" dirty="0" smtClean="0"/>
          </a:p>
          <a:p>
            <a:r>
              <a:rPr lang="zh-CN" altLang="en-US" sz="2000" b="0" dirty="0" smtClean="0"/>
              <a:t>同时提供了一个</a:t>
            </a:r>
            <a:r>
              <a:rPr lang="en-US" altLang="zh-CN" sz="2000" b="0" dirty="0" smtClean="0"/>
              <a:t>bitmap</a:t>
            </a:r>
            <a:r>
              <a:rPr lang="zh-CN" altLang="en-US" sz="2000" b="0" dirty="0" smtClean="0"/>
              <a:t>结构，用来</a:t>
            </a:r>
            <a:r>
              <a:rPr lang="zh-CN" altLang="en-US" sz="2000" dirty="0" smtClean="0"/>
              <a:t>存放哪些优先级中有可以运行的进程</a:t>
            </a:r>
            <a:r>
              <a:rPr lang="zh-CN" altLang="en-US" sz="2000" b="0" dirty="0" smtClean="0"/>
              <a:t>。当每次</a:t>
            </a:r>
            <a:r>
              <a:rPr lang="en-US" altLang="zh-CN" sz="2000" dirty="0" err="1" smtClean="0"/>
              <a:t>picknext</a:t>
            </a:r>
            <a:r>
              <a:rPr lang="zh-CN" altLang="en-US" sz="2000" b="0" dirty="0" smtClean="0"/>
              <a:t>的时候，只需要访问</a:t>
            </a:r>
            <a:r>
              <a:rPr lang="en-US" altLang="zh-CN" sz="2000" b="0" dirty="0" smtClean="0"/>
              <a:t>bitmap</a:t>
            </a:r>
            <a:r>
              <a:rPr lang="zh-CN" altLang="en-US" sz="2000" b="0" dirty="0" smtClean="0"/>
              <a:t>，然后去对应的优先级队列中按照优先级策略选择进程。</a:t>
            </a:r>
          </a:p>
        </p:txBody>
      </p:sp>
      <p:sp>
        <p:nvSpPr>
          <p:cNvPr id="67587"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pic>
        <p:nvPicPr>
          <p:cNvPr id="67588" name="图片 2"/>
          <p:cNvPicPr>
            <a:picLocks noChangeAspect="1"/>
          </p:cNvPicPr>
          <p:nvPr/>
        </p:nvPicPr>
        <p:blipFill>
          <a:blip r:embed="rId3">
            <a:extLst>
              <a:ext uri="{28A0092B-C50C-407E-A947-70E740481C1C}">
                <a14:useLocalDpi xmlns:a14="http://schemas.microsoft.com/office/drawing/2010/main" val="0"/>
              </a:ext>
            </a:extLst>
          </a:blip>
          <a:srcRect l="833" t="3552" r="1666" b="2295"/>
          <a:stretch>
            <a:fillRect/>
          </a:stretch>
        </p:blipFill>
        <p:spPr bwMode="auto">
          <a:xfrm>
            <a:off x="292100" y="3620643"/>
            <a:ext cx="7086600"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6019800" y="619125"/>
            <a:ext cx="2717800" cy="461963"/>
          </a:xfrm>
          <a:prstGeom prst="rect">
            <a:avLst/>
          </a:prstGeom>
        </p:spPr>
        <p:txBody>
          <a:bodyPr wrap="none">
            <a:spAutoFit/>
          </a:bodyPr>
          <a:lstStyle/>
          <a:p>
            <a:pPr>
              <a:defRPr/>
            </a:pPr>
            <a:r>
              <a:rPr lang="en-US" altLang="zh-CN" kern="0" dirty="0">
                <a:solidFill>
                  <a:srgbClr val="FF0000"/>
                </a:solidFill>
              </a:rPr>
              <a:t>Linux O(1) </a:t>
            </a:r>
            <a:r>
              <a:rPr lang="zh-CN" altLang="en-US" kern="0" dirty="0">
                <a:solidFill>
                  <a:srgbClr val="FF0000"/>
                </a:solidFill>
              </a:rPr>
              <a:t>调度器</a:t>
            </a:r>
            <a:endParaRPr lang="zh-CN" altLang="en-US" dirty="0"/>
          </a:p>
        </p:txBody>
      </p:sp>
      <p:sp>
        <p:nvSpPr>
          <p:cNvPr id="6" name="矩形 5"/>
          <p:cNvSpPr/>
          <p:nvPr/>
        </p:nvSpPr>
        <p:spPr>
          <a:xfrm>
            <a:off x="6447790" y="3620643"/>
            <a:ext cx="2679700" cy="923330"/>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marL="342900" indent="-342900" algn="just">
              <a:buFont typeface="Wingdings" panose="05000000000000000000" pitchFamily="2" charset="2"/>
              <a:buChar char="l"/>
            </a:pPr>
            <a:r>
              <a:rPr lang="zh-CN" altLang="en-US" sz="1800" dirty="0"/>
              <a:t>多核</a:t>
            </a:r>
            <a:r>
              <a:rPr lang="en-US" altLang="zh-CN" sz="1800" dirty="0"/>
              <a:t>/</a:t>
            </a:r>
            <a:r>
              <a:rPr lang="zh-CN" altLang="en-US" sz="1800" dirty="0"/>
              <a:t>多处理器会给调度带来什么问题？</a:t>
            </a:r>
            <a:endParaRPr lang="en-US" altLang="zh-CN" sz="1800" dirty="0"/>
          </a:p>
          <a:p>
            <a:pPr algn="ctr"/>
            <a:r>
              <a:rPr lang="zh-CN" altLang="en-US" sz="1800" dirty="0">
                <a:solidFill>
                  <a:srgbClr val="FF0000"/>
                </a:solidFill>
              </a:rPr>
              <a:t>负载、竞争、</a:t>
            </a:r>
            <a:r>
              <a:rPr lang="en-US" altLang="zh-CN" sz="1800" dirty="0">
                <a:solidFill>
                  <a:srgbClr val="FF0000"/>
                </a:solidFill>
              </a:rPr>
              <a:t>Cache</a:t>
            </a:r>
            <a:endParaRPr lang="zh-CN" altLang="en-US" sz="1800" dirty="0">
              <a:solidFill>
                <a:srgbClr val="FF0000"/>
              </a:solidFill>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内容占位符 1"/>
          <p:cNvSpPr>
            <a:spLocks noGrp="1"/>
          </p:cNvSpPr>
          <p:nvPr>
            <p:ph idx="1"/>
          </p:nvPr>
        </p:nvSpPr>
        <p:spPr>
          <a:xfrm>
            <a:off x="152400" y="1260475"/>
            <a:ext cx="8991600" cy="5597525"/>
          </a:xfrm>
        </p:spPr>
        <p:txBody>
          <a:bodyPr/>
          <a:lstStyle/>
          <a:p>
            <a:r>
              <a:rPr lang="en-US" altLang="zh-CN" sz="2000" b="0" dirty="0" smtClean="0"/>
              <a:t>Task </a:t>
            </a:r>
            <a:r>
              <a:rPr lang="zh-CN" altLang="en-US" sz="2000" b="0" dirty="0" smtClean="0"/>
              <a:t>与负载均衡和 </a:t>
            </a:r>
            <a:r>
              <a:rPr lang="en-US" altLang="zh-CN" sz="2000" b="0" dirty="0" err="1" smtClean="0"/>
              <a:t>runqueue</a:t>
            </a:r>
            <a:r>
              <a:rPr lang="en-US" altLang="zh-CN" sz="2000" b="0" dirty="0" smtClean="0"/>
              <a:t> </a:t>
            </a:r>
            <a:r>
              <a:rPr lang="zh-CN" altLang="en-US" sz="2000" b="0" dirty="0" smtClean="0"/>
              <a:t>以及对应调度器之间的关系：</a:t>
            </a:r>
            <a:endParaRPr lang="en-US" altLang="zh-CN" sz="2000" b="0" dirty="0" smtClean="0"/>
          </a:p>
          <a:p>
            <a:r>
              <a:rPr lang="zh-CN" altLang="en-US" sz="2000" b="0" dirty="0" smtClean="0"/>
              <a:t>每个 </a:t>
            </a:r>
            <a:r>
              <a:rPr lang="en-US" altLang="zh-CN" sz="2000" b="0" dirty="0" err="1" smtClean="0"/>
              <a:t>runqueue</a:t>
            </a:r>
            <a:r>
              <a:rPr lang="en-US" altLang="zh-CN" sz="2000" b="0" dirty="0" smtClean="0"/>
              <a:t> </a:t>
            </a:r>
            <a:r>
              <a:rPr lang="zh-CN" altLang="en-US" sz="2000" b="0" dirty="0" smtClean="0"/>
              <a:t>里又会分为</a:t>
            </a:r>
            <a:r>
              <a:rPr lang="en-US" altLang="zh-CN" sz="2000" b="0" dirty="0" smtClean="0"/>
              <a:t>active</a:t>
            </a:r>
            <a:r>
              <a:rPr lang="zh-CN" altLang="en-US" sz="2000" b="0" dirty="0" smtClean="0"/>
              <a:t>和</a:t>
            </a:r>
            <a:r>
              <a:rPr lang="en-US" altLang="zh-CN" sz="2000" b="0" dirty="0" smtClean="0"/>
              <a:t>expired</a:t>
            </a:r>
            <a:r>
              <a:rPr lang="zh-CN" altLang="en-US" sz="2000" b="0" dirty="0" smtClean="0"/>
              <a:t>队列，每个队列中可挂载</a:t>
            </a:r>
            <a:r>
              <a:rPr lang="en-US" altLang="zh-CN" sz="2000" b="0" dirty="0" smtClean="0"/>
              <a:t>140</a:t>
            </a:r>
            <a:r>
              <a:rPr lang="zh-CN" altLang="en-US" sz="2000" b="0" dirty="0" smtClean="0"/>
              <a:t>个优先级不同的 </a:t>
            </a:r>
            <a:r>
              <a:rPr lang="en-US" altLang="zh-CN" sz="2000" b="0" dirty="0" smtClean="0"/>
              <a:t>task </a:t>
            </a:r>
            <a:r>
              <a:rPr lang="zh-CN" altLang="en-US" sz="2000" b="0" dirty="0" smtClean="0"/>
              <a:t>。关于调度器在 </a:t>
            </a:r>
            <a:r>
              <a:rPr lang="en-US" altLang="zh-CN" sz="2000" b="0" dirty="0" err="1" smtClean="0"/>
              <a:t>runqueue</a:t>
            </a:r>
            <a:r>
              <a:rPr lang="en-US" altLang="zh-CN" sz="2000" b="0" dirty="0" smtClean="0"/>
              <a:t> </a:t>
            </a:r>
            <a:r>
              <a:rPr lang="zh-CN" altLang="en-US" sz="2000" b="0" dirty="0" smtClean="0"/>
              <a:t>里的算法实现我们看下面一张图：</a:t>
            </a:r>
            <a:endParaRPr lang="zh-CN" altLang="en-US" sz="1000" dirty="0" smtClean="0">
              <a:latin typeface="宋体" panose="02010600030101010101" pitchFamily="2" charset="-122"/>
            </a:endParaRPr>
          </a:p>
        </p:txBody>
      </p:sp>
      <p:sp>
        <p:nvSpPr>
          <p:cNvPr id="69635"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pic>
        <p:nvPicPr>
          <p:cNvPr id="69636"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667000"/>
            <a:ext cx="7086600" cy="410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6019800" y="619125"/>
            <a:ext cx="2717800" cy="461963"/>
          </a:xfrm>
          <a:prstGeom prst="rect">
            <a:avLst/>
          </a:prstGeom>
        </p:spPr>
        <p:txBody>
          <a:bodyPr wrap="none">
            <a:spAutoFit/>
          </a:bodyPr>
          <a:lstStyle/>
          <a:p>
            <a:pPr>
              <a:defRPr/>
            </a:pPr>
            <a:r>
              <a:rPr lang="en-US" altLang="zh-CN" kern="0" dirty="0">
                <a:solidFill>
                  <a:srgbClr val="FF0000"/>
                </a:solidFill>
              </a:rPr>
              <a:t>Linux O(1) </a:t>
            </a:r>
            <a:r>
              <a:rPr lang="zh-CN" altLang="en-US" kern="0" dirty="0">
                <a:solidFill>
                  <a:srgbClr val="FF0000"/>
                </a:solidFill>
              </a:rPr>
              <a:t>调度器</a:t>
            </a:r>
            <a:endParaRPr lang="zh-CN" altLang="en-US" dirty="0"/>
          </a:p>
        </p:txBody>
      </p:sp>
      <p:sp>
        <p:nvSpPr>
          <p:cNvPr id="6" name="矩形 5"/>
          <p:cNvSpPr/>
          <p:nvPr/>
        </p:nvSpPr>
        <p:spPr>
          <a:xfrm>
            <a:off x="6324600" y="2476500"/>
            <a:ext cx="2679700" cy="923330"/>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marL="342900" indent="-342900" algn="just">
              <a:buFont typeface="Wingdings" panose="05000000000000000000" pitchFamily="2" charset="2"/>
              <a:buChar char="l"/>
            </a:pPr>
            <a:r>
              <a:rPr lang="zh-CN" altLang="en-US" sz="1800" dirty="0"/>
              <a:t>多核</a:t>
            </a:r>
            <a:r>
              <a:rPr lang="en-US" altLang="zh-CN" sz="1800" dirty="0"/>
              <a:t>/</a:t>
            </a:r>
            <a:r>
              <a:rPr lang="zh-CN" altLang="en-US" sz="1800" dirty="0"/>
              <a:t>多处理器会给调度带来什么问题？</a:t>
            </a:r>
            <a:endParaRPr lang="en-US" altLang="zh-CN" sz="1800" dirty="0"/>
          </a:p>
          <a:p>
            <a:pPr algn="ctr"/>
            <a:r>
              <a:rPr lang="zh-CN" altLang="en-US" sz="1800" dirty="0">
                <a:solidFill>
                  <a:srgbClr val="FF0000"/>
                </a:solidFill>
              </a:rPr>
              <a:t>负载、竞争、</a:t>
            </a:r>
            <a:r>
              <a:rPr lang="en-US" altLang="zh-CN" sz="1800" dirty="0">
                <a:solidFill>
                  <a:srgbClr val="FF0000"/>
                </a:solidFill>
              </a:rPr>
              <a:t>Cache</a:t>
            </a:r>
            <a:endParaRPr lang="zh-CN" altLang="en-US" sz="1800" dirty="0">
              <a:solidFill>
                <a:srgbClr val="FF0000"/>
              </a:solidFill>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内容占位符 1"/>
          <p:cNvSpPr>
            <a:spLocks noGrp="1"/>
          </p:cNvSpPr>
          <p:nvPr>
            <p:ph idx="1"/>
          </p:nvPr>
        </p:nvSpPr>
        <p:spPr>
          <a:xfrm>
            <a:off x="-33528" y="1219200"/>
            <a:ext cx="4376928" cy="5597525"/>
          </a:xfrm>
        </p:spPr>
        <p:txBody>
          <a:bodyPr/>
          <a:lstStyle/>
          <a:p>
            <a:r>
              <a:rPr lang="zh-CN" altLang="en-US" sz="2000" b="0" dirty="0" smtClean="0"/>
              <a:t>从 </a:t>
            </a:r>
            <a:r>
              <a:rPr lang="en-US" altLang="zh-CN" sz="2000" b="0" dirty="0"/>
              <a:t>Cache </a:t>
            </a:r>
            <a:r>
              <a:rPr lang="zh-CN" altLang="en-US" sz="2000" b="0" dirty="0"/>
              <a:t>和内存访问的视角，如果进程负载均衡需要把进程 </a:t>
            </a:r>
            <a:r>
              <a:rPr lang="en-US" altLang="zh-CN" sz="2000" b="0" dirty="0"/>
              <a:t>A </a:t>
            </a:r>
            <a:r>
              <a:rPr lang="zh-CN" altLang="en-US" sz="2000" b="0" dirty="0"/>
              <a:t>迁移到另一个 </a:t>
            </a:r>
            <a:r>
              <a:rPr lang="en-US" altLang="zh-CN" sz="2000" b="0" dirty="0"/>
              <a:t>CPU </a:t>
            </a:r>
            <a:r>
              <a:rPr lang="zh-CN" altLang="en-US" sz="2000" b="0" dirty="0" smtClean="0"/>
              <a:t>上</a:t>
            </a:r>
            <a:endParaRPr lang="en-US" altLang="zh-CN" sz="2000" b="0" dirty="0" smtClean="0"/>
          </a:p>
          <a:p>
            <a:pPr algn="just"/>
            <a:r>
              <a:rPr lang="zh-CN" altLang="en-US" sz="1600" b="0" dirty="0" smtClean="0"/>
              <a:t>如果目标 </a:t>
            </a:r>
            <a:r>
              <a:rPr lang="en-US" altLang="zh-CN" sz="1600" b="0" dirty="0" smtClean="0"/>
              <a:t>CPU </a:t>
            </a:r>
            <a:r>
              <a:rPr lang="zh-CN" altLang="en-US" sz="1600" b="0" dirty="0" smtClean="0"/>
              <a:t>和进程 </a:t>
            </a:r>
            <a:r>
              <a:rPr lang="en-US" altLang="zh-CN" sz="1600" b="0" dirty="0" smtClean="0"/>
              <a:t>A </a:t>
            </a:r>
            <a:r>
              <a:rPr lang="zh-CN" altLang="en-US" sz="1600" b="0" dirty="0" smtClean="0"/>
              <a:t>之前所在 </a:t>
            </a:r>
            <a:r>
              <a:rPr lang="en-US" altLang="zh-CN" sz="1600" b="0" dirty="0" smtClean="0"/>
              <a:t>CPU </a:t>
            </a:r>
            <a:r>
              <a:rPr lang="zh-CN" altLang="en-US" sz="1600" b="0" dirty="0" smtClean="0"/>
              <a:t>正好是同一个物理 </a:t>
            </a:r>
            <a:r>
              <a:rPr lang="en-US" altLang="zh-CN" sz="1600" b="0" dirty="0" smtClean="0"/>
              <a:t>CPU </a:t>
            </a:r>
            <a:r>
              <a:rPr lang="zh-CN" altLang="en-US" sz="1600" b="0" dirty="0" smtClean="0"/>
              <a:t>同一个核心上</a:t>
            </a:r>
            <a:r>
              <a:rPr lang="en-US" altLang="zh-CN" sz="1600" b="0" dirty="0" smtClean="0"/>
              <a:t>(</a:t>
            </a:r>
            <a:r>
              <a:rPr lang="zh-CN" altLang="en-US" sz="1600" b="0" dirty="0" smtClean="0"/>
              <a:t>超线程</a:t>
            </a:r>
            <a:r>
              <a:rPr lang="en-US" altLang="zh-CN" sz="1600" b="0" dirty="0" smtClean="0"/>
              <a:t>)</a:t>
            </a:r>
            <a:r>
              <a:rPr lang="zh-CN" altLang="en-US" sz="1600" b="0" dirty="0" smtClean="0"/>
              <a:t>，那么 </a:t>
            </a:r>
            <a:r>
              <a:rPr lang="en-US" altLang="zh-CN" sz="1600" b="0" dirty="0" smtClean="0"/>
              <a:t>Cache </a:t>
            </a:r>
            <a:r>
              <a:rPr lang="zh-CN" altLang="en-US" sz="1600" b="0" dirty="0" smtClean="0"/>
              <a:t>利用率最好，毕竟 </a:t>
            </a:r>
            <a:r>
              <a:rPr lang="en-US" altLang="zh-CN" sz="1600" b="0" dirty="0" smtClean="0"/>
              <a:t>L1</a:t>
            </a:r>
            <a:r>
              <a:rPr lang="zh-CN" altLang="en-US" sz="1600" b="0" dirty="0" smtClean="0"/>
              <a:t>，</a:t>
            </a:r>
            <a:r>
              <a:rPr lang="en-US" altLang="zh-CN" sz="1600" b="0" dirty="0" smtClean="0"/>
              <a:t>L2 </a:t>
            </a:r>
            <a:r>
              <a:rPr lang="zh-CN" altLang="en-US" sz="1600" b="0" dirty="0" smtClean="0"/>
              <a:t>和 </a:t>
            </a:r>
            <a:r>
              <a:rPr lang="en-US" altLang="zh-CN" sz="1600" b="0" dirty="0" smtClean="0"/>
              <a:t>L3 </a:t>
            </a:r>
            <a:r>
              <a:rPr lang="zh-CN" altLang="en-US" sz="1600" b="0" dirty="0" smtClean="0"/>
              <a:t>中还是</a:t>
            </a:r>
            <a:r>
              <a:rPr lang="en-US" altLang="zh-CN" sz="1600" b="0" dirty="0" smtClean="0"/>
              <a:t>'</a:t>
            </a:r>
            <a:r>
              <a:rPr lang="zh-CN" altLang="en-US" sz="1600" b="0" dirty="0" smtClean="0"/>
              <a:t>热</a:t>
            </a:r>
            <a:r>
              <a:rPr lang="en-US" altLang="zh-CN" sz="1600" b="0" dirty="0" smtClean="0"/>
              <a:t>'</a:t>
            </a:r>
            <a:r>
              <a:rPr lang="zh-CN" altLang="en-US" sz="1600" b="0" dirty="0" smtClean="0"/>
              <a:t>的。</a:t>
            </a:r>
          </a:p>
          <a:p>
            <a:pPr algn="just"/>
            <a:r>
              <a:rPr lang="zh-CN" altLang="en-US" sz="1600" b="0" dirty="0" smtClean="0"/>
              <a:t>如果目标 </a:t>
            </a:r>
            <a:r>
              <a:rPr lang="en-US" altLang="zh-CN" sz="1600" b="0" dirty="0" smtClean="0"/>
              <a:t>CPU </a:t>
            </a:r>
            <a:r>
              <a:rPr lang="zh-CN" altLang="en-US" sz="1600" b="0" dirty="0" smtClean="0"/>
              <a:t>和进程 </a:t>
            </a:r>
            <a:r>
              <a:rPr lang="en-US" altLang="zh-CN" sz="1600" b="0" dirty="0" smtClean="0"/>
              <a:t>A </a:t>
            </a:r>
            <a:r>
              <a:rPr lang="zh-CN" altLang="en-US" sz="1600" b="0" dirty="0" smtClean="0"/>
              <a:t>之前所在 </a:t>
            </a:r>
            <a:r>
              <a:rPr lang="en-US" altLang="zh-CN" sz="1600" b="0" dirty="0" smtClean="0"/>
              <a:t>CPU </a:t>
            </a:r>
            <a:r>
              <a:rPr lang="zh-CN" altLang="en-US" sz="1600" b="0" dirty="0" smtClean="0"/>
              <a:t>正好是同一个物理 </a:t>
            </a:r>
            <a:r>
              <a:rPr lang="en-US" altLang="zh-CN" sz="1600" b="0" dirty="0" smtClean="0"/>
              <a:t>CPU </a:t>
            </a:r>
            <a:r>
              <a:rPr lang="zh-CN" altLang="en-US" sz="1600" b="0" dirty="0" smtClean="0"/>
              <a:t>但不同核心上</a:t>
            </a:r>
            <a:r>
              <a:rPr lang="en-US" altLang="zh-CN" sz="1600" b="0" dirty="0" smtClean="0"/>
              <a:t>(</a:t>
            </a:r>
            <a:r>
              <a:rPr lang="zh-CN" altLang="en-US" sz="1600" b="0" dirty="0" smtClean="0"/>
              <a:t>多核</a:t>
            </a:r>
            <a:r>
              <a:rPr lang="en-US" altLang="zh-CN" sz="1600" b="0" dirty="0" smtClean="0"/>
              <a:t>)</a:t>
            </a:r>
            <a:r>
              <a:rPr lang="zh-CN" altLang="en-US" sz="1600" b="0" dirty="0" smtClean="0"/>
              <a:t>，那么 </a:t>
            </a:r>
            <a:r>
              <a:rPr lang="en-US" altLang="zh-CN" sz="1600" b="0" dirty="0" smtClean="0"/>
              <a:t>Cache </a:t>
            </a:r>
            <a:r>
              <a:rPr lang="zh-CN" altLang="en-US" sz="1600" b="0" dirty="0" smtClean="0"/>
              <a:t>利用率次之，</a:t>
            </a:r>
            <a:r>
              <a:rPr lang="en-US" altLang="zh-CN" sz="1600" b="0" dirty="0" smtClean="0"/>
              <a:t>L3 </a:t>
            </a:r>
            <a:r>
              <a:rPr lang="zh-CN" altLang="en-US" sz="1600" b="0" dirty="0" smtClean="0"/>
              <a:t>中还有</a:t>
            </a:r>
            <a:r>
              <a:rPr lang="en-US" altLang="zh-CN" sz="1600" b="0" dirty="0" smtClean="0"/>
              <a:t>'</a:t>
            </a:r>
            <a:r>
              <a:rPr lang="zh-CN" altLang="en-US" sz="1600" b="0" dirty="0" smtClean="0"/>
              <a:t>热</a:t>
            </a:r>
            <a:r>
              <a:rPr lang="en-US" altLang="zh-CN" sz="1600" b="0" dirty="0" smtClean="0"/>
              <a:t>'</a:t>
            </a:r>
            <a:r>
              <a:rPr lang="zh-CN" altLang="en-US" sz="1600" b="0" dirty="0" smtClean="0"/>
              <a:t>数据。</a:t>
            </a:r>
          </a:p>
          <a:p>
            <a:pPr algn="just"/>
            <a:r>
              <a:rPr lang="zh-CN" altLang="en-US" sz="1600" b="0" dirty="0" smtClean="0"/>
              <a:t>如果目标 </a:t>
            </a:r>
            <a:r>
              <a:rPr lang="en-US" altLang="zh-CN" sz="1600" b="0" dirty="0" smtClean="0"/>
              <a:t>CPU </a:t>
            </a:r>
            <a:r>
              <a:rPr lang="zh-CN" altLang="en-US" sz="1600" b="0" dirty="0" smtClean="0"/>
              <a:t>和进程 </a:t>
            </a:r>
            <a:r>
              <a:rPr lang="en-US" altLang="zh-CN" sz="1600" b="0" dirty="0" smtClean="0"/>
              <a:t>A </a:t>
            </a:r>
            <a:r>
              <a:rPr lang="zh-CN" altLang="en-US" sz="1600" b="0" dirty="0" smtClean="0"/>
              <a:t>之前所在 </a:t>
            </a:r>
            <a:r>
              <a:rPr lang="en-US" altLang="zh-CN" sz="1600" b="0" dirty="0" smtClean="0"/>
              <a:t>CPU </a:t>
            </a:r>
            <a:r>
              <a:rPr lang="zh-CN" altLang="en-US" sz="1600" b="0" dirty="0" smtClean="0"/>
              <a:t>正好是同一个 </a:t>
            </a:r>
            <a:r>
              <a:rPr lang="en-US" altLang="zh-CN" sz="1600" b="0" dirty="0" smtClean="0"/>
              <a:t>NUMA </a:t>
            </a:r>
            <a:r>
              <a:rPr lang="zh-CN" altLang="en-US" sz="1600" b="0" dirty="0" smtClean="0"/>
              <a:t>但是不同物理 </a:t>
            </a:r>
            <a:r>
              <a:rPr lang="en-US" altLang="zh-CN" sz="1600" b="0" dirty="0" smtClean="0"/>
              <a:t>CPU </a:t>
            </a:r>
            <a:r>
              <a:rPr lang="zh-CN" altLang="en-US" sz="1600" b="0" dirty="0" smtClean="0"/>
              <a:t>上，虽然 </a:t>
            </a:r>
            <a:r>
              <a:rPr lang="en-US" altLang="zh-CN" sz="1600" b="0" dirty="0" smtClean="0"/>
              <a:t>Cache </a:t>
            </a:r>
            <a:r>
              <a:rPr lang="zh-CN" altLang="en-US" sz="1600" b="0" dirty="0" smtClean="0"/>
              <a:t>已经是</a:t>
            </a:r>
            <a:r>
              <a:rPr lang="en-US" altLang="zh-CN" sz="1600" b="0" dirty="0" smtClean="0"/>
              <a:t>'</a:t>
            </a:r>
            <a:r>
              <a:rPr lang="zh-CN" altLang="en-US" sz="1600" b="0" dirty="0" smtClean="0"/>
              <a:t>冷</a:t>
            </a:r>
            <a:r>
              <a:rPr lang="en-US" altLang="zh-CN" sz="1600" b="0" dirty="0" smtClean="0"/>
              <a:t>'</a:t>
            </a:r>
            <a:r>
              <a:rPr lang="zh-CN" altLang="en-US" sz="1600" b="0" dirty="0" smtClean="0"/>
              <a:t>了，但至少内存访问还是在本 </a:t>
            </a:r>
            <a:r>
              <a:rPr lang="en-US" altLang="zh-CN" sz="1600" b="0" dirty="0" smtClean="0"/>
              <a:t>NUMA </a:t>
            </a:r>
            <a:r>
              <a:rPr lang="zh-CN" altLang="en-US" sz="1600" b="0" dirty="0" smtClean="0"/>
              <a:t>中。</a:t>
            </a:r>
            <a:endParaRPr lang="zh-CN" altLang="en-US" sz="700" dirty="0" smtClean="0">
              <a:latin typeface="宋体" panose="02010600030101010101" pitchFamily="2" charset="-122"/>
            </a:endParaRPr>
          </a:p>
        </p:txBody>
      </p:sp>
      <p:sp>
        <p:nvSpPr>
          <p:cNvPr id="69635"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sp>
        <p:nvSpPr>
          <p:cNvPr id="5" name="矩形 4"/>
          <p:cNvSpPr/>
          <p:nvPr/>
        </p:nvSpPr>
        <p:spPr>
          <a:xfrm>
            <a:off x="6019800" y="619125"/>
            <a:ext cx="2717800" cy="461963"/>
          </a:xfrm>
          <a:prstGeom prst="rect">
            <a:avLst/>
          </a:prstGeom>
        </p:spPr>
        <p:txBody>
          <a:bodyPr wrap="none">
            <a:spAutoFit/>
          </a:bodyPr>
          <a:lstStyle/>
          <a:p>
            <a:pPr>
              <a:defRPr/>
            </a:pPr>
            <a:r>
              <a:rPr lang="en-US" altLang="zh-CN" kern="0" dirty="0">
                <a:solidFill>
                  <a:srgbClr val="FF0000"/>
                </a:solidFill>
              </a:rPr>
              <a:t>Linux O(1) </a:t>
            </a:r>
            <a:r>
              <a:rPr lang="zh-CN" altLang="en-US" kern="0" dirty="0">
                <a:solidFill>
                  <a:srgbClr val="FF0000"/>
                </a:solidFill>
              </a:rPr>
              <a:t>调度器</a:t>
            </a:r>
            <a:endParaRPr lang="zh-CN" altLang="en-US" dirty="0"/>
          </a:p>
        </p:txBody>
      </p:sp>
      <p:sp>
        <p:nvSpPr>
          <p:cNvPr id="6" name="矩形 5"/>
          <p:cNvSpPr/>
          <p:nvPr/>
        </p:nvSpPr>
        <p:spPr>
          <a:xfrm>
            <a:off x="4267200" y="0"/>
            <a:ext cx="4800600" cy="64633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marL="342900" indent="-342900" algn="just">
              <a:buFont typeface="Wingdings" panose="05000000000000000000" pitchFamily="2" charset="2"/>
              <a:buChar char="l"/>
            </a:pPr>
            <a:r>
              <a:rPr lang="zh-CN" altLang="en-US" sz="1800" dirty="0"/>
              <a:t>多核</a:t>
            </a:r>
            <a:r>
              <a:rPr lang="en-US" altLang="zh-CN" sz="1800" dirty="0"/>
              <a:t>/</a:t>
            </a:r>
            <a:r>
              <a:rPr lang="zh-CN" altLang="en-US" sz="1800" dirty="0"/>
              <a:t>多处理器会给调度带来什么问题？</a:t>
            </a:r>
            <a:endParaRPr lang="en-US" altLang="zh-CN" sz="1800" dirty="0"/>
          </a:p>
          <a:p>
            <a:pPr algn="ctr"/>
            <a:r>
              <a:rPr lang="zh-CN" altLang="en-US" sz="1800" dirty="0">
                <a:solidFill>
                  <a:srgbClr val="FF0000"/>
                </a:solidFill>
              </a:rPr>
              <a:t>负载、竞争、</a:t>
            </a:r>
            <a:r>
              <a:rPr lang="en-US" altLang="zh-CN" sz="1800" dirty="0">
                <a:solidFill>
                  <a:srgbClr val="FF0000"/>
                </a:solidFill>
              </a:rPr>
              <a:t>Cache</a:t>
            </a:r>
            <a:endParaRPr lang="zh-CN" altLang="en-US" sz="1800" dirty="0">
              <a:solidFill>
                <a:srgbClr val="FF0000"/>
              </a:solidFill>
            </a:endParaRPr>
          </a:p>
        </p:txBody>
      </p:sp>
      <p:pic>
        <p:nvPicPr>
          <p:cNvPr id="2" name="图片 1"/>
          <p:cNvPicPr>
            <a:picLocks noChangeAspect="1"/>
          </p:cNvPicPr>
          <p:nvPr/>
        </p:nvPicPr>
        <p:blipFill rotWithShape="1">
          <a:blip r:embed="rId3">
            <a:extLst>
              <a:ext uri="{28A0092B-C50C-407E-A947-70E740481C1C}">
                <a14:useLocalDpi xmlns:a14="http://schemas.microsoft.com/office/drawing/2010/main" val="0"/>
              </a:ext>
            </a:extLst>
          </a:blip>
          <a:srcRect l="4500" r="3234"/>
          <a:stretch/>
        </p:blipFill>
        <p:spPr>
          <a:xfrm>
            <a:off x="4417085" y="1081088"/>
            <a:ext cx="4635475" cy="4379976"/>
          </a:xfrm>
          <a:prstGeom prst="rect">
            <a:avLst/>
          </a:prstGeom>
          <a:effectLst>
            <a:innerShdw blurRad="63500" dist="50800" dir="13500000">
              <a:prstClr val="black">
                <a:alpha val="50000"/>
              </a:prstClr>
            </a:innerShdw>
          </a:effectLst>
        </p:spPr>
      </p:pic>
      <p:pic>
        <p:nvPicPr>
          <p:cNvPr id="8" name="图片 2"/>
          <p:cNvPicPr>
            <a:picLocks noChangeAspect="1"/>
          </p:cNvPicPr>
          <p:nvPr/>
        </p:nvPicPr>
        <p:blipFill>
          <a:blip r:embed="rId4">
            <a:extLst>
              <a:ext uri="{28A0092B-C50C-407E-A947-70E740481C1C}">
                <a14:useLocalDpi xmlns:a14="http://schemas.microsoft.com/office/drawing/2010/main" val="0"/>
              </a:ext>
            </a:extLst>
          </a:blip>
          <a:srcRect r="6149"/>
          <a:stretch>
            <a:fillRect/>
          </a:stretch>
        </p:blipFill>
        <p:spPr bwMode="auto">
          <a:xfrm>
            <a:off x="457200" y="5257800"/>
            <a:ext cx="2052830" cy="1286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1"/>
          <p:cNvPicPr>
            <a:picLocks noChangeAspect="1"/>
          </p:cNvPicPr>
          <p:nvPr/>
        </p:nvPicPr>
        <p:blipFill>
          <a:blip r:embed="rId5">
            <a:extLst>
              <a:ext uri="{28A0092B-C50C-407E-A947-70E740481C1C}">
                <a14:useLocalDpi xmlns:a14="http://schemas.microsoft.com/office/drawing/2010/main" val="0"/>
              </a:ext>
            </a:extLst>
          </a:blip>
          <a:srcRect r="5328"/>
          <a:stretch>
            <a:fillRect/>
          </a:stretch>
        </p:blipFill>
        <p:spPr bwMode="auto">
          <a:xfrm>
            <a:off x="2583715" y="5300326"/>
            <a:ext cx="1988285" cy="1244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3666539"/>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内容占位符 1"/>
          <p:cNvSpPr>
            <a:spLocks noGrp="1"/>
          </p:cNvSpPr>
          <p:nvPr>
            <p:ph idx="1"/>
          </p:nvPr>
        </p:nvSpPr>
        <p:spPr>
          <a:xfrm>
            <a:off x="152400" y="1260475"/>
            <a:ext cx="8991600" cy="5597525"/>
          </a:xfrm>
        </p:spPr>
        <p:txBody>
          <a:bodyPr/>
          <a:lstStyle/>
          <a:p>
            <a:pPr>
              <a:defRPr/>
            </a:pPr>
            <a:r>
              <a:rPr lang="en-US" altLang="zh-CN" sz="2000" b="0" dirty="0" smtClean="0"/>
              <a:t>Linux 2.6 kernel </a:t>
            </a:r>
            <a:r>
              <a:rPr lang="zh-CN" altLang="en-US" sz="2000" b="0" dirty="0" smtClean="0"/>
              <a:t>里有 </a:t>
            </a:r>
            <a:r>
              <a:rPr lang="en-US" altLang="zh-CN" sz="2000" b="0" dirty="0" smtClean="0"/>
              <a:t>140 </a:t>
            </a:r>
            <a:r>
              <a:rPr lang="zh-CN" altLang="en-US" sz="2000" b="0" dirty="0" smtClean="0"/>
              <a:t>种优先级，用长度为 </a:t>
            </a:r>
            <a:r>
              <a:rPr lang="en-US" altLang="zh-CN" sz="2000" b="0" dirty="0" smtClean="0"/>
              <a:t>140 </a:t>
            </a:r>
            <a:r>
              <a:rPr lang="zh-CN" altLang="en-US" sz="2000" b="0" dirty="0" smtClean="0"/>
              <a:t>的 </a:t>
            </a:r>
            <a:r>
              <a:rPr lang="en-US" altLang="zh-CN" sz="2000" b="0" dirty="0" smtClean="0"/>
              <a:t>array </a:t>
            </a:r>
            <a:r>
              <a:rPr lang="zh-CN" altLang="en-US" sz="2000" b="0" dirty="0" smtClean="0"/>
              <a:t>去记录优先级。每个优先级下面用一个 </a:t>
            </a:r>
            <a:r>
              <a:rPr lang="en-US" altLang="zh-CN" sz="2000" b="0" dirty="0" smtClean="0"/>
              <a:t>FIFO queue </a:t>
            </a:r>
            <a:r>
              <a:rPr lang="zh-CN" altLang="en-US" sz="2000" b="0" dirty="0" smtClean="0"/>
              <a:t>管理这个优先级下的 </a:t>
            </a:r>
            <a:r>
              <a:rPr lang="en-US" altLang="zh-CN" sz="2000" b="0" dirty="0" smtClean="0"/>
              <a:t>process</a:t>
            </a:r>
            <a:r>
              <a:rPr lang="zh-CN" altLang="en-US" sz="2000" b="0" dirty="0" smtClean="0"/>
              <a:t>。</a:t>
            </a:r>
          </a:p>
          <a:p>
            <a:pPr>
              <a:defRPr/>
            </a:pPr>
            <a:r>
              <a:rPr lang="zh-CN" altLang="en-US" sz="2000" b="0" dirty="0">
                <a:solidFill>
                  <a:srgbClr val="FF0000"/>
                </a:solidFill>
              </a:rPr>
              <a:t>如何</a:t>
            </a:r>
            <a:r>
              <a:rPr lang="zh-CN" altLang="en-US" sz="2000" b="0" dirty="0" smtClean="0">
                <a:solidFill>
                  <a:srgbClr val="FF0000"/>
                </a:solidFill>
              </a:rPr>
              <a:t>找到当前</a:t>
            </a:r>
            <a:r>
              <a:rPr lang="en-US" altLang="zh-CN" sz="2000" b="0" dirty="0" smtClean="0">
                <a:solidFill>
                  <a:srgbClr val="FF0000"/>
                </a:solidFill>
              </a:rPr>
              <a:t>CPU </a:t>
            </a:r>
            <a:r>
              <a:rPr lang="en-US" altLang="zh-CN" sz="2000" b="0" dirty="0" err="1" smtClean="0">
                <a:solidFill>
                  <a:srgbClr val="FF0000"/>
                </a:solidFill>
              </a:rPr>
              <a:t>runqueue</a:t>
            </a:r>
            <a:r>
              <a:rPr lang="zh-CN" altLang="en-US" sz="2000" b="0" dirty="0" smtClean="0">
                <a:solidFill>
                  <a:srgbClr val="FF0000"/>
                </a:solidFill>
              </a:rPr>
              <a:t>最高优先级下面的可执行的 </a:t>
            </a:r>
            <a:r>
              <a:rPr lang="en-US" altLang="zh-CN" sz="2000" b="0" dirty="0" smtClean="0">
                <a:solidFill>
                  <a:srgbClr val="FF0000"/>
                </a:solidFill>
              </a:rPr>
              <a:t>process </a:t>
            </a:r>
            <a:r>
              <a:rPr lang="zh-CN" altLang="en-US" sz="2000" b="0" dirty="0" smtClean="0">
                <a:solidFill>
                  <a:srgbClr val="FF0000"/>
                </a:solidFill>
              </a:rPr>
              <a:t>呢？</a:t>
            </a:r>
            <a:endParaRPr lang="en-US" altLang="zh-CN" sz="2000" b="0" dirty="0" smtClean="0">
              <a:solidFill>
                <a:srgbClr val="FF0000"/>
              </a:solidFill>
            </a:endParaRPr>
          </a:p>
          <a:p>
            <a:pPr>
              <a:defRPr/>
            </a:pPr>
            <a:r>
              <a:rPr lang="zh-CN" altLang="en-US" sz="2000" b="0" dirty="0" smtClean="0"/>
              <a:t>如果从 </a:t>
            </a:r>
            <a:r>
              <a:rPr lang="en-US" altLang="zh-CN" sz="2000" b="0" dirty="0" smtClean="0"/>
              <a:t>0 </a:t>
            </a:r>
            <a:r>
              <a:rPr lang="zh-CN" altLang="en-US" sz="2000" b="0" dirty="0" smtClean="0"/>
              <a:t>开始一直遍历下去，算法虽然不是 </a:t>
            </a:r>
            <a:r>
              <a:rPr lang="en-US" altLang="zh-CN" sz="2000" b="0" dirty="0" smtClean="0"/>
              <a:t>O(N)</a:t>
            </a:r>
            <a:r>
              <a:rPr lang="zh-CN" altLang="en-US" sz="2000" b="0" dirty="0" smtClean="0"/>
              <a:t>，但是是跟优先级多少相关的 </a:t>
            </a:r>
            <a:r>
              <a:rPr lang="en-US" altLang="zh-CN" sz="2000" b="0" dirty="0" smtClean="0"/>
              <a:t>O(M)</a:t>
            </a:r>
            <a:r>
              <a:rPr lang="zh-CN" altLang="en-US" sz="2000" b="0" dirty="0" smtClean="0"/>
              <a:t>，也不能算作 </a:t>
            </a:r>
            <a:r>
              <a:rPr lang="en-US" altLang="zh-CN" sz="2000" b="0" dirty="0" smtClean="0"/>
              <a:t>O(1)</a:t>
            </a:r>
            <a:r>
              <a:rPr lang="zh-CN" altLang="en-US" sz="2000" b="0" dirty="0" smtClean="0"/>
              <a:t>。</a:t>
            </a:r>
            <a:endParaRPr lang="en-US" altLang="zh-CN" sz="2000" b="0" dirty="0" smtClean="0"/>
          </a:p>
          <a:p>
            <a:pPr>
              <a:defRPr/>
            </a:pPr>
            <a:r>
              <a:rPr lang="zh-CN" altLang="en-US" sz="2000" b="0" dirty="0" smtClean="0"/>
              <a:t> 在</a:t>
            </a:r>
            <a:r>
              <a:rPr lang="en-US" altLang="zh-CN" sz="2000" b="0" dirty="0" err="1" smtClean="0"/>
              <a:t>bitarray</a:t>
            </a:r>
            <a:r>
              <a:rPr lang="zh-CN" altLang="en-US" sz="2000" b="0" dirty="0"/>
              <a:t>中</a:t>
            </a:r>
            <a:r>
              <a:rPr lang="zh-CN" altLang="en-US" sz="2000" b="0" dirty="0" smtClean="0"/>
              <a:t>为每种优先级分配一个 </a:t>
            </a:r>
            <a:r>
              <a:rPr lang="en-US" altLang="zh-CN" sz="2000" b="0" dirty="0" smtClean="0"/>
              <a:t>bit</a:t>
            </a:r>
            <a:r>
              <a:rPr lang="zh-CN" altLang="en-US" sz="2000" b="0" dirty="0" smtClean="0"/>
              <a:t>，如果这个优先级队列下面有 </a:t>
            </a:r>
            <a:r>
              <a:rPr lang="en-US" altLang="zh-CN" sz="2000" b="0" dirty="0" smtClean="0"/>
              <a:t>process</a:t>
            </a:r>
            <a:r>
              <a:rPr lang="zh-CN" altLang="en-US" sz="2000" b="0" dirty="0" smtClean="0"/>
              <a:t>，那么就对相应的 </a:t>
            </a:r>
            <a:r>
              <a:rPr lang="en-US" altLang="zh-CN" sz="2000" b="0" dirty="0" smtClean="0"/>
              <a:t>bit </a:t>
            </a:r>
            <a:r>
              <a:rPr lang="zh-CN" altLang="en-US" sz="2000" b="0" dirty="0" smtClean="0"/>
              <a:t>染色，置为 </a:t>
            </a:r>
            <a:r>
              <a:rPr lang="en-US" altLang="zh-CN" sz="2000" b="0" dirty="0" smtClean="0"/>
              <a:t>1</a:t>
            </a:r>
            <a:r>
              <a:rPr lang="zh-CN" altLang="en-US" sz="2000" b="0" dirty="0" smtClean="0"/>
              <a:t>，否则置为 </a:t>
            </a:r>
            <a:r>
              <a:rPr lang="en-US" altLang="zh-CN" sz="2000" b="0" dirty="0" smtClean="0"/>
              <a:t>0</a:t>
            </a:r>
            <a:r>
              <a:rPr lang="zh-CN" altLang="en-US" sz="2000" b="0" dirty="0" smtClean="0"/>
              <a:t>。问题就简化成寻找一个 </a:t>
            </a:r>
            <a:r>
              <a:rPr lang="en-US" altLang="zh-CN" sz="2000" b="0" dirty="0" err="1" smtClean="0"/>
              <a:t>bitarray</a:t>
            </a:r>
            <a:r>
              <a:rPr lang="en-US" altLang="zh-CN" sz="2000" b="0" dirty="0" smtClean="0"/>
              <a:t> </a:t>
            </a:r>
            <a:r>
              <a:rPr lang="zh-CN" altLang="en-US" sz="2000" b="0" dirty="0" smtClean="0"/>
              <a:t>里面最高位是 </a:t>
            </a:r>
            <a:r>
              <a:rPr lang="en-US" altLang="zh-CN" sz="2000" b="0" dirty="0" smtClean="0"/>
              <a:t>1 </a:t>
            </a:r>
            <a:r>
              <a:rPr lang="zh-CN" altLang="en-US" sz="2000" b="0" dirty="0" smtClean="0"/>
              <a:t>的 </a:t>
            </a:r>
            <a:r>
              <a:rPr lang="en-US" altLang="zh-CN" sz="2000" b="0" dirty="0" smtClean="0"/>
              <a:t>bit</a:t>
            </a:r>
            <a:r>
              <a:rPr lang="zh-CN" altLang="en-US" sz="2000" b="0" dirty="0" smtClean="0"/>
              <a:t>（</a:t>
            </a:r>
            <a:r>
              <a:rPr lang="en-US" altLang="zh-CN" sz="2000" b="0" dirty="0" smtClean="0"/>
              <a:t>left-most bit</a:t>
            </a:r>
            <a:r>
              <a:rPr lang="zh-CN" altLang="en-US" sz="2000" b="0" dirty="0" smtClean="0"/>
              <a:t>）。可以通过位操作实现。</a:t>
            </a:r>
            <a:endParaRPr lang="en-US" altLang="zh-CN" sz="2000" b="0" dirty="0" smtClean="0"/>
          </a:p>
          <a:p>
            <a:pPr marL="400050" lvl="1" indent="0">
              <a:buFont typeface="Wingdings" panose="05000000000000000000" pitchFamily="2" charset="2"/>
              <a:buNone/>
              <a:defRPr/>
            </a:pPr>
            <a:r>
              <a:rPr lang="en-US" altLang="zh-CN" sz="1800" b="0" kern="1200" dirty="0" smtClean="0">
                <a:solidFill>
                  <a:srgbClr val="FF0000"/>
                </a:solidFill>
                <a:cs typeface="+mn-cs"/>
              </a:rPr>
              <a:t>a) </a:t>
            </a:r>
            <a:r>
              <a:rPr lang="zh-CN" altLang="en-US" sz="1800" b="0" kern="1200" dirty="0" smtClean="0">
                <a:solidFill>
                  <a:srgbClr val="FF0000"/>
                </a:solidFill>
                <a:cs typeface="+mn-cs"/>
              </a:rPr>
              <a:t>正向扫描指令</a:t>
            </a:r>
            <a:r>
              <a:rPr lang="en-US" altLang="zh-CN" sz="1800" b="0" kern="1200" dirty="0" err="1" smtClean="0">
                <a:solidFill>
                  <a:srgbClr val="FF0000"/>
                </a:solidFill>
                <a:cs typeface="+mn-cs"/>
              </a:rPr>
              <a:t>BSF</a:t>
            </a:r>
            <a:r>
              <a:rPr lang="en-US" altLang="zh-CN" sz="1800" b="0" kern="1200" dirty="0" smtClean="0">
                <a:solidFill>
                  <a:srgbClr val="FF0000"/>
                </a:solidFill>
                <a:cs typeface="+mn-cs"/>
              </a:rPr>
              <a:t>(Bit Scan Forward)</a:t>
            </a:r>
            <a:r>
              <a:rPr lang="zh-CN" altLang="en-US" sz="1800" b="0" kern="1200" dirty="0" smtClean="0">
                <a:solidFill>
                  <a:srgbClr val="FF0000"/>
                </a:solidFill>
                <a:cs typeface="+mn-cs"/>
              </a:rPr>
              <a:t>从右向左扫描，即：从低位向高位扫描；</a:t>
            </a:r>
          </a:p>
          <a:p>
            <a:pPr marL="400050" lvl="1" indent="0">
              <a:buFont typeface="Wingdings" panose="05000000000000000000" pitchFamily="2" charset="2"/>
              <a:buNone/>
              <a:defRPr/>
            </a:pPr>
            <a:r>
              <a:rPr lang="en-US" altLang="zh-CN" sz="1800" b="0" kern="1200" dirty="0" smtClean="0">
                <a:solidFill>
                  <a:srgbClr val="FF0000"/>
                </a:solidFill>
                <a:cs typeface="+mn-cs"/>
              </a:rPr>
              <a:t>b) </a:t>
            </a:r>
            <a:r>
              <a:rPr lang="zh-CN" altLang="en-US" sz="1800" b="0" kern="1200" dirty="0" smtClean="0">
                <a:solidFill>
                  <a:srgbClr val="FF0000"/>
                </a:solidFill>
                <a:cs typeface="+mn-cs"/>
              </a:rPr>
              <a:t>逆向扫描指令</a:t>
            </a:r>
            <a:r>
              <a:rPr lang="en-US" altLang="zh-CN" sz="1800" b="0" kern="1200" dirty="0" err="1" smtClean="0">
                <a:solidFill>
                  <a:srgbClr val="FF0000"/>
                </a:solidFill>
                <a:cs typeface="+mn-cs"/>
              </a:rPr>
              <a:t>BSR</a:t>
            </a:r>
            <a:r>
              <a:rPr lang="en-US" altLang="zh-CN" sz="1800" b="0" kern="1200" dirty="0" smtClean="0">
                <a:solidFill>
                  <a:srgbClr val="FF0000"/>
                </a:solidFill>
                <a:cs typeface="+mn-cs"/>
              </a:rPr>
              <a:t>(Bit Scan Reverse)</a:t>
            </a:r>
            <a:r>
              <a:rPr lang="zh-CN" altLang="en-US" sz="1800" b="0" kern="1200" dirty="0" smtClean="0">
                <a:solidFill>
                  <a:srgbClr val="FF0000"/>
                </a:solidFill>
                <a:cs typeface="+mn-cs"/>
              </a:rPr>
              <a:t>从左向右扫描，即：从高位向低位扫描。</a:t>
            </a:r>
          </a:p>
          <a:p>
            <a:pPr>
              <a:defRPr/>
            </a:pPr>
            <a:endParaRPr lang="zh-CN" altLang="en-US" sz="2000" b="0" dirty="0" smtClean="0"/>
          </a:p>
        </p:txBody>
      </p:sp>
      <p:sp>
        <p:nvSpPr>
          <p:cNvPr id="71683"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pic>
        <p:nvPicPr>
          <p:cNvPr id="70660" name="图片 3"/>
          <p:cNvPicPr>
            <a:picLocks noChangeAspect="1"/>
          </p:cNvPicPr>
          <p:nvPr/>
        </p:nvPicPr>
        <p:blipFill>
          <a:blip r:embed="rId3">
            <a:extLst>
              <a:ext uri="{28A0092B-C50C-407E-A947-70E740481C1C}">
                <a14:useLocalDpi xmlns:a14="http://schemas.microsoft.com/office/drawing/2010/main" val="0"/>
              </a:ext>
            </a:extLst>
          </a:blip>
          <a:srcRect l="2222" t="3036" r="2222" b="-1707"/>
          <a:stretch>
            <a:fillRect/>
          </a:stretch>
        </p:blipFill>
        <p:spPr bwMode="auto">
          <a:xfrm>
            <a:off x="571500" y="1898650"/>
            <a:ext cx="6553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p:cNvGrpSpPr>
            <a:grpSpLocks/>
          </p:cNvGrpSpPr>
          <p:nvPr/>
        </p:nvGrpSpPr>
        <p:grpSpPr bwMode="auto">
          <a:xfrm>
            <a:off x="4267200" y="1143000"/>
            <a:ext cx="4800600" cy="2286000"/>
            <a:chOff x="7620000" y="1854200"/>
            <a:chExt cx="4800600" cy="2286000"/>
          </a:xfrm>
        </p:grpSpPr>
        <p:pic>
          <p:nvPicPr>
            <p:cNvPr id="71687"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1854200"/>
              <a:ext cx="4800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8" name="矩形 2"/>
            <p:cNvSpPr>
              <a:spLocks noChangeArrowheads="1"/>
            </p:cNvSpPr>
            <p:nvPr/>
          </p:nvSpPr>
          <p:spPr bwMode="auto">
            <a:xfrm>
              <a:off x="9138313" y="1854200"/>
              <a:ext cx="1994143" cy="923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zh-CN" altLang="en-US" sz="1400" b="0">
                  <a:solidFill>
                    <a:srgbClr val="444444"/>
                  </a:solidFill>
                  <a:latin typeface="Tahoma" panose="020B0604030504040204" pitchFamily="34" charset="0"/>
                </a:rPr>
                <a:t>例如：</a:t>
              </a:r>
            </a:p>
            <a:p>
              <a:r>
                <a:rPr lang="en-US" altLang="zh-CN" sz="1400" b="0">
                  <a:solidFill>
                    <a:srgbClr val="444444"/>
                  </a:solidFill>
                  <a:latin typeface="Tahoma" panose="020B0604030504040204" pitchFamily="34" charset="0"/>
                </a:rPr>
                <a:t>MOV AX, 1234H</a:t>
              </a:r>
            </a:p>
            <a:p>
              <a:r>
                <a:rPr lang="en-US" altLang="zh-CN" sz="1400" b="0">
                  <a:solidFill>
                    <a:srgbClr val="444444"/>
                  </a:solidFill>
                  <a:latin typeface="Tahoma" panose="020B0604030504040204" pitchFamily="34" charset="0"/>
                </a:rPr>
                <a:t>BSF CX, AX ;</a:t>
              </a:r>
              <a:r>
                <a:rPr lang="zh-CN" altLang="en-US" sz="1400" b="0">
                  <a:solidFill>
                    <a:srgbClr val="444444"/>
                  </a:solidFill>
                  <a:latin typeface="Tahoma" panose="020B0604030504040204" pitchFamily="34" charset="0"/>
                </a:rPr>
                <a:t>  </a:t>
              </a:r>
              <a:r>
                <a:rPr lang="en-US" altLang="zh-CN" sz="1400" b="0">
                  <a:solidFill>
                    <a:srgbClr val="444444"/>
                  </a:solidFill>
                  <a:latin typeface="Tahoma" panose="020B0604030504040204" pitchFamily="34" charset="0"/>
                </a:rPr>
                <a:t>(CX)=2</a:t>
              </a:r>
            </a:p>
            <a:p>
              <a:r>
                <a:rPr lang="en-US" altLang="zh-CN" sz="1400" b="0">
                  <a:solidFill>
                    <a:srgbClr val="444444"/>
                  </a:solidFill>
                  <a:latin typeface="Tahoma" panose="020B0604030504040204" pitchFamily="34" charset="0"/>
                </a:rPr>
                <a:t>BSR CX, AX ; </a:t>
              </a:r>
              <a:r>
                <a:rPr lang="zh-CN" altLang="en-US" sz="1400" b="0">
                  <a:solidFill>
                    <a:srgbClr val="444444"/>
                  </a:solidFill>
                  <a:latin typeface="Tahoma" panose="020B0604030504040204" pitchFamily="34" charset="0"/>
                </a:rPr>
                <a:t> </a:t>
              </a:r>
              <a:r>
                <a:rPr lang="en-US" altLang="zh-CN" sz="1400" b="0">
                  <a:solidFill>
                    <a:srgbClr val="444444"/>
                  </a:solidFill>
                  <a:latin typeface="Tahoma" panose="020B0604030504040204" pitchFamily="34" charset="0"/>
                </a:rPr>
                <a:t>(CX)=12</a:t>
              </a:r>
            </a:p>
          </p:txBody>
        </p:sp>
      </p:grpSp>
      <p:sp>
        <p:nvSpPr>
          <p:cNvPr id="9" name="矩形 8"/>
          <p:cNvSpPr/>
          <p:nvPr/>
        </p:nvSpPr>
        <p:spPr>
          <a:xfrm>
            <a:off x="6019800" y="619125"/>
            <a:ext cx="2717800" cy="461963"/>
          </a:xfrm>
          <a:prstGeom prst="rect">
            <a:avLst/>
          </a:prstGeom>
        </p:spPr>
        <p:txBody>
          <a:bodyPr wrap="none">
            <a:spAutoFit/>
          </a:bodyPr>
          <a:lstStyle/>
          <a:p>
            <a:pPr>
              <a:defRPr/>
            </a:pPr>
            <a:r>
              <a:rPr lang="en-US" altLang="zh-CN" kern="0" dirty="0">
                <a:solidFill>
                  <a:srgbClr val="FF0000"/>
                </a:solidFill>
              </a:rPr>
              <a:t>Linux O(1) </a:t>
            </a:r>
            <a:r>
              <a:rPr lang="zh-CN" altLang="en-US" kern="0" dirty="0">
                <a:solidFill>
                  <a:srgbClr val="FF0000"/>
                </a:solidFill>
              </a:rPr>
              <a:t>调度器</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0658">
                                            <p:txEl>
                                              <p:pRg st="3" end="3"/>
                                            </p:txEl>
                                          </p:spTgt>
                                        </p:tgtEl>
                                        <p:attrNameLst>
                                          <p:attrName>style.visibility</p:attrName>
                                        </p:attrNameLst>
                                      </p:cBhvr>
                                      <p:to>
                                        <p:strVal val="visible"/>
                                      </p:to>
                                    </p:set>
                                    <p:anim calcmode="lin" valueType="num">
                                      <p:cBhvr additive="base">
                                        <p:cTn id="7" dur="500" fill="hold"/>
                                        <p:tgtEl>
                                          <p:spTgt spid="7065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58">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0658">
                                            <p:txEl>
                                              <p:pRg st="4" end="4"/>
                                            </p:txEl>
                                          </p:spTgt>
                                        </p:tgtEl>
                                        <p:attrNameLst>
                                          <p:attrName>style.visibility</p:attrName>
                                        </p:attrNameLst>
                                      </p:cBhvr>
                                      <p:to>
                                        <p:strVal val="visible"/>
                                      </p:to>
                                    </p:set>
                                    <p:anim calcmode="lin" valueType="num">
                                      <p:cBhvr additive="base">
                                        <p:cTn id="11" dur="500" fill="hold"/>
                                        <p:tgtEl>
                                          <p:spTgt spid="70658">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0658">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0658">
                                            <p:txEl>
                                              <p:pRg st="5" end="5"/>
                                            </p:txEl>
                                          </p:spTgt>
                                        </p:tgtEl>
                                        <p:attrNameLst>
                                          <p:attrName>style.visibility</p:attrName>
                                        </p:attrNameLst>
                                      </p:cBhvr>
                                      <p:to>
                                        <p:strVal val="visible"/>
                                      </p:to>
                                    </p:set>
                                    <p:anim calcmode="lin" valueType="num">
                                      <p:cBhvr additive="base">
                                        <p:cTn id="15" dur="500" fill="hold"/>
                                        <p:tgtEl>
                                          <p:spTgt spid="70658">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065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xit" presetSubtype="0" fill="hold" nodeType="clickEffect">
                                  <p:stCondLst>
                                    <p:cond delay="0"/>
                                  </p:stCondLst>
                                  <p:childTnLst>
                                    <p:animEffect transition="out" filter="fade">
                                      <p:cBhvr>
                                        <p:cTn id="27" dur="500"/>
                                        <p:tgtEl>
                                          <p:spTgt spid="5"/>
                                        </p:tgtEl>
                                      </p:cBhvr>
                                    </p:animEffect>
                                    <p:set>
                                      <p:cBhvr>
                                        <p:cTn id="28" dur="1" fill="hold">
                                          <p:stCondLst>
                                            <p:cond delay="499"/>
                                          </p:stCondLst>
                                        </p:cTn>
                                        <p:tgtEl>
                                          <p:spTgt spid="5"/>
                                        </p:tgtEl>
                                        <p:attrNameLst>
                                          <p:attrName>style.visibility</p:attrName>
                                        </p:attrNameLst>
                                      </p:cBhvr>
                                      <p:to>
                                        <p:strVal val="hidden"/>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70660"/>
                                        </p:tgtEl>
                                        <p:attrNameLst>
                                          <p:attrName>style.visibility</p:attrName>
                                        </p:attrNameLst>
                                      </p:cBhvr>
                                      <p:to>
                                        <p:strVal val="visible"/>
                                      </p:to>
                                    </p:set>
                                    <p:anim calcmode="lin" valueType="num">
                                      <p:cBhvr additive="base">
                                        <p:cTn id="33" dur="500" fill="hold"/>
                                        <p:tgtEl>
                                          <p:spTgt spid="70660"/>
                                        </p:tgtEl>
                                        <p:attrNameLst>
                                          <p:attrName>ppt_x</p:attrName>
                                        </p:attrNameLst>
                                      </p:cBhvr>
                                      <p:tavLst>
                                        <p:tav tm="0">
                                          <p:val>
                                            <p:strVal val="#ppt_x"/>
                                          </p:val>
                                        </p:tav>
                                        <p:tav tm="100000">
                                          <p:val>
                                            <p:strVal val="#ppt_x"/>
                                          </p:val>
                                        </p:tav>
                                      </p:tavLst>
                                    </p:anim>
                                    <p:anim calcmode="lin" valueType="num">
                                      <p:cBhvr additive="base">
                                        <p:cTn id="34" dur="500" fill="hold"/>
                                        <p:tgtEl>
                                          <p:spTgt spid="706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内容占位符 1"/>
          <p:cNvSpPr>
            <a:spLocks noGrp="1"/>
          </p:cNvSpPr>
          <p:nvPr>
            <p:ph idx="1"/>
          </p:nvPr>
        </p:nvSpPr>
        <p:spPr>
          <a:xfrm>
            <a:off x="152400" y="1371600"/>
            <a:ext cx="8991600" cy="3429000"/>
          </a:xfrm>
        </p:spPr>
        <p:txBody>
          <a:bodyPr/>
          <a:lstStyle/>
          <a:p>
            <a:pPr marL="457200" indent="-457200">
              <a:buFont typeface="Arial" panose="020B0604020202020204" pitchFamily="34" charset="0"/>
              <a:buAutoNum type="arabicPeriod"/>
            </a:pPr>
            <a:r>
              <a:rPr lang="zh-CN" altLang="en-US" sz="2000" b="0" smtClean="0"/>
              <a:t>在 </a:t>
            </a:r>
            <a:r>
              <a:rPr lang="en-US" altLang="zh-CN" sz="2000" b="0" smtClean="0"/>
              <a:t>active bitarray </a:t>
            </a:r>
            <a:r>
              <a:rPr lang="zh-CN" altLang="en-US" sz="2000" b="0" smtClean="0"/>
              <a:t>里，寻找 </a:t>
            </a:r>
            <a:r>
              <a:rPr lang="en-US" altLang="zh-CN" sz="2000" b="0" smtClean="0"/>
              <a:t>left-most bit 1 </a:t>
            </a:r>
            <a:r>
              <a:rPr lang="zh-CN" altLang="en-US" sz="2000" b="0" smtClean="0"/>
              <a:t>的位置 </a:t>
            </a:r>
            <a:r>
              <a:rPr lang="en-US" altLang="zh-CN" sz="2000" b="0" smtClean="0"/>
              <a:t>x</a:t>
            </a:r>
            <a:r>
              <a:rPr lang="zh-CN" altLang="en-US" sz="2000" b="0" smtClean="0"/>
              <a:t>。</a:t>
            </a:r>
          </a:p>
          <a:p>
            <a:pPr marL="457200" indent="-457200">
              <a:buFont typeface="Arial" panose="020B0604020202020204" pitchFamily="34" charset="0"/>
              <a:buAutoNum type="arabicPeriod"/>
            </a:pPr>
            <a:r>
              <a:rPr lang="zh-CN" altLang="en-US" sz="2000" b="0" smtClean="0"/>
              <a:t>在 </a:t>
            </a:r>
            <a:r>
              <a:rPr lang="en-US" altLang="zh-CN" sz="2000" b="0" smtClean="0"/>
              <a:t>active priority array</a:t>
            </a:r>
            <a:r>
              <a:rPr lang="zh-CN" altLang="en-US" sz="2000" b="0" smtClean="0"/>
              <a:t>（</a:t>
            </a:r>
            <a:r>
              <a:rPr lang="en-US" altLang="zh-CN" sz="2000" b="0" smtClean="0"/>
              <a:t>APA</a:t>
            </a:r>
            <a:r>
              <a:rPr lang="zh-CN" altLang="en-US" sz="2000" b="0" smtClean="0"/>
              <a:t>）中，找到对应队列 </a:t>
            </a:r>
            <a:r>
              <a:rPr lang="en-US" altLang="zh-CN" sz="2000" b="0" smtClean="0"/>
              <a:t>APA[x]</a:t>
            </a:r>
            <a:r>
              <a:rPr lang="zh-CN" altLang="en-US" sz="2000" b="0" smtClean="0"/>
              <a:t>。</a:t>
            </a:r>
          </a:p>
          <a:p>
            <a:pPr marL="457200" indent="-457200">
              <a:buFont typeface="Arial" panose="020B0604020202020204" pitchFamily="34" charset="0"/>
              <a:buAutoNum type="arabicPeriod"/>
            </a:pPr>
            <a:r>
              <a:rPr lang="zh-CN" altLang="en-US" sz="2000" b="0" smtClean="0"/>
              <a:t>从 </a:t>
            </a:r>
            <a:r>
              <a:rPr lang="en-US" altLang="zh-CN" sz="2000" b="0" smtClean="0"/>
              <a:t>APA[x] </a:t>
            </a:r>
            <a:r>
              <a:rPr lang="zh-CN" altLang="en-US" sz="2000" b="0" smtClean="0"/>
              <a:t>中 </a:t>
            </a:r>
            <a:r>
              <a:rPr lang="en-US" altLang="zh-CN" sz="2000" b="0" smtClean="0"/>
              <a:t>dequeue </a:t>
            </a:r>
            <a:r>
              <a:rPr lang="zh-CN" altLang="en-US" sz="2000" b="0" smtClean="0"/>
              <a:t>一个 </a:t>
            </a:r>
            <a:r>
              <a:rPr lang="en-US" altLang="zh-CN" sz="2000" b="0" smtClean="0"/>
              <a:t>process</a:t>
            </a:r>
            <a:r>
              <a:rPr lang="zh-CN" altLang="en-US" sz="2000" b="0" smtClean="0"/>
              <a:t>，</a:t>
            </a:r>
            <a:r>
              <a:rPr lang="en-US" altLang="zh-CN" sz="2000" b="0" smtClean="0"/>
              <a:t>dequeue </a:t>
            </a:r>
            <a:r>
              <a:rPr lang="zh-CN" altLang="en-US" sz="2000" b="0" smtClean="0"/>
              <a:t>（出队）后，如果 </a:t>
            </a:r>
            <a:r>
              <a:rPr lang="en-US" altLang="zh-CN" sz="2000" b="0" smtClean="0"/>
              <a:t>APA[x] </a:t>
            </a:r>
            <a:r>
              <a:rPr lang="zh-CN" altLang="en-US" sz="2000" b="0" smtClean="0"/>
              <a:t>的 </a:t>
            </a:r>
            <a:r>
              <a:rPr lang="en-US" altLang="zh-CN" sz="2000" b="0" smtClean="0"/>
              <a:t>queue </a:t>
            </a:r>
            <a:r>
              <a:rPr lang="zh-CN" altLang="en-US" sz="2000" b="0" smtClean="0"/>
              <a:t>为空，那么将 </a:t>
            </a:r>
            <a:r>
              <a:rPr lang="en-US" altLang="zh-CN" sz="2000" b="0" smtClean="0"/>
              <a:t>active bitarray </a:t>
            </a:r>
            <a:r>
              <a:rPr lang="zh-CN" altLang="en-US" sz="2000" b="0" smtClean="0"/>
              <a:t>里第 </a:t>
            </a:r>
            <a:r>
              <a:rPr lang="en-US" altLang="zh-CN" sz="2000" b="0" smtClean="0"/>
              <a:t>x bit</a:t>
            </a:r>
            <a:r>
              <a:rPr lang="zh-CN" altLang="en-US" sz="2000" b="0" smtClean="0"/>
              <a:t>置为 </a:t>
            </a:r>
            <a:r>
              <a:rPr lang="en-US" altLang="zh-CN" sz="2000" b="0" smtClean="0"/>
              <a:t>0</a:t>
            </a:r>
            <a:r>
              <a:rPr lang="zh-CN" altLang="en-US" sz="2000" b="0" smtClean="0"/>
              <a:t>。</a:t>
            </a:r>
          </a:p>
          <a:p>
            <a:pPr marL="457200" indent="-457200">
              <a:buFont typeface="Arial" panose="020B0604020202020204" pitchFamily="34" charset="0"/>
              <a:buAutoNum type="arabicPeriod"/>
            </a:pPr>
            <a:r>
              <a:rPr lang="zh-CN" altLang="en-US" sz="2000" b="0" smtClean="0"/>
              <a:t>对于当前执行完的 </a:t>
            </a:r>
            <a:r>
              <a:rPr lang="en-US" altLang="zh-CN" sz="2000" b="0" smtClean="0"/>
              <a:t>process</a:t>
            </a:r>
            <a:r>
              <a:rPr lang="zh-CN" altLang="en-US" sz="2000" b="0" smtClean="0"/>
              <a:t>，重新计算其 </a:t>
            </a:r>
            <a:r>
              <a:rPr lang="en-US" altLang="zh-CN" sz="2000" b="0" smtClean="0"/>
              <a:t>priority</a:t>
            </a:r>
            <a:r>
              <a:rPr lang="zh-CN" altLang="en-US" sz="2000" b="0" smtClean="0"/>
              <a:t>，然后 </a:t>
            </a:r>
            <a:r>
              <a:rPr lang="en-US" altLang="zh-CN" sz="2000" b="0" smtClean="0"/>
              <a:t>enqueue</a:t>
            </a:r>
            <a:r>
              <a:rPr lang="zh-CN" altLang="en-US" sz="2000" b="0" smtClean="0"/>
              <a:t>（入队）</a:t>
            </a:r>
            <a:r>
              <a:rPr lang="en-US" altLang="zh-CN" sz="2000" b="0" smtClean="0"/>
              <a:t> </a:t>
            </a:r>
            <a:r>
              <a:rPr lang="zh-CN" altLang="en-US" sz="2000" b="0" smtClean="0"/>
              <a:t>到 </a:t>
            </a:r>
            <a:r>
              <a:rPr lang="en-US" altLang="zh-CN" sz="2000" b="0" smtClean="0"/>
              <a:t>expired priority array</a:t>
            </a:r>
            <a:r>
              <a:rPr lang="zh-CN" altLang="en-US" sz="2000" b="0" smtClean="0"/>
              <a:t>（</a:t>
            </a:r>
            <a:r>
              <a:rPr lang="en-US" altLang="zh-CN" sz="2000" b="0" smtClean="0"/>
              <a:t>EPA</a:t>
            </a:r>
            <a:r>
              <a:rPr lang="zh-CN" altLang="en-US" sz="2000" b="0" smtClean="0"/>
              <a:t>）相应的队里 </a:t>
            </a:r>
            <a:r>
              <a:rPr lang="en-US" altLang="zh-CN" sz="2000" b="0" smtClean="0"/>
              <a:t>EPA[priority]</a:t>
            </a:r>
            <a:r>
              <a:rPr lang="zh-CN" altLang="en-US" sz="2000" b="0" smtClean="0"/>
              <a:t>。</a:t>
            </a:r>
          </a:p>
          <a:p>
            <a:pPr marL="457200" indent="-457200">
              <a:buFont typeface="Arial" panose="020B0604020202020204" pitchFamily="34" charset="0"/>
              <a:buAutoNum type="arabicPeriod"/>
            </a:pPr>
            <a:r>
              <a:rPr lang="zh-CN" altLang="en-US" sz="2000" b="0" smtClean="0"/>
              <a:t>如果 </a:t>
            </a:r>
            <a:r>
              <a:rPr lang="en-US" altLang="zh-CN" sz="2000" b="0" smtClean="0"/>
              <a:t>priority </a:t>
            </a:r>
            <a:r>
              <a:rPr lang="zh-CN" altLang="en-US" sz="2000" b="0" smtClean="0"/>
              <a:t>在 </a:t>
            </a:r>
            <a:r>
              <a:rPr lang="en-US" altLang="zh-CN" sz="2000" b="0" smtClean="0"/>
              <a:t>expired bitarray </a:t>
            </a:r>
            <a:r>
              <a:rPr lang="zh-CN" altLang="en-US" sz="2000" b="0" smtClean="0"/>
              <a:t>里对应的 </a:t>
            </a:r>
            <a:r>
              <a:rPr lang="en-US" altLang="zh-CN" sz="2000" b="0" smtClean="0"/>
              <a:t>bit </a:t>
            </a:r>
            <a:r>
              <a:rPr lang="zh-CN" altLang="en-US" sz="2000" b="0" smtClean="0"/>
              <a:t>为 </a:t>
            </a:r>
            <a:r>
              <a:rPr lang="en-US" altLang="zh-CN" sz="2000" b="0" smtClean="0"/>
              <a:t>0</a:t>
            </a:r>
            <a:r>
              <a:rPr lang="zh-CN" altLang="en-US" sz="2000" b="0" smtClean="0"/>
              <a:t>，将其置 </a:t>
            </a:r>
            <a:r>
              <a:rPr lang="en-US" altLang="zh-CN" sz="2000" b="0" smtClean="0"/>
              <a:t>1</a:t>
            </a:r>
            <a:r>
              <a:rPr lang="zh-CN" altLang="en-US" sz="2000" b="0" smtClean="0"/>
              <a:t>。</a:t>
            </a:r>
          </a:p>
          <a:p>
            <a:pPr marL="457200" indent="-457200">
              <a:buFont typeface="Arial" panose="020B0604020202020204" pitchFamily="34" charset="0"/>
              <a:buAutoNum type="arabicPeriod"/>
            </a:pPr>
            <a:r>
              <a:rPr lang="zh-CN" altLang="en-US" sz="2000" b="0" smtClean="0"/>
              <a:t>如果 </a:t>
            </a:r>
            <a:r>
              <a:rPr lang="en-US" altLang="zh-CN" sz="2000" b="0" smtClean="0"/>
              <a:t>active bitarray </a:t>
            </a:r>
            <a:r>
              <a:rPr lang="zh-CN" altLang="en-US" sz="2000" b="0" smtClean="0"/>
              <a:t>全为零，将 </a:t>
            </a:r>
            <a:r>
              <a:rPr lang="en-US" altLang="zh-CN" sz="2000" b="0" smtClean="0"/>
              <a:t>active bitarray </a:t>
            </a:r>
            <a:r>
              <a:rPr lang="zh-CN" altLang="en-US" sz="2000" b="0" smtClean="0"/>
              <a:t>和 </a:t>
            </a:r>
            <a:r>
              <a:rPr lang="en-US" altLang="zh-CN" sz="2000" b="0" smtClean="0"/>
              <a:t>expired bitarray </a:t>
            </a:r>
            <a:r>
              <a:rPr lang="zh-CN" altLang="en-US" sz="2000" b="0" smtClean="0"/>
              <a:t>交换。</a:t>
            </a:r>
          </a:p>
        </p:txBody>
      </p:sp>
      <p:sp>
        <p:nvSpPr>
          <p:cNvPr id="73731"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pic>
        <p:nvPicPr>
          <p:cNvPr id="73732" name="图片 2"/>
          <p:cNvPicPr>
            <a:picLocks noChangeAspect="1"/>
          </p:cNvPicPr>
          <p:nvPr/>
        </p:nvPicPr>
        <p:blipFill>
          <a:blip r:embed="rId3">
            <a:extLst>
              <a:ext uri="{28A0092B-C50C-407E-A947-70E740481C1C}">
                <a14:useLocalDpi xmlns:a14="http://schemas.microsoft.com/office/drawing/2010/main" val="0"/>
              </a:ext>
            </a:extLst>
          </a:blip>
          <a:srcRect l="833" t="3552" r="1666" b="2295"/>
          <a:stretch>
            <a:fillRect/>
          </a:stretch>
        </p:blipFill>
        <p:spPr bwMode="auto">
          <a:xfrm>
            <a:off x="1600200" y="4151313"/>
            <a:ext cx="5976938" cy="270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3" name="矩形 1"/>
          <p:cNvSpPr>
            <a:spLocks noChangeArrowheads="1"/>
          </p:cNvSpPr>
          <p:nvPr/>
        </p:nvSpPr>
        <p:spPr bwMode="auto">
          <a:xfrm>
            <a:off x="271463" y="981075"/>
            <a:ext cx="42322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en-US" altLang="zh-CN" dirty="0"/>
              <a:t>O(1)</a:t>
            </a:r>
            <a:r>
              <a:rPr lang="zh-CN" altLang="en-US" dirty="0"/>
              <a:t>算法基本步骤</a:t>
            </a:r>
            <a:r>
              <a:rPr lang="zh-CN" altLang="en-US" dirty="0" smtClean="0"/>
              <a:t>：</a:t>
            </a:r>
            <a:r>
              <a:rPr lang="en-US" altLang="zh-CN" dirty="0" err="1"/>
              <a:t>P</a:t>
            </a:r>
            <a:r>
              <a:rPr lang="en-US" altLang="zh-CN" dirty="0" err="1" smtClean="0"/>
              <a:t>icknext</a:t>
            </a:r>
            <a:endParaRPr lang="zh-CN" altLang="en-US" dirty="0"/>
          </a:p>
        </p:txBody>
      </p:sp>
      <p:sp>
        <p:nvSpPr>
          <p:cNvPr id="6" name="矩形 5"/>
          <p:cNvSpPr/>
          <p:nvPr/>
        </p:nvSpPr>
        <p:spPr>
          <a:xfrm>
            <a:off x="6019800" y="619125"/>
            <a:ext cx="2717800" cy="461963"/>
          </a:xfrm>
          <a:prstGeom prst="rect">
            <a:avLst/>
          </a:prstGeom>
        </p:spPr>
        <p:txBody>
          <a:bodyPr wrap="none">
            <a:spAutoFit/>
          </a:bodyPr>
          <a:lstStyle/>
          <a:p>
            <a:pPr>
              <a:defRPr/>
            </a:pPr>
            <a:r>
              <a:rPr lang="en-US" altLang="zh-CN" kern="0" dirty="0">
                <a:solidFill>
                  <a:srgbClr val="FF0000"/>
                </a:solidFill>
              </a:rPr>
              <a:t>Linux O(1) </a:t>
            </a:r>
            <a:r>
              <a:rPr lang="zh-CN" altLang="en-US" kern="0" dirty="0">
                <a:solidFill>
                  <a:srgbClr val="FF0000"/>
                </a:solidFill>
              </a:rPr>
              <a:t>调度器</a:t>
            </a:r>
            <a:endParaRPr lang="zh-CN" altLang="en-US" dirty="0"/>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内容占位符 1"/>
          <p:cNvSpPr>
            <a:spLocks noGrp="1"/>
          </p:cNvSpPr>
          <p:nvPr>
            <p:ph idx="1"/>
          </p:nvPr>
        </p:nvSpPr>
        <p:spPr>
          <a:xfrm>
            <a:off x="152400" y="1676400"/>
            <a:ext cx="8991600" cy="5181600"/>
          </a:xfrm>
        </p:spPr>
        <p:txBody>
          <a:bodyPr/>
          <a:lstStyle/>
          <a:p>
            <a:r>
              <a:rPr lang="en-US" altLang="zh-CN" sz="2000" b="0" smtClean="0"/>
              <a:t>linux O(1)</a:t>
            </a:r>
            <a:r>
              <a:rPr lang="zh-CN" altLang="en-US" sz="2000" b="0" smtClean="0"/>
              <a:t>调度器使用了</a:t>
            </a:r>
            <a:r>
              <a:rPr lang="en-US" altLang="zh-CN" sz="2000" b="0" smtClean="0"/>
              <a:t>2</a:t>
            </a:r>
            <a:r>
              <a:rPr lang="zh-CN" altLang="en-US" sz="2000" b="0" smtClean="0"/>
              <a:t>个</a:t>
            </a:r>
            <a:r>
              <a:rPr lang="en-US" altLang="zh-CN" sz="2000" b="0" smtClean="0"/>
              <a:t>(bitarray+queue)</a:t>
            </a:r>
            <a:r>
              <a:rPr lang="zh-CN" altLang="en-US" sz="2000" b="0" smtClean="0"/>
              <a:t>数据结构</a:t>
            </a:r>
            <a:r>
              <a:rPr lang="en-US" altLang="zh-CN" sz="2000" b="0" smtClean="0"/>
              <a:t>, </a:t>
            </a:r>
            <a:r>
              <a:rPr lang="zh-CN" altLang="en-US" sz="2000" b="0" smtClean="0"/>
              <a:t>整个调度开销如下</a:t>
            </a:r>
            <a:r>
              <a:rPr lang="en-US" altLang="zh-CN" sz="2000" b="0" smtClean="0"/>
              <a:t>:</a:t>
            </a:r>
            <a:br>
              <a:rPr lang="en-US" altLang="zh-CN" sz="2000" b="0" smtClean="0"/>
            </a:br>
            <a:r>
              <a:rPr lang="zh-CN" altLang="en-US" sz="2000" b="0" smtClean="0"/>
              <a:t>针对</a:t>
            </a:r>
            <a:r>
              <a:rPr lang="en-US" altLang="zh-CN" sz="2000" b="0" smtClean="0"/>
              <a:t> [140]bit+[140]queue</a:t>
            </a:r>
          </a:p>
          <a:p>
            <a:r>
              <a:rPr lang="en-US" altLang="zh-CN" sz="2000" b="0" smtClean="0"/>
              <a:t>Search,insert,delete</a:t>
            </a:r>
            <a:r>
              <a:rPr lang="zh-CN" altLang="en-US" sz="2000" b="0" smtClean="0"/>
              <a:t>都是</a:t>
            </a:r>
            <a:r>
              <a:rPr lang="en-US" altLang="zh-CN" sz="2000" b="0" smtClean="0"/>
              <a:t>bitarray</a:t>
            </a:r>
            <a:r>
              <a:rPr lang="zh-CN" altLang="en-US" sz="2000" b="0" smtClean="0"/>
              <a:t>的</a:t>
            </a:r>
            <a:r>
              <a:rPr lang="en-US" altLang="zh-CN" sz="2000" b="0" smtClean="0"/>
              <a:t>O(1)+queue</a:t>
            </a:r>
            <a:r>
              <a:rPr lang="zh-CN" altLang="en-US" sz="2000" b="0" smtClean="0"/>
              <a:t>的</a:t>
            </a:r>
            <a:r>
              <a:rPr lang="en-US" altLang="zh-CN" sz="2000" b="0" smtClean="0"/>
              <a:t>O(1)</a:t>
            </a:r>
            <a:r>
              <a:rPr lang="zh-CN" altLang="en-US" sz="2000" b="0" smtClean="0"/>
              <a:t>来完成的。</a:t>
            </a:r>
          </a:p>
        </p:txBody>
      </p:sp>
      <p:sp>
        <p:nvSpPr>
          <p:cNvPr id="75779"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sp>
        <p:nvSpPr>
          <p:cNvPr id="75780" name="矩形 3"/>
          <p:cNvSpPr>
            <a:spLocks noChangeArrowheads="1"/>
          </p:cNvSpPr>
          <p:nvPr/>
        </p:nvSpPr>
        <p:spPr bwMode="auto">
          <a:xfrm>
            <a:off x="304800" y="1135063"/>
            <a:ext cx="4203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Arial" panose="020B0604020202020204" pitchFamily="34" charset="0"/>
                <a:ea typeface="宋体" panose="02010600030101010101" pitchFamily="2" charset="-122"/>
              </a:defRPr>
            </a:lvl1pPr>
            <a:lvl2pPr marL="742950" indent="-285750">
              <a:defRPr sz="2400" b="1">
                <a:solidFill>
                  <a:schemeClr val="tx1"/>
                </a:solidFill>
                <a:latin typeface="Arial" panose="020B0604020202020204" pitchFamily="34" charset="0"/>
                <a:ea typeface="宋体" panose="02010600030101010101" pitchFamily="2" charset="-122"/>
              </a:defRPr>
            </a:lvl2pPr>
            <a:lvl3pPr marL="1143000" indent="-228600">
              <a:defRPr sz="2400" b="1">
                <a:solidFill>
                  <a:schemeClr val="tx1"/>
                </a:solidFill>
                <a:latin typeface="Arial" panose="020B0604020202020204" pitchFamily="34" charset="0"/>
                <a:ea typeface="宋体" panose="02010600030101010101" pitchFamily="2" charset="-122"/>
              </a:defRPr>
            </a:lvl3pPr>
            <a:lvl4pPr marL="1600200" indent="-228600">
              <a:defRPr sz="2400" b="1">
                <a:solidFill>
                  <a:schemeClr val="tx1"/>
                </a:solidFill>
                <a:latin typeface="Arial" panose="020B0604020202020204" pitchFamily="34" charset="0"/>
                <a:ea typeface="宋体" panose="02010600030101010101" pitchFamily="2" charset="-122"/>
              </a:defRPr>
            </a:lvl4pPr>
            <a:lvl5pPr marL="2057400" indent="-22860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r>
              <a:rPr lang="en-US" altLang="zh-CN"/>
              <a:t>O(1)</a:t>
            </a:r>
            <a:r>
              <a:rPr lang="zh-CN" altLang="en-US"/>
              <a:t>调度器时间复杂度分析：</a:t>
            </a:r>
          </a:p>
        </p:txBody>
      </p:sp>
      <p:pic>
        <p:nvPicPr>
          <p:cNvPr id="75781"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048000"/>
            <a:ext cx="245745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2" name="图片 2"/>
          <p:cNvPicPr>
            <a:picLocks noChangeAspect="1"/>
          </p:cNvPicPr>
          <p:nvPr/>
        </p:nvPicPr>
        <p:blipFill>
          <a:blip r:embed="rId4">
            <a:extLst>
              <a:ext uri="{28A0092B-C50C-407E-A947-70E740481C1C}">
                <a14:useLocalDpi xmlns:a14="http://schemas.microsoft.com/office/drawing/2010/main" val="0"/>
              </a:ext>
            </a:extLst>
          </a:blip>
          <a:srcRect l="833" t="3552" r="1666" b="2295"/>
          <a:stretch>
            <a:fillRect/>
          </a:stretch>
        </p:blipFill>
        <p:spPr bwMode="auto">
          <a:xfrm>
            <a:off x="3167063" y="2913063"/>
            <a:ext cx="5976937"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6019800" y="619125"/>
            <a:ext cx="2717800" cy="461963"/>
          </a:xfrm>
          <a:prstGeom prst="rect">
            <a:avLst/>
          </a:prstGeom>
        </p:spPr>
        <p:txBody>
          <a:bodyPr wrap="none">
            <a:spAutoFit/>
          </a:bodyPr>
          <a:lstStyle/>
          <a:p>
            <a:pPr>
              <a:defRPr/>
            </a:pPr>
            <a:r>
              <a:rPr lang="en-US" altLang="zh-CN" kern="0" dirty="0">
                <a:solidFill>
                  <a:srgbClr val="FF0000"/>
                </a:solidFill>
              </a:rPr>
              <a:t>Linux O(1) </a:t>
            </a:r>
            <a:r>
              <a:rPr lang="zh-CN" altLang="en-US" kern="0" dirty="0">
                <a:solidFill>
                  <a:srgbClr val="FF0000"/>
                </a:solidFill>
              </a:rPr>
              <a:t>调度器</a:t>
            </a:r>
            <a:endParaRPr lang="zh-CN" altLang="en-US" dirty="0"/>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52400" y="1260475"/>
            <a:ext cx="8991600" cy="4530725"/>
          </a:xfrm>
        </p:spPr>
        <p:txBody>
          <a:bodyPr/>
          <a:lstStyle/>
          <a:p>
            <a:r>
              <a:rPr lang="zh-CN" altLang="en-US" sz="2000" smtClean="0">
                <a:latin typeface="宋体" panose="02010600030101010101" pitchFamily="2" charset="-122"/>
              </a:rPr>
              <a:t>全局队列调度    </a:t>
            </a:r>
            <a:endParaRPr lang="en-US" altLang="zh-CN" sz="2000" smtClean="0">
              <a:latin typeface="宋体" panose="02010600030101010101" pitchFamily="2" charset="-122"/>
            </a:endParaRPr>
          </a:p>
          <a:p>
            <a:pPr lvl="1"/>
            <a:r>
              <a:rPr lang="zh-CN" altLang="en-US" sz="2000" smtClean="0">
                <a:latin typeface="宋体" panose="02010600030101010101" pitchFamily="2" charset="-122"/>
              </a:rPr>
              <a:t>操作系统维护一个全局的任务等待队列。</a:t>
            </a:r>
          </a:p>
          <a:p>
            <a:pPr lvl="1"/>
            <a:r>
              <a:rPr lang="zh-CN" altLang="en-US" sz="2000" smtClean="0">
                <a:latin typeface="宋体" panose="02010600030101010101" pitchFamily="2" charset="-122"/>
              </a:rPr>
              <a:t>当系统中有一个</a:t>
            </a:r>
            <a:r>
              <a:rPr lang="en-US" altLang="zh-CN" sz="2000" smtClean="0">
                <a:latin typeface="宋体" panose="02010600030101010101" pitchFamily="2" charset="-122"/>
              </a:rPr>
              <a:t>CPU</a:t>
            </a:r>
            <a:r>
              <a:rPr lang="zh-CN" altLang="en-US" sz="2000" smtClean="0">
                <a:latin typeface="宋体" panose="02010600030101010101" pitchFamily="2" charset="-122"/>
              </a:rPr>
              <a:t>核心空闲时，操作系统就从全局任务等待队列中选取就绪任务开始在此核心上执行。</a:t>
            </a:r>
          </a:p>
          <a:p>
            <a:pPr lvl="1"/>
            <a:r>
              <a:rPr lang="zh-CN" altLang="en-US" sz="2000" smtClean="0">
                <a:latin typeface="宋体" panose="02010600030101010101" pitchFamily="2" charset="-122"/>
              </a:rPr>
              <a:t>这种方法的优点是</a:t>
            </a:r>
            <a:r>
              <a:rPr lang="en-US" altLang="zh-CN" sz="2000" smtClean="0">
                <a:latin typeface="宋体" panose="02010600030101010101" pitchFamily="2" charset="-122"/>
              </a:rPr>
              <a:t>CPU</a:t>
            </a:r>
            <a:r>
              <a:rPr lang="zh-CN" altLang="en-US" sz="2000" smtClean="0">
                <a:latin typeface="宋体" panose="02010600030101010101" pitchFamily="2" charset="-122"/>
              </a:rPr>
              <a:t>核心利用率较高。</a:t>
            </a:r>
          </a:p>
          <a:p>
            <a:r>
              <a:rPr lang="zh-CN" altLang="en-US" sz="2000" smtClean="0">
                <a:latin typeface="宋体" panose="02010600030101010101" pitchFamily="2" charset="-122"/>
              </a:rPr>
              <a:t>局部队列调度。</a:t>
            </a:r>
          </a:p>
          <a:p>
            <a:pPr lvl="1"/>
            <a:r>
              <a:rPr lang="zh-CN" altLang="en-US" sz="2000" smtClean="0">
                <a:latin typeface="宋体" panose="02010600030101010101" pitchFamily="2" charset="-122"/>
              </a:rPr>
              <a:t>操作系统为每个</a:t>
            </a:r>
            <a:r>
              <a:rPr lang="en-US" altLang="zh-CN" sz="2000" smtClean="0">
                <a:latin typeface="宋体" panose="02010600030101010101" pitchFamily="2" charset="-122"/>
              </a:rPr>
              <a:t>CPU</a:t>
            </a:r>
            <a:r>
              <a:rPr lang="zh-CN" altLang="en-US" sz="2000" smtClean="0">
                <a:latin typeface="宋体" panose="02010600030101010101" pitchFamily="2" charset="-122"/>
              </a:rPr>
              <a:t>内核维护一个局部的任务等待队列。</a:t>
            </a:r>
          </a:p>
          <a:p>
            <a:pPr lvl="1"/>
            <a:r>
              <a:rPr lang="zh-CN" altLang="en-US" sz="2000" smtClean="0">
                <a:latin typeface="宋体" panose="02010600030101010101" pitchFamily="2" charset="-122"/>
              </a:rPr>
              <a:t>当系统中有一个</a:t>
            </a:r>
            <a:r>
              <a:rPr lang="en-US" altLang="zh-CN" sz="2000" smtClean="0">
                <a:latin typeface="宋体" panose="02010600030101010101" pitchFamily="2" charset="-122"/>
              </a:rPr>
              <a:t>CPU</a:t>
            </a:r>
            <a:r>
              <a:rPr lang="zh-CN" altLang="en-US" sz="2000" smtClean="0">
                <a:latin typeface="宋体" panose="02010600030101010101" pitchFamily="2" charset="-122"/>
              </a:rPr>
              <a:t>内核空闲时，便从该核心的任务等待队列中选取恰当的任务执行。</a:t>
            </a:r>
          </a:p>
          <a:p>
            <a:pPr lvl="1"/>
            <a:r>
              <a:rPr lang="zh-CN" altLang="en-US" sz="2000" smtClean="0">
                <a:latin typeface="宋体" panose="02010600030101010101" pitchFamily="2" charset="-122"/>
              </a:rPr>
              <a:t>这种方法的优点是任务基本上无需在多个</a:t>
            </a:r>
            <a:r>
              <a:rPr lang="en-US" altLang="zh-CN" sz="2000" smtClean="0">
                <a:latin typeface="宋体" panose="02010600030101010101" pitchFamily="2" charset="-122"/>
              </a:rPr>
              <a:t>CPU</a:t>
            </a:r>
            <a:r>
              <a:rPr lang="zh-CN" altLang="en-US" sz="2000" smtClean="0">
                <a:latin typeface="宋体" panose="02010600030101010101" pitchFamily="2" charset="-122"/>
              </a:rPr>
              <a:t>核心间切换，有利于提高</a:t>
            </a:r>
            <a:r>
              <a:rPr lang="en-US" altLang="zh-CN" sz="2000" smtClean="0">
                <a:latin typeface="宋体" panose="02010600030101010101" pitchFamily="2" charset="-122"/>
              </a:rPr>
              <a:t>CPU</a:t>
            </a:r>
            <a:r>
              <a:rPr lang="zh-CN" altLang="en-US" sz="2000" smtClean="0">
                <a:latin typeface="宋体" panose="02010600030101010101" pitchFamily="2" charset="-122"/>
              </a:rPr>
              <a:t>核心局部</a:t>
            </a:r>
            <a:r>
              <a:rPr lang="en-US" altLang="zh-CN" sz="2000" smtClean="0">
                <a:latin typeface="宋体" panose="02010600030101010101" pitchFamily="2" charset="-122"/>
              </a:rPr>
              <a:t>Cache</a:t>
            </a:r>
            <a:r>
              <a:rPr lang="zh-CN" altLang="en-US" sz="2000" smtClean="0">
                <a:latin typeface="宋体" panose="02010600030101010101" pitchFamily="2" charset="-122"/>
              </a:rPr>
              <a:t>命中率。</a:t>
            </a:r>
            <a:endParaRPr lang="en-US" altLang="zh-CN" sz="2000" smtClean="0">
              <a:latin typeface="宋体" panose="02010600030101010101" pitchFamily="2" charset="-122"/>
            </a:endParaRPr>
          </a:p>
        </p:txBody>
      </p:sp>
      <p:sp>
        <p:nvSpPr>
          <p:cNvPr id="77827"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 calcmode="lin" valueType="num">
                                      <p:cBhvr additive="base">
                                        <p:cTn id="2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anim calcmode="lin" valueType="num">
                                      <p:cBhvr additive="base">
                                        <p:cTn id="2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内容占位符 1"/>
          <p:cNvSpPr>
            <a:spLocks noGrp="1"/>
          </p:cNvSpPr>
          <p:nvPr>
            <p:ph idx="1"/>
          </p:nvPr>
        </p:nvSpPr>
        <p:spPr>
          <a:xfrm>
            <a:off x="152400" y="1260475"/>
            <a:ext cx="8991600" cy="5445125"/>
          </a:xfrm>
        </p:spPr>
        <p:txBody>
          <a:bodyPr/>
          <a:lstStyle/>
          <a:p>
            <a:pPr>
              <a:defRPr/>
            </a:pPr>
            <a:r>
              <a:rPr lang="en-US" altLang="zh-CN" sz="2000" dirty="0" smtClean="0"/>
              <a:t>a.</a:t>
            </a:r>
            <a:r>
              <a:rPr lang="zh-CN" altLang="en-US" sz="2000" dirty="0" smtClean="0"/>
              <a:t>多核</a:t>
            </a:r>
            <a:r>
              <a:rPr lang="en-US" altLang="zh-CN" sz="2000" dirty="0" smtClean="0"/>
              <a:t>CPU——</a:t>
            </a:r>
            <a:r>
              <a:rPr lang="zh-CN" altLang="en-US" sz="2000" dirty="0" smtClean="0"/>
              <a:t>计算密集型任务</a:t>
            </a:r>
            <a:r>
              <a:rPr lang="zh-CN" altLang="en-US" sz="2000" b="0" dirty="0" smtClean="0"/>
              <a:t>。尽量使用多线程，例如加密、解密，数据压缩解压缩（视频、音频、普通数据）。</a:t>
            </a:r>
          </a:p>
          <a:p>
            <a:pPr>
              <a:defRPr/>
            </a:pPr>
            <a:r>
              <a:rPr lang="en-US" altLang="zh-CN" sz="2000" dirty="0" smtClean="0"/>
              <a:t>b.</a:t>
            </a:r>
            <a:r>
              <a:rPr lang="zh-CN" altLang="en-US" sz="2000" dirty="0" smtClean="0"/>
              <a:t>单核</a:t>
            </a:r>
            <a:r>
              <a:rPr lang="en-US" altLang="zh-CN" sz="2000" dirty="0" smtClean="0"/>
              <a:t>CPU——</a:t>
            </a:r>
            <a:r>
              <a:rPr lang="zh-CN" altLang="en-US" sz="2000" dirty="0" smtClean="0"/>
              <a:t>计算密集型任务</a:t>
            </a:r>
            <a:r>
              <a:rPr lang="zh-CN" altLang="en-US" sz="2000" b="0" dirty="0" smtClean="0"/>
              <a:t>。任务已经把</a:t>
            </a:r>
            <a:r>
              <a:rPr lang="en-US" altLang="zh-CN" sz="2000" b="0" dirty="0" smtClean="0"/>
              <a:t>CPU</a:t>
            </a:r>
            <a:r>
              <a:rPr lang="zh-CN" altLang="en-US" sz="2000" b="0" dirty="0" smtClean="0"/>
              <a:t>资源消耗了，使用多线程提升</a:t>
            </a:r>
            <a:r>
              <a:rPr lang="en-US" altLang="zh-CN" sz="2000" b="0" dirty="0" smtClean="0"/>
              <a:t>CPU</a:t>
            </a:r>
            <a:r>
              <a:rPr lang="zh-CN" altLang="en-US" sz="2000" b="0" dirty="0" smtClean="0"/>
              <a:t>利用率空间很小；如果人机交互多，尽量用多线程。</a:t>
            </a:r>
            <a:endParaRPr lang="en-US" altLang="zh-CN" sz="2000" b="0" dirty="0" smtClean="0"/>
          </a:p>
          <a:p>
            <a:pPr>
              <a:defRPr/>
            </a:pPr>
            <a:endParaRPr lang="zh-CN" altLang="en-US" sz="2000" b="0" dirty="0" smtClean="0"/>
          </a:p>
          <a:p>
            <a:pPr>
              <a:defRPr/>
            </a:pPr>
            <a:r>
              <a:rPr lang="en-US" altLang="zh-CN" sz="2000" dirty="0" smtClean="0"/>
              <a:t>c.</a:t>
            </a:r>
            <a:r>
              <a:rPr lang="zh-CN" altLang="en-US" sz="2000" dirty="0" smtClean="0"/>
              <a:t>单核</a:t>
            </a:r>
            <a:r>
              <a:rPr lang="en-US" altLang="zh-CN" sz="2000" dirty="0" smtClean="0"/>
              <a:t>CPU——IO</a:t>
            </a:r>
            <a:r>
              <a:rPr lang="zh-CN" altLang="en-US" sz="2000" dirty="0" smtClean="0"/>
              <a:t>密集型任务</a:t>
            </a:r>
            <a:r>
              <a:rPr lang="zh-CN" altLang="en-US" sz="2000" b="0" dirty="0" smtClean="0"/>
              <a:t>，使用多线程还是为了人机交互，</a:t>
            </a:r>
          </a:p>
          <a:p>
            <a:pPr>
              <a:defRPr/>
            </a:pPr>
            <a:r>
              <a:rPr lang="en-US" altLang="zh-CN" sz="2000" dirty="0" smtClean="0"/>
              <a:t>d.</a:t>
            </a:r>
            <a:r>
              <a:rPr lang="zh-CN" altLang="en-US" sz="2000" dirty="0" smtClean="0"/>
              <a:t>多核</a:t>
            </a:r>
            <a:r>
              <a:rPr lang="en-US" altLang="zh-CN" sz="2000" dirty="0" smtClean="0"/>
              <a:t>CPU——IO</a:t>
            </a:r>
            <a:r>
              <a:rPr lang="zh-CN" altLang="en-US" sz="2000" dirty="0" smtClean="0"/>
              <a:t>密集型任务，</a:t>
            </a:r>
            <a:r>
              <a:rPr lang="zh-CN" altLang="en-US" sz="2000" b="0" dirty="0" smtClean="0"/>
              <a:t>跟单核原因一样。</a:t>
            </a:r>
          </a:p>
          <a:p>
            <a:pPr>
              <a:defRPr/>
            </a:pPr>
            <a:endParaRPr lang="zh-CN" altLang="en-US" sz="1050" dirty="0" smtClean="0">
              <a:latin typeface="宋体" panose="02010600030101010101" pitchFamily="2" charset="-122"/>
            </a:endParaRPr>
          </a:p>
        </p:txBody>
      </p:sp>
      <p:sp>
        <p:nvSpPr>
          <p:cNvPr id="79875" name="Rectangle 2"/>
          <p:cNvSpPr>
            <a:spLocks noGrp="1" noChangeArrowheads="1"/>
          </p:cNvSpPr>
          <p:nvPr>
            <p:ph type="title"/>
          </p:nvPr>
        </p:nvSpPr>
        <p:spPr>
          <a:xfrm>
            <a:off x="0" y="304800"/>
            <a:ext cx="9144000" cy="676275"/>
          </a:xfrm>
        </p:spPr>
        <p:txBody>
          <a:bodyPr/>
          <a:lstStyle/>
          <a:p>
            <a:pPr eaLnBrk="1" hangingPunct="1"/>
            <a:r>
              <a:rPr lang="zh-CN" altLang="en-US" sz="3200" smtClean="0">
                <a:sym typeface="Symbol" panose="05050102010706020507" pitchFamily="18" charset="2"/>
              </a:rPr>
              <a:t>（</a:t>
            </a:r>
            <a:r>
              <a:rPr lang="en-US" altLang="zh-CN" sz="3200" smtClean="0">
                <a:sym typeface="Symbol" panose="05050102010706020507" pitchFamily="18" charset="2"/>
              </a:rPr>
              <a:t>7</a:t>
            </a:r>
            <a:r>
              <a:rPr lang="zh-CN" altLang="en-US" sz="3200" smtClean="0">
                <a:sym typeface="Symbol" panose="05050102010706020507" pitchFamily="18" charset="2"/>
              </a:rPr>
              <a:t>）</a:t>
            </a:r>
            <a:r>
              <a:rPr lang="zh-CN" altLang="en-US" sz="3200" smtClean="0">
                <a:latin typeface="宋体" panose="02010600030101010101" pitchFamily="2" charset="-122"/>
              </a:rPr>
              <a:t>多核</a:t>
            </a:r>
            <a:r>
              <a:rPr lang="en-US" altLang="zh-CN" sz="3200" smtClean="0">
                <a:latin typeface="宋体" panose="02010600030101010101" pitchFamily="2" charset="-122"/>
              </a:rPr>
              <a:t>CPU</a:t>
            </a:r>
            <a:r>
              <a:rPr lang="zh-CN" altLang="en-US" sz="3200" smtClean="0">
                <a:latin typeface="宋体" panose="02010600030101010101" pitchFamily="2" charset="-122"/>
              </a:rPr>
              <a:t>调度算法</a:t>
            </a:r>
            <a:endParaRPr lang="zh-CN" altLang="zh-CN" sz="3200" smtClean="0">
              <a:sym typeface="Symbol" panose="05050102010706020507" pitchFamily="18" charset="2"/>
            </a:endParaRPr>
          </a:p>
        </p:txBody>
      </p:sp>
      <p:sp>
        <p:nvSpPr>
          <p:cNvPr id="4" name="矩形 3"/>
          <p:cNvSpPr/>
          <p:nvPr/>
        </p:nvSpPr>
        <p:spPr>
          <a:xfrm>
            <a:off x="5181600" y="520700"/>
            <a:ext cx="3587750" cy="461963"/>
          </a:xfrm>
          <a:prstGeom prst="rect">
            <a:avLst/>
          </a:prstGeom>
        </p:spPr>
        <p:txBody>
          <a:bodyPr wrap="none">
            <a:spAutoFit/>
          </a:bodyPr>
          <a:lstStyle/>
          <a:p>
            <a:pPr>
              <a:defRPr/>
            </a:pPr>
            <a:r>
              <a:rPr lang="zh-CN" altLang="en-US" kern="0" dirty="0">
                <a:solidFill>
                  <a:srgbClr val="FF0000"/>
                </a:solidFill>
              </a:rPr>
              <a:t>多核、多线程与任务类型</a:t>
            </a:r>
            <a:endParaRPr lang="zh-CN" altLang="en-US" dirty="0"/>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381000" y="304800"/>
            <a:ext cx="8763000" cy="676275"/>
          </a:xfrm>
        </p:spPr>
        <p:txBody>
          <a:bodyPr/>
          <a:lstStyle/>
          <a:p>
            <a:pPr eaLnBrk="1" hangingPunct="1"/>
            <a:r>
              <a:rPr lang="en-US" altLang="zh-CN" dirty="0" smtClean="0">
                <a:sym typeface="Symbol" panose="05050102010706020507" pitchFamily="18" charset="2"/>
              </a:rPr>
              <a:t>Linux</a:t>
            </a:r>
            <a:r>
              <a:rPr lang="zh-CN" altLang="en-US" dirty="0" smtClean="0">
                <a:sym typeface="Symbol" panose="05050102010706020507" pitchFamily="18" charset="2"/>
              </a:rPr>
              <a:t>中（分时</a:t>
            </a:r>
            <a:r>
              <a:rPr lang="en-US" altLang="zh-CN" dirty="0" smtClean="0">
                <a:sym typeface="Symbol" panose="05050102010706020507" pitchFamily="18" charset="2"/>
              </a:rPr>
              <a:t>OS</a:t>
            </a:r>
            <a:r>
              <a:rPr lang="zh-CN" altLang="en-US" dirty="0" smtClean="0">
                <a:sym typeface="Symbol" panose="05050102010706020507" pitchFamily="18" charset="2"/>
              </a:rPr>
              <a:t>）的</a:t>
            </a:r>
            <a:r>
              <a:rPr lang="zh-CN" altLang="en-US" dirty="0" smtClean="0">
                <a:sym typeface="Symbol" panose="05050102010706020507" pitchFamily="18" charset="2"/>
              </a:rPr>
              <a:t>调度时机（调度点）</a:t>
            </a:r>
          </a:p>
        </p:txBody>
      </p:sp>
      <p:sp>
        <p:nvSpPr>
          <p:cNvPr id="210949" name="Rectangle 5"/>
          <p:cNvSpPr>
            <a:spLocks noChangeArrowheads="1"/>
          </p:cNvSpPr>
          <p:nvPr/>
        </p:nvSpPr>
        <p:spPr bwMode="auto">
          <a:xfrm>
            <a:off x="685800" y="2057400"/>
            <a:ext cx="7848600" cy="3657600"/>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78" tIns="44445" rIns="90478" bIns="44445"/>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2000">
                <a:solidFill>
                  <a:srgbClr val="000099"/>
                </a:solidFill>
                <a:latin typeface="Courier New" panose="02070309020205020404" pitchFamily="49" charset="0"/>
              </a:rPr>
              <a:t>在</a:t>
            </a:r>
            <a:r>
              <a:rPr lang="en-US" altLang="zh-CN" sz="2000">
                <a:solidFill>
                  <a:srgbClr val="000099"/>
                </a:solidFill>
                <a:latin typeface="Courier New" panose="02070309020205020404" pitchFamily="49" charset="0"/>
              </a:rPr>
              <a:t>linux/kernel/system_call.s</a:t>
            </a:r>
            <a:r>
              <a:rPr lang="zh-CN" altLang="en-US" sz="2000">
                <a:solidFill>
                  <a:srgbClr val="000099"/>
                </a:solidFill>
                <a:latin typeface="Courier New" panose="02070309020205020404" pitchFamily="49" charset="0"/>
              </a:rPr>
              <a:t>中</a:t>
            </a:r>
          </a:p>
          <a:p>
            <a:pPr eaLnBrk="1" hangingPunct="1">
              <a:buFont typeface="Wingdings" panose="05000000000000000000" pitchFamily="2" charset="2"/>
              <a:buNone/>
            </a:pPr>
            <a:r>
              <a:rPr lang="en-US" altLang="zh-CN" sz="2000">
                <a:latin typeface="Courier New" panose="02070309020205020404" pitchFamily="49" charset="0"/>
              </a:rPr>
              <a:t>_system_call:</a:t>
            </a:r>
          </a:p>
          <a:p>
            <a:pPr eaLnBrk="1" hangingPunct="1">
              <a:buFont typeface="Wingdings" panose="05000000000000000000" pitchFamily="2" charset="2"/>
              <a:buNone/>
            </a:pPr>
            <a:r>
              <a:rPr lang="en-US" altLang="zh-CN" sz="2000">
                <a:latin typeface="Courier New" panose="02070309020205020404" pitchFamily="49" charset="0"/>
              </a:rPr>
              <a:t>  call _sys_call_table(,%eax,4) //</a:t>
            </a:r>
            <a:r>
              <a:rPr lang="zh-CN" altLang="en-US" sz="2000">
                <a:latin typeface="Courier New" panose="02070309020205020404" pitchFamily="49" charset="0"/>
              </a:rPr>
              <a:t>执行系统调用</a:t>
            </a:r>
          </a:p>
          <a:p>
            <a:pPr eaLnBrk="1" hangingPunct="1">
              <a:buFont typeface="Wingdings" panose="05000000000000000000" pitchFamily="2" charset="2"/>
              <a:buNone/>
            </a:pPr>
            <a:r>
              <a:rPr lang="zh-CN" altLang="en-US" sz="2000">
                <a:latin typeface="Courier New" panose="02070309020205020404" pitchFamily="49" charset="0"/>
              </a:rPr>
              <a:t>  </a:t>
            </a:r>
            <a:r>
              <a:rPr lang="en-US" altLang="zh-CN" sz="2000">
                <a:latin typeface="Courier New" panose="02070309020205020404" pitchFamily="49" charset="0"/>
              </a:rPr>
              <a:t>pushl %eax  //</a:t>
            </a:r>
            <a:r>
              <a:rPr lang="zh-CN" altLang="en-US" sz="2000">
                <a:latin typeface="Courier New" panose="02070309020205020404" pitchFamily="49" charset="0"/>
              </a:rPr>
              <a:t>将返回值压栈</a:t>
            </a:r>
          </a:p>
          <a:p>
            <a:pPr eaLnBrk="1" hangingPunct="1">
              <a:buFont typeface="Wingdings" panose="05000000000000000000" pitchFamily="2" charset="2"/>
              <a:buNone/>
            </a:pPr>
            <a:r>
              <a:rPr lang="zh-CN" altLang="en-US" sz="2000">
                <a:latin typeface="Courier New" panose="02070309020205020404" pitchFamily="49" charset="0"/>
              </a:rPr>
              <a:t>  </a:t>
            </a:r>
            <a:r>
              <a:rPr lang="en-US" altLang="zh-CN" sz="2000">
                <a:latin typeface="Courier New" panose="02070309020205020404" pitchFamily="49" charset="0"/>
              </a:rPr>
              <a:t>movl _current,%eax //</a:t>
            </a:r>
            <a:r>
              <a:rPr lang="zh-CN" altLang="en-US" sz="2000">
                <a:latin typeface="Courier New" panose="02070309020205020404" pitchFamily="49" charset="0"/>
              </a:rPr>
              <a:t>取出当前进程指针</a:t>
            </a:r>
          </a:p>
          <a:p>
            <a:pPr eaLnBrk="1" hangingPunct="1">
              <a:buFont typeface="Wingdings" panose="05000000000000000000" pitchFamily="2" charset="2"/>
              <a:buNone/>
            </a:pPr>
            <a:r>
              <a:rPr lang="zh-CN" altLang="en-US" sz="2000">
                <a:latin typeface="Courier New" panose="02070309020205020404" pitchFamily="49" charset="0"/>
              </a:rPr>
              <a:t>  </a:t>
            </a:r>
            <a:r>
              <a:rPr lang="en-US" altLang="zh-CN" sz="2000">
                <a:latin typeface="Courier New" panose="02070309020205020404" pitchFamily="49" charset="0"/>
              </a:rPr>
              <a:t>cmpl $0,state(%eax) //</a:t>
            </a:r>
            <a:r>
              <a:rPr lang="zh-CN" altLang="en-US" sz="2000">
                <a:latin typeface="Courier New" panose="02070309020205020404" pitchFamily="49" charset="0"/>
              </a:rPr>
              <a:t>看当前进程状态是否为</a:t>
            </a:r>
            <a:r>
              <a:rPr lang="en-US" altLang="zh-CN" sz="2000">
                <a:latin typeface="Courier New" panose="02070309020205020404" pitchFamily="49" charset="0"/>
              </a:rPr>
              <a:t>0(</a:t>
            </a:r>
            <a:r>
              <a:rPr lang="zh-CN" altLang="en-US" sz="2000">
                <a:latin typeface="Courier New" panose="02070309020205020404" pitchFamily="49" charset="0"/>
              </a:rPr>
              <a:t>就绪</a:t>
            </a:r>
            <a:r>
              <a:rPr lang="en-US" altLang="zh-CN" sz="2000">
                <a:latin typeface="Courier New" panose="02070309020205020404" pitchFamily="49" charset="0"/>
              </a:rPr>
              <a:t>)</a:t>
            </a:r>
          </a:p>
          <a:p>
            <a:pPr eaLnBrk="1" hangingPunct="1">
              <a:buFont typeface="Wingdings" panose="05000000000000000000" pitchFamily="2" charset="2"/>
              <a:buNone/>
            </a:pPr>
            <a:r>
              <a:rPr lang="en-US" altLang="zh-CN" sz="2000">
                <a:latin typeface="Courier New" panose="02070309020205020404" pitchFamily="49" charset="0"/>
              </a:rPr>
              <a:t>  jne reschedule//</a:t>
            </a:r>
            <a:r>
              <a:rPr lang="zh-CN" altLang="en-US" sz="2000">
                <a:solidFill>
                  <a:srgbClr val="FF0000"/>
                </a:solidFill>
                <a:latin typeface="Courier New" panose="02070309020205020404" pitchFamily="49" charset="0"/>
              </a:rPr>
              <a:t>不是</a:t>
            </a:r>
            <a:r>
              <a:rPr lang="en-US" altLang="zh-CN" sz="2000">
                <a:solidFill>
                  <a:srgbClr val="FF0000"/>
                </a:solidFill>
                <a:latin typeface="Courier New" panose="02070309020205020404" pitchFamily="49" charset="0"/>
              </a:rPr>
              <a:t>0</a:t>
            </a:r>
            <a:r>
              <a:rPr lang="zh-CN" altLang="en-US" sz="2000">
                <a:solidFill>
                  <a:srgbClr val="FF0000"/>
                </a:solidFill>
                <a:latin typeface="Courier New" panose="02070309020205020404" pitchFamily="49" charset="0"/>
              </a:rPr>
              <a:t>，所以想调度只需修改该域为非</a:t>
            </a:r>
            <a:r>
              <a:rPr lang="en-US" altLang="zh-CN" sz="2000">
                <a:solidFill>
                  <a:srgbClr val="FF0000"/>
                </a:solidFill>
                <a:latin typeface="Courier New" panose="02070309020205020404" pitchFamily="49" charset="0"/>
              </a:rPr>
              <a:t>0</a:t>
            </a:r>
            <a:r>
              <a:rPr lang="zh-CN" altLang="en-US" sz="2000">
                <a:solidFill>
                  <a:srgbClr val="FF0000"/>
                </a:solidFill>
                <a:latin typeface="Courier New" panose="02070309020205020404" pitchFamily="49" charset="0"/>
              </a:rPr>
              <a:t>即可</a:t>
            </a:r>
          </a:p>
          <a:p>
            <a:pPr eaLnBrk="1" hangingPunct="1">
              <a:lnSpc>
                <a:spcPct val="90000"/>
              </a:lnSpc>
              <a:buFont typeface="Wingdings" panose="05000000000000000000" pitchFamily="2" charset="2"/>
              <a:buNone/>
            </a:pPr>
            <a:r>
              <a:rPr lang="en-US" altLang="zh-CN" sz="2000">
                <a:latin typeface="Courier New" panose="02070309020205020404" pitchFamily="49" charset="0"/>
              </a:rPr>
              <a:t>reschedule: pushl $ret_from_sys_call</a:t>
            </a:r>
          </a:p>
          <a:p>
            <a:pPr eaLnBrk="1" hangingPunct="1">
              <a:lnSpc>
                <a:spcPct val="90000"/>
              </a:lnSpc>
              <a:buFont typeface="Wingdings" panose="05000000000000000000" pitchFamily="2" charset="2"/>
              <a:buNone/>
            </a:pPr>
            <a:r>
              <a:rPr lang="en-US" altLang="zh-CN" sz="2000">
                <a:latin typeface="Courier New" panose="02070309020205020404" pitchFamily="49" charset="0"/>
              </a:rPr>
              <a:t>  </a:t>
            </a:r>
            <a:r>
              <a:rPr lang="en-US" altLang="zh-CN" sz="2000">
                <a:solidFill>
                  <a:srgbClr val="FF0000"/>
                </a:solidFill>
                <a:latin typeface="Courier New" panose="02070309020205020404" pitchFamily="49" charset="0"/>
              </a:rPr>
              <a:t>jmp _schedule</a:t>
            </a:r>
            <a:r>
              <a:rPr lang="en-US" altLang="zh-CN" sz="2000">
                <a:latin typeface="Courier New" panose="02070309020205020404" pitchFamily="49" charset="0"/>
              </a:rPr>
              <a:t>  //</a:t>
            </a:r>
            <a:r>
              <a:rPr lang="zh-CN" altLang="en-US" sz="2000">
                <a:latin typeface="Courier New" panose="02070309020205020404" pitchFamily="49" charset="0"/>
              </a:rPr>
              <a:t>转去执行</a:t>
            </a:r>
            <a:r>
              <a:rPr lang="en-US" altLang="zh-CN" sz="2000">
                <a:latin typeface="Courier New" panose="02070309020205020404" pitchFamily="49" charset="0"/>
              </a:rPr>
              <a:t>schedule()</a:t>
            </a:r>
            <a:r>
              <a:rPr lang="zh-CN" altLang="en-US" sz="2000">
                <a:latin typeface="Courier New" panose="02070309020205020404" pitchFamily="49" charset="0"/>
              </a:rPr>
              <a:t>，调度</a:t>
            </a:r>
          </a:p>
          <a:p>
            <a:pPr eaLnBrk="1" hangingPunct="1">
              <a:lnSpc>
                <a:spcPct val="90000"/>
              </a:lnSpc>
              <a:buFont typeface="Wingdings" panose="05000000000000000000" pitchFamily="2" charset="2"/>
              <a:buNone/>
            </a:pPr>
            <a:r>
              <a:rPr lang="en-US" altLang="zh-CN" sz="2000">
                <a:latin typeface="Courier New" panose="02070309020205020404" pitchFamily="49" charset="0"/>
              </a:rPr>
              <a:t>ret_from_sys_call: pop xx   </a:t>
            </a:r>
            <a:r>
              <a:rPr lang="en-US" altLang="zh-CN" sz="2000">
                <a:solidFill>
                  <a:srgbClr val="FF0000"/>
                </a:solidFill>
                <a:latin typeface="Courier New" panose="02070309020205020404" pitchFamily="49" charset="0"/>
              </a:rPr>
              <a:t>iret</a:t>
            </a:r>
            <a:r>
              <a:rPr lang="en-US" altLang="zh-CN" sz="2000">
                <a:latin typeface="Courier New" panose="02070309020205020404" pitchFamily="49" charset="0"/>
              </a:rPr>
              <a:t>//</a:t>
            </a:r>
            <a:r>
              <a:rPr lang="zh-CN" altLang="en-US" sz="2000">
                <a:latin typeface="Courier New" panose="02070309020205020404" pitchFamily="49" charset="0"/>
              </a:rPr>
              <a:t>切换回用户态执行</a:t>
            </a:r>
            <a:r>
              <a:rPr lang="zh-CN" altLang="en-US" sz="2400">
                <a:latin typeface="Courier New" panose="02070309020205020404" pitchFamily="49" charset="0"/>
              </a:rPr>
              <a:t>  </a:t>
            </a:r>
          </a:p>
        </p:txBody>
      </p:sp>
      <p:grpSp>
        <p:nvGrpSpPr>
          <p:cNvPr id="210957" name="Group 13"/>
          <p:cNvGrpSpPr>
            <a:grpSpLocks/>
          </p:cNvGrpSpPr>
          <p:nvPr/>
        </p:nvGrpSpPr>
        <p:grpSpPr bwMode="auto">
          <a:xfrm>
            <a:off x="296863" y="1066800"/>
            <a:ext cx="8389937" cy="968375"/>
            <a:chOff x="187" y="676"/>
            <a:chExt cx="5285" cy="610"/>
          </a:xfrm>
        </p:grpSpPr>
        <p:sp>
          <p:nvSpPr>
            <p:cNvPr id="81928" name="Rectangle 11"/>
            <p:cNvSpPr>
              <a:spLocks noChangeArrowheads="1"/>
            </p:cNvSpPr>
            <p:nvPr/>
          </p:nvSpPr>
          <p:spPr bwMode="auto">
            <a:xfrm>
              <a:off x="187" y="676"/>
              <a:ext cx="5285"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20000"/>
                </a:lnSpc>
                <a:spcBef>
                  <a:spcPct val="0"/>
                </a:spcBef>
                <a:buClrTx/>
                <a:buSzTx/>
                <a:buFontTx/>
                <a:buNone/>
              </a:pPr>
              <a:r>
                <a:rPr lang="zh-CN" altLang="en-US" sz="2400"/>
                <a:t>由用户引起的调度</a:t>
              </a:r>
              <a:r>
                <a:rPr lang="en-US" altLang="zh-CN" sz="2400"/>
                <a:t>: </a:t>
              </a:r>
              <a:r>
                <a:rPr lang="zh-CN" altLang="en-US" sz="2400"/>
                <a:t>如创建进程、调用</a:t>
              </a:r>
              <a:r>
                <a:rPr lang="en-US" altLang="zh-CN" sz="2400"/>
                <a:t>wait</a:t>
              </a:r>
              <a:r>
                <a:rPr lang="zh-CN" altLang="en-US" sz="2400"/>
                <a:t>等让出</a:t>
              </a:r>
              <a:r>
                <a:rPr lang="en-US" altLang="zh-CN" sz="2400"/>
                <a:t>CPU</a:t>
              </a:r>
              <a:r>
                <a:rPr lang="zh-CN" altLang="en-US" sz="2400"/>
                <a:t>。此时的调度时机是</a:t>
              </a:r>
              <a:r>
                <a:rPr lang="zh-CN" altLang="en-US" sz="2400">
                  <a:solidFill>
                    <a:srgbClr val="FF0000"/>
                  </a:solidFill>
                </a:rPr>
                <a:t>系统调用返回</a:t>
              </a:r>
              <a:r>
                <a:rPr lang="zh-CN" altLang="en-US" sz="2400"/>
                <a:t>，</a:t>
              </a:r>
              <a:r>
                <a:rPr lang="en-US" altLang="zh-CN" sz="2400"/>
                <a:t>fork</a:t>
              </a:r>
              <a:r>
                <a:rPr lang="zh-CN" altLang="en-US" sz="2400"/>
                <a:t>等都是系统调用</a:t>
              </a:r>
            </a:p>
          </p:txBody>
        </p:sp>
        <p:pic>
          <p:nvPicPr>
            <p:cNvPr id="81929" name="Picture 12"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 y="83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0958" name="Group 14"/>
          <p:cNvGrpSpPr>
            <a:grpSpLocks/>
          </p:cNvGrpSpPr>
          <p:nvPr/>
        </p:nvGrpSpPr>
        <p:grpSpPr bwMode="auto">
          <a:xfrm>
            <a:off x="304800" y="5673725"/>
            <a:ext cx="8389938" cy="968375"/>
            <a:chOff x="187" y="676"/>
            <a:chExt cx="5285" cy="610"/>
          </a:xfrm>
        </p:grpSpPr>
        <p:sp>
          <p:nvSpPr>
            <p:cNvPr id="81926" name="Rectangle 15"/>
            <p:cNvSpPr>
              <a:spLocks noChangeArrowheads="1"/>
            </p:cNvSpPr>
            <p:nvPr/>
          </p:nvSpPr>
          <p:spPr bwMode="auto">
            <a:xfrm>
              <a:off x="187" y="676"/>
              <a:ext cx="5285" cy="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lvl="1" eaLnBrk="1" hangingPunct="1">
                <a:lnSpc>
                  <a:spcPct val="120000"/>
                </a:lnSpc>
                <a:spcBef>
                  <a:spcPct val="0"/>
                </a:spcBef>
                <a:buClrTx/>
                <a:buSzTx/>
                <a:buFontTx/>
                <a:buNone/>
              </a:pPr>
              <a:r>
                <a:rPr lang="zh-CN" altLang="en-US" sz="2400"/>
                <a:t>由内核引起的调度</a:t>
              </a:r>
              <a:r>
                <a:rPr lang="en-US" altLang="zh-CN" sz="2400"/>
                <a:t>: </a:t>
              </a:r>
              <a:r>
                <a:rPr lang="zh-CN" altLang="en-US" sz="2400"/>
                <a:t>如时钟中断，给资源上锁等。此时只需在内核的</a:t>
              </a:r>
              <a:r>
                <a:rPr lang="zh-CN" altLang="en-US" sz="2400">
                  <a:solidFill>
                    <a:srgbClr val="FF0000"/>
                  </a:solidFill>
                </a:rPr>
                <a:t>适当位置</a:t>
              </a:r>
              <a:r>
                <a:rPr lang="en-US" altLang="zh-CN" sz="2400">
                  <a:solidFill>
                    <a:srgbClr val="FF0000"/>
                  </a:solidFill>
                </a:rPr>
                <a:t>(</a:t>
              </a:r>
              <a:r>
                <a:rPr lang="zh-CN" altLang="en-US" sz="2400">
                  <a:solidFill>
                    <a:srgbClr val="FF0000"/>
                  </a:solidFill>
                </a:rPr>
                <a:t>如</a:t>
              </a:r>
              <a:r>
                <a:rPr lang="en-US" altLang="zh-CN" sz="2400">
                  <a:solidFill>
                    <a:srgbClr val="FF0000"/>
                  </a:solidFill>
                </a:rPr>
                <a:t>do_timer())</a:t>
              </a:r>
              <a:r>
                <a:rPr lang="zh-CN" altLang="en-US" sz="2400">
                  <a:solidFill>
                    <a:srgbClr val="FF0000"/>
                  </a:solidFill>
                </a:rPr>
                <a:t>调用</a:t>
              </a:r>
              <a:r>
                <a:rPr lang="en-US" altLang="zh-CN" sz="2400">
                  <a:solidFill>
                    <a:srgbClr val="FF0000"/>
                  </a:solidFill>
                </a:rPr>
                <a:t>schedule()</a:t>
              </a:r>
              <a:endParaRPr lang="en-US" altLang="zh-CN" sz="2400">
                <a:solidFill>
                  <a:srgbClr val="FF0000"/>
                </a:solidFill>
                <a:sym typeface="Symbol" panose="05050102010706020507" pitchFamily="18" charset="2"/>
              </a:endParaRPr>
            </a:p>
          </p:txBody>
        </p:sp>
        <p:pic>
          <p:nvPicPr>
            <p:cNvPr id="81927" name="Picture 16" descr="j01158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 y="832"/>
              <a:ext cx="119"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10957"/>
                                        </p:tgtEl>
                                        <p:attrNameLst>
                                          <p:attrName>style.visibility</p:attrName>
                                        </p:attrNameLst>
                                      </p:cBhvr>
                                      <p:to>
                                        <p:strVal val="visible"/>
                                      </p:to>
                                    </p:set>
                                    <p:animEffect transition="in" filter="dissolve">
                                      <p:cBhvr>
                                        <p:cTn id="7" dur="500"/>
                                        <p:tgtEl>
                                          <p:spTgt spid="2109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0949"/>
                                        </p:tgtEl>
                                        <p:attrNameLst>
                                          <p:attrName>style.visibility</p:attrName>
                                        </p:attrNameLst>
                                      </p:cBhvr>
                                      <p:to>
                                        <p:strVal val="visible"/>
                                      </p:to>
                                    </p:set>
                                    <p:animEffect transition="in" filter="dissolve">
                                      <p:cBhvr>
                                        <p:cTn id="12" dur="500"/>
                                        <p:tgtEl>
                                          <p:spTgt spid="2109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10958"/>
                                        </p:tgtEl>
                                        <p:attrNameLst>
                                          <p:attrName>style.visibility</p:attrName>
                                        </p:attrNameLst>
                                      </p:cBhvr>
                                      <p:to>
                                        <p:strVal val="visible"/>
                                      </p:to>
                                    </p:set>
                                    <p:animEffect transition="in" filter="dissolve">
                                      <p:cBhvr>
                                        <p:cTn id="17" dur="500"/>
                                        <p:tgtEl>
                                          <p:spTgt spid="210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1"/>
          <p:cNvSpPr>
            <a:spLocks noGrp="1"/>
          </p:cNvSpPr>
          <p:nvPr>
            <p:ph type="title"/>
          </p:nvPr>
        </p:nvSpPr>
        <p:spPr/>
        <p:txBody>
          <a:bodyPr/>
          <a:lstStyle/>
          <a:p>
            <a:r>
              <a:rPr lang="zh-CN" altLang="en-US" smtClean="0">
                <a:sym typeface="Symbol" panose="05050102010706020507" pitchFamily="18" charset="2"/>
              </a:rPr>
              <a:t>（实时）嵌入式操作系统调度时机</a:t>
            </a:r>
            <a:endParaRPr lang="zh-CN" altLang="en-US" smtClean="0"/>
          </a:p>
        </p:txBody>
      </p:sp>
      <p:sp>
        <p:nvSpPr>
          <p:cNvPr id="83971" name="内容占位符 2"/>
          <p:cNvSpPr>
            <a:spLocks noGrp="1"/>
          </p:cNvSpPr>
          <p:nvPr>
            <p:ph idx="1"/>
          </p:nvPr>
        </p:nvSpPr>
        <p:spPr>
          <a:xfrm>
            <a:off x="457200" y="1524000"/>
            <a:ext cx="8229600" cy="4525962"/>
          </a:xfrm>
        </p:spPr>
        <p:txBody>
          <a:bodyPr/>
          <a:lstStyle/>
          <a:p>
            <a:r>
              <a:rPr lang="zh-CN" altLang="en-US" sz="3200" dirty="0" smtClean="0"/>
              <a:t>一都基于优先级抢占调度策略：</a:t>
            </a:r>
            <a:endParaRPr lang="en-US" altLang="zh-CN" sz="3200" dirty="0" smtClean="0"/>
          </a:p>
          <a:p>
            <a:r>
              <a:rPr lang="zh-CN" altLang="en-US" sz="2400" b="0" dirty="0" smtClean="0"/>
              <a:t>引起</a:t>
            </a:r>
            <a:r>
              <a:rPr lang="zh-CN" altLang="en-US" sz="2400" b="0" dirty="0" smtClean="0"/>
              <a:t>任务阻塞或使阻塞任务变为就绪的系统调用返回</a:t>
            </a:r>
            <a:r>
              <a:rPr lang="zh-CN" altLang="en-US" sz="2400" b="0" dirty="0" smtClean="0"/>
              <a:t>点；</a:t>
            </a:r>
            <a:endParaRPr lang="en-US" altLang="zh-CN" sz="2400" b="0" dirty="0" smtClean="0"/>
          </a:p>
          <a:p>
            <a:r>
              <a:rPr lang="zh-CN" altLang="en-US" sz="2400" b="0" dirty="0" smtClean="0"/>
              <a:t>对于同优先级采用时间片轮转，此时时间片定时中断发生时进行调度。</a:t>
            </a:r>
            <a:endParaRPr lang="zh-CN" altLang="en-US" sz="2400" b="0" dirty="0" smtClean="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endParaRPr lang="zh-CN" altLang="zh-CN" smtClean="0"/>
          </a:p>
        </p:txBody>
      </p:sp>
      <p:pic>
        <p:nvPicPr>
          <p:cNvPr id="84995" name="Picture 3" descr="j02919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3063" y="0"/>
            <a:ext cx="11509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6" name="Rectangle 4"/>
          <p:cNvSpPr>
            <a:spLocks noChangeArrowheads="1"/>
          </p:cNvSpPr>
          <p:nvPr/>
        </p:nvSpPr>
        <p:spPr bwMode="auto">
          <a:xfrm>
            <a:off x="533400" y="2438400"/>
            <a:ext cx="7924800"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4800">
                <a:solidFill>
                  <a:srgbClr val="FF0000"/>
                </a:solidFill>
                <a:latin typeface="Arial Black" panose="020B0A04020102020204" pitchFamily="34" charset="0"/>
                <a:ea typeface="黑体" panose="02010609060101010101" pitchFamily="49" charset="-122"/>
              </a:rPr>
              <a:t>案例分析</a:t>
            </a:r>
            <a:endParaRPr lang="en-US" altLang="zh-CN" sz="4800">
              <a:solidFill>
                <a:srgbClr val="FF0000"/>
              </a:solidFill>
              <a:latin typeface="Arial Black" panose="020B0A04020102020204" pitchFamily="3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381000" y="304800"/>
            <a:ext cx="8763000" cy="676275"/>
          </a:xfrm>
        </p:spPr>
        <p:txBody>
          <a:bodyPr/>
          <a:lstStyle/>
          <a:p>
            <a:pPr eaLnBrk="1" hangingPunct="1"/>
            <a:r>
              <a:rPr lang="en-US" altLang="zh-CN" dirty="0" smtClean="0">
                <a:sym typeface="Symbol" panose="05050102010706020507" pitchFamily="18" charset="2"/>
              </a:rPr>
              <a:t>Linux</a:t>
            </a:r>
            <a:r>
              <a:rPr lang="zh-CN" altLang="en-US" dirty="0" smtClean="0">
                <a:sym typeface="Symbol" panose="05050102010706020507" pitchFamily="18" charset="2"/>
              </a:rPr>
              <a:t>调度算法分析</a:t>
            </a:r>
          </a:p>
        </p:txBody>
      </p:sp>
      <p:sp>
        <p:nvSpPr>
          <p:cNvPr id="205830" name="Rectangle 6"/>
          <p:cNvSpPr>
            <a:spLocks noGrp="1" noChangeArrowheads="1"/>
          </p:cNvSpPr>
          <p:nvPr>
            <p:ph type="body" idx="1"/>
          </p:nvPr>
        </p:nvSpPr>
        <p:spPr>
          <a:xfrm>
            <a:off x="381000" y="1295400"/>
            <a:ext cx="8458200" cy="4827588"/>
          </a:xfrm>
          <a:noFill/>
        </p:spPr>
        <p:txBody>
          <a:bodyPr/>
          <a:lstStyle/>
          <a:p>
            <a:pPr algn="just" eaLnBrk="1" hangingPunct="1"/>
            <a:r>
              <a:rPr lang="zh-CN" altLang="en-US" sz="2400" b="0" dirty="0" smtClean="0"/>
              <a:t>目前</a:t>
            </a:r>
            <a:r>
              <a:rPr lang="en-US" altLang="zh-CN" sz="2400" b="0" dirty="0" smtClean="0"/>
              <a:t>Linux</a:t>
            </a:r>
            <a:r>
              <a:rPr lang="zh-CN" altLang="en-US" sz="2400" b="0" dirty="0" smtClean="0"/>
              <a:t>支持三种进程调度策略，分别是</a:t>
            </a:r>
            <a:r>
              <a:rPr lang="en-US" altLang="zh-CN" sz="2400" b="0" dirty="0" err="1" smtClean="0">
                <a:solidFill>
                  <a:srgbClr val="FF0000"/>
                </a:solidFill>
              </a:rPr>
              <a:t>SCHED_FIFO</a:t>
            </a:r>
            <a:r>
              <a:rPr lang="en-US" altLang="zh-CN" sz="2400" b="0" dirty="0" smtClean="0">
                <a:solidFill>
                  <a:srgbClr val="FF0000"/>
                </a:solidFill>
              </a:rPr>
              <a:t> </a:t>
            </a:r>
            <a:r>
              <a:rPr lang="zh-CN" altLang="en-US" sz="2400" b="0" dirty="0" smtClean="0">
                <a:solidFill>
                  <a:srgbClr val="FF0000"/>
                </a:solidFill>
              </a:rPr>
              <a:t>、 </a:t>
            </a:r>
            <a:r>
              <a:rPr lang="en-US" altLang="zh-CN" sz="2400" b="0" dirty="0" err="1" smtClean="0">
                <a:solidFill>
                  <a:srgbClr val="FF0000"/>
                </a:solidFill>
              </a:rPr>
              <a:t>SCHED_RR</a:t>
            </a:r>
            <a:r>
              <a:rPr lang="zh-CN" altLang="en-US" sz="2400" b="0" dirty="0" smtClean="0">
                <a:solidFill>
                  <a:srgbClr val="FF0000"/>
                </a:solidFill>
              </a:rPr>
              <a:t>和</a:t>
            </a:r>
            <a:r>
              <a:rPr lang="en-US" altLang="zh-CN" sz="2400" b="0" dirty="0" err="1" smtClean="0">
                <a:solidFill>
                  <a:srgbClr val="FF0000"/>
                </a:solidFill>
              </a:rPr>
              <a:t>SCHED_NORMAL</a:t>
            </a:r>
            <a:r>
              <a:rPr lang="zh-CN" altLang="en-US" sz="2400" b="0" dirty="0" smtClean="0"/>
              <a:t>；而</a:t>
            </a:r>
            <a:r>
              <a:rPr lang="en-US" altLang="zh-CN" sz="2400" b="0" dirty="0" smtClean="0"/>
              <a:t>Linux</a:t>
            </a:r>
            <a:r>
              <a:rPr lang="zh-CN" altLang="en-US" sz="2400" b="0" dirty="0" smtClean="0">
                <a:solidFill>
                  <a:srgbClr val="FF0000"/>
                </a:solidFill>
              </a:rPr>
              <a:t>支持两种类型的进程，</a:t>
            </a:r>
            <a:r>
              <a:rPr lang="zh-CN" altLang="en-US" sz="2400" dirty="0" smtClean="0">
                <a:solidFill>
                  <a:srgbClr val="FF0000"/>
                </a:solidFill>
              </a:rPr>
              <a:t>实时进程和普通进程</a:t>
            </a:r>
            <a:r>
              <a:rPr lang="zh-CN" altLang="en-US" sz="2400" b="0" dirty="0" smtClean="0"/>
              <a:t>。</a:t>
            </a:r>
            <a:endParaRPr lang="en-US" altLang="zh-CN" sz="2400" b="0" dirty="0" smtClean="0"/>
          </a:p>
          <a:p>
            <a:pPr algn="just" eaLnBrk="1" hangingPunct="1"/>
            <a:r>
              <a:rPr lang="zh-CN" altLang="en-US" sz="2400" b="0" dirty="0" smtClean="0"/>
              <a:t>实时进程可以采用</a:t>
            </a:r>
            <a:r>
              <a:rPr lang="en-US" altLang="zh-CN" sz="2400" b="0" dirty="0" err="1" smtClean="0"/>
              <a:t>SCHED_FIFO</a:t>
            </a:r>
            <a:r>
              <a:rPr lang="en-US" altLang="zh-CN" sz="2400" b="0" dirty="0" smtClean="0"/>
              <a:t> </a:t>
            </a:r>
            <a:r>
              <a:rPr lang="zh-CN" altLang="en-US" sz="2400" b="0" dirty="0" smtClean="0"/>
              <a:t>和</a:t>
            </a:r>
            <a:r>
              <a:rPr lang="en-US" altLang="zh-CN" sz="2400" b="0" dirty="0" err="1" smtClean="0"/>
              <a:t>SCHED_RR</a:t>
            </a:r>
            <a:r>
              <a:rPr lang="zh-CN" altLang="en-US" sz="2400" b="0" dirty="0" smtClean="0"/>
              <a:t>调度策略；普通进程则采用</a:t>
            </a:r>
            <a:r>
              <a:rPr lang="en-US" altLang="zh-CN" sz="2400" b="0" dirty="0" err="1" smtClean="0"/>
              <a:t>SCHED_NORMAL</a:t>
            </a:r>
            <a:r>
              <a:rPr lang="zh-CN" altLang="en-US" sz="2400" b="0" dirty="0" smtClean="0"/>
              <a:t>调度策略</a:t>
            </a:r>
            <a:r>
              <a:rPr lang="en-US" altLang="zh-CN" sz="2400" dirty="0" smtClean="0"/>
              <a:t>O(1)\CFS</a:t>
            </a:r>
            <a:r>
              <a:rPr lang="zh-CN" altLang="en-US" sz="2400" b="0" dirty="0" smtClean="0"/>
              <a:t>。</a:t>
            </a:r>
            <a:endParaRPr lang="en-US" altLang="zh-CN" sz="2400" b="0" dirty="0" smtClean="0"/>
          </a:p>
          <a:p>
            <a:pPr algn="just" eaLnBrk="1" hangingPunct="1"/>
            <a:r>
              <a:rPr lang="zh-CN" altLang="en-US" sz="2400" b="0" dirty="0" smtClean="0"/>
              <a:t>从</a:t>
            </a:r>
            <a:r>
              <a:rPr lang="en-US" altLang="zh-CN" sz="2400" b="0" dirty="0" err="1" smtClean="0"/>
              <a:t>Linux2.6.23</a:t>
            </a:r>
            <a:r>
              <a:rPr lang="zh-CN" altLang="en-US" sz="2400" b="0" dirty="0" smtClean="0"/>
              <a:t>内核版本以后，普通进程（采用调度策略</a:t>
            </a:r>
            <a:r>
              <a:rPr lang="en-US" altLang="zh-CN" sz="2400" b="0" dirty="0" err="1" smtClean="0"/>
              <a:t>SCHED_NORMAL</a:t>
            </a:r>
            <a:r>
              <a:rPr lang="zh-CN" altLang="en-US" sz="2400" b="0" dirty="0" smtClean="0"/>
              <a:t>的进程）采用了</a:t>
            </a:r>
            <a:r>
              <a:rPr lang="zh-CN" altLang="en-US" sz="2400" dirty="0" smtClean="0"/>
              <a:t>绝对公平调度算法</a:t>
            </a:r>
            <a:r>
              <a:rPr lang="en-US" altLang="zh-CN" sz="2400" dirty="0" smtClean="0"/>
              <a:t>CFS</a:t>
            </a:r>
            <a:r>
              <a:rPr lang="zh-CN" altLang="en-US" sz="2400" b="0" dirty="0" smtClean="0"/>
              <a:t>，不再跟踪进程的睡眠时间，也不区分是否为交互式进程，是完全公平的含义。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830">
                                            <p:txEl>
                                              <p:pRg st="0" end="0"/>
                                            </p:txEl>
                                          </p:spTgt>
                                        </p:tgtEl>
                                        <p:attrNameLst>
                                          <p:attrName>style.visibility</p:attrName>
                                        </p:attrNameLst>
                                      </p:cBhvr>
                                      <p:to>
                                        <p:strVal val="visible"/>
                                      </p:to>
                                    </p:set>
                                    <p:animEffect transition="in" filter="dissolve">
                                      <p:cBhvr>
                                        <p:cTn id="7" dur="500"/>
                                        <p:tgtEl>
                                          <p:spTgt spid="2058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5830">
                                            <p:txEl>
                                              <p:pRg st="1" end="1"/>
                                            </p:txEl>
                                          </p:spTgt>
                                        </p:tgtEl>
                                        <p:attrNameLst>
                                          <p:attrName>style.visibility</p:attrName>
                                        </p:attrNameLst>
                                      </p:cBhvr>
                                      <p:to>
                                        <p:strVal val="visible"/>
                                      </p:to>
                                    </p:set>
                                    <p:animEffect transition="in" filter="dissolve">
                                      <p:cBhvr>
                                        <p:cTn id="12" dur="500"/>
                                        <p:tgtEl>
                                          <p:spTgt spid="20583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5830">
                                            <p:txEl>
                                              <p:pRg st="2" end="2"/>
                                            </p:txEl>
                                          </p:spTgt>
                                        </p:tgtEl>
                                        <p:attrNameLst>
                                          <p:attrName>style.visibility</p:attrName>
                                        </p:attrNameLst>
                                      </p:cBhvr>
                                      <p:to>
                                        <p:strVal val="visible"/>
                                      </p:to>
                                    </p:set>
                                    <p:animEffect transition="in" filter="dissolve">
                                      <p:cBhvr>
                                        <p:cTn id="17" dur="500"/>
                                        <p:tgtEl>
                                          <p:spTgt spid="2058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30"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381000" y="304800"/>
            <a:ext cx="8763000" cy="676275"/>
          </a:xfrm>
        </p:spPr>
        <p:txBody>
          <a:bodyPr/>
          <a:lstStyle/>
          <a:p>
            <a:pPr eaLnBrk="1" hangingPunct="1"/>
            <a:r>
              <a:rPr lang="en-US" altLang="zh-CN" dirty="0" smtClean="0">
                <a:sym typeface="Symbol" panose="05050102010706020507" pitchFamily="18" charset="2"/>
              </a:rPr>
              <a:t>Linux</a:t>
            </a:r>
            <a:r>
              <a:rPr lang="zh-CN" altLang="en-US" dirty="0" smtClean="0">
                <a:sym typeface="Symbol" panose="05050102010706020507" pitchFamily="18" charset="2"/>
              </a:rPr>
              <a:t>调度算法分析</a:t>
            </a:r>
          </a:p>
        </p:txBody>
      </p:sp>
      <p:sp>
        <p:nvSpPr>
          <p:cNvPr id="205830" name="Rectangle 6"/>
          <p:cNvSpPr>
            <a:spLocks noGrp="1" noChangeArrowheads="1"/>
          </p:cNvSpPr>
          <p:nvPr>
            <p:ph type="body" idx="1"/>
          </p:nvPr>
        </p:nvSpPr>
        <p:spPr>
          <a:xfrm>
            <a:off x="228600" y="1008507"/>
            <a:ext cx="8458200" cy="3124200"/>
          </a:xfrm>
        </p:spPr>
        <p:txBody>
          <a:bodyPr/>
          <a:lstStyle/>
          <a:p>
            <a:pPr marL="0" indent="0" algn="just" eaLnBrk="1" hangingPunct="1">
              <a:lnSpc>
                <a:spcPct val="130000"/>
              </a:lnSpc>
              <a:buNone/>
              <a:defRPr/>
            </a:pPr>
            <a:r>
              <a:rPr lang="en-US" altLang="zh-CN" dirty="0" smtClean="0">
                <a:latin typeface="+mn-ea"/>
              </a:rPr>
              <a:t>CFS</a:t>
            </a:r>
            <a:r>
              <a:rPr lang="zh-CN" altLang="en-US" dirty="0" smtClean="0">
                <a:latin typeface="+mn-ea"/>
              </a:rPr>
              <a:t>调度器基本原理</a:t>
            </a:r>
            <a:endParaRPr lang="en-US" altLang="zh-CN" dirty="0" smtClean="0">
              <a:latin typeface="+mn-ea"/>
            </a:endParaRPr>
          </a:p>
          <a:p>
            <a:pPr marL="457200" indent="-457200" algn="just" eaLnBrk="1" hangingPunct="1">
              <a:buFont typeface="+mj-ea"/>
              <a:buAutoNum type="circleNumDbPlain"/>
              <a:defRPr/>
            </a:pPr>
            <a:r>
              <a:rPr lang="zh-CN" altLang="en-US" sz="2000" b="0" dirty="0" smtClean="0">
                <a:latin typeface="+mn-ea"/>
              </a:rPr>
              <a:t>为每一个进程都设置一个虚拟时钟</a:t>
            </a:r>
            <a:r>
              <a:rPr lang="en-US" altLang="zh-CN" sz="2000" b="0" dirty="0" smtClean="0">
                <a:latin typeface="+mn-ea"/>
              </a:rPr>
              <a:t>-virtual runtime (</a:t>
            </a:r>
            <a:r>
              <a:rPr lang="en-US" altLang="zh-CN" sz="2000" b="0" dirty="0" err="1" smtClean="0">
                <a:latin typeface="+mn-ea"/>
              </a:rPr>
              <a:t>vruntime</a:t>
            </a:r>
            <a:r>
              <a:rPr lang="en-US" altLang="zh-CN" sz="2000" b="0" dirty="0" smtClean="0">
                <a:latin typeface="+mn-ea"/>
              </a:rPr>
              <a:t>)</a:t>
            </a:r>
            <a:r>
              <a:rPr lang="zh-CN" altLang="en-US" sz="2000" b="0" dirty="0" smtClean="0">
                <a:latin typeface="+mn-ea"/>
              </a:rPr>
              <a:t>。</a:t>
            </a:r>
            <a:endParaRPr lang="en-US" altLang="zh-CN" sz="2000" b="0" dirty="0" smtClean="0">
              <a:latin typeface="+mn-ea"/>
            </a:endParaRPr>
          </a:p>
          <a:p>
            <a:pPr marL="457200" indent="-457200" algn="just" eaLnBrk="1" hangingPunct="1">
              <a:buFont typeface="+mj-ea"/>
              <a:buAutoNum type="circleNumDbPlain"/>
              <a:defRPr/>
            </a:pPr>
            <a:r>
              <a:rPr lang="zh-CN" altLang="en-US" sz="2000" b="0" dirty="0" smtClean="0">
                <a:latin typeface="+mn-ea"/>
              </a:rPr>
              <a:t>如果一个进程随着执行时间的不断增长，其</a:t>
            </a:r>
            <a:r>
              <a:rPr lang="en-US" altLang="zh-CN" sz="2000" b="0" dirty="0" err="1" smtClean="0">
                <a:latin typeface="+mn-ea"/>
              </a:rPr>
              <a:t>vruntime</a:t>
            </a:r>
            <a:r>
              <a:rPr lang="zh-CN" altLang="en-US" sz="2000" b="0" dirty="0" smtClean="0">
                <a:latin typeface="+mn-ea"/>
              </a:rPr>
              <a:t>也将不断增大，没有得到执行的进程</a:t>
            </a:r>
            <a:r>
              <a:rPr lang="en-US" altLang="zh-CN" sz="2000" b="0" dirty="0" err="1" smtClean="0">
                <a:latin typeface="+mn-ea"/>
              </a:rPr>
              <a:t>vruntime</a:t>
            </a:r>
            <a:r>
              <a:rPr lang="zh-CN" altLang="en-US" sz="2000" b="0" dirty="0" smtClean="0">
                <a:latin typeface="+mn-ea"/>
              </a:rPr>
              <a:t>将保持不变。</a:t>
            </a:r>
            <a:endParaRPr lang="en-US" altLang="zh-CN" sz="2000" b="0" dirty="0" smtClean="0">
              <a:latin typeface="+mn-ea"/>
            </a:endParaRPr>
          </a:p>
          <a:p>
            <a:pPr marL="457200" indent="-457200" algn="just" eaLnBrk="1" hangingPunct="1">
              <a:buFont typeface="+mj-ea"/>
              <a:buAutoNum type="circleNumDbPlain"/>
              <a:defRPr/>
            </a:pPr>
            <a:r>
              <a:rPr lang="zh-CN" altLang="en-US" sz="2000" b="0" dirty="0" smtClean="0">
                <a:latin typeface="+mn-ea"/>
              </a:rPr>
              <a:t>调度器将会选择最小的</a:t>
            </a:r>
            <a:r>
              <a:rPr lang="en-US" altLang="zh-CN" sz="2000" b="0" dirty="0" err="1" smtClean="0">
                <a:latin typeface="+mn-ea"/>
              </a:rPr>
              <a:t>vruntime</a:t>
            </a:r>
            <a:r>
              <a:rPr lang="zh-CN" altLang="en-US" sz="2000" b="0" dirty="0" smtClean="0">
                <a:latin typeface="+mn-ea"/>
              </a:rPr>
              <a:t>那个进程来执行。这就是所谓的“完全公平”。</a:t>
            </a:r>
            <a:endParaRPr lang="en-US" altLang="zh-CN" sz="2000" b="0" dirty="0" smtClean="0">
              <a:latin typeface="+mn-ea"/>
            </a:endParaRPr>
          </a:p>
          <a:p>
            <a:pPr marL="457200" indent="-457200" algn="just" eaLnBrk="1" hangingPunct="1">
              <a:buFont typeface="+mj-ea"/>
              <a:buAutoNum type="circleNumDbPlain"/>
              <a:defRPr/>
            </a:pPr>
            <a:r>
              <a:rPr lang="zh-CN" altLang="en-US" sz="2000" b="0" dirty="0" smtClean="0">
                <a:latin typeface="+mn-ea"/>
              </a:rPr>
              <a:t>不同优先级的进程其</a:t>
            </a:r>
            <a:r>
              <a:rPr lang="en-US" altLang="zh-CN" sz="2000" b="0" dirty="0" err="1" smtClean="0">
                <a:latin typeface="+mn-ea"/>
              </a:rPr>
              <a:t>vruntime</a:t>
            </a:r>
            <a:r>
              <a:rPr lang="zh-CN" altLang="en-US" sz="2000" b="0" dirty="0" smtClean="0">
                <a:latin typeface="+mn-ea"/>
              </a:rPr>
              <a:t>增长速度不同，优先级高的进程</a:t>
            </a:r>
            <a:r>
              <a:rPr lang="en-US" altLang="zh-CN" sz="2000" b="0" dirty="0" err="1" smtClean="0">
                <a:latin typeface="+mn-ea"/>
              </a:rPr>
              <a:t>vruntime</a:t>
            </a:r>
            <a:r>
              <a:rPr lang="zh-CN" altLang="en-US" sz="2000" b="0" dirty="0" smtClean="0">
                <a:latin typeface="+mn-ea"/>
              </a:rPr>
              <a:t>增长得慢，所以它可能得到更多的运行机会。</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830">
                                            <p:txEl>
                                              <p:pRg st="0" end="0"/>
                                            </p:txEl>
                                          </p:spTgt>
                                        </p:tgtEl>
                                        <p:attrNameLst>
                                          <p:attrName>style.visibility</p:attrName>
                                        </p:attrNameLst>
                                      </p:cBhvr>
                                      <p:to>
                                        <p:strVal val="visible"/>
                                      </p:to>
                                    </p:set>
                                    <p:animEffect transition="in" filter="dissolve">
                                      <p:cBhvr>
                                        <p:cTn id="7" dur="500"/>
                                        <p:tgtEl>
                                          <p:spTgt spid="2058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5830">
                                            <p:txEl>
                                              <p:pRg st="2" end="2"/>
                                            </p:txEl>
                                          </p:spTgt>
                                        </p:tgtEl>
                                        <p:attrNameLst>
                                          <p:attrName>style.visibility</p:attrName>
                                        </p:attrNameLst>
                                      </p:cBhvr>
                                      <p:to>
                                        <p:strVal val="visible"/>
                                      </p:to>
                                    </p:set>
                                    <p:animEffect transition="in" filter="dissolve">
                                      <p:cBhvr>
                                        <p:cTn id="12" dur="500"/>
                                        <p:tgtEl>
                                          <p:spTgt spid="20583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5830">
                                            <p:txEl>
                                              <p:pRg st="3" end="3"/>
                                            </p:txEl>
                                          </p:spTgt>
                                        </p:tgtEl>
                                        <p:attrNameLst>
                                          <p:attrName>style.visibility</p:attrName>
                                        </p:attrNameLst>
                                      </p:cBhvr>
                                      <p:to>
                                        <p:strVal val="visible"/>
                                      </p:to>
                                    </p:set>
                                    <p:animEffect transition="in" filter="dissolve">
                                      <p:cBhvr>
                                        <p:cTn id="17" dur="500"/>
                                        <p:tgtEl>
                                          <p:spTgt spid="205830">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5830">
                                            <p:txEl>
                                              <p:pRg st="4" end="4"/>
                                            </p:txEl>
                                          </p:spTgt>
                                        </p:tgtEl>
                                        <p:attrNameLst>
                                          <p:attrName>style.visibility</p:attrName>
                                        </p:attrNameLst>
                                      </p:cBhvr>
                                      <p:to>
                                        <p:strVal val="visible"/>
                                      </p:to>
                                    </p:set>
                                    <p:animEffect transition="in" filter="dissolve">
                                      <p:cBhvr>
                                        <p:cTn id="22" dur="500"/>
                                        <p:tgtEl>
                                          <p:spTgt spid="2058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30"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en-US" altLang="zh-CN" dirty="0" smtClean="0"/>
              <a:t>Windows</a:t>
            </a:r>
            <a:r>
              <a:rPr lang="zh-CN" altLang="en-US" dirty="0" smtClean="0"/>
              <a:t>调度算法分析</a:t>
            </a:r>
          </a:p>
        </p:txBody>
      </p:sp>
      <p:sp>
        <p:nvSpPr>
          <p:cNvPr id="88067" name="内容占位符 2"/>
          <p:cNvSpPr>
            <a:spLocks noGrp="1"/>
          </p:cNvSpPr>
          <p:nvPr>
            <p:ph idx="1"/>
          </p:nvPr>
        </p:nvSpPr>
        <p:spPr>
          <a:xfrm>
            <a:off x="152400" y="1143000"/>
            <a:ext cx="8839200" cy="5437188"/>
          </a:xfrm>
        </p:spPr>
        <p:txBody>
          <a:bodyPr/>
          <a:lstStyle/>
          <a:p>
            <a:pPr marL="0" indent="0">
              <a:buNone/>
            </a:pPr>
            <a:r>
              <a:rPr lang="en-US" altLang="zh-CN" dirty="0" smtClean="0"/>
              <a:t>Windows </a:t>
            </a:r>
            <a:r>
              <a:rPr lang="zh-CN" altLang="en-US" dirty="0" smtClean="0"/>
              <a:t>的调度器基本原理</a:t>
            </a:r>
            <a:endParaRPr lang="en-US" altLang="zh-CN" dirty="0" smtClean="0"/>
          </a:p>
          <a:p>
            <a:r>
              <a:rPr lang="zh-CN" altLang="en-US" sz="2000" b="0" dirty="0" smtClean="0"/>
              <a:t>是一个</a:t>
            </a:r>
            <a:r>
              <a:rPr lang="zh-CN" altLang="en-US" sz="2000" dirty="0" smtClean="0"/>
              <a:t>抢占式的、支持多处理器的优先级调度算法</a:t>
            </a:r>
            <a:r>
              <a:rPr lang="zh-CN" altLang="en-US" sz="2000" b="0" dirty="0" smtClean="0"/>
              <a:t>，它为每个处理器定义了一个链表数组，相同优先级的线程挂在同一个队列中。</a:t>
            </a:r>
            <a:endParaRPr lang="en-US" altLang="zh-CN" sz="2000" b="0" dirty="0" smtClean="0"/>
          </a:p>
          <a:p>
            <a:r>
              <a:rPr lang="zh-CN" altLang="en-US" sz="2000" b="0" dirty="0" smtClean="0"/>
              <a:t>调度程序</a:t>
            </a:r>
            <a:r>
              <a:rPr lang="zh-CN" altLang="en-US" sz="2000" dirty="0" smtClean="0"/>
              <a:t>采用 </a:t>
            </a:r>
            <a:r>
              <a:rPr lang="en-US" altLang="zh-CN" sz="2000" dirty="0" smtClean="0"/>
              <a:t>32 </a:t>
            </a:r>
            <a:r>
              <a:rPr lang="zh-CN" altLang="en-US" sz="2000" dirty="0" smtClean="0"/>
              <a:t>级的优先级</a:t>
            </a:r>
            <a:r>
              <a:rPr lang="zh-CN" altLang="en-US" sz="2000" b="0" dirty="0" smtClean="0"/>
              <a:t>确定</a:t>
            </a:r>
            <a:r>
              <a:rPr lang="zh-CN" altLang="en-US" sz="2000" dirty="0" smtClean="0">
                <a:solidFill>
                  <a:srgbClr val="FF0000"/>
                </a:solidFill>
              </a:rPr>
              <a:t>线程</a:t>
            </a:r>
            <a:r>
              <a:rPr lang="zh-CN" altLang="en-US" sz="2000" b="0" dirty="0" smtClean="0"/>
              <a:t>执行顺序。优先级分为两大类：</a:t>
            </a:r>
            <a:r>
              <a:rPr lang="zh-CN" altLang="en-US" sz="2000" dirty="0" smtClean="0">
                <a:solidFill>
                  <a:srgbClr val="FF0000"/>
                </a:solidFill>
              </a:rPr>
              <a:t>可变类包括优先级从 </a:t>
            </a:r>
            <a:r>
              <a:rPr lang="en-US" altLang="zh-CN" sz="2000" dirty="0" smtClean="0">
                <a:solidFill>
                  <a:srgbClr val="FF0000"/>
                </a:solidFill>
              </a:rPr>
              <a:t>1〜15 </a:t>
            </a:r>
            <a:r>
              <a:rPr lang="zh-CN" altLang="en-US" sz="2000" dirty="0" smtClean="0">
                <a:solidFill>
                  <a:srgbClr val="FF0000"/>
                </a:solidFill>
              </a:rPr>
              <a:t>的线程</a:t>
            </a:r>
            <a:r>
              <a:rPr lang="zh-CN" altLang="en-US" sz="2000" b="0" dirty="0"/>
              <a:t>（还有一个线程运行在优先级 </a:t>
            </a:r>
            <a:r>
              <a:rPr lang="en-US" altLang="zh-CN" sz="2000" b="0" dirty="0"/>
              <a:t>0</a:t>
            </a:r>
            <a:r>
              <a:rPr lang="zh-CN" altLang="en-US" sz="2000" b="0" dirty="0"/>
              <a:t>，它用于内存管理），</a:t>
            </a:r>
            <a:r>
              <a:rPr lang="zh-CN" altLang="en-US" sz="2000" dirty="0" smtClean="0">
                <a:solidFill>
                  <a:srgbClr val="FF0000"/>
                </a:solidFill>
              </a:rPr>
              <a:t>实时类优先级从 </a:t>
            </a:r>
            <a:r>
              <a:rPr lang="en-US" altLang="zh-CN" sz="2000" dirty="0" smtClean="0">
                <a:solidFill>
                  <a:srgbClr val="FF0000"/>
                </a:solidFill>
              </a:rPr>
              <a:t>16〜31 </a:t>
            </a:r>
            <a:r>
              <a:rPr lang="zh-CN" altLang="en-US" sz="2000" dirty="0" smtClean="0">
                <a:solidFill>
                  <a:srgbClr val="FF0000"/>
                </a:solidFill>
              </a:rPr>
              <a:t>的线程</a:t>
            </a:r>
            <a:r>
              <a:rPr lang="zh-CN" altLang="en-US" sz="2000" b="0" dirty="0" smtClean="0"/>
              <a:t>。</a:t>
            </a:r>
            <a:endParaRPr lang="en-US" altLang="zh-CN" sz="2000" b="0" dirty="0" smtClean="0"/>
          </a:p>
          <a:p>
            <a:r>
              <a:rPr lang="zh-CN" altLang="en-US" sz="2000" b="0" dirty="0" smtClean="0"/>
              <a:t>当一个线程满足了执行条件时，它首先被挂到当前处理器的一个</a:t>
            </a:r>
            <a:r>
              <a:rPr lang="zh-CN" altLang="en-US" sz="2000" dirty="0" smtClean="0"/>
              <a:t>待分配的</a:t>
            </a:r>
            <a:r>
              <a:rPr lang="zh-CN" altLang="en-US" sz="2000" b="0" dirty="0"/>
              <a:t>队列（</a:t>
            </a:r>
            <a:r>
              <a:rPr lang="zh-CN" altLang="en-US" sz="2000" dirty="0" smtClean="0"/>
              <a:t>称为延迟的就绪链表</a:t>
            </a:r>
            <a:r>
              <a:rPr lang="zh-CN" altLang="en-US" sz="2000" b="0" dirty="0" smtClean="0"/>
              <a:t>）中，然后调度器会在适当的时候（当它获得了控制权时）把</a:t>
            </a:r>
            <a:r>
              <a:rPr lang="zh-CN" altLang="en-US" sz="2000" dirty="0" smtClean="0"/>
              <a:t>待</a:t>
            </a:r>
            <a:r>
              <a:rPr lang="zh-CN" altLang="en-US" sz="2000" dirty="0"/>
              <a:t>分配队列上</a:t>
            </a:r>
            <a:r>
              <a:rPr lang="zh-CN" altLang="en-US" sz="2000" dirty="0" smtClean="0"/>
              <a:t>的线程分配到当前处理器对应优先级的</a:t>
            </a:r>
            <a:r>
              <a:rPr lang="zh-CN" altLang="en-US" sz="2000" dirty="0"/>
              <a:t>线程队列</a:t>
            </a:r>
            <a:r>
              <a:rPr lang="zh-CN" altLang="en-US" sz="2000" b="0" dirty="0" smtClean="0"/>
              <a:t>中。</a:t>
            </a:r>
            <a:endParaRPr lang="en-US" altLang="zh-CN" sz="2000" b="0" dirty="0" smtClean="0"/>
          </a:p>
          <a:p>
            <a:r>
              <a:rPr lang="en-US" altLang="zh-CN" sz="2000" b="0" dirty="0" smtClean="0">
                <a:solidFill>
                  <a:srgbClr val="FF0000"/>
                </a:solidFill>
              </a:rPr>
              <a:t>Windows </a:t>
            </a:r>
            <a:r>
              <a:rPr lang="zh-CN" altLang="en-US" sz="2000" b="0" dirty="0" smtClean="0">
                <a:solidFill>
                  <a:srgbClr val="FF0000"/>
                </a:solidFill>
              </a:rPr>
              <a:t>中</a:t>
            </a:r>
            <a:r>
              <a:rPr lang="zh-CN" altLang="en-US" sz="2000" dirty="0" smtClean="0">
                <a:solidFill>
                  <a:srgbClr val="FF0000"/>
                </a:solidFill>
              </a:rPr>
              <a:t>线程的优先级调整</a:t>
            </a:r>
            <a:r>
              <a:rPr lang="zh-CN" altLang="en-US" sz="2000" b="0" dirty="0" smtClean="0"/>
              <a:t>考虑到了很多因素，</a:t>
            </a:r>
            <a:r>
              <a:rPr lang="zh-CN" altLang="en-US" sz="2000" dirty="0" smtClean="0">
                <a:solidFill>
                  <a:srgbClr val="0070C0"/>
                </a:solidFill>
              </a:rPr>
              <a:t>如前台线程，等待</a:t>
            </a:r>
            <a:r>
              <a:rPr lang="en-US" altLang="zh-CN" sz="2000" dirty="0" smtClean="0">
                <a:solidFill>
                  <a:srgbClr val="0070C0"/>
                </a:solidFill>
              </a:rPr>
              <a:t>I/O </a:t>
            </a:r>
            <a:r>
              <a:rPr lang="zh-CN" altLang="en-US" sz="2000" dirty="0" smtClean="0">
                <a:solidFill>
                  <a:srgbClr val="0070C0"/>
                </a:solidFill>
              </a:rPr>
              <a:t>完成后的线程也有轻微的优先级提升</a:t>
            </a:r>
            <a:r>
              <a:rPr lang="zh-CN" altLang="en-US" sz="2000" b="0" dirty="0" smtClean="0"/>
              <a:t>，这是一些来自实践经验的设计，使得</a:t>
            </a:r>
            <a:r>
              <a:rPr lang="en-US" altLang="zh-CN" sz="2000" b="0" dirty="0" smtClean="0"/>
              <a:t>Windows </a:t>
            </a:r>
            <a:r>
              <a:rPr lang="zh-CN" altLang="en-US" sz="2000" b="0" dirty="0" smtClean="0"/>
              <a:t>操作系统对于</a:t>
            </a:r>
            <a:r>
              <a:rPr lang="zh-CN" altLang="en-US" sz="2000" b="0" dirty="0" smtClean="0"/>
              <a:t>交互式</a:t>
            </a:r>
            <a:r>
              <a:rPr lang="zh-CN" altLang="en-US" sz="2000" b="0" dirty="0" smtClean="0"/>
              <a:t>应用程序有更好的性能表现</a:t>
            </a:r>
            <a:r>
              <a:rPr lang="zh-CN" altLang="en-US" sz="2000" b="0" dirty="0" smtClean="0"/>
              <a:t>。</a:t>
            </a:r>
            <a:r>
              <a:rPr lang="zh-CN" altLang="en-US" sz="2000" b="0" dirty="0" smtClean="0">
                <a:solidFill>
                  <a:srgbClr val="00B050"/>
                </a:solidFill>
              </a:rPr>
              <a:t>（后边通过进程管理器演示）</a:t>
            </a:r>
            <a:endParaRPr lang="zh-CN" altLang="en-US" sz="2000" dirty="0" smtClean="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8067">
                                            <p:txEl>
                                              <p:pRg st="3" end="3"/>
                                            </p:txEl>
                                          </p:spTgt>
                                        </p:tgtEl>
                                        <p:attrNameLst>
                                          <p:attrName>style.visibility</p:attrName>
                                        </p:attrNameLst>
                                      </p:cBhvr>
                                      <p:to>
                                        <p:strVal val="visible"/>
                                      </p:to>
                                    </p:set>
                                    <p:anim calcmode="lin" valueType="num">
                                      <p:cBhvr additive="base">
                                        <p:cTn id="7" dur="500" fill="hold"/>
                                        <p:tgtEl>
                                          <p:spTgt spid="8806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806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8067">
                                            <p:txEl>
                                              <p:pRg st="4" end="4"/>
                                            </p:txEl>
                                          </p:spTgt>
                                        </p:tgtEl>
                                        <p:attrNameLst>
                                          <p:attrName>style.visibility</p:attrName>
                                        </p:attrNameLst>
                                      </p:cBhvr>
                                      <p:to>
                                        <p:strVal val="visible"/>
                                      </p:to>
                                    </p:set>
                                    <p:anim calcmode="lin" valueType="num">
                                      <p:cBhvr additive="base">
                                        <p:cTn id="11" dur="500" fill="hold"/>
                                        <p:tgtEl>
                                          <p:spTgt spid="8806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80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a:lstStyle/>
          <a:p>
            <a:r>
              <a:rPr lang="en-US" altLang="zh-CN" dirty="0"/>
              <a:t>Windows</a:t>
            </a:r>
            <a:r>
              <a:rPr lang="zh-CN" altLang="en-US" dirty="0"/>
              <a:t>调度算法分析</a:t>
            </a:r>
            <a:endParaRPr lang="zh-CN" altLang="en-US" dirty="0" smtClean="0"/>
          </a:p>
        </p:txBody>
      </p:sp>
      <p:sp>
        <p:nvSpPr>
          <p:cNvPr id="89091" name="内容占位符 2"/>
          <p:cNvSpPr>
            <a:spLocks noGrp="1"/>
          </p:cNvSpPr>
          <p:nvPr>
            <p:ph idx="1"/>
          </p:nvPr>
        </p:nvSpPr>
        <p:spPr>
          <a:xfrm>
            <a:off x="152400" y="1268413"/>
            <a:ext cx="8610600" cy="5437187"/>
          </a:xfrm>
        </p:spPr>
        <p:txBody>
          <a:bodyPr/>
          <a:lstStyle/>
          <a:p>
            <a:r>
              <a:rPr lang="en-US" altLang="zh-CN" sz="2000" b="0" dirty="0" smtClean="0"/>
              <a:t>Windows API </a:t>
            </a:r>
            <a:r>
              <a:rPr lang="zh-CN" altLang="en-US" sz="2000" b="0" dirty="0" smtClean="0"/>
              <a:t>定义了</a:t>
            </a:r>
            <a:r>
              <a:rPr lang="zh-CN" altLang="en-US" sz="2000" dirty="0" smtClean="0">
                <a:solidFill>
                  <a:srgbClr val="FF0000"/>
                </a:solidFill>
                <a:effectLst>
                  <a:outerShdw blurRad="38100" dist="38100" dir="2700000" algn="tl">
                    <a:srgbClr val="000000">
                      <a:alpha val="43137"/>
                    </a:srgbClr>
                  </a:outerShdw>
                </a:effectLst>
              </a:rPr>
              <a:t>一个进程</a:t>
            </a:r>
            <a:r>
              <a:rPr lang="zh-CN" altLang="en-US" sz="2000" b="0" dirty="0" smtClean="0"/>
              <a:t>可能属于的一些优先级类型。它们包括：</a:t>
            </a:r>
            <a:endParaRPr lang="en-US" altLang="zh-CN" sz="2000" b="0" dirty="0" smtClean="0"/>
          </a:p>
          <a:p>
            <a:pPr marL="400050" lvl="1" indent="0">
              <a:buNone/>
            </a:pPr>
            <a:r>
              <a:rPr lang="en-US" altLang="zh-CN" sz="2000" b="0" dirty="0" smtClean="0"/>
              <a:t>real-time        </a:t>
            </a:r>
            <a:r>
              <a:rPr lang="en-US" altLang="zh-CN" sz="2000" b="0" dirty="0" err="1" smtClean="0"/>
              <a:t>REALTIME_PRIORITY_CLASS</a:t>
            </a:r>
            <a:endParaRPr lang="en-US" altLang="zh-CN" sz="2000" b="0" dirty="0" smtClean="0"/>
          </a:p>
          <a:p>
            <a:pPr marL="400050" lvl="1" indent="0">
              <a:buNone/>
            </a:pPr>
            <a:r>
              <a:rPr lang="en-US" altLang="zh-CN" sz="2000" b="0" dirty="0" smtClean="0"/>
              <a:t>high            </a:t>
            </a:r>
            <a:r>
              <a:rPr lang="en-US" altLang="zh-CN" sz="2000" b="0" dirty="0" err="1" smtClean="0"/>
              <a:t>HIGH_PRIORITY_CLASS</a:t>
            </a:r>
            <a:endParaRPr lang="en-US" altLang="zh-CN" sz="2000" b="0" dirty="0" smtClean="0"/>
          </a:p>
          <a:p>
            <a:pPr marL="400050" lvl="1" indent="0">
              <a:buNone/>
            </a:pPr>
            <a:r>
              <a:rPr lang="en-US" altLang="zh-CN" sz="2000" b="0" dirty="0" smtClean="0"/>
              <a:t>above normal     </a:t>
            </a:r>
            <a:r>
              <a:rPr lang="en-US" altLang="zh-CN" sz="2000" b="0" dirty="0" err="1" smtClean="0"/>
              <a:t>ABOVE_NORMAL_PRIORITY_CLASS</a:t>
            </a:r>
            <a:endParaRPr lang="en-US" altLang="zh-CN" sz="2000" b="0" dirty="0" smtClean="0"/>
          </a:p>
          <a:p>
            <a:pPr marL="400050" lvl="1" indent="0">
              <a:buNone/>
            </a:pPr>
            <a:r>
              <a:rPr lang="en-US" altLang="zh-CN" sz="2000" dirty="0" smtClean="0">
                <a:solidFill>
                  <a:srgbClr val="FF0000"/>
                </a:solidFill>
              </a:rPr>
              <a:t>normal          </a:t>
            </a:r>
            <a:r>
              <a:rPr lang="en-US" altLang="zh-CN" sz="2000" dirty="0" err="1" smtClean="0">
                <a:solidFill>
                  <a:srgbClr val="FF0000"/>
                </a:solidFill>
              </a:rPr>
              <a:t>NORMAL_PRIORITY_CLASS</a:t>
            </a:r>
            <a:endParaRPr lang="en-US" altLang="zh-CN" sz="2000" dirty="0" smtClean="0">
              <a:solidFill>
                <a:srgbClr val="FF0000"/>
              </a:solidFill>
            </a:endParaRPr>
          </a:p>
          <a:p>
            <a:pPr marL="400050" lvl="1" indent="0">
              <a:buNone/>
            </a:pPr>
            <a:r>
              <a:rPr lang="en-US" altLang="zh-CN" sz="2000" b="0" dirty="0" err="1" smtClean="0"/>
              <a:t>below_normal</a:t>
            </a:r>
            <a:r>
              <a:rPr lang="en-US" altLang="zh-CN" sz="2000" b="0" dirty="0" smtClean="0"/>
              <a:t>    </a:t>
            </a:r>
            <a:r>
              <a:rPr lang="en-US" altLang="zh-CN" sz="2000" b="0" dirty="0" err="1" smtClean="0"/>
              <a:t>BELOW_NORMAL_PRIORITY_CLASS</a:t>
            </a:r>
            <a:endParaRPr lang="en-US" altLang="zh-CN" sz="2000" b="0" dirty="0" smtClean="0"/>
          </a:p>
          <a:p>
            <a:pPr marL="400050" lvl="1" indent="0">
              <a:buNone/>
            </a:pPr>
            <a:r>
              <a:rPr lang="en-US" altLang="zh-CN" sz="2000" b="0" dirty="0" smtClean="0"/>
              <a:t>idle             </a:t>
            </a:r>
            <a:r>
              <a:rPr lang="en-US" altLang="zh-CN" sz="2000" b="0" dirty="0" err="1" smtClean="0"/>
              <a:t>IDLE_PRIORITY_CLASS</a:t>
            </a:r>
            <a:endParaRPr lang="en-US" altLang="zh-CN" sz="2000" b="0" dirty="0" smtClean="0"/>
          </a:p>
          <a:p>
            <a:r>
              <a:rPr lang="zh-CN" altLang="en-US" sz="2000" dirty="0" smtClean="0"/>
              <a:t>进程通常属于类 </a:t>
            </a:r>
            <a:r>
              <a:rPr lang="en-US" altLang="zh-CN" sz="2000" dirty="0" err="1" smtClean="0"/>
              <a:t>NORMAL_PRIORITY_CLASS</a:t>
            </a:r>
            <a:r>
              <a:rPr lang="zh-CN" altLang="en-US" sz="2000" b="0" dirty="0" smtClean="0"/>
              <a:t>。除非进程的父进程属于类 </a:t>
            </a:r>
            <a:r>
              <a:rPr lang="en-US" altLang="zh-CN" sz="2000" b="0" dirty="0" err="1" smtClean="0"/>
              <a:t>IDLE_PRIORITY_CLASS</a:t>
            </a:r>
            <a:r>
              <a:rPr lang="zh-CN" altLang="en-US" sz="2000" b="0" dirty="0" smtClean="0"/>
              <a:t>，或者在创建进程时指定了某个类。</a:t>
            </a:r>
            <a:endParaRPr lang="en-US" altLang="zh-CN" sz="2000" b="0" dirty="0" smtClean="0"/>
          </a:p>
          <a:p>
            <a:r>
              <a:rPr lang="zh-CN" altLang="en-US" sz="2000" b="0" dirty="0" smtClean="0"/>
              <a:t>通过 </a:t>
            </a:r>
            <a:r>
              <a:rPr lang="en-US" altLang="zh-CN" sz="2000" b="0" dirty="0" smtClean="0"/>
              <a:t>Windows API </a:t>
            </a:r>
            <a:r>
              <a:rPr lang="zh-CN" altLang="en-US" sz="2000" b="0" dirty="0" smtClean="0"/>
              <a:t>的函数 </a:t>
            </a:r>
            <a:r>
              <a:rPr lang="en-US" altLang="zh-CN" sz="2000" b="0" dirty="0" err="1" smtClean="0"/>
              <a:t>SetPriorityClass</a:t>
            </a:r>
            <a:r>
              <a:rPr lang="en-US" altLang="zh-CN" sz="2000" b="0" dirty="0" smtClean="0"/>
              <a:t>()</a:t>
            </a:r>
            <a:r>
              <a:rPr lang="zh-CN" altLang="en-US" sz="2000" b="0" dirty="0" smtClean="0"/>
              <a:t>，进程的优先级的类可以修改。</a:t>
            </a:r>
            <a:r>
              <a:rPr lang="zh-CN" altLang="en-US" sz="2000" dirty="0" smtClean="0"/>
              <a:t>除了 </a:t>
            </a:r>
            <a:r>
              <a:rPr lang="en-US" altLang="zh-CN" sz="2000" dirty="0" err="1" smtClean="0"/>
              <a:t>REALTIME_PRIORITY_CLASS</a:t>
            </a:r>
            <a:r>
              <a:rPr lang="zh-CN" altLang="en-US" sz="2000" dirty="0" smtClean="0"/>
              <a:t>外，所有其他类的优先级都是可变的。</a:t>
            </a:r>
            <a:endParaRPr lang="zh-CN" altLang="en-US" sz="18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9091">
                                            <p:txEl>
                                              <p:pRg st="7" end="7"/>
                                            </p:txEl>
                                          </p:spTgt>
                                        </p:tgtEl>
                                        <p:attrNameLst>
                                          <p:attrName>style.visibility</p:attrName>
                                        </p:attrNameLst>
                                      </p:cBhvr>
                                      <p:to>
                                        <p:strVal val="visible"/>
                                      </p:to>
                                    </p:set>
                                    <p:anim calcmode="lin" valueType="num">
                                      <p:cBhvr additive="base">
                                        <p:cTn id="7" dur="500" fill="hold"/>
                                        <p:tgtEl>
                                          <p:spTgt spid="89091">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9091">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9091">
                                            <p:txEl>
                                              <p:pRg st="8" end="8"/>
                                            </p:txEl>
                                          </p:spTgt>
                                        </p:tgtEl>
                                        <p:attrNameLst>
                                          <p:attrName>style.visibility</p:attrName>
                                        </p:attrNameLst>
                                      </p:cBhvr>
                                      <p:to>
                                        <p:strVal val="visible"/>
                                      </p:to>
                                    </p:set>
                                    <p:anim calcmode="lin" valueType="num">
                                      <p:cBhvr additive="base">
                                        <p:cTn id="11" dur="500" fill="hold"/>
                                        <p:tgtEl>
                                          <p:spTgt spid="89091">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909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r>
              <a:rPr lang="en-US" altLang="zh-CN" dirty="0"/>
              <a:t>Windows</a:t>
            </a:r>
            <a:r>
              <a:rPr lang="zh-CN" altLang="en-US" dirty="0"/>
              <a:t>调度算法分析</a:t>
            </a:r>
            <a:endParaRPr lang="zh-CN" altLang="en-US" dirty="0" smtClean="0"/>
          </a:p>
        </p:txBody>
      </p:sp>
      <p:sp>
        <p:nvSpPr>
          <p:cNvPr id="90115" name="内容占位符 2"/>
          <p:cNvSpPr>
            <a:spLocks noGrp="1"/>
          </p:cNvSpPr>
          <p:nvPr>
            <p:ph idx="1"/>
          </p:nvPr>
        </p:nvSpPr>
        <p:spPr>
          <a:xfrm>
            <a:off x="152400" y="1268413"/>
            <a:ext cx="8610600" cy="5437187"/>
          </a:xfrm>
        </p:spPr>
        <p:txBody>
          <a:bodyPr/>
          <a:lstStyle/>
          <a:p>
            <a:r>
              <a:rPr lang="zh-CN" altLang="en-US" sz="2400" b="0" dirty="0" smtClean="0"/>
              <a:t>具有给定优先级类的</a:t>
            </a:r>
            <a:r>
              <a:rPr lang="zh-CN" altLang="en-US" sz="2400" dirty="0" smtClean="0">
                <a:solidFill>
                  <a:srgbClr val="FF0000"/>
                </a:solidFill>
                <a:effectLst>
                  <a:outerShdw blurRad="38100" dist="38100" dir="2700000" algn="tl">
                    <a:srgbClr val="000000">
                      <a:alpha val="43137"/>
                    </a:srgbClr>
                  </a:outerShdw>
                </a:effectLst>
              </a:rPr>
              <a:t>一个线程</a:t>
            </a:r>
            <a:r>
              <a:rPr lang="zh-CN" altLang="en-US" sz="2400" dirty="0" smtClean="0"/>
              <a:t>也有一个相对优先级</a:t>
            </a:r>
            <a:r>
              <a:rPr lang="zh-CN" altLang="en-US" sz="2400" b="0" dirty="0" smtClean="0"/>
              <a:t>。这个相对优先级的值包括：</a:t>
            </a:r>
            <a:endParaRPr lang="en-US" altLang="zh-CN" sz="2400" b="0" dirty="0" smtClean="0"/>
          </a:p>
          <a:p>
            <a:pPr marL="400050" lvl="1" indent="0">
              <a:buNone/>
            </a:pPr>
            <a:r>
              <a:rPr lang="en-US" altLang="zh-CN" sz="2000" b="0" dirty="0" smtClean="0"/>
              <a:t>IDLE</a:t>
            </a:r>
          </a:p>
          <a:p>
            <a:pPr marL="400050" lvl="1" indent="0">
              <a:buNone/>
            </a:pPr>
            <a:r>
              <a:rPr lang="en-US" altLang="zh-CN" sz="2000" b="0" dirty="0" smtClean="0"/>
              <a:t>LOWEST</a:t>
            </a:r>
          </a:p>
          <a:p>
            <a:pPr marL="400050" lvl="1" indent="0">
              <a:buNone/>
            </a:pPr>
            <a:r>
              <a:rPr lang="en-US" altLang="zh-CN" sz="2000" b="0" dirty="0" err="1" smtClean="0"/>
              <a:t>BELOW_NORMAL</a:t>
            </a:r>
            <a:endParaRPr lang="en-US" altLang="zh-CN" sz="2000" b="0" dirty="0" smtClean="0"/>
          </a:p>
          <a:p>
            <a:pPr marL="400050" lvl="1" indent="0">
              <a:buNone/>
            </a:pPr>
            <a:r>
              <a:rPr lang="en-US" altLang="zh-CN" sz="2000" dirty="0" smtClean="0">
                <a:solidFill>
                  <a:srgbClr val="FF0000"/>
                </a:solidFill>
              </a:rPr>
              <a:t>NORMAL</a:t>
            </a:r>
          </a:p>
          <a:p>
            <a:pPr marL="400050" lvl="1" indent="0">
              <a:buNone/>
            </a:pPr>
            <a:r>
              <a:rPr lang="en-US" altLang="zh-CN" sz="2000" b="0" dirty="0" err="1" smtClean="0"/>
              <a:t>ABOVE_NORMAL</a:t>
            </a:r>
            <a:endParaRPr lang="en-US" altLang="zh-CN" sz="2000" b="0" dirty="0" smtClean="0"/>
          </a:p>
          <a:p>
            <a:pPr marL="400050" lvl="1" indent="0">
              <a:buNone/>
            </a:pPr>
            <a:r>
              <a:rPr lang="en-US" altLang="zh-CN" sz="2000" b="0" dirty="0" smtClean="0"/>
              <a:t>HIGHEST</a:t>
            </a:r>
          </a:p>
          <a:p>
            <a:pPr marL="400050" lvl="1" indent="0">
              <a:buNone/>
            </a:pPr>
            <a:r>
              <a:rPr lang="en-US" altLang="zh-CN" sz="2000" b="0" dirty="0" err="1" smtClean="0"/>
              <a:t>TIME_CRITICAL</a:t>
            </a:r>
            <a:endParaRPr lang="en-US" altLang="zh-CN" sz="2000" b="0" dirty="0" smtClean="0"/>
          </a:p>
          <a:p>
            <a:r>
              <a:rPr lang="zh-CN" altLang="en-US" sz="2400" b="0" dirty="0" smtClean="0"/>
              <a:t>每个线程的优先级基于</a:t>
            </a:r>
            <a:r>
              <a:rPr lang="zh-CN" altLang="en-US" sz="2400" dirty="0" smtClean="0"/>
              <a:t>它所属的进程优先级类型</a:t>
            </a:r>
            <a:r>
              <a:rPr lang="zh-CN" altLang="en-US" sz="2400" b="0" dirty="0" smtClean="0"/>
              <a:t>和</a:t>
            </a:r>
            <a:r>
              <a:rPr lang="zh-CN" altLang="en-US" sz="2400" dirty="0" smtClean="0"/>
              <a:t>它在该类型中的相对优先级</a:t>
            </a:r>
            <a:r>
              <a:rPr lang="zh-CN" altLang="en-US" sz="2400" b="0" dirty="0" smtClean="0"/>
              <a:t>，图中说明了这种关系。</a:t>
            </a:r>
            <a:endParaRPr lang="zh-CN" altLang="en-US" sz="1600" dirty="0" smtClean="0"/>
          </a:p>
        </p:txBody>
      </p:sp>
      <p:pic>
        <p:nvPicPr>
          <p:cNvPr id="9011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00399" y="1981200"/>
            <a:ext cx="560373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bwMode="auto">
          <a:xfrm>
            <a:off x="2971800" y="3124200"/>
            <a:ext cx="6019800" cy="457200"/>
          </a:xfrm>
          <a:prstGeom prst="rect">
            <a:avLst/>
          </a:prstGeom>
          <a:noFill/>
          <a:ln w="9525" cap="flat" cmpd="sng" algn="ctr">
            <a:solidFill>
              <a:srgbClr val="C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400" b="1" i="0" u="none" strike="noStrike" cap="none" normalizeH="0" baseline="0" smtClean="0">
              <a:ln>
                <a:noFill/>
              </a:ln>
              <a:solidFill>
                <a:schemeClr val="tx1"/>
              </a:solidFill>
              <a:effectLst/>
              <a:latin typeface="Arial"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a:lstStyle/>
          <a:p>
            <a:r>
              <a:rPr lang="en-US" altLang="zh-CN" dirty="0"/>
              <a:t>Windows</a:t>
            </a:r>
            <a:r>
              <a:rPr lang="zh-CN" altLang="en-US" dirty="0"/>
              <a:t>调度算法分析</a:t>
            </a:r>
            <a:endParaRPr lang="zh-CN" altLang="en-US" dirty="0" smtClean="0"/>
          </a:p>
        </p:txBody>
      </p:sp>
      <p:sp>
        <p:nvSpPr>
          <p:cNvPr id="91139" name="内容占位符 2"/>
          <p:cNvSpPr>
            <a:spLocks noGrp="1"/>
          </p:cNvSpPr>
          <p:nvPr>
            <p:ph idx="1"/>
          </p:nvPr>
        </p:nvSpPr>
        <p:spPr>
          <a:xfrm>
            <a:off x="0" y="1219200"/>
            <a:ext cx="9220200" cy="5437188"/>
          </a:xfrm>
        </p:spPr>
        <p:txBody>
          <a:bodyPr/>
          <a:lstStyle/>
          <a:p>
            <a:r>
              <a:rPr lang="zh-CN" altLang="en-US" sz="2000" b="0" dirty="0" smtClean="0"/>
              <a:t>每个线程在所属进程优先级类型中有一个优先级基值：</a:t>
            </a:r>
            <a:endParaRPr lang="en-US" altLang="zh-CN" sz="2000" b="0" dirty="0" smtClean="0"/>
          </a:p>
          <a:p>
            <a:pPr marL="400050" lvl="1" indent="0">
              <a:buNone/>
            </a:pPr>
            <a:r>
              <a:rPr lang="en-US" altLang="zh-CN" sz="1800" b="0" dirty="0" err="1" smtClean="0"/>
              <a:t>REALTIME_PRIORITY_CLASS</a:t>
            </a:r>
            <a:r>
              <a:rPr lang="en-US" altLang="zh-CN" sz="1800" b="0" dirty="0" smtClean="0"/>
              <a:t> — 24</a:t>
            </a:r>
          </a:p>
          <a:p>
            <a:pPr marL="400050" lvl="1" indent="0">
              <a:buNone/>
            </a:pPr>
            <a:r>
              <a:rPr lang="en-US" altLang="zh-CN" sz="1800" b="0" dirty="0" err="1" smtClean="0"/>
              <a:t>HIGH_PRIORITY_CLASS</a:t>
            </a:r>
            <a:r>
              <a:rPr lang="en-US" altLang="zh-CN" sz="1800" b="0" dirty="0" smtClean="0"/>
              <a:t> — 13</a:t>
            </a:r>
          </a:p>
          <a:p>
            <a:pPr marL="400050" lvl="1" indent="0">
              <a:buNone/>
            </a:pPr>
            <a:r>
              <a:rPr lang="en-US" altLang="zh-CN" sz="1800" b="0" dirty="0" err="1" smtClean="0"/>
              <a:t>ABOVE_NORMAL_PRIORITY</a:t>
            </a:r>
            <a:r>
              <a:rPr lang="en-US" altLang="zh-CN" sz="1800" b="0" dirty="0" smtClean="0"/>
              <a:t>—CLASS — 10</a:t>
            </a:r>
          </a:p>
          <a:p>
            <a:pPr marL="400050" lvl="1" indent="0">
              <a:buNone/>
            </a:pPr>
            <a:r>
              <a:rPr lang="en-US" altLang="zh-CN" sz="1800" dirty="0" err="1" smtClean="0">
                <a:solidFill>
                  <a:srgbClr val="FF0000"/>
                </a:solidFill>
              </a:rPr>
              <a:t>NORMALJPRIORITY_CLASS</a:t>
            </a:r>
            <a:r>
              <a:rPr lang="en-US" altLang="zh-CN" sz="1800" dirty="0" smtClean="0">
                <a:solidFill>
                  <a:srgbClr val="FF0000"/>
                </a:solidFill>
              </a:rPr>
              <a:t> — 8</a:t>
            </a:r>
          </a:p>
          <a:p>
            <a:pPr marL="400050" lvl="1" indent="0">
              <a:buNone/>
            </a:pPr>
            <a:r>
              <a:rPr lang="en-US" altLang="zh-CN" sz="1800" b="0" dirty="0" err="1" smtClean="0"/>
              <a:t>BELOW_NORMAL_PRIORITY_CLASS</a:t>
            </a:r>
            <a:r>
              <a:rPr lang="en-US" altLang="zh-CN" sz="1800" b="0" dirty="0" smtClean="0"/>
              <a:t> — 6</a:t>
            </a:r>
          </a:p>
          <a:p>
            <a:pPr marL="400050" lvl="1" indent="0">
              <a:buNone/>
            </a:pPr>
            <a:r>
              <a:rPr lang="en-US" altLang="zh-CN" sz="1800" b="0" dirty="0" err="1" smtClean="0"/>
              <a:t>IDLE_PRIORITY_CLASS</a:t>
            </a:r>
            <a:r>
              <a:rPr lang="en-US" altLang="zh-CN" sz="1800" b="0" dirty="0" smtClean="0"/>
              <a:t> — 4</a:t>
            </a:r>
          </a:p>
          <a:p>
            <a:r>
              <a:rPr lang="zh-CN" altLang="en-US" sz="2000" dirty="0" smtClean="0"/>
              <a:t>线程的优先级初值通常为线程</a:t>
            </a:r>
            <a:r>
              <a:rPr lang="zh-CN" altLang="en-US" sz="2000" dirty="0" smtClean="0">
                <a:solidFill>
                  <a:srgbClr val="FF0000"/>
                </a:solidFill>
              </a:rPr>
              <a:t>所属进程的优先级基值</a:t>
            </a:r>
            <a:r>
              <a:rPr lang="zh-CN" altLang="en-US" sz="2000" b="0" dirty="0" smtClean="0"/>
              <a:t>，通过 </a:t>
            </a:r>
            <a:r>
              <a:rPr lang="en-US" altLang="zh-CN" sz="2000" b="0" dirty="0" smtClean="0"/>
              <a:t>Windows API </a:t>
            </a:r>
            <a:r>
              <a:rPr lang="zh-CN" altLang="en-US" sz="2000" b="0" dirty="0" smtClean="0"/>
              <a:t>的函数 </a:t>
            </a:r>
            <a:r>
              <a:rPr lang="en-US" altLang="zh-CN" sz="2000" b="0" dirty="0" err="1" smtClean="0"/>
              <a:t>SetThreadPriority</a:t>
            </a:r>
            <a:r>
              <a:rPr lang="en-US" altLang="zh-CN" sz="2000" b="0" dirty="0" smtClean="0"/>
              <a:t>() </a:t>
            </a:r>
            <a:r>
              <a:rPr lang="zh-CN" altLang="en-US" sz="2000" b="0" dirty="0" smtClean="0"/>
              <a:t>也可修改线程的优先级基值。</a:t>
            </a:r>
            <a:endParaRPr lang="en-US" altLang="zh-CN" sz="1800" dirty="0" smtClean="0"/>
          </a:p>
          <a:p>
            <a:r>
              <a:rPr lang="zh-CN" altLang="en-US" sz="2000" b="0" dirty="0" smtClean="0"/>
              <a:t>当一个线程的时间片用完时，该线程被中断。如果线程属于可变的优先级类型，那么它的优先级就被降低。不过，该优先级不能低于优先级基值。</a:t>
            </a:r>
            <a:r>
              <a:rPr lang="zh-CN" altLang="en-US" sz="2000" b="0" dirty="0" smtClean="0">
                <a:solidFill>
                  <a:srgbClr val="FF0000"/>
                </a:solidFill>
              </a:rPr>
              <a:t>降低优先级可以限制计算密集型线程的 </a:t>
            </a:r>
            <a:r>
              <a:rPr lang="en-US" altLang="zh-CN" sz="2000" b="0" dirty="0" smtClean="0">
                <a:solidFill>
                  <a:srgbClr val="FF0000"/>
                </a:solidFill>
              </a:rPr>
              <a:t>CPU </a:t>
            </a:r>
            <a:r>
              <a:rPr lang="zh-CN" altLang="en-US" sz="2000" b="0" dirty="0" smtClean="0">
                <a:solidFill>
                  <a:srgbClr val="FF0000"/>
                </a:solidFill>
              </a:rPr>
              <a:t>消耗</a:t>
            </a:r>
            <a:r>
              <a:rPr lang="zh-CN" altLang="en-US" sz="2000" b="0" dirty="0" smtClean="0"/>
              <a:t>。</a:t>
            </a:r>
            <a:endParaRPr lang="zh-CN" altLang="en-US" sz="12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1139">
                                            <p:txEl>
                                              <p:pRg st="7" end="7"/>
                                            </p:txEl>
                                          </p:spTgt>
                                        </p:tgtEl>
                                        <p:attrNameLst>
                                          <p:attrName>style.visibility</p:attrName>
                                        </p:attrNameLst>
                                      </p:cBhvr>
                                      <p:to>
                                        <p:strVal val="visible"/>
                                      </p:to>
                                    </p:set>
                                    <p:anim calcmode="lin" valueType="num">
                                      <p:cBhvr additive="base">
                                        <p:cTn id="7" dur="500" fill="hold"/>
                                        <p:tgtEl>
                                          <p:spTgt spid="91139">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1139">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1139">
                                            <p:txEl>
                                              <p:pRg st="8" end="8"/>
                                            </p:txEl>
                                          </p:spTgt>
                                        </p:tgtEl>
                                        <p:attrNameLst>
                                          <p:attrName>style.visibility</p:attrName>
                                        </p:attrNameLst>
                                      </p:cBhvr>
                                      <p:to>
                                        <p:strVal val="visible"/>
                                      </p:to>
                                    </p:set>
                                    <p:anim calcmode="lin" valueType="num">
                                      <p:cBhvr additive="base">
                                        <p:cTn id="11" dur="500" fill="hold"/>
                                        <p:tgtEl>
                                          <p:spTgt spid="91139">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113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a:lstStyle/>
          <a:p>
            <a:r>
              <a:rPr lang="en-US" altLang="zh-CN" dirty="0"/>
              <a:t>Windows</a:t>
            </a:r>
            <a:r>
              <a:rPr lang="zh-CN" altLang="en-US" dirty="0"/>
              <a:t>调度算法分析</a:t>
            </a:r>
            <a:endParaRPr lang="zh-CN" altLang="en-US" dirty="0" smtClean="0"/>
          </a:p>
        </p:txBody>
      </p:sp>
      <p:sp>
        <p:nvSpPr>
          <p:cNvPr id="50179" name="内容占位符 2"/>
          <p:cNvSpPr>
            <a:spLocks noGrp="1"/>
          </p:cNvSpPr>
          <p:nvPr>
            <p:ph idx="1"/>
          </p:nvPr>
        </p:nvSpPr>
        <p:spPr>
          <a:xfrm>
            <a:off x="0" y="1219200"/>
            <a:ext cx="9220200" cy="5437188"/>
          </a:xfrm>
        </p:spPr>
        <p:txBody>
          <a:bodyPr/>
          <a:lstStyle/>
          <a:p>
            <a:pPr>
              <a:defRPr/>
            </a:pPr>
            <a:r>
              <a:rPr lang="zh-CN" altLang="en-US" sz="2000" b="0" dirty="0"/>
              <a:t>当一个可变优先级的线程从</a:t>
            </a:r>
            <a:r>
              <a:rPr lang="zh-CN" altLang="en-US" sz="2000" dirty="0" smtClean="0"/>
              <a:t>等待事件队列中释放，</a:t>
            </a:r>
            <a:r>
              <a:rPr lang="zh-CN" altLang="en-US" sz="2000" dirty="0"/>
              <a:t>调度程序会提升其优先级。</a:t>
            </a:r>
            <a:r>
              <a:rPr lang="zh-CN" altLang="en-US" sz="2000" b="0" dirty="0"/>
              <a:t>提升数量取决于线程等待什么</a:t>
            </a:r>
            <a:r>
              <a:rPr lang="zh-CN" altLang="en-US" sz="2000" b="0" dirty="0" smtClean="0"/>
              <a:t>。</a:t>
            </a:r>
            <a:endParaRPr lang="en-US" altLang="zh-CN" sz="2000" b="0" dirty="0" smtClean="0"/>
          </a:p>
          <a:p>
            <a:pPr>
              <a:defRPr/>
            </a:pPr>
            <a:r>
              <a:rPr lang="zh-CN" altLang="en-US" sz="2000" b="0" dirty="0" smtClean="0"/>
              <a:t>当</a:t>
            </a:r>
            <a:r>
              <a:rPr lang="zh-CN" altLang="en-US" sz="2000" b="0" dirty="0"/>
              <a:t>用户运行一个交互程序时，系统需要提供特别好的表现。对于类 </a:t>
            </a:r>
            <a:r>
              <a:rPr lang="en-US" altLang="zh-CN" sz="2000" b="0" dirty="0"/>
              <a:t>NORMAL PRIORITY CLASS </a:t>
            </a:r>
            <a:r>
              <a:rPr lang="zh-CN" altLang="en-US" sz="2000" b="0" dirty="0"/>
              <a:t>的进程，</a:t>
            </a:r>
            <a:r>
              <a:rPr lang="en-US" altLang="zh-CN" sz="2000" dirty="0"/>
              <a:t>Windows </a:t>
            </a:r>
            <a:r>
              <a:rPr lang="zh-CN" altLang="en-US" sz="2000" dirty="0"/>
              <a:t>将这类进程分成两种：前台进程，屏幕上已选的进程；后台进程，屏幕上未选的</a:t>
            </a:r>
            <a:r>
              <a:rPr lang="zh-CN" altLang="en-US" sz="2000" dirty="0" smtClean="0"/>
              <a:t>进程</a:t>
            </a:r>
            <a:r>
              <a:rPr lang="zh-CN" altLang="en-US" sz="2000" dirty="0"/>
              <a:t>。</a:t>
            </a:r>
            <a:endParaRPr lang="en-US" altLang="zh-CN" sz="2000" dirty="0" smtClean="0"/>
          </a:p>
          <a:p>
            <a:pPr>
              <a:defRPr/>
            </a:pPr>
            <a:r>
              <a:rPr lang="zh-CN" altLang="en-US" sz="2000" dirty="0" smtClean="0"/>
              <a:t>当进程从后台移</a:t>
            </a:r>
            <a:r>
              <a:rPr lang="zh-CN" altLang="en-US" sz="2000" dirty="0"/>
              <a:t>到前台</a:t>
            </a:r>
            <a:r>
              <a:rPr lang="zh-CN" altLang="en-US" sz="2000" b="0" dirty="0"/>
              <a:t>，</a:t>
            </a:r>
            <a:r>
              <a:rPr lang="en-US" altLang="zh-CN" sz="2000" dirty="0"/>
              <a:t>Windows </a:t>
            </a:r>
            <a:r>
              <a:rPr lang="zh-CN" altLang="en-US" sz="2000" dirty="0"/>
              <a:t>增加它的时间片，通常是原来的 </a:t>
            </a:r>
            <a:r>
              <a:rPr lang="en-US" altLang="zh-CN" sz="2000" dirty="0"/>
              <a:t>3 </a:t>
            </a:r>
            <a:r>
              <a:rPr lang="zh-CN" altLang="en-US" sz="2000" dirty="0"/>
              <a:t>倍</a:t>
            </a:r>
            <a:r>
              <a:rPr lang="zh-CN" altLang="en-US" sz="2000" dirty="0" smtClean="0"/>
              <a:t>。</a:t>
            </a:r>
            <a:endParaRPr lang="zh-CN" altLang="en-US" sz="2000" dirty="0"/>
          </a:p>
        </p:txBody>
      </p:sp>
      <p:pic>
        <p:nvPicPr>
          <p:cNvPr id="2" name="图片 1"/>
          <p:cNvPicPr>
            <a:picLocks noChangeAspect="1"/>
          </p:cNvPicPr>
          <p:nvPr/>
        </p:nvPicPr>
        <p:blipFill>
          <a:blip r:embed="rId2"/>
          <a:stretch>
            <a:fillRect/>
          </a:stretch>
        </p:blipFill>
        <p:spPr>
          <a:xfrm>
            <a:off x="3200400" y="3505200"/>
            <a:ext cx="5105400" cy="263350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79">
                                            <p:txEl>
                                              <p:pRg st="2" end="2"/>
                                            </p:txEl>
                                          </p:spTgt>
                                        </p:tgtEl>
                                        <p:attrNameLst>
                                          <p:attrName>style.visibility</p:attrName>
                                        </p:attrNameLst>
                                      </p:cBhvr>
                                      <p:to>
                                        <p:strVal val="visible"/>
                                      </p:to>
                                    </p:set>
                                    <p:anim calcmode="lin" valueType="num">
                                      <p:cBhvr additive="base">
                                        <p:cTn id="7" dur="500" fill="hold"/>
                                        <p:tgtEl>
                                          <p:spTgt spid="5017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7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a:lstStyle/>
          <a:p>
            <a:r>
              <a:rPr lang="en-US" altLang="zh-CN" dirty="0"/>
              <a:t>Windows</a:t>
            </a:r>
            <a:r>
              <a:rPr lang="zh-CN" altLang="en-US" dirty="0"/>
              <a:t>调度算法分析</a:t>
            </a:r>
            <a:endParaRPr lang="zh-CN" altLang="en-US" dirty="0" smtClean="0"/>
          </a:p>
        </p:txBody>
      </p:sp>
      <p:sp>
        <p:nvSpPr>
          <p:cNvPr id="50179" name="内容占位符 2"/>
          <p:cNvSpPr>
            <a:spLocks noGrp="1"/>
          </p:cNvSpPr>
          <p:nvPr>
            <p:ph idx="1"/>
          </p:nvPr>
        </p:nvSpPr>
        <p:spPr>
          <a:xfrm>
            <a:off x="0" y="1219200"/>
            <a:ext cx="9220200" cy="5437188"/>
          </a:xfrm>
        </p:spPr>
        <p:txBody>
          <a:bodyPr/>
          <a:lstStyle/>
          <a:p>
            <a:pPr>
              <a:defRPr/>
            </a:pPr>
            <a:r>
              <a:rPr lang="zh-CN" altLang="en-US" sz="2000" b="0" dirty="0" smtClean="0"/>
              <a:t>例如</a:t>
            </a:r>
            <a:r>
              <a:rPr lang="zh-CN" altLang="en-US" sz="2000" b="0" dirty="0"/>
              <a:t>，</a:t>
            </a:r>
            <a:r>
              <a:rPr lang="zh-CN" altLang="en-US" sz="2000" dirty="0"/>
              <a:t>等待键盘 </a:t>
            </a:r>
            <a:r>
              <a:rPr lang="en-US" altLang="zh-CN" sz="2000" dirty="0"/>
              <a:t>I/O </a:t>
            </a:r>
            <a:r>
              <a:rPr lang="zh-CN" altLang="en-US" sz="2000" dirty="0"/>
              <a:t>的线程将得到一</a:t>
            </a:r>
            <a:r>
              <a:rPr lang="zh-CN" altLang="en-US" sz="2000" dirty="0" smtClean="0"/>
              <a:t>个</a:t>
            </a:r>
            <a:r>
              <a:rPr lang="zh-CN" altLang="en-US" sz="2000" dirty="0"/>
              <a:t>较高</a:t>
            </a:r>
            <a:r>
              <a:rPr lang="zh-CN" altLang="en-US" sz="2000" dirty="0" smtClean="0"/>
              <a:t>优先级提升</a:t>
            </a:r>
            <a:r>
              <a:rPr lang="zh-CN" altLang="en-US" sz="2000" dirty="0"/>
              <a:t>；而等待磁盘操作的线程将得到一个中等提升</a:t>
            </a:r>
            <a:r>
              <a:rPr lang="zh-CN" altLang="en-US" sz="2000" b="0" dirty="0"/>
              <a:t>。采用这种策略，</a:t>
            </a:r>
            <a:r>
              <a:rPr lang="zh-CN" altLang="en-US" sz="2000" dirty="0"/>
              <a:t>正在使用鼠标和窗口的线程往往得到很好的响应时间</a:t>
            </a:r>
            <a:r>
              <a:rPr lang="zh-CN" altLang="en-US" sz="2000" b="0" dirty="0"/>
              <a:t>。这也使得 </a:t>
            </a:r>
            <a:r>
              <a:rPr lang="en-US" altLang="zh-CN" sz="2000" b="0" dirty="0"/>
              <a:t>I/O </a:t>
            </a:r>
            <a:r>
              <a:rPr lang="zh-CN" altLang="en-US" sz="2000" b="0" dirty="0"/>
              <a:t>密集型线程保持 </a:t>
            </a:r>
            <a:r>
              <a:rPr lang="en-US" altLang="zh-CN" sz="2000" b="0" dirty="0"/>
              <a:t>I/O </a:t>
            </a:r>
            <a:r>
              <a:rPr lang="zh-CN" altLang="en-US" sz="2000" b="0" dirty="0"/>
              <a:t>设备忙碌，同时允许计算密集型</a:t>
            </a:r>
            <a:r>
              <a:rPr lang="zh-CN" altLang="en-US" sz="2000" b="0" dirty="0" smtClean="0"/>
              <a:t>线程更好利用 </a:t>
            </a:r>
            <a:r>
              <a:rPr lang="en-US" altLang="zh-CN" sz="2000" b="0" dirty="0"/>
              <a:t>CPU </a:t>
            </a:r>
            <a:r>
              <a:rPr lang="zh-CN" altLang="en-US" sz="2000" b="0" dirty="0" smtClean="0"/>
              <a:t>。</a:t>
            </a:r>
            <a:r>
              <a:rPr lang="zh-CN" altLang="en-US" sz="2000" b="0" dirty="0" smtClean="0">
                <a:solidFill>
                  <a:srgbClr val="FF0000"/>
                </a:solidFill>
              </a:rPr>
              <a:t>（进程管理器演示）</a:t>
            </a:r>
            <a:r>
              <a:rPr lang="zh-CN" altLang="en-US" sz="1600" dirty="0" smtClean="0">
                <a:solidFill>
                  <a:srgbClr val="FF0000"/>
                </a:solidFill>
              </a:rPr>
              <a:t/>
            </a:r>
            <a:br>
              <a:rPr lang="zh-CN" altLang="en-US" sz="1600" dirty="0" smtClean="0">
                <a:solidFill>
                  <a:srgbClr val="FF0000"/>
                </a:solidFill>
              </a:rPr>
            </a:br>
            <a:endParaRPr lang="zh-CN" altLang="en-US" sz="1050" dirty="0" smtClean="0">
              <a:solidFill>
                <a:srgbClr val="FF0000"/>
              </a:solidFill>
            </a:endParaRPr>
          </a:p>
        </p:txBody>
      </p:sp>
      <p:pic>
        <p:nvPicPr>
          <p:cNvPr id="2" name="图片 1"/>
          <p:cNvPicPr>
            <a:picLocks noChangeAspect="1"/>
          </p:cNvPicPr>
          <p:nvPr/>
        </p:nvPicPr>
        <p:blipFill>
          <a:blip r:embed="rId3"/>
          <a:stretch>
            <a:fillRect/>
          </a:stretch>
        </p:blipFill>
        <p:spPr>
          <a:xfrm>
            <a:off x="1981200" y="2470267"/>
            <a:ext cx="5029200" cy="4186121"/>
          </a:xfrm>
          <a:prstGeom prst="rect">
            <a:avLst/>
          </a:prstGeom>
        </p:spPr>
      </p:pic>
    </p:spTree>
    <p:extLst>
      <p:ext uri="{BB962C8B-B14F-4D97-AF65-F5344CB8AC3E}">
        <p14:creationId xmlns:p14="http://schemas.microsoft.com/office/powerpoint/2010/main" val="451209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 calcmode="lin" valueType="num">
                                      <p:cBhvr additive="base">
                                        <p:cTn id="7" dur="500" fill="hold"/>
                                        <p:tgtEl>
                                          <p:spTgt spid="501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7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US" altLang="zh-CN" smtClean="0"/>
              <a:t>CPU</a:t>
            </a:r>
            <a:r>
              <a:rPr lang="zh-CN" altLang="en-US" smtClean="0"/>
              <a:t>调度的总结</a:t>
            </a:r>
          </a:p>
        </p:txBody>
      </p:sp>
      <p:pic>
        <p:nvPicPr>
          <p:cNvPr id="93187" name="Picture 4" descr="j02977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9575" y="0"/>
            <a:ext cx="11144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013" name="Rectangle 5"/>
          <p:cNvSpPr>
            <a:spLocks noChangeArrowheads="1"/>
          </p:cNvSpPr>
          <p:nvPr/>
        </p:nvSpPr>
        <p:spPr bwMode="auto">
          <a:xfrm>
            <a:off x="307975" y="1268413"/>
            <a:ext cx="7921625"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000"/>
              <a:t>并发能提高效率 </a:t>
            </a:r>
            <a:r>
              <a:rPr lang="zh-CN" altLang="en-US" sz="2000">
                <a:sym typeface="Symbol" panose="05050102010706020507" pitchFamily="18" charset="2"/>
              </a:rPr>
              <a:t> 并发的核心是</a:t>
            </a:r>
            <a:r>
              <a:rPr lang="zh-CN" altLang="en-US" sz="2000"/>
              <a:t>进程能让出</a:t>
            </a:r>
            <a:r>
              <a:rPr lang="en-US" altLang="zh-CN" sz="2000"/>
              <a:t>CPU</a:t>
            </a:r>
            <a:r>
              <a:rPr lang="en-US" altLang="zh-CN" sz="2000">
                <a:solidFill>
                  <a:srgbClr val="FF0000"/>
                </a:solidFill>
              </a:rPr>
              <a:t> </a:t>
            </a:r>
          </a:p>
        </p:txBody>
      </p:sp>
      <p:sp>
        <p:nvSpPr>
          <p:cNvPr id="171014" name="Rectangle 6"/>
          <p:cNvSpPr>
            <a:spLocks noChangeArrowheads="1"/>
          </p:cNvSpPr>
          <p:nvPr/>
        </p:nvSpPr>
        <p:spPr bwMode="auto">
          <a:xfrm>
            <a:off x="304800" y="18288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000">
                <a:sym typeface="Symbol" panose="05050102010706020507" pitchFamily="18" charset="2"/>
              </a:rPr>
              <a:t>进程让出</a:t>
            </a:r>
            <a:r>
              <a:rPr lang="en-US" altLang="zh-CN" sz="2000">
                <a:sym typeface="Symbol" panose="05050102010706020507" pitchFamily="18" charset="2"/>
              </a:rPr>
              <a:t>CPU</a:t>
            </a:r>
            <a:r>
              <a:rPr lang="en-US" altLang="zh-CN" sz="2000">
                <a:solidFill>
                  <a:srgbClr val="FF0000"/>
                </a:solidFill>
              </a:rPr>
              <a:t> </a:t>
            </a:r>
            <a:r>
              <a:rPr lang="en-US" altLang="zh-CN" sz="2000">
                <a:sym typeface="Symbol" panose="05050102010706020507" pitchFamily="18" charset="2"/>
              </a:rPr>
              <a:t> </a:t>
            </a:r>
            <a:r>
              <a:rPr lang="zh-CN" altLang="en-US" sz="2000">
                <a:sym typeface="Symbol" panose="05050102010706020507" pitchFamily="18" charset="2"/>
              </a:rPr>
              <a:t>下一个进程使用</a:t>
            </a:r>
            <a:r>
              <a:rPr lang="en-US" altLang="zh-CN" sz="2000">
                <a:sym typeface="Symbol" panose="05050102010706020507" pitchFamily="18" charset="2"/>
              </a:rPr>
              <a:t>CPU  </a:t>
            </a:r>
            <a:r>
              <a:rPr lang="zh-CN" altLang="en-US" sz="2000">
                <a:sym typeface="Symbol" panose="05050102010706020507" pitchFamily="18" charset="2"/>
              </a:rPr>
              <a:t>这个选择就是调度</a:t>
            </a:r>
          </a:p>
        </p:txBody>
      </p:sp>
      <p:sp>
        <p:nvSpPr>
          <p:cNvPr id="171015" name="Rectangle 7"/>
          <p:cNvSpPr>
            <a:spLocks noChangeArrowheads="1"/>
          </p:cNvSpPr>
          <p:nvPr/>
        </p:nvSpPr>
        <p:spPr bwMode="auto">
          <a:xfrm>
            <a:off x="304800" y="23622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000">
                <a:sym typeface="Symbol" panose="05050102010706020507" pitchFamily="18" charset="2"/>
              </a:rPr>
              <a:t>进程、线程</a:t>
            </a:r>
            <a:r>
              <a:rPr lang="en-US" altLang="zh-CN" sz="2000">
                <a:sym typeface="Symbol" panose="05050102010706020507" pitchFamily="18" charset="2"/>
              </a:rPr>
              <a:t>(</a:t>
            </a:r>
            <a:r>
              <a:rPr lang="zh-CN" altLang="en-US" sz="2000">
                <a:sym typeface="Symbol" panose="05050102010706020507" pitchFamily="18" charset="2"/>
              </a:rPr>
              <a:t>内核级、用户级</a:t>
            </a:r>
            <a:r>
              <a:rPr lang="en-US" altLang="zh-CN" sz="2000">
                <a:sym typeface="Symbol" panose="05050102010706020507" pitchFamily="18" charset="2"/>
              </a:rPr>
              <a:t>)</a:t>
            </a:r>
            <a:r>
              <a:rPr lang="zh-CN" altLang="en-US" sz="2000">
                <a:sym typeface="Symbol" panose="05050102010706020507" pitchFamily="18" charset="2"/>
              </a:rPr>
              <a:t>都能调度  任务调度</a:t>
            </a:r>
          </a:p>
        </p:txBody>
      </p:sp>
      <p:sp>
        <p:nvSpPr>
          <p:cNvPr id="171017" name="Rectangle 9"/>
          <p:cNvSpPr>
            <a:spLocks noChangeArrowheads="1"/>
          </p:cNvSpPr>
          <p:nvPr/>
        </p:nvSpPr>
        <p:spPr bwMode="auto">
          <a:xfrm>
            <a:off x="304800" y="29718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000">
                <a:sym typeface="Symbol" panose="05050102010706020507" pitchFamily="18" charset="2"/>
              </a:rPr>
              <a:t>调度任务分类</a:t>
            </a:r>
            <a:r>
              <a:rPr lang="en-US" altLang="zh-CN" sz="2000">
                <a:sym typeface="Symbol" panose="05050102010706020507" pitchFamily="18" charset="2"/>
              </a:rPr>
              <a:t>: </a:t>
            </a:r>
            <a:r>
              <a:rPr lang="zh-CN" altLang="en-US" sz="2000">
                <a:sym typeface="Symbol" panose="05050102010706020507" pitchFamily="18" charset="2"/>
              </a:rPr>
              <a:t>交互式，批处理</a:t>
            </a:r>
          </a:p>
        </p:txBody>
      </p:sp>
      <p:sp>
        <p:nvSpPr>
          <p:cNvPr id="171018" name="Rectangle 10"/>
          <p:cNvSpPr>
            <a:spLocks noChangeArrowheads="1"/>
          </p:cNvSpPr>
          <p:nvPr/>
        </p:nvSpPr>
        <p:spPr bwMode="auto">
          <a:xfrm>
            <a:off x="304800" y="41910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000">
                <a:sym typeface="Symbol" panose="05050102010706020507" pitchFamily="18" charset="2"/>
              </a:rPr>
              <a:t>CPU</a:t>
            </a:r>
            <a:r>
              <a:rPr lang="zh-CN" altLang="en-US" sz="2000">
                <a:sym typeface="Symbol" panose="05050102010706020507" pitchFamily="18" charset="2"/>
              </a:rPr>
              <a:t>调度算法</a:t>
            </a:r>
            <a:r>
              <a:rPr lang="en-US" altLang="zh-CN" sz="2000">
                <a:sym typeface="Symbol" panose="05050102010706020507" pitchFamily="18" charset="2"/>
              </a:rPr>
              <a:t>: FCFS, SJF, Priority(</a:t>
            </a:r>
            <a:r>
              <a:rPr lang="zh-CN" altLang="en-US" sz="2000">
                <a:sym typeface="Symbol" panose="05050102010706020507" pitchFamily="18" charset="2"/>
              </a:rPr>
              <a:t>批处理</a:t>
            </a:r>
            <a:r>
              <a:rPr lang="en-US" altLang="zh-CN" sz="2000">
                <a:sym typeface="Symbol" panose="05050102010706020507" pitchFamily="18" charset="2"/>
              </a:rPr>
              <a:t>); RR(</a:t>
            </a:r>
            <a:r>
              <a:rPr lang="zh-CN" altLang="en-US" sz="2000">
                <a:sym typeface="Symbol" panose="05050102010706020507" pitchFamily="18" charset="2"/>
              </a:rPr>
              <a:t>交互式</a:t>
            </a:r>
            <a:r>
              <a:rPr lang="en-US" altLang="zh-CN" sz="2000">
                <a:sym typeface="Symbol" panose="05050102010706020507" pitchFamily="18" charset="2"/>
              </a:rPr>
              <a:t>)  </a:t>
            </a:r>
          </a:p>
        </p:txBody>
      </p:sp>
      <p:sp>
        <p:nvSpPr>
          <p:cNvPr id="171019" name="Rectangle 11"/>
          <p:cNvSpPr>
            <a:spLocks noChangeArrowheads="1"/>
          </p:cNvSpPr>
          <p:nvPr/>
        </p:nvSpPr>
        <p:spPr bwMode="auto">
          <a:xfrm>
            <a:off x="304800" y="48006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000" dirty="0">
                <a:sym typeface="Symbol" panose="05050102010706020507" pitchFamily="18" charset="2"/>
              </a:rPr>
              <a:t>CPU</a:t>
            </a:r>
            <a:r>
              <a:rPr lang="zh-CN" altLang="en-US" sz="2000" dirty="0">
                <a:sym typeface="Symbol" panose="05050102010706020507" pitchFamily="18" charset="2"/>
              </a:rPr>
              <a:t>调度算法</a:t>
            </a:r>
            <a:r>
              <a:rPr lang="en-US" altLang="zh-CN" sz="2000" dirty="0">
                <a:sym typeface="Symbol" panose="05050102010706020507" pitchFamily="18" charset="2"/>
              </a:rPr>
              <a:t>: </a:t>
            </a:r>
            <a:r>
              <a:rPr lang="zh-CN" altLang="en-US" sz="2000" dirty="0">
                <a:sym typeface="Symbol" panose="05050102010706020507" pitchFamily="18" charset="2"/>
              </a:rPr>
              <a:t>多级队列</a:t>
            </a:r>
            <a:r>
              <a:rPr lang="en-US" altLang="zh-CN" sz="2000" dirty="0">
                <a:sym typeface="Symbol" panose="05050102010706020507" pitchFamily="18" charset="2"/>
              </a:rPr>
              <a:t>, </a:t>
            </a:r>
            <a:r>
              <a:rPr lang="zh-CN" altLang="en-US" sz="2000" dirty="0">
                <a:sym typeface="Symbol" panose="05050102010706020507" pitchFamily="18" charset="2"/>
              </a:rPr>
              <a:t>多级反馈队列</a:t>
            </a:r>
            <a:r>
              <a:rPr lang="en-US" altLang="zh-CN" sz="2000" dirty="0">
                <a:sym typeface="Symbol" panose="05050102010706020507" pitchFamily="18" charset="2"/>
              </a:rPr>
              <a:t>(</a:t>
            </a:r>
            <a:r>
              <a:rPr lang="zh-CN" altLang="en-US" sz="2000" dirty="0">
                <a:sym typeface="Symbol" panose="05050102010706020507" pitchFamily="18" charset="2"/>
              </a:rPr>
              <a:t>混合</a:t>
            </a:r>
            <a:r>
              <a:rPr lang="en-US" altLang="zh-CN" sz="2000" dirty="0">
                <a:sym typeface="Symbol" panose="05050102010706020507" pitchFamily="18" charset="2"/>
              </a:rPr>
              <a:t>)</a:t>
            </a:r>
          </a:p>
        </p:txBody>
      </p:sp>
      <p:sp>
        <p:nvSpPr>
          <p:cNvPr id="171020" name="Rectangle 12"/>
          <p:cNvSpPr>
            <a:spLocks noChangeArrowheads="1"/>
          </p:cNvSpPr>
          <p:nvPr/>
        </p:nvSpPr>
        <p:spPr bwMode="auto">
          <a:xfrm>
            <a:off x="304800" y="54102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000" dirty="0">
                <a:sym typeface="Symbol" panose="05050102010706020507" pitchFamily="18" charset="2"/>
              </a:rPr>
              <a:t>多核调度：</a:t>
            </a:r>
            <a:r>
              <a:rPr lang="zh-CN" altLang="en-US" sz="2000" dirty="0" smtClean="0">
                <a:sym typeface="Symbol" panose="05050102010706020507" pitchFamily="18" charset="2"/>
              </a:rPr>
              <a:t>亲和性与处理器分组（缓存）、</a:t>
            </a:r>
            <a:r>
              <a:rPr lang="zh-CN" altLang="en-US" sz="2000" dirty="0">
                <a:sym typeface="Symbol" panose="05050102010706020507" pitchFamily="18" charset="2"/>
              </a:rPr>
              <a:t>局部队列、动态优先级调整</a:t>
            </a:r>
            <a:endParaRPr lang="en-US" altLang="zh-CN" sz="2000" dirty="0">
              <a:sym typeface="Symbol" panose="05050102010706020507" pitchFamily="18" charset="2"/>
            </a:endParaRPr>
          </a:p>
        </p:txBody>
      </p:sp>
      <p:sp>
        <p:nvSpPr>
          <p:cNvPr id="171022" name="Rectangle 14"/>
          <p:cNvSpPr>
            <a:spLocks noChangeArrowheads="1"/>
          </p:cNvSpPr>
          <p:nvPr/>
        </p:nvSpPr>
        <p:spPr bwMode="auto">
          <a:xfrm>
            <a:off x="304800" y="3581400"/>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2000">
                <a:sym typeface="Symbol" panose="05050102010706020507" pitchFamily="18" charset="2"/>
              </a:rPr>
              <a:t>调度时机分类</a:t>
            </a:r>
            <a:r>
              <a:rPr lang="en-US" altLang="zh-CN" sz="2000">
                <a:sym typeface="Symbol" panose="05050102010706020507" pitchFamily="18" charset="2"/>
              </a:rPr>
              <a:t>: </a:t>
            </a:r>
            <a:r>
              <a:rPr lang="zh-CN" altLang="en-US" sz="2000">
                <a:sym typeface="Symbol" panose="05050102010706020507" pitchFamily="18" charset="2"/>
              </a:rPr>
              <a:t>抢占式、非抢占式</a:t>
            </a:r>
          </a:p>
        </p:txBody>
      </p:sp>
      <p:sp>
        <p:nvSpPr>
          <p:cNvPr id="12" name="Rectangle 12"/>
          <p:cNvSpPr>
            <a:spLocks noChangeArrowheads="1"/>
          </p:cNvSpPr>
          <p:nvPr/>
        </p:nvSpPr>
        <p:spPr bwMode="auto">
          <a:xfrm>
            <a:off x="304800" y="5971041"/>
            <a:ext cx="8610600"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en-US" altLang="zh-CN" sz="2000" dirty="0" smtClean="0">
                <a:sym typeface="Symbol" panose="05050102010706020507" pitchFamily="18" charset="2"/>
              </a:rPr>
              <a:t>Linux</a:t>
            </a:r>
            <a:r>
              <a:rPr lang="zh-CN" altLang="en-US" sz="2000" dirty="0" smtClean="0">
                <a:sym typeface="Symbol" panose="05050102010706020507" pitchFamily="18" charset="2"/>
              </a:rPr>
              <a:t>和</a:t>
            </a:r>
            <a:r>
              <a:rPr lang="en-US" altLang="zh-CN" sz="2000" dirty="0" smtClean="0">
                <a:sym typeface="Symbol" panose="05050102010706020507" pitchFamily="18" charset="2"/>
              </a:rPr>
              <a:t>windows</a:t>
            </a:r>
            <a:r>
              <a:rPr lang="zh-CN" altLang="en-US" sz="2000" dirty="0" smtClean="0">
                <a:sym typeface="Symbol" panose="05050102010706020507" pitchFamily="18" charset="2"/>
              </a:rPr>
              <a:t>支持多线程、多处理器、动态优先级抢占且分时的</a:t>
            </a:r>
            <a:endParaRPr lang="en-US" altLang="zh-CN" sz="2000" dirty="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1013"/>
                                        </p:tgtEl>
                                        <p:attrNameLst>
                                          <p:attrName>style.visibility</p:attrName>
                                        </p:attrNameLst>
                                      </p:cBhvr>
                                      <p:to>
                                        <p:strVal val="visible"/>
                                      </p:to>
                                    </p:set>
                                    <p:animEffect transition="in" filter="dissolve">
                                      <p:cBhvr>
                                        <p:cTn id="7" dur="500"/>
                                        <p:tgtEl>
                                          <p:spTgt spid="1710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1014"/>
                                        </p:tgtEl>
                                        <p:attrNameLst>
                                          <p:attrName>style.visibility</p:attrName>
                                        </p:attrNameLst>
                                      </p:cBhvr>
                                      <p:to>
                                        <p:strVal val="visible"/>
                                      </p:to>
                                    </p:set>
                                    <p:animEffect transition="in" filter="dissolve">
                                      <p:cBhvr>
                                        <p:cTn id="12" dur="500"/>
                                        <p:tgtEl>
                                          <p:spTgt spid="1710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1015"/>
                                        </p:tgtEl>
                                        <p:attrNameLst>
                                          <p:attrName>style.visibility</p:attrName>
                                        </p:attrNameLst>
                                      </p:cBhvr>
                                      <p:to>
                                        <p:strVal val="visible"/>
                                      </p:to>
                                    </p:set>
                                    <p:animEffect transition="in" filter="dissolve">
                                      <p:cBhvr>
                                        <p:cTn id="17" dur="500"/>
                                        <p:tgtEl>
                                          <p:spTgt spid="1710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1017"/>
                                        </p:tgtEl>
                                        <p:attrNameLst>
                                          <p:attrName>style.visibility</p:attrName>
                                        </p:attrNameLst>
                                      </p:cBhvr>
                                      <p:to>
                                        <p:strVal val="visible"/>
                                      </p:to>
                                    </p:set>
                                    <p:animEffect transition="in" filter="dissolve">
                                      <p:cBhvr>
                                        <p:cTn id="22" dur="500"/>
                                        <p:tgtEl>
                                          <p:spTgt spid="17101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1022"/>
                                        </p:tgtEl>
                                        <p:attrNameLst>
                                          <p:attrName>style.visibility</p:attrName>
                                        </p:attrNameLst>
                                      </p:cBhvr>
                                      <p:to>
                                        <p:strVal val="visible"/>
                                      </p:to>
                                    </p:set>
                                    <p:animEffect transition="in" filter="dissolve">
                                      <p:cBhvr>
                                        <p:cTn id="27" dur="500"/>
                                        <p:tgtEl>
                                          <p:spTgt spid="1710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1018"/>
                                        </p:tgtEl>
                                        <p:attrNameLst>
                                          <p:attrName>style.visibility</p:attrName>
                                        </p:attrNameLst>
                                      </p:cBhvr>
                                      <p:to>
                                        <p:strVal val="visible"/>
                                      </p:to>
                                    </p:set>
                                    <p:animEffect transition="in" filter="dissolve">
                                      <p:cBhvr>
                                        <p:cTn id="32" dur="500"/>
                                        <p:tgtEl>
                                          <p:spTgt spid="17101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71019"/>
                                        </p:tgtEl>
                                        <p:attrNameLst>
                                          <p:attrName>style.visibility</p:attrName>
                                        </p:attrNameLst>
                                      </p:cBhvr>
                                      <p:to>
                                        <p:strVal val="visible"/>
                                      </p:to>
                                    </p:set>
                                    <p:animEffect transition="in" filter="dissolve">
                                      <p:cBhvr>
                                        <p:cTn id="37" dur="500"/>
                                        <p:tgtEl>
                                          <p:spTgt spid="17101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71020"/>
                                        </p:tgtEl>
                                        <p:attrNameLst>
                                          <p:attrName>style.visibility</p:attrName>
                                        </p:attrNameLst>
                                      </p:cBhvr>
                                      <p:to>
                                        <p:strVal val="visible"/>
                                      </p:to>
                                    </p:set>
                                    <p:animEffect transition="in" filter="dissolve">
                                      <p:cBhvr>
                                        <p:cTn id="42" dur="500"/>
                                        <p:tgtEl>
                                          <p:spTgt spid="171020"/>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dissolve">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3" grpId="0"/>
      <p:bldP spid="171014" grpId="0"/>
      <p:bldP spid="171015" grpId="0"/>
      <p:bldP spid="171017" grpId="0"/>
      <p:bldP spid="171018" grpId="0"/>
      <p:bldP spid="171019" grpId="0"/>
      <p:bldP spid="171020" grpId="0"/>
      <p:bldP spid="171022" grpId="0"/>
      <p:bldP spid="1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3" y="1143000"/>
            <a:ext cx="5005387" cy="412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1" name="Rectangle 3"/>
          <p:cNvSpPr>
            <a:spLocks noGrp="1" noChangeArrowheads="1"/>
          </p:cNvSpPr>
          <p:nvPr>
            <p:ph type="title"/>
          </p:nvPr>
        </p:nvSpPr>
        <p:spPr/>
        <p:txBody>
          <a:bodyPr/>
          <a:lstStyle/>
          <a:p>
            <a:pPr eaLnBrk="1" hangingPunct="1"/>
            <a:r>
              <a:rPr lang="en-US" altLang="zh-CN" sz="2800" smtClean="0">
                <a:solidFill>
                  <a:srgbClr val="CC0000"/>
                </a:solidFill>
                <a:sym typeface="Symbol" panose="05050102010706020507" pitchFamily="18" charset="2"/>
              </a:rPr>
              <a:t>RR</a:t>
            </a:r>
            <a:r>
              <a:rPr lang="zh-CN" altLang="en-US" sz="2800" smtClean="0">
                <a:solidFill>
                  <a:srgbClr val="CC0000"/>
                </a:solidFill>
                <a:sym typeface="Symbol" panose="05050102010706020507" pitchFamily="18" charset="2"/>
              </a:rPr>
              <a:t>调度例子：周转时间随着时间片大小而变化</a:t>
            </a:r>
          </a:p>
        </p:txBody>
      </p:sp>
      <p:graphicFrame>
        <p:nvGraphicFramePr>
          <p:cNvPr id="232750" name="Group 302"/>
          <p:cNvGraphicFramePr>
            <a:graphicFrameLocks noGrp="1"/>
          </p:cNvGraphicFramePr>
          <p:nvPr>
            <p:ph sz="half" idx="1"/>
          </p:nvPr>
        </p:nvGraphicFramePr>
        <p:xfrm>
          <a:off x="3659188" y="2543175"/>
          <a:ext cx="4951412" cy="2411414"/>
        </p:xfrm>
        <a:graphic>
          <a:graphicData uri="http://schemas.openxmlformats.org/drawingml/2006/table">
            <a:tbl>
              <a:tblPr/>
              <a:tblGrid>
                <a:gridCol w="287337">
                  <a:extLst>
                    <a:ext uri="{9D8B030D-6E8A-4147-A177-3AD203B41FA5}">
                      <a16:colId xmlns:a16="http://schemas.microsoft.com/office/drawing/2014/main" val="20000"/>
                    </a:ext>
                  </a:extLst>
                </a:gridCol>
                <a:gridCol w="263525">
                  <a:extLst>
                    <a:ext uri="{9D8B030D-6E8A-4147-A177-3AD203B41FA5}">
                      <a16:colId xmlns:a16="http://schemas.microsoft.com/office/drawing/2014/main" val="20001"/>
                    </a:ext>
                  </a:extLst>
                </a:gridCol>
                <a:gridCol w="273050">
                  <a:extLst>
                    <a:ext uri="{9D8B030D-6E8A-4147-A177-3AD203B41FA5}">
                      <a16:colId xmlns:a16="http://schemas.microsoft.com/office/drawing/2014/main" val="20002"/>
                    </a:ext>
                  </a:extLst>
                </a:gridCol>
                <a:gridCol w="276225">
                  <a:extLst>
                    <a:ext uri="{9D8B030D-6E8A-4147-A177-3AD203B41FA5}">
                      <a16:colId xmlns:a16="http://schemas.microsoft.com/office/drawing/2014/main" val="20003"/>
                    </a:ext>
                  </a:extLst>
                </a:gridCol>
                <a:gridCol w="274638">
                  <a:extLst>
                    <a:ext uri="{9D8B030D-6E8A-4147-A177-3AD203B41FA5}">
                      <a16:colId xmlns:a16="http://schemas.microsoft.com/office/drawing/2014/main" val="20004"/>
                    </a:ext>
                  </a:extLst>
                </a:gridCol>
                <a:gridCol w="276225">
                  <a:extLst>
                    <a:ext uri="{9D8B030D-6E8A-4147-A177-3AD203B41FA5}">
                      <a16:colId xmlns:a16="http://schemas.microsoft.com/office/drawing/2014/main" val="20005"/>
                    </a:ext>
                  </a:extLst>
                </a:gridCol>
                <a:gridCol w="274637">
                  <a:extLst>
                    <a:ext uri="{9D8B030D-6E8A-4147-A177-3AD203B41FA5}">
                      <a16:colId xmlns:a16="http://schemas.microsoft.com/office/drawing/2014/main" val="20006"/>
                    </a:ext>
                  </a:extLst>
                </a:gridCol>
                <a:gridCol w="274638">
                  <a:extLst>
                    <a:ext uri="{9D8B030D-6E8A-4147-A177-3AD203B41FA5}">
                      <a16:colId xmlns:a16="http://schemas.microsoft.com/office/drawing/2014/main" val="20007"/>
                    </a:ext>
                  </a:extLst>
                </a:gridCol>
                <a:gridCol w="274637">
                  <a:extLst>
                    <a:ext uri="{9D8B030D-6E8A-4147-A177-3AD203B41FA5}">
                      <a16:colId xmlns:a16="http://schemas.microsoft.com/office/drawing/2014/main" val="20008"/>
                    </a:ext>
                  </a:extLst>
                </a:gridCol>
                <a:gridCol w="274638">
                  <a:extLst>
                    <a:ext uri="{9D8B030D-6E8A-4147-A177-3AD203B41FA5}">
                      <a16:colId xmlns:a16="http://schemas.microsoft.com/office/drawing/2014/main" val="20009"/>
                    </a:ext>
                  </a:extLst>
                </a:gridCol>
                <a:gridCol w="276225">
                  <a:extLst>
                    <a:ext uri="{9D8B030D-6E8A-4147-A177-3AD203B41FA5}">
                      <a16:colId xmlns:a16="http://schemas.microsoft.com/office/drawing/2014/main" val="20010"/>
                    </a:ext>
                  </a:extLst>
                </a:gridCol>
                <a:gridCol w="273050">
                  <a:extLst>
                    <a:ext uri="{9D8B030D-6E8A-4147-A177-3AD203B41FA5}">
                      <a16:colId xmlns:a16="http://schemas.microsoft.com/office/drawing/2014/main" val="20011"/>
                    </a:ext>
                  </a:extLst>
                </a:gridCol>
                <a:gridCol w="276225">
                  <a:extLst>
                    <a:ext uri="{9D8B030D-6E8A-4147-A177-3AD203B41FA5}">
                      <a16:colId xmlns:a16="http://schemas.microsoft.com/office/drawing/2014/main" val="20012"/>
                    </a:ext>
                  </a:extLst>
                </a:gridCol>
                <a:gridCol w="303212">
                  <a:extLst>
                    <a:ext uri="{9D8B030D-6E8A-4147-A177-3AD203B41FA5}">
                      <a16:colId xmlns:a16="http://schemas.microsoft.com/office/drawing/2014/main" val="20013"/>
                    </a:ext>
                  </a:extLst>
                </a:gridCol>
                <a:gridCol w="247650">
                  <a:extLst>
                    <a:ext uri="{9D8B030D-6E8A-4147-A177-3AD203B41FA5}">
                      <a16:colId xmlns:a16="http://schemas.microsoft.com/office/drawing/2014/main" val="20014"/>
                    </a:ext>
                  </a:extLst>
                </a:gridCol>
                <a:gridCol w="228600">
                  <a:extLst>
                    <a:ext uri="{9D8B030D-6E8A-4147-A177-3AD203B41FA5}">
                      <a16:colId xmlns:a16="http://schemas.microsoft.com/office/drawing/2014/main" val="20015"/>
                    </a:ext>
                  </a:extLst>
                </a:gridCol>
                <a:gridCol w="320675">
                  <a:extLst>
                    <a:ext uri="{9D8B030D-6E8A-4147-A177-3AD203B41FA5}">
                      <a16:colId xmlns:a16="http://schemas.microsoft.com/office/drawing/2014/main" val="20016"/>
                    </a:ext>
                  </a:extLst>
                </a:gridCol>
                <a:gridCol w="276225">
                  <a:extLst>
                    <a:ext uri="{9D8B030D-6E8A-4147-A177-3AD203B41FA5}">
                      <a16:colId xmlns:a16="http://schemas.microsoft.com/office/drawing/2014/main" val="20017"/>
                    </a:ext>
                  </a:extLst>
                </a:gridCol>
              </a:tblGrid>
              <a:tr h="304727">
                <a:tc rowSpan="2">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zh-CN" altLang="en-US" sz="1200" b="1" i="0" u="none" strike="noStrike" cap="none" normalizeH="0" baseline="0" dirty="0" smtClean="0">
                          <a:ln>
                            <a:noFill/>
                          </a:ln>
                          <a:solidFill>
                            <a:schemeClr val="tx1"/>
                          </a:solidFill>
                          <a:effectLst/>
                          <a:latin typeface="Arial" charset="0"/>
                          <a:ea typeface="宋体" pitchFamily="2" charset="-122"/>
                        </a:rPr>
                        <a:t>时间片</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17">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zh-CN" altLang="en-US" sz="1600" b="1" i="0" u="none" strike="noStrike" cap="none" normalizeH="0" baseline="0" smtClean="0">
                          <a:ln>
                            <a:noFill/>
                          </a:ln>
                          <a:solidFill>
                            <a:schemeClr val="tx1"/>
                          </a:solidFill>
                          <a:effectLst/>
                          <a:latin typeface="Arial" charset="0"/>
                          <a:ea typeface="宋体" pitchFamily="2" charset="-122"/>
                        </a:rPr>
                        <a:t>进程切换过程</a:t>
                      </a: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79905">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3</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5</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6</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7</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8</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9</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10</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11</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12</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13</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14</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15</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16</a:t>
                      </a: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17</a:t>
                      </a: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876">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8702">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2</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1876">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3</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1876">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4</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r h="260288">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5</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6"/>
                  </a:ext>
                </a:extLst>
              </a:tr>
              <a:tr h="260288">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6</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6">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6">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1876">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7</a:t>
                      </a:r>
                    </a:p>
                  </a:txBody>
                  <a:tcPr marL="18000" marR="18000" marT="17996" marB="1799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6">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7">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rgbClr val="993366"/>
                        </a:solidFill>
                        <a:effectLst/>
                        <a:latin typeface="Arial" charset="0"/>
                        <a:ea typeface="宋体" pitchFamily="2" charset="-122"/>
                      </a:endParaRPr>
                    </a:p>
                  </a:txBody>
                  <a:tcPr marL="18000" marR="18000" marT="17996" marB="1799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8"/>
                  </a:ext>
                </a:extLst>
              </a:tr>
            </a:tbl>
          </a:graphicData>
        </a:graphic>
      </p:graphicFrame>
      <p:sp>
        <p:nvSpPr>
          <p:cNvPr id="94336" name="Rectangle 149"/>
          <p:cNvSpPr>
            <a:spLocks noChangeArrowheads="1"/>
          </p:cNvSpPr>
          <p:nvPr/>
        </p:nvSpPr>
        <p:spPr bwMode="auto">
          <a:xfrm>
            <a:off x="1066800" y="5080000"/>
            <a:ext cx="2362200" cy="30480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a:t>时间片（时间单位）</a:t>
            </a:r>
          </a:p>
        </p:txBody>
      </p:sp>
      <p:sp>
        <p:nvSpPr>
          <p:cNvPr id="94337" name="Rectangle 150"/>
          <p:cNvSpPr>
            <a:spLocks noChangeArrowheads="1"/>
          </p:cNvSpPr>
          <p:nvPr/>
        </p:nvSpPr>
        <p:spPr bwMode="auto">
          <a:xfrm rot="-5400000">
            <a:off x="-1257300" y="2692400"/>
            <a:ext cx="3048000" cy="381000"/>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a:t>进程平均周转时间（时间单位）</a:t>
            </a:r>
          </a:p>
        </p:txBody>
      </p:sp>
      <p:graphicFrame>
        <p:nvGraphicFramePr>
          <p:cNvPr id="232749" name="Group 301"/>
          <p:cNvGraphicFramePr>
            <a:graphicFrameLocks noGrp="1"/>
          </p:cNvGraphicFramePr>
          <p:nvPr>
            <p:ph sz="half" idx="2"/>
          </p:nvPr>
        </p:nvGraphicFramePr>
        <p:xfrm>
          <a:off x="3352800" y="5041900"/>
          <a:ext cx="5638800" cy="1751040"/>
        </p:xfrm>
        <a:graphic>
          <a:graphicData uri="http://schemas.openxmlformats.org/drawingml/2006/table">
            <a:tbl>
              <a:tblPr/>
              <a:tblGrid>
                <a:gridCol w="606425">
                  <a:extLst>
                    <a:ext uri="{9D8B030D-6E8A-4147-A177-3AD203B41FA5}">
                      <a16:colId xmlns:a16="http://schemas.microsoft.com/office/drawing/2014/main" val="20000"/>
                    </a:ext>
                  </a:extLst>
                </a:gridCol>
                <a:gridCol w="1035050">
                  <a:extLst>
                    <a:ext uri="{9D8B030D-6E8A-4147-A177-3AD203B41FA5}">
                      <a16:colId xmlns:a16="http://schemas.microsoft.com/office/drawing/2014/main" val="20001"/>
                    </a:ext>
                  </a:extLst>
                </a:gridCol>
                <a:gridCol w="979488">
                  <a:extLst>
                    <a:ext uri="{9D8B030D-6E8A-4147-A177-3AD203B41FA5}">
                      <a16:colId xmlns:a16="http://schemas.microsoft.com/office/drawing/2014/main" val="20002"/>
                    </a:ext>
                  </a:extLst>
                </a:gridCol>
                <a:gridCol w="982662">
                  <a:extLst>
                    <a:ext uri="{9D8B030D-6E8A-4147-A177-3AD203B41FA5}">
                      <a16:colId xmlns:a16="http://schemas.microsoft.com/office/drawing/2014/main" val="20003"/>
                    </a:ext>
                  </a:extLst>
                </a:gridCol>
                <a:gridCol w="936625">
                  <a:extLst>
                    <a:ext uri="{9D8B030D-6E8A-4147-A177-3AD203B41FA5}">
                      <a16:colId xmlns:a16="http://schemas.microsoft.com/office/drawing/2014/main" val="20004"/>
                    </a:ext>
                  </a:extLst>
                </a:gridCol>
                <a:gridCol w="1098550">
                  <a:extLst>
                    <a:ext uri="{9D8B030D-6E8A-4147-A177-3AD203B41FA5}">
                      <a16:colId xmlns:a16="http://schemas.microsoft.com/office/drawing/2014/main" val="20005"/>
                    </a:ext>
                  </a:extLst>
                </a:gridCol>
              </a:tblGrid>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zh-CN" altLang="en-US" sz="1200" b="1" i="0" u="none" strike="noStrike" cap="none" normalizeH="0" baseline="0" dirty="0" smtClean="0">
                          <a:ln>
                            <a:noFill/>
                          </a:ln>
                          <a:solidFill>
                            <a:schemeClr val="tx1"/>
                          </a:solidFill>
                          <a:effectLst/>
                          <a:latin typeface="Arial" charset="0"/>
                          <a:ea typeface="宋体" pitchFamily="2" charset="-122"/>
                        </a:rPr>
                        <a:t>时间片</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P1</a:t>
                      </a:r>
                      <a:r>
                        <a:rPr kumimoji="0" lang="zh-CN" altLang="en-US" sz="1200" b="1" i="0" u="none" strike="noStrike" cap="none" normalizeH="0" baseline="0" smtClean="0">
                          <a:ln>
                            <a:noFill/>
                          </a:ln>
                          <a:solidFill>
                            <a:schemeClr val="tx1"/>
                          </a:solidFill>
                          <a:effectLst/>
                          <a:latin typeface="Arial" charset="0"/>
                          <a:ea typeface="宋体" pitchFamily="2" charset="-122"/>
                        </a:rPr>
                        <a:t>周转时间</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P2</a:t>
                      </a:r>
                      <a:r>
                        <a:rPr kumimoji="0" lang="zh-CN" altLang="en-US" sz="1200" b="1" i="0" u="none" strike="noStrike" cap="none" normalizeH="0" baseline="0" smtClean="0">
                          <a:ln>
                            <a:noFill/>
                          </a:ln>
                          <a:solidFill>
                            <a:schemeClr val="tx1"/>
                          </a:solidFill>
                          <a:effectLst/>
                          <a:latin typeface="Arial" charset="0"/>
                          <a:ea typeface="宋体" pitchFamily="2" charset="-122"/>
                        </a:rPr>
                        <a:t>周转时间</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P3</a:t>
                      </a:r>
                      <a:r>
                        <a:rPr kumimoji="0" lang="zh-CN" altLang="en-US" sz="1200" b="1" i="0" u="none" strike="noStrike" cap="none" normalizeH="0" baseline="0" smtClean="0">
                          <a:ln>
                            <a:noFill/>
                          </a:ln>
                          <a:solidFill>
                            <a:schemeClr val="tx1"/>
                          </a:solidFill>
                          <a:effectLst/>
                          <a:latin typeface="Arial" charset="0"/>
                          <a:ea typeface="宋体" pitchFamily="2" charset="-122"/>
                        </a:rPr>
                        <a:t>周转时间</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P4</a:t>
                      </a:r>
                      <a:r>
                        <a:rPr kumimoji="0" lang="zh-CN" altLang="en-US" sz="1200" b="1" i="0" u="none" strike="noStrike" cap="none" normalizeH="0" baseline="0" smtClean="0">
                          <a:ln>
                            <a:noFill/>
                          </a:ln>
                          <a:solidFill>
                            <a:schemeClr val="tx1"/>
                          </a:solidFill>
                          <a:effectLst/>
                          <a:latin typeface="Arial" charset="0"/>
                          <a:ea typeface="宋体" pitchFamily="2" charset="-122"/>
                        </a:rPr>
                        <a:t>周转时间</a:t>
                      </a: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zh-CN" altLang="en-US" sz="1200" b="1" i="0" u="none" strike="noStrike" cap="none" normalizeH="0" baseline="0" smtClean="0">
                          <a:ln>
                            <a:noFill/>
                          </a:ln>
                          <a:solidFill>
                            <a:schemeClr val="tx1"/>
                          </a:solidFill>
                          <a:effectLst/>
                          <a:latin typeface="Arial" charset="0"/>
                          <a:ea typeface="宋体" pitchFamily="2" charset="-122"/>
                        </a:rPr>
                        <a:t>平均周转时间</a:t>
                      </a: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1</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2</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3</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4</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5</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6</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218877">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r>
                        <a:rPr kumimoji="0" lang="en-US" altLang="zh-CN" sz="1200" b="1" i="0" u="none" strike="noStrike" cap="none" normalizeH="0" baseline="0" smtClean="0">
                          <a:ln>
                            <a:noFill/>
                          </a:ln>
                          <a:solidFill>
                            <a:schemeClr val="tx1"/>
                          </a:solidFill>
                          <a:effectLst/>
                          <a:latin typeface="Arial" charset="0"/>
                          <a:ea typeface="宋体" pitchFamily="2" charset="-122"/>
                        </a:rPr>
                        <a:t>7</a:t>
                      </a:r>
                    </a:p>
                  </a:txBody>
                  <a:tcPr marL="18000" marR="18000" marT="18000" marB="180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993300"/>
                        </a:buClr>
                        <a:buSzPct val="90000"/>
                        <a:buFont typeface="Wingdings" pitchFamily="2" charset="2"/>
                        <a:buNone/>
                        <a:tabLst/>
                      </a:pPr>
                      <a:endParaRPr kumimoji="0" lang="en-US" altLang="zh-CN" sz="1200" b="1" i="0" u="none" strike="noStrike" cap="none" normalizeH="0" baseline="0" dirty="0" smtClean="0">
                        <a:ln>
                          <a:noFill/>
                        </a:ln>
                        <a:solidFill>
                          <a:schemeClr val="tx1"/>
                        </a:solidFill>
                        <a:effectLst/>
                        <a:latin typeface="Arial" charset="0"/>
                        <a:ea typeface="宋体" pitchFamily="2" charset="-122"/>
                      </a:endParaRPr>
                    </a:p>
                  </a:txBody>
                  <a:tcPr marL="18000" marR="18000" marT="18000" marB="180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
        <p:nvSpPr>
          <p:cNvPr id="232752" name="Rectangle 304"/>
          <p:cNvSpPr>
            <a:spLocks noChangeArrowheads="1"/>
          </p:cNvSpPr>
          <p:nvPr/>
        </p:nvSpPr>
        <p:spPr bwMode="auto">
          <a:xfrm>
            <a:off x="5181600" y="1524000"/>
            <a:ext cx="39624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993300"/>
              </a:buClr>
              <a:buSzPct val="90000"/>
              <a:buFont typeface="Wingdings" panose="05000000000000000000" pitchFamily="2" charset="2"/>
              <a:buChar char="n"/>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CC6600"/>
              </a:buClr>
              <a:buSzPct val="80000"/>
              <a:buFont typeface="Wingdings" panose="05000000000000000000" pitchFamily="2" charset="2"/>
              <a:buChar char="l"/>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9900"/>
              </a:buClr>
              <a:buSzPct val="75000"/>
              <a:buFont typeface="Webdings" panose="05030102010509060703" pitchFamily="18" charset="2"/>
              <a:buChar char="4"/>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FF6600"/>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FF0066"/>
              </a:buClr>
              <a:buSzPct val="75000"/>
              <a:buFont typeface="Times New Roman" panose="02020603050405020304" pitchFamily="18" charset="0"/>
              <a:buChar char="»"/>
              <a:defRPr>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400">
                <a:solidFill>
                  <a:srgbClr val="CC0000"/>
                </a:solidFill>
                <a:sym typeface="Symbol" panose="05050102010706020507" pitchFamily="18" charset="2"/>
              </a:rPr>
              <a:t>当时间片≥</a:t>
            </a:r>
            <a:r>
              <a:rPr lang="en-US" altLang="zh-CN" sz="2400">
                <a:solidFill>
                  <a:srgbClr val="CC0000"/>
                </a:solidFill>
                <a:sym typeface="Symbol" panose="05050102010706020507" pitchFamily="18" charset="2"/>
              </a:rPr>
              <a:t>7</a:t>
            </a:r>
            <a:r>
              <a:rPr lang="zh-CN" altLang="en-US" sz="2400">
                <a:solidFill>
                  <a:srgbClr val="CC0000"/>
                </a:solidFill>
                <a:sym typeface="Symbol" panose="05050102010706020507" pitchFamily="18" charset="2"/>
              </a:rPr>
              <a:t>时等同</a:t>
            </a:r>
            <a:r>
              <a:rPr lang="en-US" altLang="zh-CN" sz="2400">
                <a:solidFill>
                  <a:srgbClr val="CC0000"/>
                </a:solidFill>
                <a:sym typeface="Symbol" panose="05050102010706020507" pitchFamily="18" charset="2"/>
              </a:rPr>
              <a:t>FCFS</a:t>
            </a:r>
            <a:r>
              <a:rPr lang="zh-CN" altLang="en-US" sz="2400">
                <a:solidFill>
                  <a:srgbClr val="CC0000"/>
                </a:solidFill>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32750"/>
                                        </p:tgtEl>
                                        <p:attrNameLst>
                                          <p:attrName>style.visibility</p:attrName>
                                        </p:attrNameLst>
                                      </p:cBhvr>
                                      <p:to>
                                        <p:strVal val="visible"/>
                                      </p:to>
                                    </p:set>
                                    <p:animEffect transition="in" filter="wipe(up)">
                                      <p:cBhvr>
                                        <p:cTn id="7" dur="1000"/>
                                        <p:tgtEl>
                                          <p:spTgt spid="2327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32749"/>
                                        </p:tgtEl>
                                        <p:attrNameLst>
                                          <p:attrName>style.visibility</p:attrName>
                                        </p:attrNameLst>
                                      </p:cBhvr>
                                      <p:to>
                                        <p:strVal val="visible"/>
                                      </p:to>
                                    </p:set>
                                    <p:animEffect transition="in" filter="wipe(up)">
                                      <p:cBhvr>
                                        <p:cTn id="12" dur="1000"/>
                                        <p:tgtEl>
                                          <p:spTgt spid="2327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6" presetClass="entr" presetSubtype="0" fill="hold" grpId="0" nodeType="clickEffect">
                                  <p:stCondLst>
                                    <p:cond delay="0"/>
                                  </p:stCondLst>
                                  <p:childTnLst>
                                    <p:set>
                                      <p:cBhvr>
                                        <p:cTn id="16" dur="1" fill="hold">
                                          <p:stCondLst>
                                            <p:cond delay="0"/>
                                          </p:stCondLst>
                                        </p:cTn>
                                        <p:tgtEl>
                                          <p:spTgt spid="232752"/>
                                        </p:tgtEl>
                                        <p:attrNameLst>
                                          <p:attrName>style.visibility</p:attrName>
                                        </p:attrNameLst>
                                      </p:cBhvr>
                                      <p:to>
                                        <p:strVal val="visible"/>
                                      </p:to>
                                    </p:set>
                                    <p:animEffect transition="in" filter="wipe(down)">
                                      <p:cBhvr>
                                        <p:cTn id="17" dur="580">
                                          <p:stCondLst>
                                            <p:cond delay="0"/>
                                          </p:stCondLst>
                                        </p:cTn>
                                        <p:tgtEl>
                                          <p:spTgt spid="232752"/>
                                        </p:tgtEl>
                                      </p:cBhvr>
                                    </p:animEffect>
                                    <p:anim calcmode="lin" valueType="num">
                                      <p:cBhvr>
                                        <p:cTn id="18" dur="1822" tmFilter="0,0; 0.14,0.36; 0.43,0.73; 0.71,0.91; 1.0,1.0">
                                          <p:stCondLst>
                                            <p:cond delay="0"/>
                                          </p:stCondLst>
                                        </p:cTn>
                                        <p:tgtEl>
                                          <p:spTgt spid="232752"/>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232752"/>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232752"/>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232752"/>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232752"/>
                                        </p:tgtEl>
                                        <p:attrNameLst>
                                          <p:attrName>ppt_y</p:attrName>
                                        </p:attrNameLst>
                                      </p:cBhvr>
                                      <p:tavLst>
                                        <p:tav tm="0" fmla="#ppt_y-sin(pi*$)/81">
                                          <p:val>
                                            <p:fltVal val="0"/>
                                          </p:val>
                                        </p:tav>
                                        <p:tav tm="100000">
                                          <p:val>
                                            <p:fltVal val="1"/>
                                          </p:val>
                                        </p:tav>
                                      </p:tavLst>
                                    </p:anim>
                                    <p:animScale>
                                      <p:cBhvr>
                                        <p:cTn id="23" dur="26">
                                          <p:stCondLst>
                                            <p:cond delay="650"/>
                                          </p:stCondLst>
                                        </p:cTn>
                                        <p:tgtEl>
                                          <p:spTgt spid="232752"/>
                                        </p:tgtEl>
                                      </p:cBhvr>
                                      <p:to x="100000" y="60000"/>
                                    </p:animScale>
                                    <p:animScale>
                                      <p:cBhvr>
                                        <p:cTn id="24" dur="166" decel="50000">
                                          <p:stCondLst>
                                            <p:cond delay="676"/>
                                          </p:stCondLst>
                                        </p:cTn>
                                        <p:tgtEl>
                                          <p:spTgt spid="232752"/>
                                        </p:tgtEl>
                                      </p:cBhvr>
                                      <p:to x="100000" y="100000"/>
                                    </p:animScale>
                                    <p:animScale>
                                      <p:cBhvr>
                                        <p:cTn id="25" dur="26">
                                          <p:stCondLst>
                                            <p:cond delay="1312"/>
                                          </p:stCondLst>
                                        </p:cTn>
                                        <p:tgtEl>
                                          <p:spTgt spid="232752"/>
                                        </p:tgtEl>
                                      </p:cBhvr>
                                      <p:to x="100000" y="80000"/>
                                    </p:animScale>
                                    <p:animScale>
                                      <p:cBhvr>
                                        <p:cTn id="26" dur="166" decel="50000">
                                          <p:stCondLst>
                                            <p:cond delay="1338"/>
                                          </p:stCondLst>
                                        </p:cTn>
                                        <p:tgtEl>
                                          <p:spTgt spid="232752"/>
                                        </p:tgtEl>
                                      </p:cBhvr>
                                      <p:to x="100000" y="100000"/>
                                    </p:animScale>
                                    <p:animScale>
                                      <p:cBhvr>
                                        <p:cTn id="27" dur="26">
                                          <p:stCondLst>
                                            <p:cond delay="1642"/>
                                          </p:stCondLst>
                                        </p:cTn>
                                        <p:tgtEl>
                                          <p:spTgt spid="232752"/>
                                        </p:tgtEl>
                                      </p:cBhvr>
                                      <p:to x="100000" y="90000"/>
                                    </p:animScale>
                                    <p:animScale>
                                      <p:cBhvr>
                                        <p:cTn id="28" dur="166" decel="50000">
                                          <p:stCondLst>
                                            <p:cond delay="1668"/>
                                          </p:stCondLst>
                                        </p:cTn>
                                        <p:tgtEl>
                                          <p:spTgt spid="232752"/>
                                        </p:tgtEl>
                                      </p:cBhvr>
                                      <p:to x="100000" y="100000"/>
                                    </p:animScale>
                                    <p:animScale>
                                      <p:cBhvr>
                                        <p:cTn id="29" dur="26">
                                          <p:stCondLst>
                                            <p:cond delay="1808"/>
                                          </p:stCondLst>
                                        </p:cTn>
                                        <p:tgtEl>
                                          <p:spTgt spid="232752"/>
                                        </p:tgtEl>
                                      </p:cBhvr>
                                      <p:to x="100000" y="95000"/>
                                    </p:animScale>
                                    <p:animScale>
                                      <p:cBhvr>
                                        <p:cTn id="30" dur="166" decel="50000">
                                          <p:stCondLst>
                                            <p:cond delay="1834"/>
                                          </p:stCondLst>
                                        </p:cTn>
                                        <p:tgtEl>
                                          <p:spTgt spid="23275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752" grpId="0"/>
    </p:bldLst>
  </p:timing>
</p:sld>
</file>

<file path=ppt/theme/theme1.xml><?xml version="1.0" encoding="utf-8"?>
<a:theme xmlns:a="http://schemas.openxmlformats.org/drawingml/2006/main" name="1_OS-Lizhijun">
  <a:themeElements>
    <a:clrScheme name="1_OS-Lizhiju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OS-Lizhijun">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1_OS-Lizhiju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OS-Lizhiju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OS-Lizhiju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OS-Lizhiju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OS-Lizhiju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OS-Lizhiju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OS-Lizhiju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OS-Lizhiju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OS-Lizhiju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OS-Lizhiju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OS-Lizhiju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OS-Lizhiju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OS-Lizhijun</Template>
  <TotalTime>4243</TotalTime>
  <Words>6727</Words>
  <Application>Microsoft Office PowerPoint</Application>
  <PresentationFormat>全屏显示(4:3)</PresentationFormat>
  <Paragraphs>1179</Paragraphs>
  <Slides>68</Slides>
  <Notes>24</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68</vt:i4>
      </vt:variant>
    </vt:vector>
  </HeadingPairs>
  <TitlesOfParts>
    <vt:vector size="86" baseType="lpstr">
      <vt:lpstr>Monotype Sorts</vt:lpstr>
      <vt:lpstr>ＭＳ Ｐゴシック</vt:lpstr>
      <vt:lpstr>黑体</vt:lpstr>
      <vt:lpstr>华文琥珀</vt:lpstr>
      <vt:lpstr>华文隶书</vt:lpstr>
      <vt:lpstr>宋体</vt:lpstr>
      <vt:lpstr>Arial</vt:lpstr>
      <vt:lpstr>Arial Black</vt:lpstr>
      <vt:lpstr>Century Gothic</vt:lpstr>
      <vt:lpstr>Courier New</vt:lpstr>
      <vt:lpstr>Helvetica</vt:lpstr>
      <vt:lpstr>Symbol</vt:lpstr>
      <vt:lpstr>Tahoma</vt:lpstr>
      <vt:lpstr>Times New Roman</vt:lpstr>
      <vt:lpstr>Webdings</vt:lpstr>
      <vt:lpstr>Wingdings</vt:lpstr>
      <vt:lpstr>1_OS-Lizhijun</vt:lpstr>
      <vt:lpstr>剪辑</vt:lpstr>
      <vt:lpstr>PowerPoint 演示文稿</vt:lpstr>
      <vt:lpstr>大纲</vt:lpstr>
      <vt:lpstr>PowerPoint 演示文稿</vt:lpstr>
      <vt:lpstr>PowerPoint 演示文稿</vt:lpstr>
      <vt:lpstr>PowerPoint 演示文稿</vt:lpstr>
      <vt:lpstr>调度情况1： 因等待某些事件而让出CPU</vt:lpstr>
      <vt:lpstr>PowerPoint 演示文稿</vt:lpstr>
      <vt:lpstr>PowerPoint 演示文稿</vt:lpstr>
      <vt:lpstr>PowerPoint 演示文稿</vt:lpstr>
      <vt:lpstr>让出CPU的具体实现</vt:lpstr>
      <vt:lpstr>PickNext()的直观思考</vt:lpstr>
      <vt:lpstr>PowerPoint 演示文稿</vt:lpstr>
      <vt:lpstr>CPU调度策略的设计准则</vt:lpstr>
      <vt:lpstr>存在矛盾的目标集合</vt:lpstr>
      <vt:lpstr>CPU调度应综合考虑  任务特点</vt:lpstr>
      <vt:lpstr>CPU调度应综合考虑  任务特点(续)</vt:lpstr>
      <vt:lpstr>CPU调度应综合考虑  调度算法的实现</vt:lpstr>
      <vt:lpstr>PowerPoint 演示文稿</vt:lpstr>
      <vt:lpstr>（1）FIFO或First Come, First Served (FCFS)</vt:lpstr>
      <vt:lpstr>（1）FIFO或First Come, First Served (FCFS)</vt:lpstr>
      <vt:lpstr>FCFS的分析</vt:lpstr>
      <vt:lpstr>（2）Shortest Job First (SJF)</vt:lpstr>
      <vt:lpstr>（2）Shortest Job First (SJF)</vt:lpstr>
      <vt:lpstr>SJF的分析</vt:lpstr>
      <vt:lpstr>SJF: 任务到达的时间有先后怎么办? </vt:lpstr>
      <vt:lpstr>SJF: 任务到达的时间有先后怎么办? </vt:lpstr>
      <vt:lpstr>SJF vs. SRJF</vt:lpstr>
      <vt:lpstr>SJF(SRJF): 如何知道下一CPU区间大小</vt:lpstr>
      <vt:lpstr>（3）SJF的一般化: 优先权调度</vt:lpstr>
      <vt:lpstr>优先权调度引起的一个有趣问题</vt:lpstr>
      <vt:lpstr>（4）适合交互式的调度: Round-Robin (RR)</vt:lpstr>
      <vt:lpstr>（4）适合交互式的调度: Round-Robin (RR)</vt:lpstr>
      <vt:lpstr>RR的分析</vt:lpstr>
      <vt:lpstr>RR中的时间片该如何设定?</vt:lpstr>
      <vt:lpstr>RR调度例子：周转时间随着时间片大小而变化</vt:lpstr>
      <vt:lpstr>（5）混合多种调度算法  多级队列调度</vt:lpstr>
      <vt:lpstr>（6）更成熟的多级队列调度  多级反馈队列</vt:lpstr>
      <vt:lpstr>PowerPoint 演示文稿</vt:lpstr>
      <vt:lpstr>（7）多核CPU调度算法</vt:lpstr>
      <vt:lpstr>（7）多核CPU调度算法</vt:lpstr>
      <vt:lpstr>PowerPoint 演示文稿</vt:lpstr>
      <vt:lpstr>（7）多核CPU调度算法</vt:lpstr>
      <vt:lpstr>（7）多核CPU调度算法</vt:lpstr>
      <vt:lpstr>（7）多核CPU调度算法</vt:lpstr>
      <vt:lpstr>（7）多核CPU调度算法</vt:lpstr>
      <vt:lpstr>（7）多核CPU调度算法</vt:lpstr>
      <vt:lpstr>（7）多核CPU调度算法</vt:lpstr>
      <vt:lpstr>（7）多核CPU调度算法</vt:lpstr>
      <vt:lpstr>（7）多核CPU调度算法</vt:lpstr>
      <vt:lpstr>（7）多核CPU调度算法</vt:lpstr>
      <vt:lpstr>（7）多核CPU调度算法</vt:lpstr>
      <vt:lpstr>（7）多核CPU调度算法：</vt:lpstr>
      <vt:lpstr>（7）多核CPU调度算法</vt:lpstr>
      <vt:lpstr>（7）多核CPU调度算法</vt:lpstr>
      <vt:lpstr>（7）多核CPU调度算法</vt:lpstr>
      <vt:lpstr>Linux中（分时OS）的调度时机（调度点）</vt:lpstr>
      <vt:lpstr>（实时）嵌入式操作系统调度时机</vt:lpstr>
      <vt:lpstr>PowerPoint 演示文稿</vt:lpstr>
      <vt:lpstr>Linux调度算法分析</vt:lpstr>
      <vt:lpstr>Linux调度算法分析</vt:lpstr>
      <vt:lpstr>Windows调度算法分析</vt:lpstr>
      <vt:lpstr>Windows调度算法分析</vt:lpstr>
      <vt:lpstr>Windows调度算法分析</vt:lpstr>
      <vt:lpstr>Windows调度算法分析</vt:lpstr>
      <vt:lpstr>Windows调度算法分析</vt:lpstr>
      <vt:lpstr>Windows调度算法分析</vt:lpstr>
      <vt:lpstr>CPU调度的总结</vt:lpstr>
      <vt:lpstr>RR调度例子：周转时间随着时间片大小而变化</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ibm</dc:creator>
  <cp:lastModifiedBy>曲名</cp:lastModifiedBy>
  <cp:revision>1803</cp:revision>
  <cp:lastPrinted>1601-01-01T00:00:00Z</cp:lastPrinted>
  <dcterms:created xsi:type="dcterms:W3CDTF">1601-01-01T00:00:00Z</dcterms:created>
  <dcterms:modified xsi:type="dcterms:W3CDTF">2022-04-27T01:47:20Z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