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1"/>
  </p:sldMasterIdLst>
  <p:notesMasterIdLst>
    <p:notesMasterId r:id="rId59"/>
  </p:notesMasterIdLst>
  <p:handoutMasterIdLst>
    <p:handoutMasterId r:id="rId60"/>
  </p:handoutMasterIdLst>
  <p:sldIdLst>
    <p:sldId id="656" r:id="rId2"/>
    <p:sldId id="696" r:id="rId3"/>
    <p:sldId id="655" r:id="rId4"/>
    <p:sldId id="657" r:id="rId5"/>
    <p:sldId id="597" r:id="rId6"/>
    <p:sldId id="658" r:id="rId7"/>
    <p:sldId id="659" r:id="rId8"/>
    <p:sldId id="695" r:id="rId9"/>
    <p:sldId id="450" r:id="rId10"/>
    <p:sldId id="406" r:id="rId11"/>
    <p:sldId id="662" r:id="rId12"/>
    <p:sldId id="602" r:id="rId13"/>
    <p:sldId id="542" r:id="rId14"/>
    <p:sldId id="697" r:id="rId15"/>
    <p:sldId id="507" r:id="rId16"/>
    <p:sldId id="721" r:id="rId17"/>
    <p:sldId id="679" r:id="rId18"/>
    <p:sldId id="688" r:id="rId19"/>
    <p:sldId id="513" r:id="rId20"/>
    <p:sldId id="566" r:id="rId21"/>
    <p:sldId id="681" r:id="rId22"/>
    <p:sldId id="572" r:id="rId23"/>
    <p:sldId id="625" r:id="rId24"/>
    <p:sldId id="691" r:id="rId25"/>
    <p:sldId id="627" r:id="rId26"/>
    <p:sldId id="687" r:id="rId27"/>
    <p:sldId id="722" r:id="rId28"/>
    <p:sldId id="692" r:id="rId29"/>
    <p:sldId id="683" r:id="rId30"/>
    <p:sldId id="579" r:id="rId31"/>
    <p:sldId id="580" r:id="rId32"/>
    <p:sldId id="581" r:id="rId33"/>
    <p:sldId id="582" r:id="rId34"/>
    <p:sldId id="690" r:id="rId35"/>
    <p:sldId id="612" r:id="rId36"/>
    <p:sldId id="611" r:id="rId37"/>
    <p:sldId id="744" r:id="rId38"/>
    <p:sldId id="755" r:id="rId39"/>
    <p:sldId id="739" r:id="rId40"/>
    <p:sldId id="740" r:id="rId41"/>
    <p:sldId id="756" r:id="rId42"/>
    <p:sldId id="741" r:id="rId43"/>
    <p:sldId id="757" r:id="rId44"/>
    <p:sldId id="743" r:id="rId45"/>
    <p:sldId id="699" r:id="rId46"/>
    <p:sldId id="700" r:id="rId47"/>
    <p:sldId id="701" r:id="rId48"/>
    <p:sldId id="702" r:id="rId49"/>
    <p:sldId id="703" r:id="rId50"/>
    <p:sldId id="705" r:id="rId51"/>
    <p:sldId id="706" r:id="rId52"/>
    <p:sldId id="707" r:id="rId53"/>
    <p:sldId id="704" r:id="rId54"/>
    <p:sldId id="708" r:id="rId55"/>
    <p:sldId id="709" r:id="rId56"/>
    <p:sldId id="710" r:id="rId57"/>
    <p:sldId id="685" r:id="rId58"/>
  </p:sldIdLst>
  <p:sldSz cx="9144000" cy="5143500" type="screen16x9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9900"/>
    <a:srgbClr val="FF00FF"/>
    <a:srgbClr val="FF33CC"/>
    <a:srgbClr val="0000FF"/>
    <a:srgbClr val="3333CC"/>
    <a:srgbClr val="FFFF99"/>
    <a:srgbClr val="FF99CC"/>
    <a:srgbClr val="FFCC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99" autoAdjust="0"/>
    <p:restoredTop sz="83883" autoAdjust="0"/>
  </p:normalViewPr>
  <p:slideViewPr>
    <p:cSldViewPr>
      <p:cViewPr varScale="1">
        <p:scale>
          <a:sx n="80" d="100"/>
          <a:sy n="80" d="100"/>
        </p:scale>
        <p:origin x="627" y="45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2940" y="-84"/>
      </p:cViewPr>
      <p:guideLst>
        <p:guide orient="horz" pos="3223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085" cy="511486"/>
          </a:xfrm>
          <a:prstGeom prst="rect">
            <a:avLst/>
          </a:prstGeom>
        </p:spPr>
        <p:txBody>
          <a:bodyPr vert="horz" lIns="94887" tIns="47444" rIns="94887" bIns="47444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0548" y="0"/>
            <a:ext cx="3077085" cy="511486"/>
          </a:xfrm>
          <a:prstGeom prst="rect">
            <a:avLst/>
          </a:prstGeom>
        </p:spPr>
        <p:txBody>
          <a:bodyPr vert="horz" lIns="94887" tIns="47444" rIns="94887" bIns="47444" rtlCol="0"/>
          <a:lstStyle>
            <a:lvl1pPr algn="r">
              <a:defRPr sz="1200"/>
            </a:lvl1pPr>
          </a:lstStyle>
          <a:p>
            <a:fld id="{C48AA596-337F-488F-89AF-E0E1B958A628}" type="datetimeFigureOut">
              <a:rPr lang="zh-CN" altLang="en-US" smtClean="0"/>
              <a:pPr/>
              <a:t>2022/5/6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494"/>
            <a:ext cx="3077085" cy="511485"/>
          </a:xfrm>
          <a:prstGeom prst="rect">
            <a:avLst/>
          </a:prstGeom>
        </p:spPr>
        <p:txBody>
          <a:bodyPr vert="horz" lIns="94887" tIns="47444" rIns="94887" bIns="47444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0548" y="9721494"/>
            <a:ext cx="3077085" cy="511485"/>
          </a:xfrm>
          <a:prstGeom prst="rect">
            <a:avLst/>
          </a:prstGeom>
        </p:spPr>
        <p:txBody>
          <a:bodyPr vert="horz" lIns="94887" tIns="47444" rIns="94887" bIns="47444" rtlCol="0" anchor="b"/>
          <a:lstStyle>
            <a:lvl1pPr algn="r">
              <a:defRPr sz="1200"/>
            </a:lvl1pPr>
          </a:lstStyle>
          <a:p>
            <a:fld id="{4511AFB4-51AD-4D63-AAD5-8EFB9F200E9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306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057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548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057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0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97" y="4861564"/>
            <a:ext cx="5679107" cy="4605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40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057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0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548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057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9C248093-BC3A-480A-B4FF-423A595742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884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63FE6A-A07C-4F62-8FBF-E5DA1DFCF16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745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C3F133A-7E3A-413E-964C-873A5BA34320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3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530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C3F133A-7E3A-413E-964C-873A5BA34320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4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267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CCCEA3B-7E9D-4E82-A5EB-4D757B4EEAE9}" type="slidenum">
              <a:rPr lang="zh-CN" altLang="en-US">
                <a:latin typeface="Arial" pitchFamily="34" charset="0"/>
              </a:rPr>
              <a:pPr eaLnBrk="1" hangingPunct="1"/>
              <a:t>5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2666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CCCEA3B-7E9D-4E82-A5EB-4D757B4EEAE9}" type="slidenum">
              <a:rPr lang="zh-CN" altLang="en-US">
                <a:latin typeface="Arial" pitchFamily="34" charset="0"/>
              </a:rPr>
              <a:pPr eaLnBrk="1" hangingPunct="1"/>
              <a:t>6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2096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CCCEA3B-7E9D-4E82-A5EB-4D757B4EEAE9}" type="slidenum">
              <a:rPr lang="zh-CN" altLang="en-US">
                <a:latin typeface="Arial" pitchFamily="34" charset="0"/>
              </a:rPr>
              <a:pPr eaLnBrk="1" hangingPunct="1"/>
              <a:t>7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2366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5C23693-4CDF-48A0-BC30-60941A2A3AE6}" type="slidenum">
              <a:rPr lang="zh-CN" altLang="en-US">
                <a:latin typeface="Arial" pitchFamily="34" charset="0"/>
              </a:rPr>
              <a:pPr eaLnBrk="1" hangingPunct="1"/>
              <a:t>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3823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50AE390-45C7-4B8F-A2C5-5E70510F9A67}" type="slidenum">
              <a:rPr lang="zh-CN" altLang="en-US">
                <a:latin typeface="Arial" pitchFamily="34" charset="0"/>
              </a:rPr>
              <a:pPr eaLnBrk="1" hangingPunct="1"/>
              <a:t>10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8487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50AE390-45C7-4B8F-A2C5-5E70510F9A67}" type="slidenum">
              <a:rPr lang="zh-CN" altLang="en-US">
                <a:latin typeface="Arial" pitchFamily="34" charset="0"/>
              </a:rPr>
              <a:pPr eaLnBrk="1" hangingPunct="1"/>
              <a:t>11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1157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50AE390-45C7-4B8F-A2C5-5E70510F9A67}" type="slidenum">
              <a:rPr lang="zh-CN" altLang="en-US">
                <a:latin typeface="Arial" pitchFamily="34" charset="0"/>
              </a:rPr>
              <a:pPr eaLnBrk="1" hangingPunct="1"/>
              <a:t>12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869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itchFamily="34" charset="0"/>
              </a:rPr>
              <a:pPr eaLnBrk="1" hangingPunct="1"/>
              <a:t>13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154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14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247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52168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5216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6AC119F-C965-4607-AE9B-1048D84D090F}" type="slidenum">
              <a:rPr lang="zh-CN" altLang="en-US">
                <a:latin typeface="Arial" pitchFamily="34" charset="0"/>
              </a:rPr>
              <a:pPr eaLnBrk="1" hangingPunct="1"/>
              <a:t>15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941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latin typeface="Arial" pitchFamily="34" charset="0"/>
            </a:endParaRP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B2B01EE-BE0F-41AE-B034-DC3D56A24BFF}" type="slidenum">
              <a:rPr lang="zh-CN" altLang="en-US">
                <a:latin typeface="Arial" pitchFamily="34" charset="0"/>
              </a:rPr>
              <a:pPr eaLnBrk="1" hangingPunct="1"/>
              <a:t>16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5732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itchFamily="34" charset="0"/>
              </a:rPr>
              <a:pPr eaLnBrk="1" hangingPunct="1"/>
              <a:t>17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826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itchFamily="34" charset="0"/>
              </a:rPr>
              <a:pPr eaLnBrk="1" hangingPunct="1"/>
              <a:t>18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535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5060FE8-6131-4518-866E-DDCFB10BC222}" type="slidenum">
              <a:rPr lang="zh-CN" altLang="en-US">
                <a:latin typeface="Arial" pitchFamily="34" charset="0"/>
              </a:rPr>
              <a:pPr eaLnBrk="1" hangingPunct="1"/>
              <a:t>19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382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6831DBE-FB91-469E-A4CB-4095D082C06F}" type="slidenum">
              <a:rPr lang="zh-CN" altLang="en-US">
                <a:latin typeface="Arial" pitchFamily="34" charset="0"/>
              </a:rPr>
              <a:pPr eaLnBrk="1" hangingPunct="1"/>
              <a:t>20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5749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>
              <a:latin typeface="Arial" pitchFamily="34" charset="0"/>
            </a:endParaRPr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itchFamily="34" charset="0"/>
              </a:rPr>
              <a:pPr eaLnBrk="1" hangingPunct="1"/>
              <a:t>21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8264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9076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20557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1003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7566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zh-CN" altLang="en-US" dirty="0">
              <a:latin typeface="Arial" pitchFamily="34" charset="0"/>
            </a:endParaRPr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itchFamily="34" charset="0"/>
              </a:rPr>
              <a:pPr eaLnBrk="1" hangingPunct="1"/>
              <a:t>29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8264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0609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6923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1529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42088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248093-BC3A-480A-B4FF-423A59574276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7873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itchFamily="34" charset="0"/>
              </a:rPr>
              <a:pPr eaLnBrk="1" hangingPunct="1"/>
              <a:t>35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9750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itchFamily="34" charset="0"/>
              </a:rPr>
              <a:pPr eaLnBrk="1" hangingPunct="1"/>
              <a:t>36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5397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3252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39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230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40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3102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4887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2721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42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1582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0" marR="0" lvl="0" indent="0" algn="r" defTabSz="9900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96CD6-2BBB-4FDE-89B7-0087A1F4683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itchFamily="2" charset="-122"/>
                <a:cs typeface="+mn-cs"/>
              </a:rPr>
              <a:pPr marL="0" marR="0" lvl="0" indent="0" algn="r" defTabSz="9900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8828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2563" y="833438"/>
            <a:ext cx="7402513" cy="4165600"/>
          </a:xfrm>
          <a:ln/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873" eaLnBrk="1" hangingPunct="1">
              <a:defRPr/>
            </a:pPr>
            <a:endParaRPr lang="en-US" altLang="zh-CN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solidFill>
                  <a:srgbClr val="000000"/>
                </a:solidFill>
                <a:latin typeface="Arial" pitchFamily="34" charset="0"/>
              </a:rPr>
              <a:pPr eaLnBrk="1" hangingPunct="1"/>
              <a:t>44</a:t>
            </a:fld>
            <a:endParaRPr lang="en-US" altLang="zh-CN">
              <a:solidFill>
                <a:srgbClr val="00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2651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lvl="1" defTabSz="948873" eaLnBrk="1" hangingPunct="1">
              <a:defRPr/>
            </a:pPr>
            <a:endParaRPr lang="en-US" altLang="zh-CN" dirty="0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46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4272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defTabSz="948873">
              <a:defRPr/>
            </a:pPr>
            <a:endParaRPr lang="zh-CN" altLang="en-US" dirty="0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47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1983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49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22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zh-CN" altLang="en-US" dirty="0">
              <a:latin typeface="Arial" pitchFamily="34" charset="0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50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1872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51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015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zh-CN" altLang="en-US" dirty="0">
              <a:latin typeface="Arial" pitchFamily="34" charset="0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52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2368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53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8957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54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1663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  <a:ln/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zh-CN" altLang="en-US" dirty="0">
              <a:latin typeface="Arial" pitchFamily="34" charset="0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70959" indent="-296523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86091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60528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34964" indent="-237218" defTabSz="990057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0940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3837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58273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32710" indent="-237218" defTabSz="99005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itchFamily="34" charset="0"/>
              </a:rPr>
              <a:pPr eaLnBrk="1" hangingPunct="1"/>
              <a:t>56</a:t>
            </a:fld>
            <a:endParaRPr lang="en-US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40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63FE6A-A07C-4F62-8FBF-E5DA1DFCF16A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989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171450"/>
            <a:ext cx="8695944" cy="452628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4015472"/>
            <a:ext cx="8723376" cy="998685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81ABC3-7603-4C78-B3C4-AD83C1CB889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7DB5C4-EDEC-409D-BB92-E8AE453AA2A4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5944" cy="1404451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4" y="1059583"/>
            <a:ext cx="8824831" cy="576063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9592" y="267494"/>
            <a:ext cx="7787208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4687623"/>
            <a:ext cx="378669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43" y="4687623"/>
            <a:ext cx="378669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4687623"/>
            <a:ext cx="116182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EE61635-C8B6-452C-BD01-B454964319D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5" y="1368352"/>
            <a:ext cx="5927571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05" r:id="rId1"/>
    <p:sldLayoutId id="2147485606" r:id="rId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baseline="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G:\QQ截图201607142012副本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9144000" cy="5152203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714876" y="1714494"/>
            <a:ext cx="3443254" cy="939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楷体" pitchFamily="49" charset="-122"/>
                <a:cs typeface="+mj-cs"/>
              </a:rPr>
              <a:t> </a:t>
            </a:r>
            <a:r>
              <a:rPr lang="zh-CN" altLang="en-US" sz="3500" spc="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第一章 绪论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857752" y="2428874"/>
            <a:ext cx="3443254" cy="939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楷体" pitchFamily="49" charset="-122"/>
                <a:cs typeface="+mj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楷体" pitchFamily="49" charset="-122"/>
                <a:cs typeface="+mj-cs"/>
              </a:rPr>
              <a:t>哈尔滨工业大学  陈鄞</a:t>
            </a:r>
            <a:endParaRPr kumimoji="0" lang="zh-CN" altLang="en-US" sz="2000" b="1" i="0" u="none" strike="noStrike" kern="1200" cap="none" spc="6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357840" y="1344613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spc="3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编译原理</a:t>
            </a:r>
            <a:endParaRPr lang="zh-CN" altLang="en-US" sz="800" spc="3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2952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00563" y="1357313"/>
            <a:ext cx="4357687" cy="2657138"/>
          </a:xfrm>
          <a:prstGeom prst="rect">
            <a:avLst/>
          </a:prstGeom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1.1 什么是编译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1.2 编译系统的结构</a:t>
            </a:r>
          </a:p>
          <a:p>
            <a:pPr>
              <a:lnSpc>
                <a:spcPts val="4000"/>
              </a:lnSpc>
              <a:defRPr/>
            </a:pP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为什么要学习编译原理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pic>
        <p:nvPicPr>
          <p:cNvPr id="2867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4143375" y="357188"/>
            <a:ext cx="2948905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79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37"/>
          <p:cNvSpPr>
            <a:spLocks/>
          </p:cNvSpPr>
          <p:nvPr/>
        </p:nvSpPr>
        <p:spPr bwMode="auto">
          <a:xfrm>
            <a:off x="1142976" y="2138853"/>
            <a:ext cx="1582568" cy="345961"/>
          </a:xfrm>
          <a:prstGeom prst="borderCallout2">
            <a:avLst>
              <a:gd name="adj1" fmla="val 18750"/>
              <a:gd name="adj2" fmla="val 103926"/>
              <a:gd name="adj3" fmla="val 18750"/>
              <a:gd name="adj4" fmla="val 110394"/>
              <a:gd name="adj5" fmla="val 138453"/>
              <a:gd name="adj6" fmla="val 12096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引入助记符</a:t>
            </a:r>
          </a:p>
        </p:txBody>
      </p:sp>
      <p:sp>
        <p:nvSpPr>
          <p:cNvPr id="29" name="AutoShape 37"/>
          <p:cNvSpPr>
            <a:spLocks/>
          </p:cNvSpPr>
          <p:nvPr/>
        </p:nvSpPr>
        <p:spPr bwMode="auto">
          <a:xfrm>
            <a:off x="500034" y="3455290"/>
            <a:ext cx="2283650" cy="330906"/>
          </a:xfrm>
          <a:prstGeom prst="borderCallout2">
            <a:avLst>
              <a:gd name="adj1" fmla="val 18750"/>
              <a:gd name="adj2" fmla="val 103926"/>
              <a:gd name="adj3" fmla="val 18750"/>
              <a:gd name="adj4" fmla="val 110394"/>
              <a:gd name="adj5" fmla="val 195105"/>
              <a:gd name="adj6" fmla="val 121055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可以被计算机直接理解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1.1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什么是编译？</a:t>
            </a:r>
          </a:p>
        </p:txBody>
      </p:sp>
      <p:grpSp>
        <p:nvGrpSpPr>
          <p:cNvPr id="360486" name="Group 38"/>
          <p:cNvGrpSpPr>
            <a:grpSpLocks/>
          </p:cNvGrpSpPr>
          <p:nvPr/>
        </p:nvGrpSpPr>
        <p:grpSpPr bwMode="auto">
          <a:xfrm>
            <a:off x="2354552" y="1301883"/>
            <a:ext cx="1931011" cy="3198597"/>
            <a:chOff x="945" y="1304"/>
            <a:chExt cx="1134" cy="2533"/>
          </a:xfrm>
        </p:grpSpPr>
        <p:sp>
          <p:nvSpPr>
            <p:cNvPr id="7188" name="Rectangle 4"/>
            <p:cNvSpPr>
              <a:spLocks noChangeArrowheads="1"/>
            </p:cNvSpPr>
            <p:nvPr/>
          </p:nvSpPr>
          <p:spPr bwMode="auto">
            <a:xfrm>
              <a:off x="945" y="3348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机器语言</a:t>
              </a:r>
              <a:endPara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(Machine Language 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7189" name="Rectangle 8"/>
            <p:cNvSpPr>
              <a:spLocks noChangeArrowheads="1"/>
            </p:cNvSpPr>
            <p:nvPr/>
          </p:nvSpPr>
          <p:spPr bwMode="auto">
            <a:xfrm>
              <a:off x="945" y="2273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汇编语言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(Assembly Language 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7190" name="Rectangle 12"/>
            <p:cNvSpPr>
              <a:spLocks noChangeArrowheads="1"/>
            </p:cNvSpPr>
            <p:nvPr/>
          </p:nvSpPr>
          <p:spPr bwMode="auto">
            <a:xfrm>
              <a:off x="945" y="1304"/>
              <a:ext cx="1118" cy="4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高级语言</a:t>
              </a:r>
              <a:endPara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 High Level Language 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60462" name="Group 14"/>
          <p:cNvGrpSpPr>
            <a:grpSpLocks/>
          </p:cNvGrpSpPr>
          <p:nvPr/>
        </p:nvGrpSpPr>
        <p:grpSpPr bwMode="auto">
          <a:xfrm>
            <a:off x="4803025" y="3347477"/>
            <a:ext cx="1224505" cy="769323"/>
            <a:chOff x="3802" y="3069"/>
            <a:chExt cx="900" cy="646"/>
          </a:xfrm>
        </p:grpSpPr>
        <p:sp>
          <p:nvSpPr>
            <p:cNvPr id="7186" name="Line 16"/>
            <p:cNvSpPr>
              <a:spLocks noChangeShapeType="1"/>
            </p:cNvSpPr>
            <p:nvPr/>
          </p:nvSpPr>
          <p:spPr bwMode="auto">
            <a:xfrm rot="10800000" flipV="1">
              <a:off x="4241" y="3518"/>
              <a:ext cx="0" cy="1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  <p:sp>
          <p:nvSpPr>
            <p:cNvPr id="7185" name="Rectangle 15"/>
            <p:cNvSpPr>
              <a:spLocks noChangeArrowheads="1"/>
            </p:cNvSpPr>
            <p:nvPr/>
          </p:nvSpPr>
          <p:spPr bwMode="auto">
            <a:xfrm>
              <a:off x="3802" y="3069"/>
              <a:ext cx="900" cy="46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(Assembling)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360470" name="Group 22"/>
          <p:cNvGrpSpPr>
            <a:grpSpLocks/>
          </p:cNvGrpSpPr>
          <p:nvPr/>
        </p:nvGrpSpPr>
        <p:grpSpPr bwMode="auto">
          <a:xfrm>
            <a:off x="4714876" y="1997102"/>
            <a:ext cx="1428760" cy="783614"/>
            <a:chOff x="3696" y="2886"/>
            <a:chExt cx="1143" cy="658"/>
          </a:xfrm>
        </p:grpSpPr>
        <p:sp>
          <p:nvSpPr>
            <p:cNvPr id="7183" name="Line 24"/>
            <p:cNvSpPr>
              <a:spLocks noChangeShapeType="1"/>
            </p:cNvSpPr>
            <p:nvPr/>
          </p:nvSpPr>
          <p:spPr bwMode="auto">
            <a:xfrm rot="10200000" flipV="1">
              <a:off x="4241" y="3315"/>
              <a:ext cx="3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  <p:sp>
          <p:nvSpPr>
            <p:cNvPr id="7182" name="Rectangle 23"/>
            <p:cNvSpPr>
              <a:spLocks noChangeArrowheads="1"/>
            </p:cNvSpPr>
            <p:nvPr/>
          </p:nvSpPr>
          <p:spPr bwMode="auto">
            <a:xfrm>
              <a:off x="3696" y="2886"/>
              <a:ext cx="1143" cy="461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(Compiling)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360474" name="Oval 26"/>
          <p:cNvSpPr>
            <a:spLocks noChangeArrowheads="1"/>
          </p:cNvSpPr>
          <p:nvPr/>
        </p:nvSpPr>
        <p:spPr bwMode="auto">
          <a:xfrm>
            <a:off x="4360673" y="4110693"/>
            <a:ext cx="2211591" cy="34195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C706 0000 0002</a:t>
            </a:r>
            <a:endParaRPr lang="zh-CN" altLang="en-US" sz="2000" b="1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60475" name="Oval 27"/>
          <p:cNvSpPr>
            <a:spLocks noChangeArrowheads="1"/>
          </p:cNvSpPr>
          <p:nvPr/>
        </p:nvSpPr>
        <p:spPr bwMode="auto">
          <a:xfrm>
            <a:off x="4370199" y="2781505"/>
            <a:ext cx="2160572" cy="34145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MOV X, 2</a:t>
            </a:r>
          </a:p>
        </p:txBody>
      </p:sp>
      <p:sp>
        <p:nvSpPr>
          <p:cNvPr id="360476" name="Oval 28"/>
          <p:cNvSpPr>
            <a:spLocks noChangeArrowheads="1"/>
          </p:cNvSpPr>
          <p:nvPr/>
        </p:nvSpPr>
        <p:spPr bwMode="auto">
          <a:xfrm>
            <a:off x="4370199" y="1401223"/>
            <a:ext cx="2160572" cy="36441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 = 2</a:t>
            </a:r>
          </a:p>
        </p:txBody>
      </p:sp>
      <p:sp>
        <p:nvSpPr>
          <p:cNvPr id="25" name="矩形 24"/>
          <p:cNvSpPr/>
          <p:nvPr/>
        </p:nvSpPr>
        <p:spPr>
          <a:xfrm>
            <a:off x="571472" y="1298439"/>
            <a:ext cx="1835696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接近人类表达习惯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073E87">
                    <a:lumMod val="60000"/>
                    <a:lumOff val="4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不依赖于特定机器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编写效率高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AutoShape 37"/>
          <p:cNvSpPr>
            <a:spLocks/>
          </p:cNvSpPr>
          <p:nvPr/>
        </p:nvSpPr>
        <p:spPr bwMode="auto">
          <a:xfrm>
            <a:off x="678932" y="697160"/>
            <a:ext cx="2031236" cy="573208"/>
          </a:xfrm>
          <a:prstGeom prst="borderCallout2">
            <a:avLst>
              <a:gd name="adj1" fmla="val 18750"/>
              <a:gd name="adj2" fmla="val 103926"/>
              <a:gd name="adj3" fmla="val 18750"/>
              <a:gd name="adj4" fmla="val 110394"/>
              <a:gd name="adj5" fmla="val 94686"/>
              <a:gd name="adj6" fmla="val 12591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类似于数学定义或</a:t>
            </a:r>
            <a:endParaRPr lang="en-US" altLang="zh-CN" sz="1600" b="1" dirty="0">
              <a:solidFill>
                <a:prstClr val="black"/>
              </a:solidFill>
              <a:latin typeface="楷体" pitchFamily="49" charset="-122"/>
              <a:ea typeface="楷体" pitchFamily="49" charset="-122"/>
            </a:endParaRPr>
          </a:p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自然语言的简洁形式</a:t>
            </a:r>
          </a:p>
        </p:txBody>
      </p:sp>
      <p:sp>
        <p:nvSpPr>
          <p:cNvPr id="35" name="Line 16"/>
          <p:cNvSpPr>
            <a:spLocks noChangeShapeType="1"/>
          </p:cNvSpPr>
          <p:nvPr/>
        </p:nvSpPr>
        <p:spPr bwMode="auto">
          <a:xfrm rot="10800000" flipV="1">
            <a:off x="5391537" y="3122959"/>
            <a:ext cx="0" cy="2346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b="1">
              <a:solidFill>
                <a:prstClr val="black"/>
              </a:solidFill>
            </a:endParaRPr>
          </a:p>
        </p:txBody>
      </p:sp>
      <p:sp>
        <p:nvSpPr>
          <p:cNvPr id="36" name="Line 16"/>
          <p:cNvSpPr>
            <a:spLocks noChangeShapeType="1"/>
          </p:cNvSpPr>
          <p:nvPr/>
        </p:nvSpPr>
        <p:spPr bwMode="auto">
          <a:xfrm rot="10800000" flipV="1">
            <a:off x="5393477" y="1765638"/>
            <a:ext cx="0" cy="2346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b="1">
              <a:solidFill>
                <a:prstClr val="black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71472" y="3780068"/>
            <a:ext cx="1656184" cy="1363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与人类表达习惯相去甚远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lvl="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难记忆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lvl="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难编写、难阅读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71450" lvl="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易写错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71472" y="2466206"/>
            <a:ext cx="1876736" cy="1018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依赖于特定机器，非计算机专业人员使用受限制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  <a:p>
            <a:pPr marL="171450" indent="-171450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编写效率依然很低</a:t>
            </a:r>
            <a:endParaRPr lang="en-US" altLang="zh-CN" sz="1400" b="1" dirty="0">
              <a:solidFill>
                <a:schemeClr val="tx2">
                  <a:lumMod val="60000"/>
                  <a:lumOff val="4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37" name="五边形 3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五边形 3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60487" name="Group 39"/>
          <p:cNvGrpSpPr>
            <a:grpSpLocks/>
          </p:cNvGrpSpPr>
          <p:nvPr/>
        </p:nvGrpSpPr>
        <p:grpSpPr bwMode="auto">
          <a:xfrm>
            <a:off x="6598135" y="1571618"/>
            <a:ext cx="1260013" cy="2714644"/>
            <a:chOff x="3742" y="1495"/>
            <a:chExt cx="870" cy="2177"/>
          </a:xfrm>
        </p:grpSpPr>
        <p:sp>
          <p:nvSpPr>
            <p:cNvPr id="7179" name="Rectangle 30"/>
            <p:cNvSpPr>
              <a:spLocks noChangeArrowheads="1"/>
            </p:cNvSpPr>
            <p:nvPr/>
          </p:nvSpPr>
          <p:spPr bwMode="auto">
            <a:xfrm>
              <a:off x="3742" y="2262"/>
              <a:ext cx="870" cy="488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(Compiling)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7180" name="Freeform 33"/>
            <p:cNvSpPr>
              <a:spLocks/>
            </p:cNvSpPr>
            <p:nvPr/>
          </p:nvSpPr>
          <p:spPr bwMode="auto">
            <a:xfrm>
              <a:off x="3742" y="1495"/>
              <a:ext cx="435" cy="726"/>
            </a:xfrm>
            <a:custGeom>
              <a:avLst/>
              <a:gdLst>
                <a:gd name="T0" fmla="*/ 0 w 726"/>
                <a:gd name="T1" fmla="*/ 0 h 907"/>
                <a:gd name="T2" fmla="*/ 590 w 726"/>
                <a:gd name="T3" fmla="*/ 363 h 907"/>
                <a:gd name="T4" fmla="*/ 726 w 726"/>
                <a:gd name="T5" fmla="*/ 907 h 9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907">
                  <a:moveTo>
                    <a:pt x="0" y="0"/>
                  </a:moveTo>
                  <a:cubicBezTo>
                    <a:pt x="234" y="106"/>
                    <a:pt x="469" y="212"/>
                    <a:pt x="590" y="363"/>
                  </a:cubicBezTo>
                  <a:cubicBezTo>
                    <a:pt x="711" y="514"/>
                    <a:pt x="703" y="816"/>
                    <a:pt x="726" y="90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  <p:sp>
          <p:nvSpPr>
            <p:cNvPr id="7181" name="Freeform 35"/>
            <p:cNvSpPr>
              <a:spLocks/>
            </p:cNvSpPr>
            <p:nvPr/>
          </p:nvSpPr>
          <p:spPr bwMode="auto">
            <a:xfrm>
              <a:off x="3754" y="2765"/>
              <a:ext cx="423" cy="907"/>
            </a:xfrm>
            <a:custGeom>
              <a:avLst/>
              <a:gdLst>
                <a:gd name="T0" fmla="*/ 681 w 681"/>
                <a:gd name="T1" fmla="*/ 0 h 817"/>
                <a:gd name="T2" fmla="*/ 499 w 681"/>
                <a:gd name="T3" fmla="*/ 635 h 817"/>
                <a:gd name="T4" fmla="*/ 0 w 681"/>
                <a:gd name="T5" fmla="*/ 817 h 8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817">
                  <a:moveTo>
                    <a:pt x="681" y="0"/>
                  </a:moveTo>
                  <a:cubicBezTo>
                    <a:pt x="647" y="249"/>
                    <a:pt x="613" y="499"/>
                    <a:pt x="499" y="635"/>
                  </a:cubicBezTo>
                  <a:cubicBezTo>
                    <a:pt x="385" y="771"/>
                    <a:pt x="192" y="794"/>
                    <a:pt x="0" y="81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509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0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0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60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60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6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60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60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6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7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60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60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60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36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36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36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36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29" grpId="0" animBg="1"/>
      <p:bldP spid="29" grpId="1" animBg="1"/>
      <p:bldP spid="360474" grpId="0" animBg="1"/>
      <p:bldP spid="360475" grpId="0" animBg="1"/>
      <p:bldP spid="360476" grpId="0" animBg="1"/>
      <p:bldP spid="25" grpId="0" uiExpand="1" build="allAtOnce"/>
      <p:bldP spid="27" grpId="0" animBg="1"/>
      <p:bldP spid="27" grpId="1" animBg="1"/>
      <p:bldP spid="35" grpId="0" animBg="1"/>
      <p:bldP spid="36" grpId="0" animBg="1"/>
      <p:bldP spid="36" grpId="1" animBg="1"/>
      <p:bldP spid="30" grpId="0" build="allAtOnce"/>
      <p:bldP spid="31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1071538" y="4529094"/>
            <a:ext cx="60837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30000"/>
              </a:spcBef>
            </a:pP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编译：将高级语言翻译成汇编语言或机器语言的过程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2195736" y="4857766"/>
            <a:ext cx="93610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2267744" y="4804964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/>
                <a:cs typeface="Times New Roman" pitchFamily="18" charset="0"/>
              </a:rPr>
              <a:t>源语言</a:t>
            </a:r>
            <a:endParaRPr lang="zh-CN" altLang="en-US" sz="1400" dirty="0"/>
          </a:p>
        </p:txBody>
      </p:sp>
      <p:cxnSp>
        <p:nvCxnSpPr>
          <p:cNvPr id="39" name="直接连接符 38"/>
          <p:cNvCxnSpPr/>
          <p:nvPr/>
        </p:nvCxnSpPr>
        <p:spPr>
          <a:xfrm>
            <a:off x="3995936" y="4857766"/>
            <a:ext cx="22322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572000" y="4804964"/>
            <a:ext cx="9541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/>
                <a:cs typeface="Times New Roman" pitchFamily="18" charset="0"/>
              </a:rPr>
              <a:t>目标</a:t>
            </a:r>
            <a:r>
              <a: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/>
                <a:cs typeface="Times New Roman" pitchFamily="18" charset="0"/>
              </a:rPr>
              <a:t>语言</a:t>
            </a:r>
            <a:endParaRPr lang="zh-CN" altLang="en-US" sz="1400" dirty="0"/>
          </a:p>
        </p:txBody>
      </p: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r>
              <a:rPr lang="en-US" altLang="zh-CN" sz="3000" spc="3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1.1 </a:t>
            </a:r>
            <a:r>
              <a:rPr lang="zh-CN" altLang="en-US" sz="3000" spc="3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什么是编译？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31" name="五边形 30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五边形 33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" name="Group 38"/>
          <p:cNvGrpSpPr>
            <a:grpSpLocks/>
          </p:cNvGrpSpPr>
          <p:nvPr/>
        </p:nvGrpSpPr>
        <p:grpSpPr bwMode="auto">
          <a:xfrm>
            <a:off x="2354552" y="1301883"/>
            <a:ext cx="1931011" cy="3198597"/>
            <a:chOff x="945" y="1304"/>
            <a:chExt cx="1134" cy="2533"/>
          </a:xfrm>
        </p:grpSpPr>
        <p:sp>
          <p:nvSpPr>
            <p:cNvPr id="42" name="Rectangle 4"/>
            <p:cNvSpPr>
              <a:spLocks noChangeArrowheads="1"/>
            </p:cNvSpPr>
            <p:nvPr/>
          </p:nvSpPr>
          <p:spPr bwMode="auto">
            <a:xfrm>
              <a:off x="945" y="3348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机器语言</a:t>
              </a:r>
              <a:endParaRPr lang="zh-CN" altLang="en-US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(Machine Language 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3" name="Rectangle 8"/>
            <p:cNvSpPr>
              <a:spLocks noChangeArrowheads="1"/>
            </p:cNvSpPr>
            <p:nvPr/>
          </p:nvSpPr>
          <p:spPr bwMode="auto">
            <a:xfrm>
              <a:off x="945" y="2273"/>
              <a:ext cx="1134" cy="48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汇编语言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(Assembly Language 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945" y="1304"/>
              <a:ext cx="1118" cy="4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高级语言</a:t>
              </a:r>
              <a:endPara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 High Level Language 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45" name="Group 14"/>
          <p:cNvGrpSpPr>
            <a:grpSpLocks/>
          </p:cNvGrpSpPr>
          <p:nvPr/>
        </p:nvGrpSpPr>
        <p:grpSpPr bwMode="auto">
          <a:xfrm>
            <a:off x="4803025" y="3347477"/>
            <a:ext cx="1224505" cy="769323"/>
            <a:chOff x="3802" y="3069"/>
            <a:chExt cx="900" cy="646"/>
          </a:xfrm>
        </p:grpSpPr>
        <p:sp>
          <p:nvSpPr>
            <p:cNvPr id="46" name="Line 16"/>
            <p:cNvSpPr>
              <a:spLocks noChangeShapeType="1"/>
            </p:cNvSpPr>
            <p:nvPr/>
          </p:nvSpPr>
          <p:spPr bwMode="auto">
            <a:xfrm rot="10800000" flipV="1">
              <a:off x="4241" y="3518"/>
              <a:ext cx="0" cy="1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3802" y="3069"/>
              <a:ext cx="900" cy="469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(Assembling)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48" name="Group 22"/>
          <p:cNvGrpSpPr>
            <a:grpSpLocks/>
          </p:cNvGrpSpPr>
          <p:nvPr/>
        </p:nvGrpSpPr>
        <p:grpSpPr bwMode="auto">
          <a:xfrm>
            <a:off x="4714876" y="1997102"/>
            <a:ext cx="1428760" cy="783614"/>
            <a:chOff x="3696" y="2886"/>
            <a:chExt cx="1143" cy="658"/>
          </a:xfrm>
        </p:grpSpPr>
        <p:sp>
          <p:nvSpPr>
            <p:cNvPr id="49" name="Line 24"/>
            <p:cNvSpPr>
              <a:spLocks noChangeShapeType="1"/>
            </p:cNvSpPr>
            <p:nvPr/>
          </p:nvSpPr>
          <p:spPr bwMode="auto">
            <a:xfrm rot="10200000" flipV="1">
              <a:off x="4241" y="3315"/>
              <a:ext cx="37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  <p:sp>
          <p:nvSpPr>
            <p:cNvPr id="50" name="Rectangle 23"/>
            <p:cNvSpPr>
              <a:spLocks noChangeArrowheads="1"/>
            </p:cNvSpPr>
            <p:nvPr/>
          </p:nvSpPr>
          <p:spPr bwMode="auto">
            <a:xfrm>
              <a:off x="3696" y="2886"/>
              <a:ext cx="1143" cy="461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(Compiling)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</p:grpSp>
      <p:sp>
        <p:nvSpPr>
          <p:cNvPr id="51" name="Oval 26"/>
          <p:cNvSpPr>
            <a:spLocks noChangeArrowheads="1"/>
          </p:cNvSpPr>
          <p:nvPr/>
        </p:nvSpPr>
        <p:spPr bwMode="auto">
          <a:xfrm>
            <a:off x="4360673" y="4110693"/>
            <a:ext cx="2211591" cy="34195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C706 0000 0002</a:t>
            </a:r>
            <a:endParaRPr lang="zh-CN" altLang="en-US" sz="2000" b="1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52" name="Oval 27"/>
          <p:cNvSpPr>
            <a:spLocks noChangeArrowheads="1"/>
          </p:cNvSpPr>
          <p:nvPr/>
        </p:nvSpPr>
        <p:spPr bwMode="auto">
          <a:xfrm>
            <a:off x="4370199" y="2781505"/>
            <a:ext cx="2160572" cy="34145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MOV X, 2</a:t>
            </a:r>
          </a:p>
        </p:txBody>
      </p:sp>
      <p:sp>
        <p:nvSpPr>
          <p:cNvPr id="53" name="Oval 28"/>
          <p:cNvSpPr>
            <a:spLocks noChangeArrowheads="1"/>
          </p:cNvSpPr>
          <p:nvPr/>
        </p:nvSpPr>
        <p:spPr bwMode="auto">
          <a:xfrm>
            <a:off x="4370199" y="1401223"/>
            <a:ext cx="2160572" cy="36441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20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x = 2</a:t>
            </a:r>
          </a:p>
        </p:txBody>
      </p:sp>
      <p:sp>
        <p:nvSpPr>
          <p:cNvPr id="54" name="Line 16"/>
          <p:cNvSpPr>
            <a:spLocks noChangeShapeType="1"/>
          </p:cNvSpPr>
          <p:nvPr/>
        </p:nvSpPr>
        <p:spPr bwMode="auto">
          <a:xfrm rot="10800000" flipV="1">
            <a:off x="5391537" y="3122959"/>
            <a:ext cx="0" cy="2346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b="1">
              <a:solidFill>
                <a:prstClr val="black"/>
              </a:solidFill>
            </a:endParaRPr>
          </a:p>
        </p:txBody>
      </p:sp>
      <p:sp>
        <p:nvSpPr>
          <p:cNvPr id="55" name="Line 16"/>
          <p:cNvSpPr>
            <a:spLocks noChangeShapeType="1"/>
          </p:cNvSpPr>
          <p:nvPr/>
        </p:nvSpPr>
        <p:spPr bwMode="auto">
          <a:xfrm rot="10800000" flipV="1">
            <a:off x="5393477" y="1765638"/>
            <a:ext cx="0" cy="23460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000" b="1">
              <a:solidFill>
                <a:prstClr val="black"/>
              </a:solidFill>
            </a:endParaRPr>
          </a:p>
        </p:txBody>
      </p:sp>
      <p:grpSp>
        <p:nvGrpSpPr>
          <p:cNvPr id="56" name="Group 39"/>
          <p:cNvGrpSpPr>
            <a:grpSpLocks/>
          </p:cNvGrpSpPr>
          <p:nvPr/>
        </p:nvGrpSpPr>
        <p:grpSpPr bwMode="auto">
          <a:xfrm>
            <a:off x="6598135" y="1571618"/>
            <a:ext cx="1260013" cy="2714644"/>
            <a:chOff x="3742" y="1495"/>
            <a:chExt cx="870" cy="2177"/>
          </a:xfrm>
        </p:grpSpPr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3742" y="2262"/>
              <a:ext cx="870" cy="488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000" b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</a:t>
              </a:r>
              <a:r>
                <a:rPr lang="en-US" altLang="zh-CN" sz="20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 </a:t>
              </a:r>
            </a:p>
            <a:p>
              <a:pPr algn="ctr"/>
              <a:r>
                <a:rPr lang="en-US" altLang="zh-CN" sz="1400" b="1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(Compiling)</a:t>
              </a:r>
              <a:endParaRPr lang="zh-CN" altLang="en-US" sz="1400" b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endParaRPr>
            </a:p>
          </p:txBody>
        </p:sp>
        <p:sp>
          <p:nvSpPr>
            <p:cNvPr id="58" name="Freeform 33"/>
            <p:cNvSpPr>
              <a:spLocks/>
            </p:cNvSpPr>
            <p:nvPr/>
          </p:nvSpPr>
          <p:spPr bwMode="auto">
            <a:xfrm>
              <a:off x="3742" y="1495"/>
              <a:ext cx="435" cy="726"/>
            </a:xfrm>
            <a:custGeom>
              <a:avLst/>
              <a:gdLst>
                <a:gd name="T0" fmla="*/ 0 w 726"/>
                <a:gd name="T1" fmla="*/ 0 h 907"/>
                <a:gd name="T2" fmla="*/ 590 w 726"/>
                <a:gd name="T3" fmla="*/ 363 h 907"/>
                <a:gd name="T4" fmla="*/ 726 w 726"/>
                <a:gd name="T5" fmla="*/ 907 h 9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907">
                  <a:moveTo>
                    <a:pt x="0" y="0"/>
                  </a:moveTo>
                  <a:cubicBezTo>
                    <a:pt x="234" y="106"/>
                    <a:pt x="469" y="212"/>
                    <a:pt x="590" y="363"/>
                  </a:cubicBezTo>
                  <a:cubicBezTo>
                    <a:pt x="711" y="514"/>
                    <a:pt x="703" y="816"/>
                    <a:pt x="726" y="90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  <p:sp>
          <p:nvSpPr>
            <p:cNvPr id="59" name="Freeform 35"/>
            <p:cNvSpPr>
              <a:spLocks/>
            </p:cNvSpPr>
            <p:nvPr/>
          </p:nvSpPr>
          <p:spPr bwMode="auto">
            <a:xfrm>
              <a:off x="3754" y="2765"/>
              <a:ext cx="423" cy="907"/>
            </a:xfrm>
            <a:custGeom>
              <a:avLst/>
              <a:gdLst>
                <a:gd name="T0" fmla="*/ 681 w 681"/>
                <a:gd name="T1" fmla="*/ 0 h 817"/>
                <a:gd name="T2" fmla="*/ 499 w 681"/>
                <a:gd name="T3" fmla="*/ 635 h 817"/>
                <a:gd name="T4" fmla="*/ 0 w 681"/>
                <a:gd name="T5" fmla="*/ 817 h 8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817">
                  <a:moveTo>
                    <a:pt x="681" y="0"/>
                  </a:moveTo>
                  <a:cubicBezTo>
                    <a:pt x="647" y="249"/>
                    <a:pt x="613" y="499"/>
                    <a:pt x="499" y="635"/>
                  </a:cubicBezTo>
                  <a:cubicBezTo>
                    <a:pt x="385" y="771"/>
                    <a:pt x="192" y="794"/>
                    <a:pt x="0" y="81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1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1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8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编译器在语言处理系统中的位置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72163" y="928676"/>
            <a:ext cx="3714349" cy="3920142"/>
            <a:chOff x="1753071" y="915566"/>
            <a:chExt cx="2967853" cy="3920142"/>
          </a:xfrm>
        </p:grpSpPr>
        <p:sp>
          <p:nvSpPr>
            <p:cNvPr id="11267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预处理器</a:t>
              </a:r>
              <a:r>
                <a:rPr lang="zh-CN" altLang="en-US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(Preprocessor)</a:t>
              </a:r>
            </a:p>
          </p:txBody>
        </p:sp>
        <p:sp>
          <p:nvSpPr>
            <p:cNvPr id="11268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69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11270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编译器</a:t>
              </a:r>
              <a:endParaRPr lang="en-US" altLang="zh-CN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11271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72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11273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75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76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汇编语言程序</a:t>
              </a:r>
            </a:p>
          </p:txBody>
        </p:sp>
        <p:sp>
          <p:nvSpPr>
            <p:cNvPr id="11277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78" name="Rectangle 15"/>
            <p:cNvSpPr>
              <a:spLocks noChangeArrowheads="1"/>
            </p:cNvSpPr>
            <p:nvPr/>
          </p:nvSpPr>
          <p:spPr bwMode="auto">
            <a:xfrm>
              <a:off x="1753071" y="4048701"/>
              <a:ext cx="2967853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链接器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(Linker) </a:t>
              </a:r>
              <a:r>
                <a:rPr lang="en-US" altLang="zh-CN" sz="20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/</a:t>
              </a:r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加载器</a:t>
              </a:r>
              <a:r>
                <a:rPr lang="zh-CN" altLang="en-US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(Loader)</a:t>
              </a:r>
            </a:p>
          </p:txBody>
        </p:sp>
        <p:sp>
          <p:nvSpPr>
            <p:cNvPr id="11279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80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11281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1282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11283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214282" y="1892123"/>
            <a:ext cx="2714644" cy="1322569"/>
          </a:xfrm>
          <a:prstGeom prst="wedgeRoundRectCallout">
            <a:avLst>
              <a:gd name="adj1" fmla="val 47138"/>
              <a:gd name="adj2" fmla="val -69550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把存储在不同文件中的源程序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聚合</a:t>
            </a:r>
            <a:r>
              <a:rPr lang="zh-CN" altLang="en-US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在一起</a:t>
            </a:r>
            <a:endParaRPr lang="en-US" altLang="zh-CN" b="1" dirty="0">
              <a:solidFill>
                <a:srgbClr val="000000"/>
              </a:solidFill>
              <a:latin typeface="楷体" pitchFamily="49" charset="-122"/>
              <a:ea typeface="楷体" pitchFamily="49" charset="-122"/>
            </a:endParaRP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把被称为</a:t>
            </a:r>
            <a:r>
              <a:rPr lang="zh-CN" altLang="en-US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宏</a:t>
            </a:r>
            <a:r>
              <a:rPr lang="zh-CN" altLang="en-US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</a:rPr>
              <a:t>的缩写语句转换为原始语句</a:t>
            </a:r>
          </a:p>
        </p:txBody>
      </p: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3270962" y="3156364"/>
            <a:ext cx="2235432" cy="3359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汇编器</a:t>
            </a:r>
            <a:r>
              <a:rPr lang="en-US" altLang="zh-CN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(Assembler)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453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3"/>
          <p:cNvSpPr>
            <a:spLocks noChangeArrowheads="1"/>
          </p:cNvSpPr>
          <p:nvPr/>
        </p:nvSpPr>
        <p:spPr bwMode="auto">
          <a:xfrm>
            <a:off x="467544" y="2427734"/>
            <a:ext cx="2428892" cy="1071570"/>
          </a:xfrm>
          <a:prstGeom prst="wedgeRoundRectCallout">
            <a:avLst>
              <a:gd name="adj1" fmla="val 57122"/>
              <a:gd name="adj2" fmla="val 75139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3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可重定位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1600" b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Relocatable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endParaRPr lang="en-US" altLang="zh-CN" sz="16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spcBef>
                <a:spcPct val="30000"/>
              </a:spcBef>
            </a:pP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在内存中存放的起始位置</a:t>
            </a:r>
            <a:r>
              <a:rPr lang="en-US" altLang="zh-CN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不是固定的</a:t>
            </a:r>
            <a:endParaRPr lang="en-US" altLang="zh-CN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3458" y="4559872"/>
            <a:ext cx="350043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lvl="0" algn="ctr">
              <a:spcBef>
                <a:spcPct val="30000"/>
              </a:spcBef>
            </a:pP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起始位置</a:t>
            </a:r>
            <a:r>
              <a:rPr lang="en-US" altLang="zh-CN" b="1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+ 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相对地址 </a:t>
            </a:r>
            <a:r>
              <a:rPr lang="en-US" altLang="zh-CN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 </a:t>
            </a: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绝对地址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2572163" y="928676"/>
            <a:ext cx="3714349" cy="3920142"/>
            <a:chOff x="1753071" y="915566"/>
            <a:chExt cx="2967853" cy="3920142"/>
          </a:xfrm>
        </p:grpSpPr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预处理器</a:t>
              </a:r>
              <a:r>
                <a:rPr lang="zh-CN" altLang="en-US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(Preprocessor)</a:t>
              </a:r>
            </a:p>
          </p:txBody>
        </p:sp>
        <p:sp>
          <p:nvSpPr>
            <p:cNvPr id="28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9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30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编译器</a:t>
              </a:r>
              <a:endParaRPr lang="en-US" altLang="zh-CN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31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2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33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4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5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汇编语言程序</a:t>
              </a: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7" name="Rectangle 15"/>
            <p:cNvSpPr>
              <a:spLocks noChangeArrowheads="1"/>
            </p:cNvSpPr>
            <p:nvPr/>
          </p:nvSpPr>
          <p:spPr bwMode="auto">
            <a:xfrm>
              <a:off x="1753071" y="4048701"/>
              <a:ext cx="2967853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链接器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(Linker) </a:t>
              </a:r>
              <a:r>
                <a:rPr lang="en-US" altLang="zh-CN" sz="20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/</a:t>
              </a:r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加载器</a:t>
              </a:r>
              <a:r>
                <a:rPr lang="zh-CN" altLang="en-US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(Loader)</a:t>
              </a:r>
            </a:p>
          </p:txBody>
        </p:sp>
        <p:sp>
          <p:nvSpPr>
            <p:cNvPr id="38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9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40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1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3270962" y="3156364"/>
            <a:ext cx="2235432" cy="3359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汇编器</a:t>
            </a:r>
            <a:r>
              <a:rPr lang="en-US" altLang="zh-CN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(Assembler)</a:t>
            </a:r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编译器在语言处理系统中的位置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47" name="五边形 4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五边形 47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9" name="AutoShape 24"/>
          <p:cNvSpPr>
            <a:spLocks noChangeArrowheads="1"/>
          </p:cNvSpPr>
          <p:nvPr/>
        </p:nvSpPr>
        <p:spPr bwMode="auto">
          <a:xfrm>
            <a:off x="5929322" y="2357436"/>
            <a:ext cx="2714644" cy="1357322"/>
          </a:xfrm>
          <a:prstGeom prst="wedgeRoundRectCallout">
            <a:avLst>
              <a:gd name="adj1" fmla="val -48451"/>
              <a:gd name="adj2" fmla="val 72695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加载器：</a:t>
            </a:r>
            <a:endParaRPr lang="en-US" altLang="zh-CN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修改可重定位地址；</a:t>
            </a:r>
            <a:endParaRPr lang="en-US" altLang="zh-CN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将修改后的指令和数据放到内存中适当的位置</a:t>
            </a:r>
          </a:p>
        </p:txBody>
      </p:sp>
    </p:spTree>
    <p:extLst>
      <p:ext uri="{BB962C8B-B14F-4D97-AF65-F5344CB8AC3E}">
        <p14:creationId xmlns:p14="http://schemas.microsoft.com/office/powerpoint/2010/main" val="12711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  <p:bldP spid="23" grpId="2" animBg="1"/>
      <p:bldP spid="24" grpId="0" animBg="1"/>
      <p:bldP spid="24" grpId="1" animBg="1"/>
      <p:bldP spid="49" grpId="0" animBg="1"/>
      <p:bldP spid="4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35496" y="3939902"/>
            <a:ext cx="2789288" cy="714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ts val="3000"/>
              </a:lnSpc>
            </a:pPr>
            <a:r>
              <a:rPr lang="zh-CN" altLang="en-US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库文件</a:t>
            </a:r>
          </a:p>
          <a:p>
            <a:pPr algn="ctr">
              <a:lnSpc>
                <a:spcPts val="3000"/>
              </a:lnSpc>
            </a:pPr>
            <a:r>
              <a:rPr lang="zh-CN" altLang="en-US" b="1" dirty="0">
                <a:solidFill>
                  <a:srgbClr val="00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其它可重定位目标程序</a:t>
            </a: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214282" y="2000246"/>
            <a:ext cx="2928958" cy="1616682"/>
          </a:xfrm>
          <a:prstGeom prst="wedgeRoundRectCallout">
            <a:avLst>
              <a:gd name="adj1" fmla="val 43797"/>
              <a:gd name="adj2" fmla="val 75076"/>
              <a:gd name="adj3" fmla="val 16667"/>
            </a:avLst>
          </a:prstGeom>
          <a:noFill/>
          <a:ln w="25400">
            <a:solidFill>
              <a:schemeClr val="accent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链接器</a:t>
            </a:r>
            <a:endParaRPr lang="en-US" altLang="zh-CN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将多个可重定位的机器代码文件（包括库文件）连接到一起</a:t>
            </a:r>
            <a:endParaRPr lang="en-US" altLang="zh-CN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解决外部内存地址问题</a:t>
            </a:r>
          </a:p>
        </p:txBody>
      </p:sp>
      <p:sp>
        <p:nvSpPr>
          <p:cNvPr id="28" name="Line 21"/>
          <p:cNvSpPr>
            <a:spLocks noChangeShapeType="1"/>
          </p:cNvSpPr>
          <p:nvPr/>
        </p:nvSpPr>
        <p:spPr bwMode="auto">
          <a:xfrm rot="10800000" flipH="1">
            <a:off x="1898485" y="4286262"/>
            <a:ext cx="601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编译器在语言处理系统中的位置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32" name="五边形 3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五边形 3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572163" y="928676"/>
            <a:ext cx="3714349" cy="3920142"/>
            <a:chOff x="1753071" y="915566"/>
            <a:chExt cx="2967853" cy="392014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051720" y="1308495"/>
              <a:ext cx="2304256" cy="3517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预处理器</a:t>
              </a:r>
              <a:r>
                <a:rPr lang="zh-CN" altLang="en-US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(Preprocessor)</a:t>
              </a:r>
            </a:p>
          </p:txBody>
        </p:sp>
        <p:sp>
          <p:nvSpPr>
            <p:cNvPr id="40" name="Line 5"/>
            <p:cNvSpPr>
              <a:spLocks noChangeShapeType="1"/>
            </p:cNvSpPr>
            <p:nvPr/>
          </p:nvSpPr>
          <p:spPr bwMode="auto">
            <a:xfrm>
              <a:off x="3204492" y="114299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2494778" y="915566"/>
              <a:ext cx="1366276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源程序</a:t>
              </a:r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2538120" y="2247384"/>
              <a:ext cx="1340230" cy="342132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编译器</a:t>
              </a:r>
              <a:endParaRPr lang="en-US" altLang="zh-CN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3204492" y="207771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4" name="Rectangle 9"/>
            <p:cNvSpPr>
              <a:spLocks noChangeArrowheads="1"/>
            </p:cNvSpPr>
            <p:nvPr/>
          </p:nvSpPr>
          <p:spPr bwMode="auto">
            <a:xfrm>
              <a:off x="2209374" y="1836172"/>
              <a:ext cx="2080198" cy="215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经过预处理的源程序</a:t>
              </a: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3204492" y="16668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 bwMode="auto">
            <a:xfrm>
              <a:off x="3204492" y="2981330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1832663" y="2767315"/>
              <a:ext cx="2673605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 </a:t>
              </a:r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汇编语言程序</a:t>
              </a:r>
            </a:p>
          </p:txBody>
        </p:sp>
        <p:sp>
          <p:nvSpPr>
            <p:cNvPr id="48" name="Line 14"/>
            <p:cNvSpPr>
              <a:spLocks noChangeShapeType="1"/>
            </p:cNvSpPr>
            <p:nvPr/>
          </p:nvSpPr>
          <p:spPr bwMode="auto">
            <a:xfrm>
              <a:off x="3204492" y="2597264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1753071" y="4048701"/>
              <a:ext cx="2967853" cy="36899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链接器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(Linker) </a:t>
              </a:r>
              <a:r>
                <a:rPr lang="en-US" altLang="zh-CN" sz="20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/</a:t>
              </a:r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加载器</a:t>
              </a:r>
              <a:r>
                <a:rPr lang="zh-CN" altLang="en-US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lang="en-US" altLang="zh-CN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(Loader)</a:t>
              </a:r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3204492" y="3886777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2124924" y="3643320"/>
              <a:ext cx="2139145" cy="216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可重定位的机器代码</a:t>
              </a:r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>
              <a:off x="3204492" y="3481396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2266455" y="4620205"/>
              <a:ext cx="1843097" cy="2155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22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目标机器代码</a:t>
              </a:r>
            </a:p>
          </p:txBody>
        </p:sp>
        <p:sp>
          <p:nvSpPr>
            <p:cNvPr id="54" name="Line 20"/>
            <p:cNvSpPr>
              <a:spLocks noChangeShapeType="1"/>
            </p:cNvSpPr>
            <p:nvPr/>
          </p:nvSpPr>
          <p:spPr bwMode="auto">
            <a:xfrm>
              <a:off x="3204492" y="4429138"/>
              <a:ext cx="0" cy="1619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</p:grpSp>
      <p:sp>
        <p:nvSpPr>
          <p:cNvPr id="55" name="Rectangle 11"/>
          <p:cNvSpPr>
            <a:spLocks noChangeArrowheads="1"/>
          </p:cNvSpPr>
          <p:nvPr/>
        </p:nvSpPr>
        <p:spPr bwMode="auto">
          <a:xfrm>
            <a:off x="3270962" y="3156364"/>
            <a:ext cx="2235432" cy="3359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汇编器</a:t>
            </a:r>
            <a:r>
              <a:rPr lang="en-US" altLang="zh-CN" sz="22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(Assembler)</a:t>
            </a:r>
          </a:p>
        </p:txBody>
      </p:sp>
    </p:spTree>
    <p:extLst>
      <p:ext uri="{BB962C8B-B14F-4D97-AF65-F5344CB8AC3E}">
        <p14:creationId xmlns:p14="http://schemas.microsoft.com/office/powerpoint/2010/main" val="156636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00563" y="1357313"/>
            <a:ext cx="4357687" cy="2657138"/>
          </a:xfrm>
          <a:prstGeom prst="rect">
            <a:avLst/>
          </a:prstGeom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1.1 什么是编译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1.2 编译系统的结构</a:t>
            </a:r>
          </a:p>
          <a:p>
            <a:pPr>
              <a:lnSpc>
                <a:spcPts val="4000"/>
              </a:lnSpc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为什么要学习编译原理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pic>
        <p:nvPicPr>
          <p:cNvPr id="2867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50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190800" y="1460003"/>
            <a:ext cx="5045496" cy="3086100"/>
          </a:xfrm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1.2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编译系统的结构</a:t>
            </a:r>
          </a:p>
        </p:txBody>
      </p:sp>
      <p:sp>
        <p:nvSpPr>
          <p:cNvPr id="13320" name="Rectangle 10"/>
          <p:cNvSpPr>
            <a:spLocks noChangeArrowheads="1"/>
          </p:cNvSpPr>
          <p:nvPr/>
        </p:nvSpPr>
        <p:spPr bwMode="auto">
          <a:xfrm>
            <a:off x="5076056" y="4571109"/>
            <a:ext cx="1916794" cy="215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zh-CN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2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72" y="715516"/>
            <a:ext cx="3891852" cy="3829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五边形 1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8" name="Picture 2" descr="E:\工大编译\ppt\图片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3570" y="175322"/>
            <a:ext cx="2071702" cy="4292819"/>
          </a:xfrm>
          <a:prstGeom prst="rect">
            <a:avLst/>
          </a:prstGeom>
          <a:noFill/>
        </p:spPr>
      </p:pic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903210" y="4517528"/>
            <a:ext cx="1823016" cy="0"/>
          </a:xfrm>
          <a:prstGeom prst="lin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785786" y="4643452"/>
            <a:ext cx="1954923" cy="188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高级语言程序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4500562" y="4500576"/>
            <a:ext cx="3143272" cy="0"/>
          </a:xfrm>
          <a:prstGeom prst="line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4164708" y="4604164"/>
            <a:ext cx="3907754" cy="539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汇编语言程序</a:t>
            </a: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/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机器语言程序</a:t>
            </a:r>
            <a:endParaRPr lang="en-US" altLang="zh-CN" sz="2000" b="1" dirty="0">
              <a:solidFill>
                <a:schemeClr val="tx2">
                  <a:lumMod val="60000"/>
                  <a:lumOff val="40000"/>
                </a:schemeClr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algn="ctr"/>
            <a:endParaRPr lang="en-US" altLang="zh-CN" sz="2000" dirty="0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3" name="AutoShape 11"/>
          <p:cNvSpPr>
            <a:spLocks noChangeArrowheads="1"/>
          </p:cNvSpPr>
          <p:nvPr/>
        </p:nvSpPr>
        <p:spPr bwMode="auto">
          <a:xfrm>
            <a:off x="2840040" y="3869830"/>
            <a:ext cx="1589084" cy="1025129"/>
          </a:xfrm>
          <a:prstGeom prst="cube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CN" altLang="en-US" sz="30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编译器</a:t>
            </a:r>
          </a:p>
        </p:txBody>
      </p:sp>
      <p:sp>
        <p:nvSpPr>
          <p:cNvPr id="455684" name="AutoShape 4"/>
          <p:cNvSpPr>
            <a:spLocks noChangeArrowheads="1"/>
          </p:cNvSpPr>
          <p:nvPr/>
        </p:nvSpPr>
        <p:spPr bwMode="auto">
          <a:xfrm>
            <a:off x="2143108" y="2071684"/>
            <a:ext cx="5381220" cy="1285884"/>
          </a:xfrm>
          <a:prstGeom prst="cloudCallout">
            <a:avLst>
              <a:gd name="adj1" fmla="val -12997"/>
              <a:gd name="adj2" fmla="val 86436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30000"/>
              </a:spcBef>
            </a:pPr>
            <a:r>
              <a:rPr lang="zh-CN" altLang="en-US" sz="25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机器是如何自动翻译的？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1014442" y="929247"/>
            <a:ext cx="7772400" cy="1213875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altLang="zh-CN" sz="1800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  <a:cs typeface="Times New Roman" pitchFamily="18" charset="0"/>
              </a:rPr>
              <a:t>In  the  room  , he  broke  a  window  with  a  hammer 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16415" name="Picture 31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786942" y="1340798"/>
            <a:ext cx="648074" cy="1010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人工英汉翻译的例子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185824" y="1571618"/>
            <a:ext cx="1512888" cy="163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</a:rPr>
              <a:t>~~~~~~~~~~~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3000364" y="1697299"/>
            <a:ext cx="325438" cy="0"/>
          </a:xfrm>
          <a:prstGeom prst="line">
            <a:avLst/>
          </a:prstGeom>
          <a:ln w="7620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548059" y="1675749"/>
            <a:ext cx="523875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946184" y="1361294"/>
            <a:ext cx="352425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609983" y="1361294"/>
            <a:ext cx="352425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491891" y="1433302"/>
            <a:ext cx="350837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662146" y="1433302"/>
            <a:ext cx="350838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112" y="3214692"/>
            <a:ext cx="3818350" cy="1928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413" name="Picture 2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905" y="3017107"/>
            <a:ext cx="434409" cy="453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315359" y="857238"/>
            <a:ext cx="4185732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Clr>
                <a:srgbClr val="3333CC"/>
              </a:buClr>
              <a:buFont typeface="Wingdings" pitchFamily="2" charset="2"/>
              <a:buNone/>
            </a:pPr>
            <a:r>
              <a:rPr lang="zh-CN" altLang="en-US" sz="2000" b="1" dirty="0">
                <a:latin typeface="楷体" pitchFamily="49" charset="-122"/>
                <a:ea typeface="楷体" pitchFamily="49" charset="-122"/>
              </a:rPr>
              <a:t>在房间里，他用锤子砸了一扇窗户。</a:t>
            </a:r>
          </a:p>
        </p:txBody>
      </p:sp>
      <p:pic>
        <p:nvPicPr>
          <p:cNvPr id="16414" name="Picture 3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10" y="1857370"/>
            <a:ext cx="882688" cy="423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0739" name="AutoShape 51"/>
          <p:cNvSpPr>
            <a:spLocks/>
          </p:cNvSpPr>
          <p:nvPr/>
        </p:nvSpPr>
        <p:spPr bwMode="auto">
          <a:xfrm>
            <a:off x="1857356" y="3995878"/>
            <a:ext cx="2030202" cy="647574"/>
          </a:xfrm>
          <a:prstGeom prst="borderCallout2">
            <a:avLst>
              <a:gd name="adj1" fmla="val 19412"/>
              <a:gd name="adj2" fmla="val 100884"/>
              <a:gd name="adj3" fmla="val 3306"/>
              <a:gd name="adj4" fmla="val 107361"/>
              <a:gd name="adj5" fmla="val 1458"/>
              <a:gd name="adj6" fmla="val 125454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中间表示，</a:t>
            </a:r>
            <a:endParaRPr lang="en-US" altLang="zh-CN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r>
              <a:rPr lang="zh-CN" altLang="en-US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独立于具体的语言</a:t>
            </a:r>
            <a:endParaRPr lang="en-US" altLang="zh-CN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6325991" y="1720962"/>
            <a:ext cx="6688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补语</a:t>
            </a: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572079" y="1720962"/>
            <a:ext cx="5982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状语</a:t>
            </a: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2843808" y="1714494"/>
            <a:ext cx="5982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主语</a:t>
            </a: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3516295" y="1714494"/>
            <a:ext cx="5982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谓语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4440819" y="1720962"/>
            <a:ext cx="7072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zh-CN" sz="16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宾语</a:t>
            </a:r>
            <a:endParaRPr lang="zh-CN" altLang="en-US" sz="1600" b="1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28596" y="2297398"/>
            <a:ext cx="7715304" cy="809625"/>
            <a:chOff x="-338076" y="2499742"/>
            <a:chExt cx="7715304" cy="809625"/>
          </a:xfrm>
        </p:grpSpPr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971601" y="2499742"/>
              <a:ext cx="1367308" cy="8096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第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1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步</a:t>
              </a:r>
            </a:p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分析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源语言</a:t>
              </a:r>
            </a:p>
          </p:txBody>
        </p:sp>
        <p:sp>
          <p:nvSpPr>
            <p:cNvPr id="43" name="Line 33"/>
            <p:cNvSpPr>
              <a:spLocks noChangeShapeType="1"/>
            </p:cNvSpPr>
            <p:nvPr/>
          </p:nvSpPr>
          <p:spPr bwMode="auto">
            <a:xfrm flipV="1">
              <a:off x="-338076" y="2913508"/>
              <a:ext cx="13092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-338076" y="2536081"/>
              <a:ext cx="1215782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源语言句子</a:t>
              </a:r>
            </a:p>
          </p:txBody>
        </p:sp>
        <p:sp>
          <p:nvSpPr>
            <p:cNvPr id="45" name="Oval 36"/>
            <p:cNvSpPr>
              <a:spLocks noChangeArrowheads="1"/>
            </p:cNvSpPr>
            <p:nvPr/>
          </p:nvSpPr>
          <p:spPr bwMode="auto">
            <a:xfrm>
              <a:off x="2627783" y="2680915"/>
              <a:ext cx="1510479" cy="4668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楷体" pitchFamily="49" charset="-122"/>
                  <a:ea typeface="楷体" pitchFamily="49" charset="-122"/>
                </a:rPr>
                <a:t>句子的</a:t>
              </a:r>
              <a:r>
                <a:rPr lang="zh-CN" altLang="en-US" b="1" dirty="0">
                  <a:solidFill>
                    <a:srgbClr val="FF0000"/>
                  </a:solidFill>
                  <a:latin typeface="楷体" pitchFamily="49" charset="-122"/>
                  <a:ea typeface="楷体" pitchFamily="49" charset="-122"/>
                </a:rPr>
                <a:t>语义</a:t>
              </a:r>
              <a:endParaRPr lang="en-US" altLang="zh-CN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auto">
            <a:xfrm>
              <a:off x="4139108" y="2931790"/>
              <a:ext cx="287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7" name="Rectangle 38"/>
            <p:cNvSpPr>
              <a:spLocks noChangeArrowheads="1"/>
            </p:cNvSpPr>
            <p:nvPr/>
          </p:nvSpPr>
          <p:spPr bwMode="auto">
            <a:xfrm>
              <a:off x="4427139" y="2499742"/>
              <a:ext cx="1546623" cy="7929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第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2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步</a:t>
              </a:r>
            </a:p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生成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目标语言</a:t>
              </a:r>
              <a:endParaRPr lang="en-US" altLang="zh-CN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auto">
            <a:xfrm>
              <a:off x="6013005" y="2913508"/>
              <a:ext cx="1364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9" name="Rectangle 40"/>
            <p:cNvSpPr>
              <a:spLocks noChangeArrowheads="1"/>
            </p:cNvSpPr>
            <p:nvPr/>
          </p:nvSpPr>
          <p:spPr bwMode="auto">
            <a:xfrm>
              <a:off x="5867300" y="2536081"/>
              <a:ext cx="1296988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" pitchFamily="49" charset="-122"/>
                  <a:ea typeface="楷体" pitchFamily="49" charset="-122"/>
                </a:rPr>
                <a:t>目标语言句子</a:t>
              </a:r>
            </a:p>
          </p:txBody>
        </p:sp>
        <p:sp>
          <p:nvSpPr>
            <p:cNvPr id="50" name="Line 41"/>
            <p:cNvSpPr>
              <a:spLocks noChangeShapeType="1"/>
            </p:cNvSpPr>
            <p:nvPr/>
          </p:nvSpPr>
          <p:spPr bwMode="auto">
            <a:xfrm>
              <a:off x="2340446" y="2931790"/>
              <a:ext cx="2873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  <p:sp>
        <p:nvSpPr>
          <p:cNvPr id="51" name="Rectangle 44"/>
          <p:cNvSpPr>
            <a:spLocks noChangeArrowheads="1"/>
          </p:cNvSpPr>
          <p:nvPr/>
        </p:nvSpPr>
        <p:spPr bwMode="auto">
          <a:xfrm>
            <a:off x="1090199" y="3335005"/>
            <a:ext cx="2797359" cy="2702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语义分析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Semantic Analysis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</a:t>
            </a:r>
          </a:p>
        </p:txBody>
      </p:sp>
      <p:sp>
        <p:nvSpPr>
          <p:cNvPr id="52" name="Line 53"/>
          <p:cNvSpPr>
            <a:spLocks noChangeShapeType="1"/>
          </p:cNvSpPr>
          <p:nvPr/>
        </p:nvSpPr>
        <p:spPr bwMode="auto">
          <a:xfrm flipV="1">
            <a:off x="2458352" y="3119500"/>
            <a:ext cx="0" cy="2155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54" name="五边形 53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五边形 54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7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6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/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370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1" grpId="0"/>
      <p:bldP spid="32" grpId="0"/>
      <p:bldP spid="33" grpId="0"/>
      <p:bldP spid="34" grpId="0"/>
      <p:bldP spid="2" grpId="0" animBg="1"/>
      <p:bldP spid="2" grpId="1" animBg="1"/>
      <p:bldP spid="370739" grpId="0" animBg="1"/>
      <p:bldP spid="370739" grpId="1" animBg="1"/>
      <p:bldP spid="36" grpId="0"/>
      <p:bldP spid="37" grpId="0"/>
      <p:bldP spid="39" grpId="0"/>
      <p:bldP spid="40" grpId="0"/>
      <p:bldP spid="51" grpId="1" animBg="1"/>
      <p:bldP spid="5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3"/>
          <p:cNvSpPr>
            <a:spLocks noGrp="1" noChangeArrowheads="1"/>
          </p:cNvSpPr>
          <p:nvPr>
            <p:ph idx="1"/>
          </p:nvPr>
        </p:nvSpPr>
        <p:spPr>
          <a:xfrm>
            <a:off x="1014442" y="929247"/>
            <a:ext cx="7772400" cy="1213875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altLang="zh-CN" sz="1800" dirty="0">
              <a:solidFill>
                <a:srgbClr val="0000FF"/>
              </a:solidFill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ea typeface="楷体_GB2312" pitchFamily="49" charset="-122"/>
                <a:cs typeface="Times New Roman" pitchFamily="18" charset="0"/>
              </a:rPr>
              <a:t>In  the  room  , he  broke  a  window  with  a  hammer 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1571604" y="1947444"/>
            <a:ext cx="65357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介短</a:t>
            </a:r>
            <a:r>
              <a:rPr lang="en-US" altLang="zh-CN" sz="1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        </a:t>
            </a:r>
            <a:r>
              <a:rPr lang="zh-CN" altLang="en-US" sz="1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名短   动短      名短             介短</a:t>
            </a:r>
          </a:p>
        </p:txBody>
      </p:sp>
      <p:grpSp>
        <p:nvGrpSpPr>
          <p:cNvPr id="54" name="Group 49"/>
          <p:cNvGrpSpPr>
            <a:grpSpLocks/>
          </p:cNvGrpSpPr>
          <p:nvPr/>
        </p:nvGrpSpPr>
        <p:grpSpPr bwMode="auto">
          <a:xfrm>
            <a:off x="1079287" y="3602839"/>
            <a:ext cx="2797359" cy="498902"/>
            <a:chOff x="1474" y="3148"/>
            <a:chExt cx="589" cy="418"/>
          </a:xfrm>
        </p:grpSpPr>
        <p:sp>
          <p:nvSpPr>
            <p:cNvPr id="55" name="Line 45"/>
            <p:cNvSpPr>
              <a:spLocks noChangeShapeType="1"/>
            </p:cNvSpPr>
            <p:nvPr/>
          </p:nvSpPr>
          <p:spPr bwMode="auto">
            <a:xfrm flipV="1">
              <a:off x="1762" y="3148"/>
              <a:ext cx="0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1474" y="3339"/>
              <a:ext cx="589" cy="22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语法分析</a:t>
              </a:r>
              <a:r>
                <a:rPr lang="zh-CN" altLang="en-US" sz="1600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（</a:t>
              </a:r>
              <a:r>
                <a:rPr lang="en-US" altLang="zh-CN" sz="1600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Syntax Analysis</a:t>
              </a:r>
              <a:r>
                <a:rPr lang="zh-CN" altLang="en-US" sz="1600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）</a:t>
              </a:r>
            </a:p>
          </p:txBody>
        </p:sp>
      </p:grpSp>
      <p:grpSp>
        <p:nvGrpSpPr>
          <p:cNvPr id="57" name="Group 54"/>
          <p:cNvGrpSpPr>
            <a:grpSpLocks/>
          </p:cNvGrpSpPr>
          <p:nvPr/>
        </p:nvGrpSpPr>
        <p:grpSpPr bwMode="auto">
          <a:xfrm>
            <a:off x="1079287" y="4101737"/>
            <a:ext cx="2797359" cy="485775"/>
            <a:chOff x="612" y="3612"/>
            <a:chExt cx="2222" cy="408"/>
          </a:xfrm>
        </p:grpSpPr>
        <p:sp>
          <p:nvSpPr>
            <p:cNvPr id="58" name="Line 47"/>
            <p:cNvSpPr>
              <a:spLocks noChangeShapeType="1"/>
            </p:cNvSpPr>
            <p:nvPr/>
          </p:nvSpPr>
          <p:spPr bwMode="auto">
            <a:xfrm flipV="1">
              <a:off x="1699" y="3612"/>
              <a:ext cx="0" cy="1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59" name="Rectangle 48"/>
            <p:cNvSpPr>
              <a:spLocks noChangeArrowheads="1"/>
            </p:cNvSpPr>
            <p:nvPr/>
          </p:nvSpPr>
          <p:spPr bwMode="auto">
            <a:xfrm>
              <a:off x="612" y="3754"/>
              <a:ext cx="2222" cy="2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词法分析</a:t>
              </a:r>
              <a:r>
                <a:rPr lang="zh-CN" altLang="en-US" sz="1600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（</a:t>
              </a:r>
              <a:r>
                <a:rPr lang="en-US" altLang="zh-CN" sz="1600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Lexical Analysis</a:t>
              </a:r>
              <a:r>
                <a:rPr lang="zh-CN" altLang="en-US" sz="1600" dirty="0"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）</a:t>
              </a:r>
            </a:p>
          </p:txBody>
        </p:sp>
      </p:grpSp>
      <p:sp>
        <p:nvSpPr>
          <p:cNvPr id="60" name="Line 11"/>
          <p:cNvSpPr>
            <a:spLocks noChangeShapeType="1"/>
          </p:cNvSpPr>
          <p:nvPr/>
        </p:nvSpPr>
        <p:spPr bwMode="auto">
          <a:xfrm>
            <a:off x="1272375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1" name="Line 12"/>
          <p:cNvSpPr>
            <a:spLocks noChangeShapeType="1"/>
          </p:cNvSpPr>
          <p:nvPr/>
        </p:nvSpPr>
        <p:spPr bwMode="auto">
          <a:xfrm>
            <a:off x="1763688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2" name="Line 13"/>
          <p:cNvSpPr>
            <a:spLocks noChangeShapeType="1"/>
          </p:cNvSpPr>
          <p:nvPr/>
        </p:nvSpPr>
        <p:spPr bwMode="auto">
          <a:xfrm>
            <a:off x="2352495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3" name="Line 14"/>
          <p:cNvSpPr>
            <a:spLocks noChangeShapeType="1"/>
          </p:cNvSpPr>
          <p:nvPr/>
        </p:nvSpPr>
        <p:spPr bwMode="auto">
          <a:xfrm>
            <a:off x="3203848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4" name="Line 15"/>
          <p:cNvSpPr>
            <a:spLocks noChangeShapeType="1"/>
          </p:cNvSpPr>
          <p:nvPr/>
        </p:nvSpPr>
        <p:spPr bwMode="auto">
          <a:xfrm>
            <a:off x="3792655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5" name="Line 16"/>
          <p:cNvSpPr>
            <a:spLocks noChangeShapeType="1"/>
          </p:cNvSpPr>
          <p:nvPr/>
        </p:nvSpPr>
        <p:spPr bwMode="auto">
          <a:xfrm>
            <a:off x="4427984" y="1214950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6" name="Line 17"/>
          <p:cNvSpPr>
            <a:spLocks noChangeShapeType="1"/>
          </p:cNvSpPr>
          <p:nvPr/>
        </p:nvSpPr>
        <p:spPr bwMode="auto">
          <a:xfrm>
            <a:off x="5076056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7" name="Line 18"/>
          <p:cNvSpPr>
            <a:spLocks noChangeShapeType="1"/>
          </p:cNvSpPr>
          <p:nvPr/>
        </p:nvSpPr>
        <p:spPr bwMode="auto">
          <a:xfrm>
            <a:off x="6012160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8" name="Line 19"/>
          <p:cNvSpPr>
            <a:spLocks noChangeShapeType="1"/>
          </p:cNvSpPr>
          <p:nvPr/>
        </p:nvSpPr>
        <p:spPr bwMode="auto">
          <a:xfrm>
            <a:off x="6516216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69" name="Line 20"/>
          <p:cNvSpPr>
            <a:spLocks noChangeShapeType="1"/>
          </p:cNvSpPr>
          <p:nvPr/>
        </p:nvSpPr>
        <p:spPr bwMode="auto">
          <a:xfrm>
            <a:off x="7236296" y="1214428"/>
            <a:ext cx="0" cy="161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70" name="矩形 69"/>
          <p:cNvSpPr>
            <a:spLocks noChangeArrowheads="1"/>
          </p:cNvSpPr>
          <p:nvPr/>
        </p:nvSpPr>
        <p:spPr bwMode="auto">
          <a:xfrm>
            <a:off x="974751" y="875874"/>
            <a:ext cx="73120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 b="1" dirty="0">
                <a:latin typeface="Times New Roman" pitchFamily="18" charset="0"/>
                <a:ea typeface="楷体" pitchFamily="49" charset="-122"/>
              </a:rPr>
              <a:t>介词  冠词    名词        代词    动词    冠词    名词           介词  </a:t>
            </a:r>
            <a:r>
              <a:rPr lang="zh-CN" altLang="en-US" sz="1600" b="1">
                <a:latin typeface="Times New Roman" pitchFamily="18" charset="0"/>
                <a:ea typeface="楷体" pitchFamily="49" charset="-122"/>
              </a:rPr>
              <a:t>冠词      名词 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4185824" y="1571618"/>
            <a:ext cx="1512888" cy="163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</a:rPr>
              <a:t>~~~~~~~~~~~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3000364" y="1697299"/>
            <a:ext cx="325438" cy="0"/>
          </a:xfrm>
          <a:prstGeom prst="line">
            <a:avLst/>
          </a:prstGeom>
          <a:ln w="7620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3548059" y="1675749"/>
            <a:ext cx="523875" cy="0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946184" y="1361294"/>
            <a:ext cx="352425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2609983" y="1361294"/>
            <a:ext cx="352425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491891" y="1433302"/>
            <a:ext cx="350837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662146" y="1433302"/>
            <a:ext cx="350838" cy="235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矩形 81"/>
          <p:cNvSpPr>
            <a:spLocks noChangeArrowheads="1"/>
          </p:cNvSpPr>
          <p:nvPr/>
        </p:nvSpPr>
        <p:spPr bwMode="auto">
          <a:xfrm>
            <a:off x="6325991" y="1720962"/>
            <a:ext cx="6688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补语</a:t>
            </a:r>
          </a:p>
        </p:txBody>
      </p:sp>
      <p:sp>
        <p:nvSpPr>
          <p:cNvPr id="83" name="矩形 82"/>
          <p:cNvSpPr>
            <a:spLocks noChangeArrowheads="1"/>
          </p:cNvSpPr>
          <p:nvPr/>
        </p:nvSpPr>
        <p:spPr bwMode="auto">
          <a:xfrm>
            <a:off x="1572079" y="1720962"/>
            <a:ext cx="5982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状语</a:t>
            </a:r>
          </a:p>
        </p:txBody>
      </p:sp>
      <p:sp>
        <p:nvSpPr>
          <p:cNvPr id="84" name="矩形 83"/>
          <p:cNvSpPr>
            <a:spLocks noChangeArrowheads="1"/>
          </p:cNvSpPr>
          <p:nvPr/>
        </p:nvSpPr>
        <p:spPr bwMode="auto">
          <a:xfrm>
            <a:off x="2843808" y="1714494"/>
            <a:ext cx="5982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主语</a:t>
            </a:r>
          </a:p>
        </p:txBody>
      </p:sp>
      <p:sp>
        <p:nvSpPr>
          <p:cNvPr id="85" name="矩形 84"/>
          <p:cNvSpPr>
            <a:spLocks noChangeArrowheads="1"/>
          </p:cNvSpPr>
          <p:nvPr/>
        </p:nvSpPr>
        <p:spPr bwMode="auto">
          <a:xfrm>
            <a:off x="3516295" y="1714494"/>
            <a:ext cx="5982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600" b="1" dirty="0">
                <a:latin typeface="楷体" pitchFamily="49" charset="-122"/>
                <a:ea typeface="楷体" pitchFamily="49" charset="-122"/>
              </a:rPr>
              <a:t>谓语</a:t>
            </a:r>
          </a:p>
        </p:txBody>
      </p:sp>
      <p:sp>
        <p:nvSpPr>
          <p:cNvPr id="86" name="矩形 85"/>
          <p:cNvSpPr>
            <a:spLocks noChangeArrowheads="1"/>
          </p:cNvSpPr>
          <p:nvPr/>
        </p:nvSpPr>
        <p:spPr bwMode="auto">
          <a:xfrm>
            <a:off x="4440819" y="1720962"/>
            <a:ext cx="7072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altLang="zh-CN" sz="16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宾语</a:t>
            </a:r>
            <a:endParaRPr lang="zh-CN" altLang="en-US" sz="1600" b="1" dirty="0">
              <a:latin typeface="楷体" pitchFamily="49" charset="-122"/>
              <a:ea typeface="楷体" pitchFamily="49" charset="-122"/>
            </a:endParaRPr>
          </a:p>
        </p:txBody>
      </p:sp>
      <p:grpSp>
        <p:nvGrpSpPr>
          <p:cNvPr id="87" name="组合 86"/>
          <p:cNvGrpSpPr/>
          <p:nvPr/>
        </p:nvGrpSpPr>
        <p:grpSpPr>
          <a:xfrm>
            <a:off x="428596" y="2297398"/>
            <a:ext cx="7715304" cy="809625"/>
            <a:chOff x="-338076" y="2499742"/>
            <a:chExt cx="7715304" cy="809625"/>
          </a:xfrm>
        </p:grpSpPr>
        <p:sp>
          <p:nvSpPr>
            <p:cNvPr id="88" name="Rectangle 32"/>
            <p:cNvSpPr>
              <a:spLocks noChangeArrowheads="1"/>
            </p:cNvSpPr>
            <p:nvPr/>
          </p:nvSpPr>
          <p:spPr bwMode="auto">
            <a:xfrm>
              <a:off x="971601" y="2499742"/>
              <a:ext cx="1367308" cy="8096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第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1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步</a:t>
              </a:r>
            </a:p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分析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源语言</a:t>
              </a:r>
            </a:p>
          </p:txBody>
        </p:sp>
        <p:sp>
          <p:nvSpPr>
            <p:cNvPr id="89" name="Line 33"/>
            <p:cNvSpPr>
              <a:spLocks noChangeShapeType="1"/>
            </p:cNvSpPr>
            <p:nvPr/>
          </p:nvSpPr>
          <p:spPr bwMode="auto">
            <a:xfrm flipV="1">
              <a:off x="-338076" y="2913508"/>
              <a:ext cx="13092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0" name="Rectangle 34"/>
            <p:cNvSpPr>
              <a:spLocks noChangeArrowheads="1"/>
            </p:cNvSpPr>
            <p:nvPr/>
          </p:nvSpPr>
          <p:spPr bwMode="auto">
            <a:xfrm>
              <a:off x="-338076" y="2536081"/>
              <a:ext cx="1215782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源语言句子</a:t>
              </a:r>
            </a:p>
          </p:txBody>
        </p:sp>
        <p:sp>
          <p:nvSpPr>
            <p:cNvPr id="91" name="Oval 36"/>
            <p:cNvSpPr>
              <a:spLocks noChangeArrowheads="1"/>
            </p:cNvSpPr>
            <p:nvPr/>
          </p:nvSpPr>
          <p:spPr bwMode="auto">
            <a:xfrm>
              <a:off x="2627783" y="2680915"/>
              <a:ext cx="1510479" cy="4668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 anchor="ctr"/>
            <a:lstStyle/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楷体" pitchFamily="49" charset="-122"/>
                  <a:ea typeface="楷体" pitchFamily="49" charset="-122"/>
                </a:rPr>
                <a:t>句子的</a:t>
              </a:r>
              <a:r>
                <a:rPr lang="zh-CN" altLang="en-US" b="1" dirty="0">
                  <a:solidFill>
                    <a:srgbClr val="FF0000"/>
                  </a:solidFill>
                  <a:latin typeface="楷体" pitchFamily="49" charset="-122"/>
                  <a:ea typeface="楷体" pitchFamily="49" charset="-122"/>
                </a:rPr>
                <a:t>语义</a:t>
              </a:r>
              <a:endParaRPr lang="en-US" altLang="zh-CN" b="1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endParaRPr>
            </a:p>
          </p:txBody>
        </p:sp>
        <p:sp>
          <p:nvSpPr>
            <p:cNvPr id="92" name="Line 37"/>
            <p:cNvSpPr>
              <a:spLocks noChangeShapeType="1"/>
            </p:cNvSpPr>
            <p:nvPr/>
          </p:nvSpPr>
          <p:spPr bwMode="auto">
            <a:xfrm>
              <a:off x="4139108" y="2931790"/>
              <a:ext cx="2873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3" name="Rectangle 38"/>
            <p:cNvSpPr>
              <a:spLocks noChangeArrowheads="1"/>
            </p:cNvSpPr>
            <p:nvPr/>
          </p:nvSpPr>
          <p:spPr bwMode="auto">
            <a:xfrm>
              <a:off x="4427139" y="2499742"/>
              <a:ext cx="1546623" cy="79295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第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2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步</a:t>
              </a:r>
            </a:p>
            <a:p>
              <a:pPr algn="ctr"/>
              <a:r>
                <a:rPr lang="zh-CN" altLang="en-US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生成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目标语言</a:t>
              </a:r>
              <a:endParaRPr lang="en-US" altLang="zh-CN" b="1" dirty="0">
                <a:solidFill>
                  <a:srgbClr val="00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94" name="Line 39"/>
            <p:cNvSpPr>
              <a:spLocks noChangeShapeType="1"/>
            </p:cNvSpPr>
            <p:nvPr/>
          </p:nvSpPr>
          <p:spPr bwMode="auto">
            <a:xfrm>
              <a:off x="6013005" y="2913508"/>
              <a:ext cx="13642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95" name="Rectangle 40"/>
            <p:cNvSpPr>
              <a:spLocks noChangeArrowheads="1"/>
            </p:cNvSpPr>
            <p:nvPr/>
          </p:nvSpPr>
          <p:spPr bwMode="auto">
            <a:xfrm>
              <a:off x="5867300" y="2536081"/>
              <a:ext cx="1296988" cy="323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b="1" dirty="0">
                  <a:solidFill>
                    <a:srgbClr val="000000"/>
                  </a:solidFill>
                  <a:latin typeface="楷体" pitchFamily="49" charset="-122"/>
                  <a:ea typeface="楷体" pitchFamily="49" charset="-122"/>
                </a:rPr>
                <a:t>目标语言句子</a:t>
              </a:r>
            </a:p>
          </p:txBody>
        </p:sp>
        <p:sp>
          <p:nvSpPr>
            <p:cNvPr id="96" name="Line 41"/>
            <p:cNvSpPr>
              <a:spLocks noChangeShapeType="1"/>
            </p:cNvSpPr>
            <p:nvPr/>
          </p:nvSpPr>
          <p:spPr bwMode="auto">
            <a:xfrm>
              <a:off x="2340446" y="2931790"/>
              <a:ext cx="2873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  <p:sp>
        <p:nvSpPr>
          <p:cNvPr id="97" name="Rectangle 44"/>
          <p:cNvSpPr>
            <a:spLocks noChangeArrowheads="1"/>
          </p:cNvSpPr>
          <p:nvPr/>
        </p:nvSpPr>
        <p:spPr bwMode="auto">
          <a:xfrm>
            <a:off x="1090199" y="3335005"/>
            <a:ext cx="2797359" cy="2702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r>
              <a:rPr lang="zh-CN" altLang="en-US" sz="16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语义分析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Semantic Analysis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）</a:t>
            </a:r>
          </a:p>
        </p:txBody>
      </p:sp>
      <p:sp>
        <p:nvSpPr>
          <p:cNvPr id="98" name="Line 53"/>
          <p:cNvSpPr>
            <a:spLocks noChangeShapeType="1"/>
          </p:cNvSpPr>
          <p:nvPr/>
        </p:nvSpPr>
        <p:spPr bwMode="auto">
          <a:xfrm flipV="1">
            <a:off x="2458352" y="3119500"/>
            <a:ext cx="0" cy="215504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人工英汉翻译的例子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02" name="五边形 10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五边形 10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33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9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9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9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4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4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9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9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4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3" grpId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/>
      <p:bldP spid="70" grpId="1"/>
      <p:bldP spid="74" grpId="0"/>
      <p:bldP spid="77" grpId="0"/>
      <p:bldP spid="78" grpId="0"/>
      <p:bldP spid="79" grpId="0"/>
      <p:bldP spid="80" grpId="0"/>
      <p:bldP spid="82" grpId="0"/>
      <p:bldP spid="83" grpId="0"/>
      <p:bldP spid="84" grpId="0"/>
      <p:bldP spid="85" grpId="0"/>
      <p:bldP spid="86" grpId="0"/>
      <p:bldP spid="97" grpId="0" animBg="1"/>
      <p:bldP spid="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4"/>
          <p:cNvPicPr>
            <a:picLocks noChangeAspect="1" noChangeArrowheads="1"/>
          </p:cNvPicPr>
          <p:nvPr/>
        </p:nvPicPr>
        <p:blipFill>
          <a:blip r:embed="rId3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454" y="1643056"/>
            <a:ext cx="5597826" cy="18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3"/>
          <p:cNvPicPr>
            <a:picLocks noChangeAspect="1" noChangeArrowheads="1"/>
          </p:cNvPicPr>
          <p:nvPr/>
        </p:nvPicPr>
        <p:blipFill>
          <a:blip r:embed="rId4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286262"/>
            <a:ext cx="5256584" cy="808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3"/>
          <p:cNvPicPr>
            <a:picLocks noChangeAspect="1" noChangeArrowheads="1"/>
          </p:cNvPicPr>
          <p:nvPr/>
        </p:nvPicPr>
        <p:blipFill>
          <a:blip r:embed="rId5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78" y="3555349"/>
            <a:ext cx="5575786" cy="65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/>
          <p:cNvCxnSpPr/>
          <p:nvPr/>
        </p:nvCxnSpPr>
        <p:spPr>
          <a:xfrm>
            <a:off x="5562568" y="4214823"/>
            <a:ext cx="395328" cy="1"/>
          </a:xfrm>
          <a:prstGeom prst="line">
            <a:avLst/>
          </a:prstGeom>
          <a:ln w="38100" cmpd="sng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14" y="3214692"/>
            <a:ext cx="3092502" cy="1820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3"/>
          <p:cNvSpPr>
            <a:spLocks noGrp="1" noChangeArrowheads="1"/>
          </p:cNvSpPr>
          <p:nvPr>
            <p:ph idx="1"/>
          </p:nvPr>
        </p:nvSpPr>
        <p:spPr>
          <a:xfrm>
            <a:off x="1069498" y="702978"/>
            <a:ext cx="7772400" cy="4011910"/>
          </a:xfrm>
        </p:spPr>
        <p:txBody>
          <a:bodyPr>
            <a:normAutofit/>
          </a:bodyPr>
          <a:lstStyle/>
          <a:p>
            <a:pPr algn="ctr" eaLnBrk="1" hangingPunct="1">
              <a:buFont typeface="Wingdings" pitchFamily="2" charset="2"/>
              <a:buNone/>
            </a:pPr>
            <a:endParaRPr lang="en-US" altLang="zh-CN" sz="1800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lvl="1" eaLnBrk="1" hangingPunct="1"/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lvl="0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词法分析</a:t>
            </a:r>
            <a:endParaRPr lang="en-US" altLang="zh-CN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0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语法分析</a:t>
            </a:r>
            <a:endParaRPr lang="en-US" altLang="zh-CN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语义分析</a:t>
            </a:r>
          </a:p>
          <a:p>
            <a:pPr lvl="0">
              <a:buClr>
                <a:srgbClr val="31B6FD"/>
              </a:buClr>
            </a:pPr>
            <a:endParaRPr lang="zh-CN" altLang="en-US" sz="2800" b="1" dirty="0">
              <a:solidFill>
                <a:srgbClr val="073E87"/>
              </a:solidFill>
              <a:latin typeface="楷体" pitchFamily="49" charset="-122"/>
              <a:cs typeface="Times New Roman" pitchFamily="18" charset="0"/>
            </a:endParaRPr>
          </a:p>
          <a:p>
            <a:pPr eaLnBrk="1" hangingPunct="1"/>
            <a:endParaRPr lang="zh-CN" altLang="en-US" sz="2000" dirty="0"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800" dirty="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lang="zh-CN" altLang="en-US" sz="1800" dirty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1014442" y="929247"/>
            <a:ext cx="7772400" cy="1213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itchFamily="18" charset="0"/>
              </a:rPr>
              <a:t>In  the  room  , he  broke  a  window  with  a  hammer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人工英汉翻译的例子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0" name="五边形 19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398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3851920" y="1904"/>
            <a:ext cx="2221826" cy="5117606"/>
          </a:xfrm>
          <a:prstGeom prst="rect">
            <a:avLst/>
          </a:prstGeom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sp>
        <p:nvSpPr>
          <p:cNvPr id="19" name="五边形 18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五边形 2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" name="组合 12"/>
          <p:cNvGrpSpPr/>
          <p:nvPr/>
        </p:nvGrpSpPr>
        <p:grpSpPr>
          <a:xfrm>
            <a:off x="1619672" y="392891"/>
            <a:ext cx="4454071" cy="2394883"/>
            <a:chOff x="2518423" y="40347"/>
            <a:chExt cx="4822579" cy="319317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5" name="右箭头 34"/>
            <p:cNvSpPr/>
            <p:nvPr/>
          </p:nvSpPr>
          <p:spPr>
            <a:xfrm>
              <a:off x="2518423" y="562706"/>
              <a:ext cx="2183035" cy="2190765"/>
            </a:xfrm>
            <a:prstGeom prst="rightArrow">
              <a:avLst>
                <a:gd name="adj1" fmla="val 62576"/>
                <a:gd name="adj2" fmla="val 23562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分析部分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/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前端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(front end)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：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与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源语言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相关</a:t>
              </a:r>
              <a:endPara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  <p:sp>
          <p:nvSpPr>
            <p:cNvPr id="34" name="Rectangle 42"/>
            <p:cNvSpPr>
              <a:spLocks noChangeArrowheads="1"/>
            </p:cNvSpPr>
            <p:nvPr/>
          </p:nvSpPr>
          <p:spPr bwMode="auto">
            <a:xfrm>
              <a:off x="4909165" y="40347"/>
              <a:ext cx="2431837" cy="3193177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47664" y="3304940"/>
            <a:ext cx="4589702" cy="1643074"/>
            <a:chOff x="1547664" y="3304940"/>
            <a:chExt cx="4589702" cy="1643074"/>
          </a:xfrm>
        </p:grpSpPr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 flipH="1">
              <a:off x="3779911" y="3714759"/>
              <a:ext cx="2357455" cy="101723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99"/>
                </a:solidFill>
              </a:endParaRPr>
            </a:p>
          </p:txBody>
        </p:sp>
        <p:sp>
          <p:nvSpPr>
            <p:cNvPr id="40" name="右箭头 39"/>
            <p:cNvSpPr/>
            <p:nvPr/>
          </p:nvSpPr>
          <p:spPr>
            <a:xfrm>
              <a:off x="1547664" y="3304940"/>
              <a:ext cx="2072842" cy="1643074"/>
            </a:xfrm>
            <a:prstGeom prst="rightArrow">
              <a:avLst>
                <a:gd name="adj1" fmla="val 62576"/>
                <a:gd name="adj2" fmla="val 23562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综合部分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/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后端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(back end)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：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与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目标语言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相关</a:t>
              </a:r>
              <a:endPara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3851920" y="1904"/>
            <a:ext cx="2221826" cy="5117606"/>
          </a:xfrm>
          <a:prstGeom prst="rect">
            <a:avLst/>
          </a:prstGeom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sp>
        <p:nvSpPr>
          <p:cNvPr id="19" name="五边形 18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" name="五边形 2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4" name="Rectangle 42"/>
          <p:cNvSpPr>
            <a:spLocks noChangeArrowheads="1"/>
          </p:cNvSpPr>
          <p:nvPr/>
        </p:nvSpPr>
        <p:spPr bwMode="auto">
          <a:xfrm>
            <a:off x="3978613" y="339502"/>
            <a:ext cx="1961539" cy="444056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912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42919" y="714362"/>
            <a:ext cx="8272485" cy="3226273"/>
          </a:xfrm>
        </p:spPr>
        <p:txBody>
          <a:bodyPr/>
          <a:lstStyle/>
          <a:p>
            <a:pPr eaLnBrk="1" hangingPunct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词法分析的主要任务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000" b="1" dirty="0">
                <a:solidFill>
                  <a:schemeClr val="tx1"/>
                </a:solidFill>
              </a:rPr>
              <a:t>从左向右逐行扫描源程序的字符，识别出各个单词，确定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单词的类型</a:t>
            </a:r>
            <a:r>
              <a:rPr lang="zh-CN" altLang="en-US" sz="2000" b="1" dirty="0">
                <a:solidFill>
                  <a:schemeClr val="tx1"/>
                </a:solidFill>
              </a:rPr>
              <a:t>。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sz="2000" b="1" dirty="0">
                <a:solidFill>
                  <a:schemeClr val="tx1"/>
                </a:solidFill>
              </a:rPr>
              <a:t>将识别出的单词转换成统一的</a:t>
            </a:r>
            <a:r>
              <a:rPr lang="zh-CN" altLang="en-US" sz="2000" b="1" dirty="0">
                <a:solidFill>
                  <a:srgbClr val="FF0000"/>
                </a:solidFill>
              </a:rPr>
              <a:t>机内表示</a:t>
            </a:r>
            <a:r>
              <a:rPr lang="en-US" altLang="zh-CN" sz="2000" b="1" dirty="0">
                <a:solidFill>
                  <a:schemeClr val="tx1"/>
                </a:solidFill>
              </a:rPr>
              <a:t>——</a:t>
            </a:r>
            <a:r>
              <a:rPr lang="zh-CN" altLang="en-US" sz="2000" b="1" dirty="0">
                <a:solidFill>
                  <a:schemeClr val="tx1"/>
                </a:solidFill>
              </a:rPr>
              <a:t>词法单元</a:t>
            </a:r>
            <a:r>
              <a:rPr lang="en-US" altLang="zh-CN" sz="1600" b="1" dirty="0">
                <a:solidFill>
                  <a:schemeClr val="tx1"/>
                </a:solidFill>
              </a:rPr>
              <a:t>(token)</a:t>
            </a:r>
            <a:r>
              <a:rPr lang="zh-CN" altLang="en-US" sz="2000" b="1" dirty="0">
                <a:solidFill>
                  <a:schemeClr val="tx1"/>
                </a:solidFill>
              </a:rPr>
              <a:t>形式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token</a:t>
            </a:r>
            <a:r>
              <a:rPr lang="zh-CN" altLang="en-US" sz="1800" b="1" dirty="0">
                <a:solidFill>
                  <a:schemeClr val="tx1"/>
                </a:solidFill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</a:rPr>
              <a:t>&lt; </a:t>
            </a:r>
            <a:r>
              <a:rPr lang="zh-CN" altLang="en-US" sz="1800" b="1" dirty="0">
                <a:solidFill>
                  <a:schemeClr val="tx1"/>
                </a:solidFill>
              </a:rPr>
              <a:t>种别码，属性值 </a:t>
            </a:r>
            <a:r>
              <a:rPr lang="en-US" altLang="zh-CN" sz="1800" b="1" dirty="0">
                <a:solidFill>
                  <a:schemeClr val="tx1"/>
                </a:solidFill>
              </a:rPr>
              <a:t>&gt;</a:t>
            </a:r>
          </a:p>
          <a:p>
            <a:pPr lvl="1"/>
            <a:endParaRPr lang="en-US" altLang="zh-CN" sz="1800" b="1" dirty="0"/>
          </a:p>
          <a:p>
            <a:pPr lvl="1">
              <a:buClr>
                <a:srgbClr val="3333CC"/>
              </a:buClr>
              <a:buNone/>
            </a:pP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zh-CN" altLang="en-US" sz="33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词法分析</a:t>
            </a:r>
            <a:r>
              <a:rPr lang="en-US" altLang="zh-CN" sz="33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sz="33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扫描</a:t>
            </a: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3600" i="1" dirty="0">
                <a:solidFill>
                  <a:schemeClr val="tx1"/>
                </a:solidFill>
              </a:rPr>
              <a:t>Scanning</a:t>
            </a:r>
            <a:r>
              <a:rPr lang="en-US" altLang="zh-CN" sz="3600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endParaRPr lang="zh-CN" altLang="en-US" sz="5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2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463292"/>
              </p:ext>
            </p:extLst>
          </p:nvPr>
        </p:nvGraphicFramePr>
        <p:xfrm>
          <a:off x="714348" y="2214560"/>
          <a:ext cx="7715306" cy="2889624"/>
        </p:xfrm>
        <a:graphic>
          <a:graphicData uri="http://schemas.openxmlformats.org/drawingml/2006/table">
            <a:tbl>
              <a:tblPr/>
              <a:tblGrid>
                <a:gridCol w="30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3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单词类型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种别码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关键字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program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if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else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then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标识符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变量名、数组名、记录名、过程名、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多词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常量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整型、浮点型、字符型、布尔型、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型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6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" pitchFamily="49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运算符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算术（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+  - 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*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/  ++  --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关系（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==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!=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&gt;=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&lt;=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逻辑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（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&amp;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|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~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）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  <a:endParaRPr lang="en-US" altLang="zh-CN" sz="18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 或</a:t>
                      </a:r>
                      <a:endParaRPr lang="en-US" altLang="zh-CN" sz="18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型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0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100252" marR="100252" marT="37602" marB="37602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界限符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;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)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}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" pitchFamily="49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</a:t>
                      </a:r>
                      <a:r>
                        <a:rPr lang="zh-CN" altLang="en-US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词</a:t>
                      </a:r>
                      <a:r>
                        <a:rPr lang="zh-CN" altLang="zh-CN" sz="18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一码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五边形 1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714348" y="2215354"/>
            <a:ext cx="7716099" cy="2928941"/>
            <a:chOff x="857224" y="2215354"/>
            <a:chExt cx="7716099" cy="2928941"/>
          </a:xfrm>
        </p:grpSpPr>
        <p:sp>
          <p:nvSpPr>
            <p:cNvPr id="13" name="矩形 12"/>
            <p:cNvSpPr/>
            <p:nvPr/>
          </p:nvSpPr>
          <p:spPr>
            <a:xfrm>
              <a:off x="7284090" y="2571750"/>
              <a:ext cx="18473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hangingPunct="0">
                <a:spcBef>
                  <a:spcPct val="30000"/>
                </a:spcBef>
              </a:pPr>
              <a:endParaRPr lang="zh-CN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284090" y="2959936"/>
              <a:ext cx="18473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30000"/>
                </a:spcBef>
                <a:buClr>
                  <a:schemeClr val="folHlink"/>
                </a:buClr>
                <a:buSzPct val="60000"/>
              </a:pPr>
              <a:endPara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7284090" y="3357568"/>
              <a:ext cx="18473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hangingPunct="0">
                <a:spcBef>
                  <a:spcPct val="30000"/>
                </a:spcBef>
              </a:pPr>
              <a:endParaRPr lang="zh-CN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rot="5400000">
              <a:off x="-606452" y="3679031"/>
              <a:ext cx="2928148" cy="7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5400000">
              <a:off x="7108058" y="3679031"/>
              <a:ext cx="2928941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矩形 26"/>
          <p:cNvSpPr/>
          <p:nvPr/>
        </p:nvSpPr>
        <p:spPr>
          <a:xfrm>
            <a:off x="0" y="5114924"/>
            <a:ext cx="9144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例：词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法分析后得到的</a:t>
            </a:r>
            <a:r>
              <a:rPr lang="en-US" altLang="zh-CN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token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序列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五边形 7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285720" y="1000114"/>
            <a:ext cx="8715436" cy="4143386"/>
          </a:xfrm>
        </p:spPr>
        <p:txBody>
          <a:bodyPr>
            <a:noAutofit/>
          </a:bodyPr>
          <a:lstStyle/>
          <a:p>
            <a:pPr eaLnBrk="1" hangingPunct="1">
              <a:lnSpc>
                <a:spcPts val="8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输入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while(value!=100){</a:t>
            </a:r>
            <a:r>
              <a:rPr lang="en-US" altLang="zh-CN" b="1" dirty="0" err="1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num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++;}</a:t>
            </a:r>
          </a:p>
          <a:p>
            <a:pPr eaLnBrk="1" hangingPunct="1">
              <a:lnSpc>
                <a:spcPts val="800"/>
              </a:lnSpc>
              <a:buClrTx/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lnSpc>
                <a:spcPts val="8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输出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   while</a:t>
            </a:r>
            <a:r>
              <a:rPr lang="en-US" altLang="zh-CN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 WHILE ,       - </a:t>
            </a:r>
            <a:r>
              <a:rPr lang="en-US" altLang="zh-CN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&gt;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       2      ( 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    SLP     ,       -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&gt;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endParaRPr lang="en-US" altLang="zh-CN" sz="2400" b="1" dirty="0">
              <a:solidFill>
                <a:schemeClr val="tx1"/>
              </a:solidFill>
              <a:ea typeface="楷体" pitchFamily="49" charset="-122"/>
              <a:cs typeface="Times New Roman" pitchFamily="18" charset="0"/>
            </a:endParaRPr>
          </a:p>
          <a:p>
            <a:pPr lvl="1" algn="just">
              <a:lnSpc>
                <a:spcPts val="8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3  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value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   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IDN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,  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value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&gt;</a:t>
            </a:r>
            <a:endParaRPr lang="zh-CN" altLang="en-US" sz="24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endParaRPr lang="en-US" altLang="zh-CN" sz="24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       4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!=   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NE     ,        - 	&gt;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5    100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CONST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  100       &gt;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  6       )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    SRP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      - 	&gt;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endParaRPr lang="en-US" altLang="zh-CN" sz="24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       7       {     	&lt;     LP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      - 	&gt;</a:t>
            </a:r>
          </a:p>
          <a:p>
            <a:pPr lvl="1" algn="just">
              <a:lnSpc>
                <a:spcPts val="8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>
              <a:lnSpc>
                <a:spcPts val="8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       8   </a:t>
            </a:r>
            <a:r>
              <a:rPr lang="en-US" altLang="zh-CN" sz="2400" b="1" dirty="0" err="1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	&lt;   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IDN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itchFamily="18" charset="0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   </a:t>
            </a:r>
            <a:r>
              <a:rPr lang="en-US" altLang="zh-CN" sz="2400" b="1" dirty="0" err="1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num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&gt;</a:t>
            </a:r>
            <a:endParaRPr lang="zh-CN" altLang="en-US" sz="24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       9    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++   	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&lt;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INC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      - 	&gt;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      10       ;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&lt;  SEMI    ,        - 	&gt;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</a:t>
            </a:r>
          </a:p>
          <a:p>
            <a:pPr lvl="1" algn="just" eaLnBrk="1" hangingPunct="1">
              <a:lnSpc>
                <a:spcPts val="8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	       11       } 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&lt;      RP</a:t>
            </a:r>
            <a:r>
              <a:rPr lang="en-US" altLang="zh-CN" sz="24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  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      - 	&gt;    </a:t>
            </a:r>
            <a:endParaRPr lang="zh-CN" altLang="en-US" sz="24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1" name="AutoShape 208"/>
          <p:cNvSpPr>
            <a:spLocks noChangeArrowheads="1"/>
          </p:cNvSpPr>
          <p:nvPr/>
        </p:nvSpPr>
        <p:spPr bwMode="auto">
          <a:xfrm>
            <a:off x="6143636" y="1500180"/>
            <a:ext cx="2857520" cy="1428760"/>
          </a:xfrm>
          <a:prstGeom prst="cloudCallout">
            <a:avLst>
              <a:gd name="adj1" fmla="val -49536"/>
              <a:gd name="adj2" fmla="val 71871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r>
              <a:rPr lang="zh-CN" altLang="en-US" sz="2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如何实现</a:t>
            </a:r>
            <a:endParaRPr lang="en-US" altLang="zh-CN" sz="2600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r>
              <a:rPr lang="zh-CN" altLang="en-US" sz="2600" b="1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词法分析器？</a:t>
            </a:r>
            <a:endParaRPr lang="en-US" altLang="zh-CN" sz="2600" b="1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0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3851920" y="11631"/>
            <a:ext cx="2221826" cy="5117606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" name="Rectangle 42"/>
          <p:cNvSpPr>
            <a:spLocks noChangeArrowheads="1"/>
          </p:cNvSpPr>
          <p:nvPr/>
        </p:nvSpPr>
        <p:spPr bwMode="auto">
          <a:xfrm>
            <a:off x="3978613" y="1059582"/>
            <a:ext cx="1961539" cy="40391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语法分析 </a:t>
            </a:r>
            <a:r>
              <a:rPr lang="en-US" altLang="zh-CN" sz="30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( </a:t>
            </a:r>
            <a:r>
              <a:rPr lang="en-US" altLang="zh-CN" sz="3000" i="1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parsing</a:t>
            </a:r>
            <a:r>
              <a:rPr lang="en-US" altLang="zh-CN" sz="3000" dirty="0">
                <a:solidFill>
                  <a:schemeClr val="tx1"/>
                </a:solidFill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lang="zh-CN" altLang="en-US" sz="3000" b="1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28595" y="843558"/>
            <a:ext cx="7743805" cy="367371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语法分析器</a:t>
            </a:r>
            <a:r>
              <a:rPr lang="en-US" altLang="zh-CN" sz="25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(parser)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从词法分析器输出的</a:t>
            </a:r>
            <a:r>
              <a:rPr lang="en-US" altLang="zh-CN" sz="25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token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序列中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识别出各类短语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，并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构造语法分析树</a:t>
            </a:r>
            <a:r>
              <a:rPr lang="en-US" altLang="zh-CN" sz="25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(parse tree)</a:t>
            </a:r>
            <a:endParaRPr lang="en-US" altLang="zh-CN" sz="25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>
              <a:lnSpc>
                <a:spcPct val="110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</a:rPr>
              <a:t>语法分析树描述了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句子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</a:rPr>
              <a:t>的语法结构</a:t>
            </a:r>
          </a:p>
          <a:p>
            <a:endParaRPr lang="en-US" altLang="zh-CN" b="1" dirty="0"/>
          </a:p>
          <a:p>
            <a:endParaRPr lang="zh-CN" altLang="en-US" sz="2800" dirty="0"/>
          </a:p>
        </p:txBody>
      </p:sp>
      <p:pic>
        <p:nvPicPr>
          <p:cNvPr id="10" name="Picture 74"/>
          <p:cNvPicPr>
            <a:picLocks noChangeAspect="1" noChangeArrowheads="1"/>
          </p:cNvPicPr>
          <p:nvPr/>
        </p:nvPicPr>
        <p:blipFill>
          <a:blip r:embed="rId3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06" y="2211710"/>
            <a:ext cx="5597826" cy="18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3"/>
          <p:cNvPicPr>
            <a:picLocks noChangeAspect="1" noChangeArrowheads="1"/>
          </p:cNvPicPr>
          <p:nvPr/>
        </p:nvPicPr>
        <p:blipFill>
          <a:blip r:embed="rId4" cstate="print">
            <a:lum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30" y="4124003"/>
            <a:ext cx="5575786" cy="65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027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-252536" y="857238"/>
            <a:ext cx="9468006" cy="2588022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zh-CN" sz="2800" dirty="0">
                <a:solidFill>
                  <a:srgbClr val="0000FF"/>
                </a:solidFill>
              </a:rPr>
              <a:t>	    </a:t>
            </a:r>
            <a:r>
              <a:rPr lang="en-US" altLang="zh-CN" sz="2800" b="1" dirty="0">
                <a:solidFill>
                  <a:schemeClr val="tx1"/>
                </a:solidFill>
              </a:rPr>
              <a:t>position  =   initial  +   rate  *    60     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1000" b="1" dirty="0">
                <a:solidFill>
                  <a:schemeClr val="tx1"/>
                </a:solidFill>
              </a:rPr>
              <a:t>       </a:t>
            </a:r>
            <a:r>
              <a:rPr lang="en-US" altLang="zh-CN" sz="1600" b="1" dirty="0">
                <a:solidFill>
                  <a:schemeClr val="tx1"/>
                </a:solidFill>
              </a:rPr>
              <a:t>                     &lt;id, position&gt;  &lt;=&gt;   &lt;</a:t>
            </a:r>
            <a:r>
              <a:rPr lang="en-US" altLang="zh-CN" sz="1600" b="1" dirty="0" err="1">
                <a:solidFill>
                  <a:schemeClr val="tx1"/>
                </a:solidFill>
              </a:rPr>
              <a:t>id,initial</a:t>
            </a:r>
            <a:r>
              <a:rPr lang="en-US" altLang="zh-CN" sz="1600" b="1" dirty="0">
                <a:solidFill>
                  <a:schemeClr val="tx1"/>
                </a:solidFill>
              </a:rPr>
              <a:t>&gt;  &lt;+&gt; &lt;id, rate&gt; &lt;*&gt; &lt;num,60&gt; &lt;;&gt;</a:t>
            </a:r>
          </a:p>
          <a:p>
            <a:pPr>
              <a:defRPr/>
            </a:pPr>
            <a:endParaRPr lang="zh-CN" altLang="en-US" sz="2000" dirty="0"/>
          </a:p>
        </p:txBody>
      </p:sp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：赋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值语句的分析树</a:t>
            </a:r>
          </a:p>
        </p:txBody>
      </p:sp>
      <p:grpSp>
        <p:nvGrpSpPr>
          <p:cNvPr id="9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五边形 1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87624" y="1923678"/>
            <a:ext cx="6088835" cy="2578381"/>
            <a:chOff x="787421" y="2081601"/>
            <a:chExt cx="7409259" cy="3061899"/>
          </a:xfrm>
        </p:grpSpPr>
        <p:grpSp>
          <p:nvGrpSpPr>
            <p:cNvPr id="3" name="组合 2"/>
            <p:cNvGrpSpPr/>
            <p:nvPr/>
          </p:nvGrpSpPr>
          <p:grpSpPr>
            <a:xfrm>
              <a:off x="787421" y="2081601"/>
              <a:ext cx="7409259" cy="3061899"/>
              <a:chOff x="787421" y="2081601"/>
              <a:chExt cx="7409259" cy="3061899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7421" y="2081601"/>
                <a:ext cx="7409259" cy="3061899"/>
              </a:xfrm>
              <a:prstGeom prst="rect">
                <a:avLst/>
              </a:prstGeom>
            </p:spPr>
          </p:pic>
          <p:cxnSp>
            <p:nvCxnSpPr>
              <p:cNvPr id="4" name="直接连接符 3"/>
              <p:cNvCxnSpPr/>
              <p:nvPr/>
            </p:nvCxnSpPr>
            <p:spPr>
              <a:xfrm>
                <a:off x="3779912" y="2427734"/>
                <a:ext cx="2448272" cy="36004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矩形 4"/>
              <p:cNvSpPr/>
              <p:nvPr/>
            </p:nvSpPr>
            <p:spPr>
              <a:xfrm>
                <a:off x="6048164" y="2787775"/>
                <a:ext cx="360040" cy="2297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dirty="0">
                    <a:solidFill>
                      <a:schemeClr val="tx1"/>
                    </a:solidFill>
                  </a:rPr>
                  <a:t>;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2771800" y="2643758"/>
              <a:ext cx="216024" cy="2880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555776" y="3003798"/>
            <a:ext cx="4824536" cy="1512168"/>
            <a:chOff x="2555776" y="3003798"/>
            <a:chExt cx="4824536" cy="1512168"/>
          </a:xfrm>
        </p:grpSpPr>
        <p:sp>
          <p:nvSpPr>
            <p:cNvPr id="8" name="矩形 7"/>
            <p:cNvSpPr/>
            <p:nvPr/>
          </p:nvSpPr>
          <p:spPr>
            <a:xfrm>
              <a:off x="2555776" y="3003798"/>
              <a:ext cx="1091039" cy="10081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3913009" y="3507854"/>
              <a:ext cx="1091039" cy="10081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289273" y="3507854"/>
              <a:ext cx="1091039" cy="10081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59" name="五边形 5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五边形 5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1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-10870"/>
            <a:ext cx="8229600" cy="939546"/>
          </a:xfrm>
        </p:spPr>
        <p:txBody>
          <a:bodyPr>
            <a:normAutofit/>
          </a:bodyPr>
          <a:lstStyle/>
          <a:p>
            <a:pPr algn="l"/>
            <a:r>
              <a:rPr lang="en-US" altLang="zh-CN" sz="3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：变量声明语句的分析树</a:t>
            </a:r>
          </a:p>
        </p:txBody>
      </p:sp>
      <p:sp>
        <p:nvSpPr>
          <p:cNvPr id="62" name="内容占位符 2"/>
          <p:cNvSpPr>
            <a:spLocks noGrp="1"/>
          </p:cNvSpPr>
          <p:nvPr>
            <p:ph idx="1"/>
          </p:nvPr>
        </p:nvSpPr>
        <p:spPr>
          <a:xfrm>
            <a:off x="557242" y="857238"/>
            <a:ext cx="8229600" cy="3823073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文法：</a:t>
            </a:r>
            <a:endParaRPr lang="en-US" altLang="zh-CN" sz="2500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 → &lt;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 &lt;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IDS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&gt;;</a:t>
            </a:r>
          </a:p>
          <a:p>
            <a:pPr lvl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 → </a:t>
            </a:r>
            <a:r>
              <a:rPr lang="en-US" altLang="zh-CN" sz="25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| real | char | </a:t>
            </a:r>
            <a:r>
              <a:rPr lang="en-US" altLang="zh-CN" sz="25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bool</a:t>
            </a:r>
            <a:endParaRPr lang="en-US" altLang="zh-CN" sz="2500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IDS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 → id | &lt;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IDS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&gt;, id </a:t>
            </a:r>
            <a:endParaRPr lang="zh-CN" altLang="en-US" sz="2500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输入：</a:t>
            </a:r>
            <a:endParaRPr lang="en-US" altLang="zh-CN" sz="2500" b="1" dirty="0">
              <a:solidFill>
                <a:schemeClr val="tx1"/>
              </a:solidFill>
              <a:latin typeface="楷体" pitchFamily="49" charset="-122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CN" sz="25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5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;</a:t>
            </a:r>
            <a:endParaRPr lang="zh-CN" altLang="en-US" sz="2500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932040" y="907412"/>
            <a:ext cx="4071966" cy="3588073"/>
            <a:chOff x="3837410" y="2390105"/>
            <a:chExt cx="3025328" cy="2555789"/>
          </a:xfrm>
        </p:grpSpPr>
        <p:sp>
          <p:nvSpPr>
            <p:cNvPr id="64" name="Rectangle 45"/>
            <p:cNvSpPr>
              <a:spLocks noChangeArrowheads="1"/>
            </p:cNvSpPr>
            <p:nvPr/>
          </p:nvSpPr>
          <p:spPr bwMode="auto">
            <a:xfrm>
              <a:off x="5471320" y="3364805"/>
              <a:ext cx="377539" cy="343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zh-CN" altLang="en-US" sz="2500" b="1" dirty="0">
                  <a:latin typeface="Times New Roman" pitchFamily="18" charset="0"/>
                </a:rPr>
                <a:t>，</a:t>
              </a:r>
            </a:p>
          </p:txBody>
        </p:sp>
        <p:sp>
          <p:nvSpPr>
            <p:cNvPr id="65" name="Rectangle 46"/>
            <p:cNvSpPr>
              <a:spLocks noChangeArrowheads="1"/>
            </p:cNvSpPr>
            <p:nvPr/>
          </p:nvSpPr>
          <p:spPr bwMode="auto">
            <a:xfrm>
              <a:off x="6372200" y="2950121"/>
              <a:ext cx="490538" cy="3128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>
                  <a:latin typeface="Times New Roman" pitchFamily="18" charset="0"/>
                </a:rPr>
                <a:t>;</a:t>
              </a:r>
              <a:endParaRPr kumimoji="1" lang="zh-CN" altLang="en-US" sz="2500" b="1" dirty="0">
                <a:latin typeface="Times New Roman" pitchFamily="18" charset="0"/>
              </a:endParaRPr>
            </a:p>
          </p:txBody>
        </p:sp>
        <p:sp>
          <p:nvSpPr>
            <p:cNvPr id="66" name="Line 47"/>
            <p:cNvSpPr>
              <a:spLocks noChangeShapeType="1"/>
            </p:cNvSpPr>
            <p:nvPr/>
          </p:nvSpPr>
          <p:spPr bwMode="auto">
            <a:xfrm flipH="1">
              <a:off x="4932040" y="3219821"/>
              <a:ext cx="648072" cy="216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67" name="Line 48"/>
            <p:cNvSpPr>
              <a:spLocks noChangeShapeType="1"/>
            </p:cNvSpPr>
            <p:nvPr/>
          </p:nvSpPr>
          <p:spPr bwMode="auto">
            <a:xfrm>
              <a:off x="5580112" y="3184624"/>
              <a:ext cx="1588" cy="2512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68" name="Line 49"/>
            <p:cNvSpPr>
              <a:spLocks noChangeShapeType="1"/>
            </p:cNvSpPr>
            <p:nvPr/>
          </p:nvSpPr>
          <p:spPr bwMode="auto">
            <a:xfrm>
              <a:off x="5580112" y="3219822"/>
              <a:ext cx="432048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69" name="Rectangle 51"/>
            <p:cNvSpPr>
              <a:spLocks noChangeArrowheads="1"/>
            </p:cNvSpPr>
            <p:nvPr/>
          </p:nvSpPr>
          <p:spPr bwMode="auto">
            <a:xfrm>
              <a:off x="5326176" y="2390105"/>
              <a:ext cx="581195" cy="34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&lt;</a:t>
              </a:r>
              <a:r>
                <a:rPr kumimoji="1" lang="en-US" altLang="zh-CN" sz="2500" b="1" i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D</a:t>
              </a: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&gt;</a:t>
              </a:r>
            </a:p>
          </p:txBody>
        </p:sp>
        <p:sp>
          <p:nvSpPr>
            <p:cNvPr id="70" name="Rectangle 52"/>
            <p:cNvSpPr>
              <a:spLocks noChangeArrowheads="1"/>
            </p:cNvSpPr>
            <p:nvPr/>
          </p:nvSpPr>
          <p:spPr bwMode="auto">
            <a:xfrm>
              <a:off x="5217384" y="2863220"/>
              <a:ext cx="806290" cy="34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&lt;</a:t>
              </a:r>
              <a:r>
                <a:rPr kumimoji="1" lang="en-US" altLang="zh-CN" sz="2500" b="1" i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IDS</a:t>
              </a: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  <a:ea typeface="楷体_GB2312" pitchFamily="49" charset="-122"/>
                </a:rPr>
                <a:t>&gt;</a:t>
              </a:r>
            </a:p>
          </p:txBody>
        </p:sp>
        <p:sp>
          <p:nvSpPr>
            <p:cNvPr id="71" name="Rectangle 53"/>
            <p:cNvSpPr>
              <a:spLocks noChangeArrowheads="1"/>
            </p:cNvSpPr>
            <p:nvPr/>
          </p:nvSpPr>
          <p:spPr bwMode="auto">
            <a:xfrm>
              <a:off x="4102790" y="4221979"/>
              <a:ext cx="416841" cy="7239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000" b="1" dirty="0">
                  <a:latin typeface="Times New Roman" pitchFamily="18" charset="0"/>
                </a:rPr>
                <a:t> </a:t>
              </a:r>
              <a:r>
                <a:rPr kumimoji="1" lang="en-US" altLang="zh-CN" sz="2500" b="1" dirty="0">
                  <a:latin typeface="Times New Roman" pitchFamily="18" charset="0"/>
                </a:rPr>
                <a:t>id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>
                  <a:latin typeface="Times New Roman" pitchFamily="18" charset="0"/>
                </a:rPr>
                <a:t>(</a:t>
              </a:r>
              <a:r>
                <a:rPr kumimoji="1" lang="en-US" altLang="zh-CN" sz="2500" b="1" i="1" dirty="0">
                  <a:latin typeface="Times New Roman" pitchFamily="18" charset="0"/>
                </a:rPr>
                <a:t>a</a:t>
              </a:r>
              <a:r>
                <a:rPr kumimoji="1" lang="en-US" altLang="zh-CN" sz="2500" b="1" dirty="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72" name="Rectangle 54"/>
            <p:cNvSpPr>
              <a:spLocks noChangeArrowheads="1"/>
            </p:cNvSpPr>
            <p:nvPr/>
          </p:nvSpPr>
          <p:spPr bwMode="auto">
            <a:xfrm>
              <a:off x="3837410" y="2914384"/>
              <a:ext cx="554994" cy="34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</a:rPr>
                <a:t>&lt;</a:t>
              </a:r>
              <a:r>
                <a:rPr kumimoji="1" lang="en-US" altLang="zh-CN" sz="2500" b="1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</a:rPr>
                <a:t>&gt;</a:t>
              </a:r>
            </a:p>
          </p:txBody>
        </p:sp>
        <p:sp>
          <p:nvSpPr>
            <p:cNvPr id="73" name="Line 55"/>
            <p:cNvSpPr>
              <a:spLocks noChangeShapeType="1"/>
            </p:cNvSpPr>
            <p:nvPr/>
          </p:nvSpPr>
          <p:spPr bwMode="auto">
            <a:xfrm flipH="1">
              <a:off x="4139952" y="2715766"/>
              <a:ext cx="1440160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74" name="Line 56"/>
            <p:cNvSpPr>
              <a:spLocks noChangeShapeType="1"/>
            </p:cNvSpPr>
            <p:nvPr/>
          </p:nvSpPr>
          <p:spPr bwMode="auto">
            <a:xfrm>
              <a:off x="5580112" y="2715766"/>
              <a:ext cx="864096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75" name="Rectangle 57"/>
            <p:cNvSpPr>
              <a:spLocks noChangeArrowheads="1"/>
            </p:cNvSpPr>
            <p:nvPr/>
          </p:nvSpPr>
          <p:spPr bwMode="auto">
            <a:xfrm>
              <a:off x="4572000" y="3407813"/>
              <a:ext cx="806290" cy="34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</a:rPr>
                <a:t>&lt;</a:t>
              </a:r>
              <a:r>
                <a:rPr kumimoji="1" lang="en-US" altLang="zh-CN" sz="2500" b="1" i="1" dirty="0">
                  <a:solidFill>
                    <a:srgbClr val="FF0000"/>
                  </a:solidFill>
                  <a:latin typeface="Times New Roman" pitchFamily="18" charset="0"/>
                </a:rPr>
                <a:t>IDS</a:t>
              </a: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</a:rPr>
                <a:t>&gt;</a:t>
              </a:r>
            </a:p>
          </p:txBody>
        </p:sp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5876872" y="3418384"/>
              <a:ext cx="403741" cy="7239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sz="2500" b="1" dirty="0">
                  <a:latin typeface="Times New Roman" pitchFamily="18" charset="0"/>
                </a:rPr>
                <a:t> id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sz="2500" b="1" dirty="0">
                  <a:latin typeface="Times New Roman" pitchFamily="18" charset="0"/>
                </a:rPr>
                <a:t>(</a:t>
              </a:r>
              <a:r>
                <a:rPr kumimoji="1" lang="en-US" altLang="zh-CN" sz="2500" b="1" i="1" dirty="0">
                  <a:latin typeface="Times New Roman" pitchFamily="18" charset="0"/>
                </a:rPr>
                <a:t>c</a:t>
              </a:r>
              <a:r>
                <a:rPr kumimoji="1" lang="en-US" altLang="zh-CN" sz="2500" b="1" dirty="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77" name="Line 59"/>
            <p:cNvSpPr>
              <a:spLocks noChangeShapeType="1"/>
            </p:cNvSpPr>
            <p:nvPr/>
          </p:nvSpPr>
          <p:spPr bwMode="auto">
            <a:xfrm flipH="1">
              <a:off x="5580112" y="2715766"/>
              <a:ext cx="0" cy="2059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78" name="Line 60"/>
            <p:cNvSpPr>
              <a:spLocks noChangeShapeType="1"/>
            </p:cNvSpPr>
            <p:nvPr/>
          </p:nvSpPr>
          <p:spPr bwMode="auto">
            <a:xfrm flipH="1">
              <a:off x="4139952" y="3219152"/>
              <a:ext cx="0" cy="2166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79" name="Rectangle 61"/>
            <p:cNvSpPr>
              <a:spLocks noChangeArrowheads="1"/>
            </p:cNvSpPr>
            <p:nvPr/>
          </p:nvSpPr>
          <p:spPr bwMode="auto">
            <a:xfrm>
              <a:off x="3943562" y="3407813"/>
              <a:ext cx="416841" cy="34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 err="1">
                  <a:latin typeface="Times New Roman" pitchFamily="18" charset="0"/>
                </a:rPr>
                <a:t>int</a:t>
              </a:r>
              <a:endParaRPr kumimoji="1" lang="en-US" altLang="zh-CN" sz="2500" b="1" dirty="0">
                <a:latin typeface="Times New Roman" pitchFamily="18" charset="0"/>
              </a:endParaRPr>
            </a:p>
          </p:txBody>
        </p:sp>
        <p:sp>
          <p:nvSpPr>
            <p:cNvPr id="80" name="Rectangle 62"/>
            <p:cNvSpPr>
              <a:spLocks noChangeArrowheads="1"/>
            </p:cNvSpPr>
            <p:nvPr/>
          </p:nvSpPr>
          <p:spPr bwMode="auto">
            <a:xfrm>
              <a:off x="4834409" y="3795812"/>
              <a:ext cx="377539" cy="343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zh-CN" altLang="en-US" sz="2500" b="1" dirty="0">
                  <a:latin typeface="Times New Roman" pitchFamily="18" charset="0"/>
                </a:rPr>
                <a:t>，</a:t>
              </a:r>
            </a:p>
          </p:txBody>
        </p:sp>
        <p:sp>
          <p:nvSpPr>
            <p:cNvPr id="81" name="Line 63"/>
            <p:cNvSpPr>
              <a:spLocks noChangeShapeType="1"/>
            </p:cNvSpPr>
            <p:nvPr/>
          </p:nvSpPr>
          <p:spPr bwMode="auto">
            <a:xfrm flipH="1">
              <a:off x="4283596" y="3723878"/>
              <a:ext cx="648444" cy="1255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82" name="Line 64"/>
            <p:cNvSpPr>
              <a:spLocks noChangeShapeType="1"/>
            </p:cNvSpPr>
            <p:nvPr/>
          </p:nvSpPr>
          <p:spPr bwMode="auto">
            <a:xfrm>
              <a:off x="4932040" y="3723878"/>
              <a:ext cx="1588" cy="1790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4932040" y="3723878"/>
              <a:ext cx="432048" cy="144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84" name="Line 66"/>
            <p:cNvSpPr>
              <a:spLocks noChangeShapeType="1"/>
            </p:cNvSpPr>
            <p:nvPr/>
          </p:nvSpPr>
          <p:spPr bwMode="auto">
            <a:xfrm flipH="1">
              <a:off x="4283596" y="4098230"/>
              <a:ext cx="0" cy="1833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/>
            </a:p>
          </p:txBody>
        </p:sp>
        <p:sp>
          <p:nvSpPr>
            <p:cNvPr id="85" name="Rectangle 68"/>
            <p:cNvSpPr>
              <a:spLocks noChangeArrowheads="1"/>
            </p:cNvSpPr>
            <p:nvPr/>
          </p:nvSpPr>
          <p:spPr bwMode="auto">
            <a:xfrm>
              <a:off x="3907573" y="3789518"/>
              <a:ext cx="806290" cy="3458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</a:rPr>
                <a:t>&lt;</a:t>
              </a:r>
              <a:r>
                <a:rPr kumimoji="1" lang="en-US" altLang="zh-CN" sz="2500" b="1" i="1" dirty="0">
                  <a:solidFill>
                    <a:srgbClr val="FF0000"/>
                  </a:solidFill>
                  <a:latin typeface="Times New Roman" pitchFamily="18" charset="0"/>
                </a:rPr>
                <a:t>IDS</a:t>
              </a:r>
              <a:r>
                <a:rPr kumimoji="1" lang="en-US" altLang="zh-CN" sz="2500" b="1" dirty="0">
                  <a:solidFill>
                    <a:srgbClr val="FF0000"/>
                  </a:solidFill>
                  <a:latin typeface="Times New Roman" pitchFamily="18" charset="0"/>
                </a:rPr>
                <a:t>&gt;</a:t>
              </a:r>
            </a:p>
          </p:txBody>
        </p:sp>
        <p:sp>
          <p:nvSpPr>
            <p:cNvPr id="86" name="Rectangle 69"/>
            <p:cNvSpPr>
              <a:spLocks noChangeArrowheads="1"/>
            </p:cNvSpPr>
            <p:nvPr/>
          </p:nvSpPr>
          <p:spPr bwMode="auto">
            <a:xfrm>
              <a:off x="5164308" y="3850580"/>
              <a:ext cx="429943" cy="7239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sz="2500" b="1" dirty="0">
                  <a:latin typeface="Times New Roman" pitchFamily="18" charset="0"/>
                </a:rPr>
                <a:t> id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sz="2500" b="1" dirty="0">
                  <a:latin typeface="Times New Roman" pitchFamily="18" charset="0"/>
                </a:rPr>
                <a:t>(</a:t>
              </a:r>
              <a:r>
                <a:rPr kumimoji="1" lang="en-US" altLang="zh-CN" sz="2500" b="1" i="1" dirty="0">
                  <a:latin typeface="Times New Roman" pitchFamily="18" charset="0"/>
                </a:rPr>
                <a:t>b</a:t>
              </a:r>
              <a:r>
                <a:rPr kumimoji="1" lang="en-US" altLang="zh-CN" sz="2500" b="1" dirty="0"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87" name="AutoShape 73"/>
          <p:cNvSpPr>
            <a:spLocks noChangeArrowheads="1"/>
          </p:cNvSpPr>
          <p:nvPr/>
        </p:nvSpPr>
        <p:spPr bwMode="auto">
          <a:xfrm>
            <a:off x="557242" y="3651870"/>
            <a:ext cx="4772076" cy="1355567"/>
          </a:xfrm>
          <a:prstGeom prst="cloudCallout">
            <a:avLst>
              <a:gd name="adj1" fmla="val -3555"/>
              <a:gd name="adj2" fmla="val -116084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500" b="1" kern="0" dirty="0">
                <a:latin typeface="楷体" pitchFamily="49" charset="-122"/>
                <a:ea typeface="楷体" pitchFamily="49" charset="-122"/>
              </a:rPr>
              <a:t>如何根据语法规则为输入句子构造分析树？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3851920" y="11631"/>
            <a:ext cx="2221826" cy="5117606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Rectangle 42"/>
          <p:cNvSpPr>
            <a:spLocks noChangeArrowheads="1"/>
          </p:cNvSpPr>
          <p:nvPr/>
        </p:nvSpPr>
        <p:spPr bwMode="auto">
          <a:xfrm>
            <a:off x="3978613" y="1695670"/>
            <a:ext cx="1961539" cy="40391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00034" y="843558"/>
            <a:ext cx="7200915" cy="3226273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Times New Roman"/>
              </a:rPr>
              <a:t>收集标识符的属性信息                                                                                      </a:t>
            </a:r>
            <a:endParaRPr lang="en-US" altLang="zh-CN" sz="3000" b="1" dirty="0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" name="内容占位符 1"/>
          <p:cNvSpPr txBox="1">
            <a:spLocks/>
          </p:cNvSpPr>
          <p:nvPr/>
        </p:nvSpPr>
        <p:spPr>
          <a:xfrm>
            <a:off x="1071538" y="1783815"/>
            <a:ext cx="7200915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简单变量、复合变量（数组、记录、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…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）、过程、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…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内容占位符 1"/>
          <p:cNvSpPr txBox="1">
            <a:spLocks/>
          </p:cNvSpPr>
          <p:nvPr/>
        </p:nvSpPr>
        <p:spPr>
          <a:xfrm>
            <a:off x="804834" y="1343624"/>
            <a:ext cx="7200915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种属</a:t>
            </a:r>
            <a:r>
              <a:rPr kumimoji="0" lang="zh-CN" altLang="en-US" sz="25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(Kind)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6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8397" y="1772252"/>
            <a:ext cx="6359619" cy="3226273"/>
          </a:xfrm>
        </p:spPr>
        <p:txBody>
          <a:bodyPr>
            <a:normAutofit/>
          </a:bodyPr>
          <a:lstStyle/>
          <a:p>
            <a:pPr lvl="1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类型 </a:t>
            </a:r>
            <a:r>
              <a:rPr lang="en-US" altLang="zh-CN" sz="2500" b="1" dirty="0">
                <a:solidFill>
                  <a:schemeClr val="tx1"/>
                </a:solidFill>
                <a:ea typeface="楷体_GB2312" pitchFamily="49" charset="-122"/>
              </a:rPr>
              <a:t>(Type)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整型、实型、字符型、布尔型、指针型、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…</a:t>
            </a: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5" name="内容占位符 1"/>
          <p:cNvSpPr txBox="1">
            <a:spLocks/>
          </p:cNvSpPr>
          <p:nvPr/>
        </p:nvSpPr>
        <p:spPr>
          <a:xfrm>
            <a:off x="500034" y="843558"/>
            <a:ext cx="7200915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lvl="0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0" name="五边形 9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五边形 1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内容占位符 1"/>
          <p:cNvSpPr txBox="1">
            <a:spLocks/>
          </p:cNvSpPr>
          <p:nvPr/>
        </p:nvSpPr>
        <p:spPr>
          <a:xfrm>
            <a:off x="804834" y="1343624"/>
            <a:ext cx="7200915" cy="151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种属</a:t>
            </a:r>
            <a:r>
              <a:rPr kumimoji="0" lang="zh-CN" altLang="en-US" sz="25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(Kind)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6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8397" y="2200880"/>
            <a:ext cx="6359619" cy="1952207"/>
          </a:xfrm>
        </p:spPr>
        <p:txBody>
          <a:bodyPr>
            <a:normAutofit/>
          </a:bodyPr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存储位置、长度</a:t>
            </a:r>
          </a:p>
          <a:p>
            <a:pPr lvl="1"/>
            <a:endParaRPr lang="en-US" altLang="zh-CN" sz="1600" b="1" dirty="0">
              <a:solidFill>
                <a:srgbClr val="073E87"/>
              </a:solidFill>
              <a:ea typeface="楷体_GB2312" pitchFamily="49" charset="-122"/>
            </a:endParaRP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1128701" y="2712509"/>
            <a:ext cx="1800225" cy="1847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 b="1" baseline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ts val="2000"/>
              </a:lnSpc>
              <a:buFont typeface="Wingdings" pitchFamily="2" charset="2"/>
              <a:buNone/>
              <a:defRPr/>
            </a:pPr>
            <a:r>
              <a:rPr lang="zh-CN" altLang="en-US" sz="2000" dirty="0"/>
              <a:t>例：</a:t>
            </a:r>
            <a:endParaRPr lang="en-US" altLang="zh-CN" sz="2000" dirty="0"/>
          </a:p>
          <a:p>
            <a:pPr>
              <a:lnSpc>
                <a:spcPts val="2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dirty="0">
                <a:cs typeface="Times New Roman" pitchFamily="18" charset="0"/>
              </a:rPr>
              <a:t>begin</a:t>
            </a:r>
          </a:p>
          <a:p>
            <a:pPr>
              <a:lnSpc>
                <a:spcPts val="2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dirty="0">
                <a:cs typeface="Times New Roman" pitchFamily="18" charset="0"/>
              </a:rPr>
              <a:t>	real  </a:t>
            </a:r>
            <a:r>
              <a:rPr kumimoji="1" lang="en-US" altLang="zh-CN" sz="2000" i="1" dirty="0">
                <a:cs typeface="Times New Roman" pitchFamily="18" charset="0"/>
              </a:rPr>
              <a:t>x</a:t>
            </a:r>
            <a:r>
              <a:rPr kumimoji="1" lang="en-US" altLang="zh-CN" sz="2000" dirty="0">
                <a:cs typeface="Times New Roman" pitchFamily="18" charset="0"/>
              </a:rPr>
              <a:t>[8];</a:t>
            </a:r>
          </a:p>
          <a:p>
            <a:pPr>
              <a:lnSpc>
                <a:spcPts val="2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dirty="0">
                <a:cs typeface="Times New Roman" pitchFamily="18" charset="0"/>
              </a:rPr>
              <a:t>	integer  </a:t>
            </a:r>
            <a:r>
              <a:rPr kumimoji="1" lang="en-US" altLang="zh-CN" sz="2000" i="1" dirty="0">
                <a:cs typeface="Times New Roman" pitchFamily="18" charset="0"/>
              </a:rPr>
              <a:t>i</a:t>
            </a:r>
            <a:r>
              <a:rPr kumimoji="1" lang="en-US" altLang="zh-CN" sz="2000" dirty="0">
                <a:cs typeface="Times New Roman" pitchFamily="18" charset="0"/>
              </a:rPr>
              <a:t>, </a:t>
            </a:r>
            <a:r>
              <a:rPr kumimoji="1" lang="en-US" altLang="zh-CN" sz="2000" i="1" dirty="0">
                <a:cs typeface="Times New Roman" pitchFamily="18" charset="0"/>
              </a:rPr>
              <a:t>j</a:t>
            </a:r>
            <a:r>
              <a:rPr kumimoji="1" lang="en-US" altLang="zh-CN" sz="2000" dirty="0">
                <a:cs typeface="Times New Roman" pitchFamily="18" charset="0"/>
              </a:rPr>
              <a:t>;</a:t>
            </a:r>
          </a:p>
          <a:p>
            <a:pPr marL="0" indent="0">
              <a:lnSpc>
                <a:spcPts val="2000"/>
              </a:lnSpc>
              <a:buFont typeface="Wingdings" pitchFamily="2" charset="2"/>
              <a:buNone/>
              <a:defRPr/>
            </a:pPr>
            <a:r>
              <a:rPr kumimoji="1" lang="en-US" altLang="zh-CN" sz="2000" dirty="0">
                <a:cs typeface="Times New Roman" pitchFamily="18" charset="0"/>
              </a:rPr>
              <a:t>     ……</a:t>
            </a:r>
          </a:p>
          <a:p>
            <a:pPr marL="0" indent="0">
              <a:lnSpc>
                <a:spcPts val="2000"/>
              </a:lnSpc>
              <a:buFont typeface="Wingdings" pitchFamily="2" charset="2"/>
              <a:buNone/>
              <a:defRPr/>
            </a:pPr>
            <a:r>
              <a:rPr kumimoji="1" lang="en-US" altLang="zh-CN" sz="2000" dirty="0">
                <a:cs typeface="Times New Roman" pitchFamily="18" charset="0"/>
              </a:rPr>
              <a:t>end</a:t>
            </a:r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9" name="内容占位符 1"/>
          <p:cNvSpPr txBox="1">
            <a:spLocks/>
          </p:cNvSpPr>
          <p:nvPr/>
        </p:nvSpPr>
        <p:spPr>
          <a:xfrm>
            <a:off x="500034" y="843558"/>
            <a:ext cx="7200915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lvl="0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967707"/>
              </p:ext>
            </p:extLst>
          </p:nvPr>
        </p:nvGraphicFramePr>
        <p:xfrm>
          <a:off x="3131840" y="3228775"/>
          <a:ext cx="2015369" cy="1286784"/>
        </p:xfrm>
        <a:graphic>
          <a:graphicData uri="http://schemas.openxmlformats.org/drawingml/2006/table">
            <a:tbl>
              <a:tblPr/>
              <a:tblGrid>
                <a:gridCol w="800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名字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相对地址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0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4" marR="91424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4" marR="91424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0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4" marR="91424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64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4" marR="91424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0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j</a:t>
                      </a: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4" marR="91424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68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91424" marR="91424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标题 2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7" name="内容占位符 1"/>
          <p:cNvSpPr txBox="1">
            <a:spLocks/>
          </p:cNvSpPr>
          <p:nvPr/>
        </p:nvSpPr>
        <p:spPr>
          <a:xfrm>
            <a:off x="498397" y="1772252"/>
            <a:ext cx="6359619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6263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类型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(Type)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" name="内容占位符 1"/>
          <p:cNvSpPr txBox="1">
            <a:spLocks/>
          </p:cNvSpPr>
          <p:nvPr/>
        </p:nvSpPr>
        <p:spPr>
          <a:xfrm>
            <a:off x="804834" y="1343624"/>
            <a:ext cx="7200915" cy="151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种属</a:t>
            </a:r>
            <a:r>
              <a:rPr kumimoji="0" lang="zh-CN" altLang="en-US" sz="25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(Kind)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9" name="组合 36"/>
          <p:cNvGrpSpPr/>
          <p:nvPr/>
        </p:nvGrpSpPr>
        <p:grpSpPr>
          <a:xfrm>
            <a:off x="6059171" y="1315748"/>
            <a:ext cx="1127048" cy="3175462"/>
            <a:chOff x="6059171" y="1532179"/>
            <a:chExt cx="1127048" cy="3175462"/>
          </a:xfrm>
        </p:grpSpPr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6078099" y="1532179"/>
              <a:ext cx="1108120" cy="31754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>
                <a:lnSpc>
                  <a:spcPts val="2500"/>
                </a:lnSpc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kumimoji="1" lang="en-US" altLang="zh-CN" sz="2400" dirty="0">
                  <a:latin typeface="Times New Roman" pitchFamily="18" charset="0"/>
                  <a:cs typeface="Times New Roman" pitchFamily="18" charset="0"/>
                </a:rPr>
                <a:t>[0]</a:t>
              </a:r>
            </a:p>
            <a:p>
              <a:pPr algn="ctr">
                <a:lnSpc>
                  <a:spcPts val="2500"/>
                </a:lnSpc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kumimoji="1" lang="en-US" altLang="zh-CN" sz="2400" dirty="0">
                  <a:latin typeface="Times New Roman" pitchFamily="18" charset="0"/>
                  <a:cs typeface="Times New Roman" pitchFamily="18" charset="0"/>
                </a:rPr>
                <a:t>[1]</a:t>
              </a:r>
            </a:p>
            <a:p>
              <a:pPr algn="ctr">
                <a:lnSpc>
                  <a:spcPts val="1800"/>
                </a:lnSpc>
                <a:spcBef>
                  <a:spcPct val="50000"/>
                </a:spcBef>
              </a:pPr>
              <a:endParaRPr kumimoji="1" lang="en-US" altLang="zh-CN" sz="2400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lnSpc>
                  <a:spcPts val="2500"/>
                </a:lnSpc>
                <a:spcBef>
                  <a:spcPct val="50000"/>
                </a:spcBef>
              </a:pPr>
              <a:r>
                <a:rPr kumimoji="1" lang="en-US" altLang="zh-CN" sz="2400" dirty="0">
                  <a:latin typeface="Times New Roman" pitchFamily="18" charset="0"/>
                  <a:cs typeface="Times New Roman" pitchFamily="18" charset="0"/>
                </a:rPr>
                <a:t>……</a:t>
              </a:r>
            </a:p>
            <a:p>
              <a:pPr algn="ctr">
                <a:lnSpc>
                  <a:spcPts val="2500"/>
                </a:lnSpc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kumimoji="1" lang="en-US" altLang="zh-CN" sz="2400" dirty="0">
                  <a:latin typeface="Times New Roman" pitchFamily="18" charset="0"/>
                  <a:cs typeface="Times New Roman" pitchFamily="18" charset="0"/>
                </a:rPr>
                <a:t>[7]</a:t>
              </a:r>
            </a:p>
            <a:p>
              <a:pPr algn="ctr">
                <a:lnSpc>
                  <a:spcPts val="1800"/>
                </a:lnSpc>
                <a:spcBef>
                  <a:spcPct val="50000"/>
                </a:spcBef>
              </a:pPr>
              <a:r>
                <a:rPr kumimoji="1" lang="en-US" altLang="zh-CN" sz="2400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kumimoji="1" lang="en-US" altLang="zh-CN" sz="2400" i="1" dirty="0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lnSpc>
                  <a:spcPts val="1800"/>
                </a:lnSpc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itchFamily="18" charset="0"/>
                  <a:cs typeface="Times New Roman" pitchFamily="18" charset="0"/>
                </a:rPr>
                <a:t>j</a:t>
              </a: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6078099" y="2031310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6078099" y="2468050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6078099" y="2904790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6078099" y="3403921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6078099" y="3840661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3"/>
            <p:cNvSpPr>
              <a:spLocks noChangeShapeType="1"/>
            </p:cNvSpPr>
            <p:nvPr/>
          </p:nvSpPr>
          <p:spPr bwMode="auto">
            <a:xfrm>
              <a:off x="6059171" y="4239574"/>
              <a:ext cx="1108120" cy="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组合 38"/>
          <p:cNvGrpSpPr/>
          <p:nvPr/>
        </p:nvGrpSpPr>
        <p:grpSpPr>
          <a:xfrm>
            <a:off x="5724128" y="1275199"/>
            <a:ext cx="389850" cy="3024336"/>
            <a:chOff x="5724128" y="1491630"/>
            <a:chExt cx="389850" cy="3024336"/>
          </a:xfrm>
        </p:grpSpPr>
        <p:sp>
          <p:nvSpPr>
            <p:cNvPr id="33" name="矩形 32"/>
            <p:cNvSpPr/>
            <p:nvPr/>
          </p:nvSpPr>
          <p:spPr>
            <a:xfrm>
              <a:off x="5724128" y="4177412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68</a:t>
              </a:r>
              <a:endPara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5790023" y="1491630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796136" y="1945164"/>
              <a:ext cx="2872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endPara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724128" y="3313316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56</a:t>
              </a:r>
              <a:endPara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5724128" y="3795886"/>
              <a:ext cx="3898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16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64</a:t>
              </a:r>
              <a:endPara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18" name="组合 37"/>
          <p:cNvGrpSpPr/>
          <p:nvPr/>
        </p:nvGrpSpPr>
        <p:grpSpPr>
          <a:xfrm>
            <a:off x="5147209" y="1315747"/>
            <a:ext cx="907359" cy="3055796"/>
            <a:chOff x="5147209" y="1532178"/>
            <a:chExt cx="907359" cy="3055796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V="1">
              <a:off x="5652120" y="1532178"/>
              <a:ext cx="40244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5724127" y="3828209"/>
              <a:ext cx="330439" cy="75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V="1">
              <a:off x="5743055" y="4238771"/>
              <a:ext cx="31151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7" name="直接连接符 16"/>
            <p:cNvCxnSpPr>
              <a:stCxn id="6" idx="0"/>
            </p:cNvCxnSpPr>
            <p:nvPr/>
          </p:nvCxnSpPr>
          <p:spPr>
            <a:xfrm flipH="1">
              <a:off x="5147209" y="1532179"/>
              <a:ext cx="504911" cy="240871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7" idx="0"/>
            </p:cNvCxnSpPr>
            <p:nvPr/>
          </p:nvCxnSpPr>
          <p:spPr>
            <a:xfrm flipH="1">
              <a:off x="5148065" y="3828209"/>
              <a:ext cx="576062" cy="471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>
              <a:off x="5148065" y="4238771"/>
              <a:ext cx="618426" cy="34920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326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5547" y="3100479"/>
            <a:ext cx="7505477" cy="1397980"/>
          </a:xfrm>
        </p:spPr>
        <p:txBody>
          <a:bodyPr>
            <a:normAutofit/>
          </a:bodyPr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作用域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/>
              </a:rPr>
              <a:t>参数和返回值信息</a:t>
            </a:r>
            <a:endParaRPr lang="en-US" altLang="zh-CN" sz="2500" b="1" dirty="0">
              <a:solidFill>
                <a:schemeClr val="tx1"/>
              </a:solidFill>
              <a:latin typeface="Times New Roman"/>
            </a:endParaRPr>
          </a:p>
          <a:p>
            <a:pPr lvl="2"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Times New Roman"/>
              </a:rPr>
              <a:t>参数个数、参数类型、参数传递方式、返回值类型、</a:t>
            </a:r>
            <a:r>
              <a:rPr lang="en-US" altLang="zh-CN" b="1" dirty="0">
                <a:solidFill>
                  <a:srgbClr val="073E87"/>
                </a:solidFill>
                <a:latin typeface="Times New Roman"/>
              </a:rPr>
              <a:t>…</a:t>
            </a:r>
          </a:p>
          <a:p>
            <a:pPr lvl="1"/>
            <a:endParaRPr lang="en-US" altLang="zh-CN" sz="1600" b="1" dirty="0">
              <a:solidFill>
                <a:srgbClr val="073E87"/>
              </a:solidFill>
              <a:ea typeface="楷体_GB2312" pitchFamily="49" charset="-122"/>
            </a:endParaRP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五边形 1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内容占位符 1"/>
          <p:cNvSpPr txBox="1">
            <a:spLocks/>
          </p:cNvSpPr>
          <p:nvPr/>
        </p:nvSpPr>
        <p:spPr>
          <a:xfrm>
            <a:off x="498397" y="2200880"/>
            <a:ext cx="6359619" cy="1234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6263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存储位置、长度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576263" lvl="1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latin typeface="楷体" pitchFamily="49" charset="-122"/>
                <a:ea typeface="+mn-ea"/>
              </a:rPr>
              <a:t>值</a:t>
            </a:r>
            <a:endParaRPr lang="en-US" altLang="zh-CN" sz="2500" b="1" dirty="0">
              <a:latin typeface="楷体" pitchFamily="49" charset="-122"/>
              <a:ea typeface="+mn-ea"/>
            </a:endParaRPr>
          </a:p>
          <a:p>
            <a:pPr marL="576263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301943"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内容占位符 1"/>
          <p:cNvSpPr txBox="1">
            <a:spLocks/>
          </p:cNvSpPr>
          <p:nvPr/>
        </p:nvSpPr>
        <p:spPr>
          <a:xfrm>
            <a:off x="500034" y="843558"/>
            <a:ext cx="7200915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lvl="0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" name="内容占位符 1"/>
          <p:cNvSpPr txBox="1">
            <a:spLocks/>
          </p:cNvSpPr>
          <p:nvPr/>
        </p:nvSpPr>
        <p:spPr>
          <a:xfrm>
            <a:off x="498397" y="1772252"/>
            <a:ext cx="6359619" cy="2797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6263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类型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(Type)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7" name="内容占位符 1"/>
          <p:cNvSpPr txBox="1">
            <a:spLocks/>
          </p:cNvSpPr>
          <p:nvPr/>
        </p:nvSpPr>
        <p:spPr>
          <a:xfrm>
            <a:off x="804834" y="1343624"/>
            <a:ext cx="7200915" cy="151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种属</a:t>
            </a:r>
            <a:r>
              <a:rPr kumimoji="0" lang="zh-CN" altLang="en-US" sz="25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(Kind)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6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"/>
          <p:cNvSpPr txBox="1">
            <a:spLocks/>
          </p:cNvSpPr>
          <p:nvPr/>
        </p:nvSpPr>
        <p:spPr>
          <a:xfrm>
            <a:off x="498397" y="2200880"/>
            <a:ext cx="6359619" cy="1933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6263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存储位置、长度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+mn-ea"/>
              <a:cs typeface="+mn-cs"/>
            </a:endParaRPr>
          </a:p>
          <a:p>
            <a:pPr marL="576263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lang="zh-CN" altLang="en-US" sz="2500" b="1" dirty="0">
                <a:latin typeface="楷体" pitchFamily="49" charset="-122"/>
                <a:ea typeface="+mn-ea"/>
              </a:rPr>
              <a:t>值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73E87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 pitchFamily="18" charset="2"/>
              <a:buChar char=""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5547" y="3100479"/>
            <a:ext cx="7505477" cy="1034358"/>
          </a:xfrm>
        </p:spPr>
        <p:txBody>
          <a:bodyPr>
            <a:normAutofit/>
          </a:bodyPr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作用域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/>
              </a:rPr>
              <a:t>参数和返回值信息</a:t>
            </a:r>
            <a:endParaRPr lang="en-US" altLang="zh-CN" sz="2500" b="1" dirty="0">
              <a:solidFill>
                <a:schemeClr val="tx1"/>
              </a:solidFill>
              <a:latin typeface="Times New Roman"/>
            </a:endParaRPr>
          </a:p>
          <a:p>
            <a:pPr lvl="1"/>
            <a:endParaRPr lang="en-US" altLang="zh-CN" sz="1600" b="1" dirty="0">
              <a:solidFill>
                <a:srgbClr val="073E87"/>
              </a:solidFill>
              <a:ea typeface="楷体_GB2312" pitchFamily="49" charset="-122"/>
            </a:endParaRP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五边形 1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5" name="内容占位符 1"/>
          <p:cNvSpPr txBox="1">
            <a:spLocks/>
          </p:cNvSpPr>
          <p:nvPr/>
        </p:nvSpPr>
        <p:spPr>
          <a:xfrm>
            <a:off x="500034" y="843558"/>
            <a:ext cx="7200915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lvl="0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" name="内容占位符 1"/>
          <p:cNvSpPr txBox="1">
            <a:spLocks/>
          </p:cNvSpPr>
          <p:nvPr/>
        </p:nvSpPr>
        <p:spPr>
          <a:xfrm>
            <a:off x="498397" y="1772252"/>
            <a:ext cx="6359619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6263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类型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(Type)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7" name="内容占位符 1"/>
          <p:cNvSpPr txBox="1">
            <a:spLocks/>
          </p:cNvSpPr>
          <p:nvPr/>
        </p:nvSpPr>
        <p:spPr>
          <a:xfrm>
            <a:off x="804834" y="1343624"/>
            <a:ext cx="7200915" cy="151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种属</a:t>
            </a:r>
            <a:r>
              <a:rPr kumimoji="0" lang="zh-CN" altLang="en-US" sz="25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+mn-ea"/>
                <a:cs typeface="+mn-cs"/>
              </a:rPr>
              <a:t> 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(Kind)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881291" y="1481931"/>
            <a:ext cx="20676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符号表</a:t>
            </a:r>
            <a:r>
              <a:rPr lang="en-US" altLang="zh-CN" sz="1400" b="1" dirty="0">
                <a:latin typeface="楷体" pitchFamily="49" charset="-122"/>
              </a:rPr>
              <a:t>(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Table)</a:t>
            </a:r>
            <a:endParaRPr lang="zh-CN" altLang="en-US" b="1" dirty="0"/>
          </a:p>
        </p:txBody>
      </p:sp>
      <p:sp>
        <p:nvSpPr>
          <p:cNvPr id="20" name="矩形 19"/>
          <p:cNvSpPr/>
          <p:nvPr/>
        </p:nvSpPr>
        <p:spPr>
          <a:xfrm>
            <a:off x="3758210" y="4434259"/>
            <a:ext cx="513427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符号表是用于存放标识符的属性信息的数据结构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758210" y="1643056"/>
            <a:ext cx="5488374" cy="2965409"/>
            <a:chOff x="3758210" y="1643056"/>
            <a:chExt cx="5488374" cy="2965409"/>
          </a:xfrm>
        </p:grpSpPr>
        <p:pic>
          <p:nvPicPr>
            <p:cNvPr id="18" name="Picture 2" descr="E:\工大编译\ppt\图片3副本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758210" y="1643056"/>
              <a:ext cx="5488374" cy="2965409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/>
          </p:nvSpPr>
          <p:spPr>
            <a:xfrm>
              <a:off x="3851920" y="2200880"/>
              <a:ext cx="360040" cy="13069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3880976" y="3435846"/>
              <a:ext cx="5184576" cy="961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4265232" y="2096357"/>
              <a:ext cx="1152128" cy="2479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SIMPLE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283968" y="2355727"/>
              <a:ext cx="1152128" cy="233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SYMBLE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305670" y="2616224"/>
              <a:ext cx="1152128" cy="218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TABLE</a:t>
              </a:r>
              <a:endPara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4305669" y="2864614"/>
              <a:ext cx="929777" cy="214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4383253" y="3131978"/>
              <a:ext cx="929777" cy="2470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88024" y="2864614"/>
              <a:ext cx="204572" cy="2301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064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"/>
          <p:cNvSpPr txBox="1">
            <a:spLocks/>
          </p:cNvSpPr>
          <p:nvPr/>
        </p:nvSpPr>
        <p:spPr>
          <a:xfrm>
            <a:off x="498397" y="2200880"/>
            <a:ext cx="6359619" cy="1933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6263" lvl="1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存储位置、长度</a:t>
            </a:r>
            <a:endParaRPr lang="en-US" altLang="zh-CN" sz="2500" b="1" dirty="0">
              <a:solidFill>
                <a:prstClr val="black"/>
              </a:solidFill>
              <a:latin typeface="楷体" pitchFamily="49" charset="-122"/>
              <a:ea typeface="华文楷体" panose="02010600040101010101" pitchFamily="2" charset="-122"/>
            </a:endParaRPr>
          </a:p>
          <a:p>
            <a:pPr marL="576263" lvl="1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值</a:t>
            </a:r>
            <a:endParaRPr lang="en-US" altLang="zh-CN" sz="1600" b="1" dirty="0">
              <a:solidFill>
                <a:srgbClr val="073E87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Clr>
                <a:srgbClr val="31B6FD"/>
              </a:buClr>
              <a:buSzPct val="100000"/>
              <a:buFont typeface="Symbol" pitchFamily="18" charset="2"/>
              <a:buChar char=""/>
              <a:defRPr/>
            </a:pPr>
            <a:endParaRPr lang="zh-CN" altLang="en-US" sz="2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5547" y="3100479"/>
            <a:ext cx="7505477" cy="1034358"/>
          </a:xfrm>
        </p:spPr>
        <p:txBody>
          <a:bodyPr>
            <a:normAutofit/>
          </a:bodyPr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作用域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Times New Roman"/>
              </a:rPr>
              <a:t>参数和返回值信息</a:t>
            </a:r>
            <a:endParaRPr lang="en-US" altLang="zh-CN" sz="2500" b="1" dirty="0">
              <a:solidFill>
                <a:schemeClr val="tx1"/>
              </a:solidFill>
              <a:latin typeface="Times New Roman"/>
            </a:endParaRPr>
          </a:p>
          <a:p>
            <a:pPr lvl="1"/>
            <a:endParaRPr lang="en-US" altLang="zh-CN" sz="1600" b="1" dirty="0">
              <a:solidFill>
                <a:srgbClr val="073E87"/>
              </a:solidFill>
              <a:ea typeface="楷体_GB2312" pitchFamily="49" charset="-122"/>
            </a:endParaRP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2" name="五边形 1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五边形 1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5" name="内容占位符 1"/>
          <p:cNvSpPr txBox="1">
            <a:spLocks/>
          </p:cNvSpPr>
          <p:nvPr/>
        </p:nvSpPr>
        <p:spPr>
          <a:xfrm>
            <a:off x="500034" y="843558"/>
            <a:ext cx="7200915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lang="zh-CN" altLang="en-US" sz="3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6" name="内容占位符 1"/>
          <p:cNvSpPr txBox="1">
            <a:spLocks/>
          </p:cNvSpPr>
          <p:nvPr/>
        </p:nvSpPr>
        <p:spPr>
          <a:xfrm>
            <a:off x="498397" y="1772252"/>
            <a:ext cx="6359619" cy="322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6263" lvl="1" indent="-274320" fontAlgn="auto"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类型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(Type)</a:t>
            </a:r>
            <a:endParaRPr lang="zh-CN" altLang="en-US" sz="2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7" name="内容占位符 1"/>
          <p:cNvSpPr txBox="1">
            <a:spLocks/>
          </p:cNvSpPr>
          <p:nvPr/>
        </p:nvSpPr>
        <p:spPr>
          <a:xfrm>
            <a:off x="804834" y="1343624"/>
            <a:ext cx="7200915" cy="151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楷体" pitchFamily="49" charset="-122"/>
                <a:ea typeface="华文楷体" panose="02010600040101010101" pitchFamily="2" charset="-122"/>
              </a:rPr>
              <a:t>种属 </a:t>
            </a:r>
            <a:r>
              <a:rPr lang="en-US" altLang="zh-CN" sz="25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(Kind)</a:t>
            </a:r>
            <a:endParaRPr lang="zh-CN" altLang="en-US" sz="2000" dirty="0">
              <a:solidFill>
                <a:srgbClr val="073E87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18" name="Picture 2" descr="E:\工大编译\ppt\图片3副本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58210" y="1643056"/>
            <a:ext cx="5488374" cy="2965409"/>
          </a:xfrm>
          <a:prstGeom prst="rect">
            <a:avLst/>
          </a:prstGeom>
          <a:noFill/>
        </p:spPr>
      </p:pic>
      <p:sp>
        <p:nvSpPr>
          <p:cNvPr id="19" name="矩形 18"/>
          <p:cNvSpPr/>
          <p:nvPr/>
        </p:nvSpPr>
        <p:spPr>
          <a:xfrm>
            <a:off x="4881291" y="1481931"/>
            <a:ext cx="20676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符号表</a:t>
            </a:r>
            <a:r>
              <a:rPr lang="en-US" altLang="zh-CN" sz="1400" b="1" dirty="0">
                <a:solidFill>
                  <a:prstClr val="black"/>
                </a:solidFill>
                <a:latin typeface="楷体" pitchFamily="49" charset="-122"/>
              </a:rPr>
              <a:t>(</a:t>
            </a:r>
            <a:r>
              <a:rPr lang="en-US" altLang="zh-CN" sz="1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Table)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758210" y="4434259"/>
            <a:ext cx="513427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符号表是用于存放标识符的属性信息的数据结构</a:t>
            </a:r>
            <a:endParaRPr lang="en-US" altLang="zh-CN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202014" y="4074219"/>
            <a:ext cx="1577898" cy="369332"/>
            <a:chOff x="2057998" y="3867894"/>
            <a:chExt cx="1577898" cy="369332"/>
          </a:xfrm>
        </p:grpSpPr>
        <p:cxnSp>
          <p:nvCxnSpPr>
            <p:cNvPr id="4" name="直接箭头连接符 3"/>
            <p:cNvCxnSpPr/>
            <p:nvPr/>
          </p:nvCxnSpPr>
          <p:spPr>
            <a:xfrm flipV="1">
              <a:off x="3116119" y="4011910"/>
              <a:ext cx="519777" cy="18537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2057998" y="3867894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字符串表</a:t>
              </a:r>
              <a:endPara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21" name="AutoShape 73"/>
          <p:cNvSpPr>
            <a:spLocks noChangeArrowheads="1"/>
          </p:cNvSpPr>
          <p:nvPr/>
        </p:nvSpPr>
        <p:spPr bwMode="auto">
          <a:xfrm>
            <a:off x="4499992" y="251718"/>
            <a:ext cx="4627789" cy="962710"/>
          </a:xfrm>
          <a:prstGeom prst="cloudCallout">
            <a:avLst>
              <a:gd name="adj1" fmla="val -45191"/>
              <a:gd name="adj2" fmla="val 168737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 kern="0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符号表中</a:t>
            </a:r>
            <a:r>
              <a:rPr lang="zh-CN" altLang="en-US" sz="2000" b="1" kern="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为什么要设计</a:t>
            </a:r>
            <a:r>
              <a:rPr lang="zh-CN" altLang="en-US" sz="2000" b="1" kern="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字符串表</a:t>
            </a:r>
            <a:r>
              <a:rPr lang="zh-CN" altLang="en-US" sz="2000" b="1" kern="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这样一种数据结构？</a:t>
            </a:r>
          </a:p>
        </p:txBody>
      </p:sp>
    </p:spTree>
    <p:extLst>
      <p:ext uri="{BB962C8B-B14F-4D97-AF65-F5344CB8AC3E}">
        <p14:creationId xmlns:p14="http://schemas.microsoft.com/office/powerpoint/2010/main" val="60370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/>
      <p:bldP spid="20" grpId="1" animBg="1"/>
      <p:bldP spid="21" grpId="0" animBg="1"/>
      <p:bldP spid="21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5547" y="1464652"/>
            <a:ext cx="8862799" cy="5643602"/>
          </a:xfrm>
        </p:spPr>
        <p:txBody>
          <a:bodyPr>
            <a:normAutofit/>
          </a:bodyPr>
          <a:lstStyle/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语义</a:t>
            </a:r>
            <a:r>
              <a:rPr lang="zh-CN" altLang="en-US" sz="3000" b="1" dirty="0">
                <a:solidFill>
                  <a:prstClr val="black"/>
                </a:solidFill>
              </a:rPr>
              <a:t>检查</a:t>
            </a:r>
            <a:endParaRPr lang="en-US" altLang="zh-CN" sz="3000" b="1" dirty="0">
              <a:solidFill>
                <a:prstClr val="black"/>
              </a:solidFill>
            </a:endParaRPr>
          </a:p>
          <a:p>
            <a:pPr lvl="1">
              <a:lnSpc>
                <a:spcPts val="2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prstClr val="black"/>
                </a:solidFill>
              </a:rPr>
              <a:t> 变量（包括数组、指针、结构体）或过程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未经声明就使用</a:t>
            </a:r>
          </a:p>
          <a:p>
            <a:pPr lvl="1">
              <a:lnSpc>
                <a:spcPts val="2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prstClr val="black"/>
                </a:solidFill>
              </a:rPr>
              <a:t> 变量（包括数组、指针、结构体）或过程名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重复声明</a:t>
            </a:r>
          </a:p>
          <a:p>
            <a:pPr lvl="1">
              <a:lnSpc>
                <a:spcPts val="2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</a:rPr>
              <a:t> 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运算分量</a:t>
            </a:r>
            <a:r>
              <a:rPr lang="zh-CN" altLang="en-US" sz="1800" b="1" dirty="0">
                <a:solidFill>
                  <a:schemeClr val="tx1"/>
                </a:solidFill>
              </a:rPr>
              <a:t>类型不匹配</a:t>
            </a:r>
          </a:p>
          <a:p>
            <a:pPr lvl="1">
              <a:lnSpc>
                <a:spcPts val="2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prstClr val="black"/>
                </a:solidFill>
              </a:rPr>
              <a:t> 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操作符</a:t>
            </a:r>
            <a:r>
              <a:rPr lang="zh-CN" altLang="en-US" sz="1800" b="1" dirty="0">
                <a:solidFill>
                  <a:schemeClr val="tx1"/>
                </a:solidFill>
              </a:rPr>
              <a:t>与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操作数</a:t>
            </a:r>
            <a:r>
              <a:rPr lang="zh-CN" altLang="en-US" sz="1800" b="1" dirty="0">
                <a:solidFill>
                  <a:prstClr val="black"/>
                </a:solidFill>
              </a:rPr>
              <a:t>之间</a:t>
            </a:r>
            <a:r>
              <a:rPr lang="zh-CN" altLang="en-US" sz="1800" b="1" dirty="0">
                <a:solidFill>
                  <a:schemeClr val="tx1"/>
                </a:solidFill>
              </a:rPr>
              <a:t>的类型不匹配</a:t>
            </a:r>
            <a:endParaRPr lang="en-US" altLang="zh-CN" sz="1800" b="1" dirty="0">
              <a:solidFill>
                <a:schemeClr val="tx1"/>
              </a:solidFill>
            </a:endParaRPr>
          </a:p>
          <a:p>
            <a:pPr lvl="2">
              <a:lnSpc>
                <a:spcPts val="18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赋值号</a:t>
            </a:r>
            <a:r>
              <a:rPr lang="zh-CN" altLang="en-US" sz="1600" b="1" dirty="0">
                <a:solidFill>
                  <a:prstClr val="black"/>
                </a:solidFill>
              </a:rPr>
              <a:t>左边出现一个只有右值的表达式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lvl="2">
              <a:lnSpc>
                <a:spcPts val="18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数组下标</a:t>
            </a:r>
            <a:r>
              <a:rPr lang="zh-CN" altLang="en-US" sz="1600" b="1" dirty="0">
                <a:solidFill>
                  <a:prstClr val="black"/>
                </a:solidFill>
              </a:rPr>
              <a:t>不是整数</a:t>
            </a:r>
          </a:p>
          <a:p>
            <a:pPr lvl="2">
              <a:lnSpc>
                <a:spcPts val="1800"/>
              </a:lnSpc>
              <a:buClrTx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</a:rPr>
              <a:t> 对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非数组变量</a:t>
            </a:r>
            <a:r>
              <a:rPr lang="zh-CN" altLang="en-US" sz="1600" b="1" dirty="0">
                <a:solidFill>
                  <a:prstClr val="black"/>
                </a:solidFill>
              </a:rPr>
              <a:t>使用</a:t>
            </a:r>
            <a:r>
              <a:rPr lang="zh-CN" altLang="en-US" sz="1600" b="1" dirty="0">
                <a:solidFill>
                  <a:schemeClr val="tx1"/>
                </a:solidFill>
              </a:rPr>
              <a:t>数组访问</a:t>
            </a:r>
            <a:r>
              <a:rPr lang="zh-CN" altLang="en-US" sz="1600" b="1" dirty="0">
                <a:solidFill>
                  <a:prstClr val="black"/>
                </a:solidFill>
              </a:rPr>
              <a:t>操作符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lvl="2">
              <a:lnSpc>
                <a:spcPts val="1800"/>
              </a:lnSpc>
              <a:buClrTx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</a:rPr>
              <a:t> 对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非结构体类型变量</a:t>
            </a:r>
            <a:r>
              <a:rPr lang="zh-CN" altLang="en-US" sz="1600" b="1" dirty="0">
                <a:solidFill>
                  <a:prstClr val="black"/>
                </a:solidFill>
              </a:rPr>
              <a:t>使用“</a:t>
            </a:r>
            <a:r>
              <a:rPr lang="en-US" altLang="zh-CN" sz="1600" b="1" dirty="0">
                <a:solidFill>
                  <a:prstClr val="black"/>
                </a:solidFill>
              </a:rPr>
              <a:t>.”</a:t>
            </a:r>
            <a:r>
              <a:rPr lang="zh-CN" altLang="en-US" sz="1600" b="1" dirty="0">
                <a:solidFill>
                  <a:prstClr val="black"/>
                </a:solidFill>
              </a:rPr>
              <a:t>操作符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lvl="2">
              <a:lnSpc>
                <a:spcPts val="1800"/>
              </a:lnSpc>
              <a:buClrTx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</a:rPr>
              <a:t> 对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非过程名</a:t>
            </a:r>
            <a:r>
              <a:rPr lang="zh-CN" altLang="en-US" sz="1600" b="1" dirty="0">
                <a:solidFill>
                  <a:prstClr val="black"/>
                </a:solidFill>
              </a:rPr>
              <a:t>使用</a:t>
            </a:r>
            <a:r>
              <a:rPr lang="zh-CN" altLang="en-US" sz="1600" b="1" dirty="0">
                <a:solidFill>
                  <a:schemeClr val="tx1"/>
                </a:solidFill>
              </a:rPr>
              <a:t>过程调用</a:t>
            </a:r>
            <a:r>
              <a:rPr lang="zh-CN" altLang="en-US" sz="1600" b="1" dirty="0">
                <a:solidFill>
                  <a:prstClr val="black"/>
                </a:solidFill>
              </a:rPr>
              <a:t>操作符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lvl="2">
              <a:lnSpc>
                <a:spcPts val="1800"/>
              </a:lnSpc>
              <a:buClrTx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</a:rPr>
              <a:t> 过程调用的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参数类型或数目</a:t>
            </a:r>
            <a:r>
              <a:rPr lang="zh-CN" altLang="en-US" sz="1600" b="1" dirty="0">
                <a:solidFill>
                  <a:prstClr val="black"/>
                </a:solidFill>
              </a:rPr>
              <a:t>不匹配</a:t>
            </a:r>
            <a:endParaRPr lang="en-US" altLang="zh-CN" sz="1600" b="1" dirty="0">
              <a:solidFill>
                <a:prstClr val="black"/>
              </a:solidFill>
            </a:endParaRPr>
          </a:p>
          <a:p>
            <a:pPr lvl="2">
              <a:lnSpc>
                <a:spcPts val="1800"/>
              </a:lnSpc>
              <a:buClrTx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</a:rPr>
              <a:t> 函数</a:t>
            </a:r>
            <a:r>
              <a:rPr lang="zh-CN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返回类型</a:t>
            </a:r>
            <a:r>
              <a:rPr lang="zh-CN" altLang="en-US" sz="1600" b="1" dirty="0">
                <a:solidFill>
                  <a:prstClr val="black"/>
                </a:solidFill>
              </a:rPr>
              <a:t>有误</a:t>
            </a:r>
            <a:endParaRPr lang="en-US" altLang="zh-CN" sz="1600" b="1" dirty="0">
              <a:solidFill>
                <a:prstClr val="black"/>
              </a:solidFill>
            </a:endParaRPr>
          </a:p>
        </p:txBody>
      </p:sp>
      <p:sp>
        <p:nvSpPr>
          <p:cNvPr id="6" name="标题 2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语义分析的主要任务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内容占位符 1"/>
          <p:cNvSpPr txBox="1">
            <a:spLocks/>
          </p:cNvSpPr>
          <p:nvPr/>
        </p:nvSpPr>
        <p:spPr>
          <a:xfrm>
            <a:off x="500034" y="843965"/>
            <a:ext cx="7200915" cy="647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lvl="0" indent="-274320" fontAlgn="auto">
              <a:spcBef>
                <a:spcPct val="20000"/>
              </a:spcBef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zh-CN" altLang="en-US" sz="3000" b="1" dirty="0">
                <a:solidFill>
                  <a:prstClr val="black"/>
                </a:solidFill>
                <a:latin typeface="Times New Roman"/>
                <a:ea typeface="华文楷体" panose="02010600040101010101" pitchFamily="2" charset="-122"/>
              </a:rPr>
              <a:t>收集标识符的属性信息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600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3851920" y="11631"/>
            <a:ext cx="2221826" cy="5117606"/>
          </a:xfrm>
          <a:prstGeom prst="rect">
            <a:avLst/>
          </a:prstGeom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Rectangle 42"/>
          <p:cNvSpPr>
            <a:spLocks noChangeArrowheads="1"/>
          </p:cNvSpPr>
          <p:nvPr/>
        </p:nvSpPr>
        <p:spPr bwMode="auto">
          <a:xfrm>
            <a:off x="3978613" y="2383864"/>
            <a:ext cx="1961539" cy="40391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85786" y="1142990"/>
            <a:ext cx="6929486" cy="3226273"/>
          </a:xfrm>
        </p:spPr>
        <p:txBody>
          <a:bodyPr>
            <a:normAutofit/>
          </a:bodyPr>
          <a:lstStyle/>
          <a:p>
            <a:pPr lvl="0"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三地址码</a:t>
            </a:r>
            <a:r>
              <a:rPr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 (Three-address Code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endParaRPr lang="en-US" altLang="zh-CN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三地址码由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类似于汇编语言</a:t>
            </a:r>
            <a:r>
              <a:rPr lang="zh-CN" altLang="en-US" sz="2500" b="1" dirty="0">
                <a:solidFill>
                  <a:schemeClr val="tx1"/>
                </a:solidFill>
              </a:rPr>
              <a:t>的指令序列组成，每个指令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最多有三个操作数</a:t>
            </a:r>
            <a:r>
              <a:rPr lang="en-US" altLang="zh-CN" sz="2500" b="1" dirty="0">
                <a:solidFill>
                  <a:schemeClr val="tx1"/>
                </a:solidFill>
              </a:rPr>
              <a:t>(operand)</a:t>
            </a:r>
            <a:endParaRPr lang="zh-CN" altLang="en-US" sz="2500" b="1" dirty="0">
              <a:solidFill>
                <a:schemeClr val="tx1"/>
              </a:solidFill>
            </a:endParaRPr>
          </a:p>
          <a:p>
            <a:pPr lvl="0"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语法结构树</a:t>
            </a:r>
            <a:r>
              <a:rPr lang="en-US" altLang="zh-CN" sz="30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/</a:t>
            </a:r>
            <a:r>
              <a:rPr lang="zh-CN" altLang="en-US" sz="3000" b="1" dirty="0">
                <a:solidFill>
                  <a:schemeClr val="tx1"/>
                </a:solidFill>
                <a:latin typeface="楷体" pitchFamily="49" charset="-122"/>
                <a:cs typeface="Times New Roman" pitchFamily="18" charset="0"/>
              </a:rPr>
              <a:t>语法树</a:t>
            </a:r>
            <a:r>
              <a:rPr lang="en-US" altLang="zh-CN" sz="3000" b="1" dirty="0">
                <a:solidFill>
                  <a:schemeClr val="tx1"/>
                </a:solidFill>
              </a:rPr>
              <a:t> (Syntax Trees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lnSpc>
                <a:spcPct val="110000"/>
              </a:lnSpc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常用的中间表示形式</a:t>
            </a:r>
            <a:endParaRPr lang="en-US" altLang="zh-CN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58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kern="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常用的三地址指令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内容占位符 1"/>
          <p:cNvSpPr>
            <a:spLocks noGrp="1"/>
          </p:cNvSpPr>
          <p:nvPr>
            <p:ph idx="1"/>
          </p:nvPr>
        </p:nvSpPr>
        <p:spPr>
          <a:xfrm>
            <a:off x="4312002" y="3519254"/>
            <a:ext cx="4474840" cy="1500768"/>
          </a:xfr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0000FF"/>
                </a:solidFill>
              </a:rPr>
              <a:t>地址</a:t>
            </a:r>
            <a:r>
              <a:rPr lang="zh-CN" altLang="en-US" sz="2000" b="1" dirty="0">
                <a:solidFill>
                  <a:schemeClr val="tx1"/>
                </a:solidFill>
              </a:rPr>
              <a:t>可以具有如下形式之一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源程序中的</a:t>
            </a:r>
            <a:r>
              <a:rPr lang="zh-CN" altLang="en-US" sz="2000" b="1" dirty="0">
                <a:solidFill>
                  <a:srgbClr val="0000FF"/>
                </a:solidFill>
              </a:rPr>
              <a:t>名字 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name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</a:rPr>
              <a:t>常量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constant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 编译器生成的</a:t>
            </a:r>
            <a:r>
              <a:rPr lang="zh-CN" altLang="en-US" sz="2000" b="1" dirty="0">
                <a:solidFill>
                  <a:srgbClr val="0000FF"/>
                </a:solidFill>
              </a:rPr>
              <a:t>临时变量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temporary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en-US" altLang="zh-CN" sz="2000" b="1" dirty="0">
              <a:solidFill>
                <a:schemeClr val="tx1"/>
              </a:solidFill>
              <a:ea typeface="楷体_GB2312" pitchFamily="49" charset="-122"/>
            </a:endParaRPr>
          </a:p>
          <a:p>
            <a:pPr>
              <a:buNone/>
            </a:pPr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7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8" name="五边形 7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五边形 8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542212"/>
              </p:ext>
            </p:extLst>
          </p:nvPr>
        </p:nvGraphicFramePr>
        <p:xfrm>
          <a:off x="390411" y="902026"/>
          <a:ext cx="3677533" cy="4190004"/>
        </p:xfrm>
        <a:graphic>
          <a:graphicData uri="http://schemas.openxmlformats.org/drawingml/2006/table">
            <a:tbl>
              <a:tblPr/>
              <a:tblGrid>
                <a:gridCol w="68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50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序号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指令类型</a:t>
                      </a: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  <a:cs typeface="Times New Roman" pitchFamily="18" charset="0"/>
                        </a:rPr>
                        <a:t>指令形式</a:t>
                      </a:r>
                      <a:endParaRPr kumimoji="0" lang="en-US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" pitchFamily="49" charset="-122"/>
                        <a:ea typeface="楷体" pitchFamily="49" charset="-122"/>
                        <a:cs typeface="Times New Roman" pitchFamily="18" charset="0"/>
                      </a:endParaRPr>
                    </a:p>
                  </a:txBody>
                  <a:tcPr marL="100252" marR="100252" marT="37602" marB="376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288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1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 dirty="0">
                          <a:solidFill>
                            <a:schemeClr val="tx1"/>
                          </a:solidFill>
                        </a:rPr>
                        <a:t>赋值指令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z  </a:t>
                      </a:r>
                    </a:p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2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复制指令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3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条件跳转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relop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goto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4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非条件跳转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5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参数传递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param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98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6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5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过程调用</a:t>
                      </a:r>
                      <a:endParaRPr lang="en-US" altLang="zh-CN" sz="15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zh-CN" altLang="en-US" sz="15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函数调用</a:t>
                      </a:r>
                      <a:endParaRPr lang="en-US" altLang="zh-CN" sz="1500" b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call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call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25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7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过程返回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return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8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数组引用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lang="zh-CN" altLang="en-US" sz="15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 9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数组赋值</a:t>
                      </a:r>
                    </a:p>
                  </a:txBody>
                  <a:tcPr marT="34290" marB="3429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500" b="1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9876">
                <a:tc>
                  <a:txBody>
                    <a:bodyPr/>
                    <a:lstStyle/>
                    <a:p>
                      <a:r>
                        <a:rPr lang="en-US" altLang="zh-CN" sz="1500" b="1" dirty="0">
                          <a:solidFill>
                            <a:schemeClr val="tx1"/>
                          </a:solidFill>
                        </a:rPr>
                        <a:t>   10</a:t>
                      </a:r>
                      <a:endParaRPr lang="zh-CN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地址及</a:t>
                      </a:r>
                      <a:endParaRPr lang="en-US" altLang="zh-CN" sz="15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5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指针操作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=&amp;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=*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en-US" altLang="zh-CN" sz="15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5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72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59007" y="988551"/>
            <a:ext cx="5873233" cy="3887455"/>
          </a:xfrm>
        </p:spPr>
        <p:txBody>
          <a:bodyPr>
            <a:normAutofit/>
          </a:bodyPr>
          <a:lstStyle/>
          <a:p>
            <a:pPr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四元式</a:t>
            </a:r>
            <a:r>
              <a:rPr kumimoji="1"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 (Quadruples)</a:t>
            </a:r>
            <a:r>
              <a:rPr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op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arg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arg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result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kumimoji="1"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三元式</a:t>
            </a:r>
            <a:r>
              <a:rPr kumimoji="1"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 (Triples)</a:t>
            </a:r>
          </a:p>
          <a:p>
            <a:pPr lvl="1"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kumimoji="1"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kumimoji="1"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op</a:t>
            </a:r>
            <a:r>
              <a:rPr kumimoji="1"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kumimoji="1"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arg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kumimoji="1"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kumimoji="1"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agr</a:t>
            </a:r>
            <a:r>
              <a:rPr lang="en-US" altLang="zh-CN" sz="2500" b="1" i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kumimoji="1"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>
              <a:lnSpc>
                <a:spcPts val="4500"/>
              </a:lnSpc>
              <a:buClrTx/>
              <a:buFont typeface="Wingdings" pitchFamily="2" charset="2"/>
              <a:buChar char="Ø"/>
            </a:pPr>
            <a:r>
              <a:rPr kumimoji="1" lang="zh-CN" altLang="en-US" sz="3000" b="1" dirty="0">
                <a:solidFill>
                  <a:schemeClr val="tx1"/>
                </a:solidFill>
                <a:cs typeface="Times New Roman" pitchFamily="18" charset="0"/>
              </a:rPr>
              <a:t>间接三元式</a:t>
            </a:r>
            <a:r>
              <a:rPr kumimoji="1" lang="en-US" altLang="zh-CN" sz="3000" b="1" dirty="0">
                <a:solidFill>
                  <a:schemeClr val="tx1"/>
                </a:solidFill>
                <a:cs typeface="Times New Roman" pitchFamily="18" charset="0"/>
              </a:rPr>
              <a:t> (Indirect triples)</a:t>
            </a:r>
            <a:endParaRPr kumimoji="1" lang="zh-CN" altLang="en-US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lnSpc>
                <a:spcPts val="4500"/>
              </a:lnSpc>
              <a:buClrTx/>
              <a:buFont typeface="Wingdings" pitchFamily="2" charset="2"/>
              <a:buChar char="Ø"/>
            </a:pPr>
            <a:endParaRPr kumimoji="1" lang="zh-CN" altLang="en-US" sz="3000" b="1" dirty="0">
              <a:solidFill>
                <a:schemeClr val="tx1"/>
              </a:solidFill>
              <a:cs typeface="Times New Roman" pitchFamily="18" charset="0"/>
            </a:endParaRPr>
          </a:p>
          <a:p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kern="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三地址指令的表示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0617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42" y="1481742"/>
            <a:ext cx="3807492" cy="2518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8605" y="785800"/>
            <a:ext cx="5927571" cy="4297825"/>
          </a:xfrm>
        </p:spPr>
        <p:txBody>
          <a:bodyPr>
            <a:noAutofit/>
          </a:bodyPr>
          <a:lstStyle/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z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=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 </a:t>
            </a:r>
          </a:p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=  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_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if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goto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relop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goto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   ( </a:t>
            </a:r>
            <a:r>
              <a:rPr lang="en-US" altLang="zh-CN" sz="2300" b="1" dirty="0" err="1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goto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_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param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 (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param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_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call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call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n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return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         (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return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_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=[]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] 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[]=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 err="1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>
              <a:lnSpc>
                <a:spcPts val="2000"/>
              </a:lnSpc>
              <a:buClrTx/>
              <a:buFont typeface="Wingdings" pitchFamily="2" charset="2"/>
              <a:buChar char="Ø"/>
              <a:defRPr/>
            </a:pP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&amp;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&amp;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*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=*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    *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	        (</a:t>
            </a:r>
            <a:r>
              <a:rPr lang="zh-CN" altLang="en-US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*</a:t>
            </a:r>
            <a:r>
              <a:rPr lang="en-US" altLang="zh-CN" sz="23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=    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y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 ,  _ ,  </a:t>
            </a:r>
            <a:r>
              <a:rPr lang="en-US" altLang="zh-CN" sz="2300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x </a:t>
            </a:r>
            <a:r>
              <a:rPr lang="en-US" altLang="zh-CN" sz="2300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kern="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三地址指令的四元式表示</a:t>
            </a:r>
          </a:p>
        </p:txBody>
      </p:sp>
      <p:grpSp>
        <p:nvGrpSpPr>
          <p:cNvPr id="6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7" name="五边形 6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五边形 7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5508104" y="4172735"/>
            <a:ext cx="2952328" cy="6463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三地址指令序列唯一确定了运算完成的顺序</a:t>
            </a:r>
          </a:p>
        </p:txBody>
      </p:sp>
    </p:spTree>
    <p:extLst>
      <p:ext uri="{BB962C8B-B14F-4D97-AF65-F5344CB8AC3E}">
        <p14:creationId xmlns:p14="http://schemas.microsoft.com/office/powerpoint/2010/main" val="31394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kern="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中间代码生成的例子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-36512" y="1034522"/>
            <a:ext cx="6573744" cy="4057508"/>
            <a:chOff x="-36512" y="2611852"/>
            <a:chExt cx="6573744" cy="4057508"/>
          </a:xfrm>
        </p:grpSpPr>
        <p:sp>
          <p:nvSpPr>
            <p:cNvPr id="5" name="Line 47"/>
            <p:cNvSpPr>
              <a:spLocks noChangeShapeType="1"/>
            </p:cNvSpPr>
            <p:nvPr/>
          </p:nvSpPr>
          <p:spPr bwMode="auto">
            <a:xfrm flipH="1">
              <a:off x="491107" y="3513205"/>
              <a:ext cx="272630" cy="255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Line 48"/>
            <p:cNvSpPr>
              <a:spLocks noChangeShapeType="1"/>
            </p:cNvSpPr>
            <p:nvPr/>
          </p:nvSpPr>
          <p:spPr bwMode="auto">
            <a:xfrm>
              <a:off x="773264" y="3513205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Line 49"/>
            <p:cNvSpPr>
              <a:spLocks noChangeShapeType="1"/>
            </p:cNvSpPr>
            <p:nvPr/>
          </p:nvSpPr>
          <p:spPr bwMode="auto">
            <a:xfrm>
              <a:off x="773265" y="3513205"/>
              <a:ext cx="421752" cy="2160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51"/>
            <p:cNvSpPr>
              <a:spLocks noChangeArrowheads="1"/>
            </p:cNvSpPr>
            <p:nvPr/>
          </p:nvSpPr>
          <p:spPr bwMode="auto">
            <a:xfrm>
              <a:off x="1329113" y="2611852"/>
              <a:ext cx="314189" cy="375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i="1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9" name="Rectangle 53"/>
            <p:cNvSpPr>
              <a:spLocks noChangeArrowheads="1"/>
            </p:cNvSpPr>
            <p:nvPr/>
          </p:nvSpPr>
          <p:spPr bwMode="auto">
            <a:xfrm>
              <a:off x="227955" y="4307031"/>
              <a:ext cx="455253" cy="539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id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" name="Rectangle 54"/>
            <p:cNvSpPr>
              <a:spLocks noChangeArrowheads="1"/>
            </p:cNvSpPr>
            <p:nvPr/>
          </p:nvSpPr>
          <p:spPr bwMode="auto">
            <a:xfrm>
              <a:off x="-36512" y="3200815"/>
              <a:ext cx="2853345" cy="397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while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B  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  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do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      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1" name="Line 55"/>
            <p:cNvSpPr>
              <a:spLocks noChangeShapeType="1"/>
            </p:cNvSpPr>
            <p:nvPr/>
          </p:nvSpPr>
          <p:spPr bwMode="auto">
            <a:xfrm flipH="1">
              <a:off x="491108" y="3010315"/>
              <a:ext cx="1145979" cy="224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Line 56"/>
            <p:cNvSpPr>
              <a:spLocks noChangeShapeType="1"/>
            </p:cNvSpPr>
            <p:nvPr/>
          </p:nvSpPr>
          <p:spPr bwMode="auto">
            <a:xfrm>
              <a:off x="1637088" y="3010315"/>
              <a:ext cx="958062" cy="2160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57"/>
            <p:cNvSpPr>
              <a:spLocks noChangeArrowheads="1"/>
            </p:cNvSpPr>
            <p:nvPr/>
          </p:nvSpPr>
          <p:spPr bwMode="auto">
            <a:xfrm>
              <a:off x="270905" y="3729229"/>
              <a:ext cx="1117935" cy="375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b="1" dirty="0" err="1">
                  <a:latin typeface="Times New Roman" pitchFamily="18" charset="0"/>
                  <a:cs typeface="Times New Roman" panose="02020603050405020304" pitchFamily="18" charset="0"/>
                </a:rPr>
                <a:t>relop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4" name="Line 59"/>
            <p:cNvSpPr>
              <a:spLocks noChangeShapeType="1"/>
            </p:cNvSpPr>
            <p:nvPr/>
          </p:nvSpPr>
          <p:spPr bwMode="auto">
            <a:xfrm flipH="1">
              <a:off x="1637088" y="3010315"/>
              <a:ext cx="0" cy="274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60"/>
            <p:cNvSpPr>
              <a:spLocks noChangeShapeType="1"/>
            </p:cNvSpPr>
            <p:nvPr/>
          </p:nvSpPr>
          <p:spPr bwMode="auto">
            <a:xfrm flipH="1">
              <a:off x="447440" y="4024818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62"/>
            <p:cNvSpPr>
              <a:spLocks noChangeArrowheads="1"/>
            </p:cNvSpPr>
            <p:nvPr/>
          </p:nvSpPr>
          <p:spPr bwMode="auto">
            <a:xfrm>
              <a:off x="1475656" y="3801237"/>
              <a:ext cx="4706417" cy="397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if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then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   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S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  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else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             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S</a:t>
              </a:r>
              <a:endParaRPr kumimoji="1" lang="zh-CN" altLang="en-US" b="1" i="1" dirty="0">
                <a:latin typeface="Times New Roman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63"/>
            <p:cNvSpPr>
              <a:spLocks noChangeShapeType="1"/>
            </p:cNvSpPr>
            <p:nvPr/>
          </p:nvSpPr>
          <p:spPr bwMode="auto">
            <a:xfrm flipH="1">
              <a:off x="1763216" y="3585213"/>
              <a:ext cx="925513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65"/>
            <p:cNvSpPr>
              <a:spLocks noChangeShapeType="1"/>
            </p:cNvSpPr>
            <p:nvPr/>
          </p:nvSpPr>
          <p:spPr bwMode="auto">
            <a:xfrm>
              <a:off x="2698254" y="3585213"/>
              <a:ext cx="3044856" cy="322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Line 66"/>
            <p:cNvSpPr>
              <a:spLocks noChangeShapeType="1"/>
            </p:cNvSpPr>
            <p:nvPr/>
          </p:nvSpPr>
          <p:spPr bwMode="auto">
            <a:xfrm flipH="1">
              <a:off x="1198150" y="4097482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69"/>
            <p:cNvSpPr>
              <a:spLocks noChangeArrowheads="1"/>
            </p:cNvSpPr>
            <p:nvPr/>
          </p:nvSpPr>
          <p:spPr bwMode="auto">
            <a:xfrm>
              <a:off x="971600" y="4321871"/>
              <a:ext cx="468077" cy="539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id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1" name="Line 59"/>
            <p:cNvSpPr>
              <a:spLocks noChangeShapeType="1"/>
            </p:cNvSpPr>
            <p:nvPr/>
          </p:nvSpPr>
          <p:spPr bwMode="auto">
            <a:xfrm flipH="1">
              <a:off x="849688" y="3030953"/>
              <a:ext cx="787400" cy="257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69"/>
            <p:cNvSpPr>
              <a:spLocks noChangeArrowheads="1"/>
            </p:cNvSpPr>
            <p:nvPr/>
          </p:nvSpPr>
          <p:spPr bwMode="auto">
            <a:xfrm>
              <a:off x="572325" y="3989487"/>
              <a:ext cx="471283" cy="397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3" name="Line 47"/>
            <p:cNvSpPr>
              <a:spLocks noChangeShapeType="1"/>
            </p:cNvSpPr>
            <p:nvPr/>
          </p:nvSpPr>
          <p:spPr bwMode="auto">
            <a:xfrm flipH="1">
              <a:off x="1637359" y="4179549"/>
              <a:ext cx="350515" cy="2160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Line 48"/>
            <p:cNvSpPr>
              <a:spLocks noChangeShapeType="1"/>
            </p:cNvSpPr>
            <p:nvPr/>
          </p:nvSpPr>
          <p:spPr bwMode="auto">
            <a:xfrm>
              <a:off x="1997400" y="4179549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49"/>
            <p:cNvSpPr>
              <a:spLocks noChangeShapeType="1"/>
            </p:cNvSpPr>
            <p:nvPr/>
          </p:nvSpPr>
          <p:spPr bwMode="auto">
            <a:xfrm>
              <a:off x="1997400" y="4179550"/>
              <a:ext cx="461199" cy="2073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53"/>
            <p:cNvSpPr>
              <a:spLocks noChangeArrowheads="1"/>
            </p:cNvSpPr>
            <p:nvPr/>
          </p:nvSpPr>
          <p:spPr bwMode="auto">
            <a:xfrm>
              <a:off x="1393267" y="4973375"/>
              <a:ext cx="442429" cy="539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c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7" name="Rectangle 57"/>
            <p:cNvSpPr>
              <a:spLocks noChangeArrowheads="1"/>
            </p:cNvSpPr>
            <p:nvPr/>
          </p:nvSpPr>
          <p:spPr bwMode="auto">
            <a:xfrm>
              <a:off x="1495041" y="4395573"/>
              <a:ext cx="1175643" cy="375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b="1" dirty="0" err="1">
                  <a:latin typeface="Times New Roman" pitchFamily="18" charset="0"/>
                  <a:cs typeface="Times New Roman" panose="02020603050405020304" pitchFamily="18" charset="0"/>
                </a:rPr>
                <a:t>relop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28" name="Line 60"/>
            <p:cNvSpPr>
              <a:spLocks noChangeShapeType="1"/>
            </p:cNvSpPr>
            <p:nvPr/>
          </p:nvSpPr>
          <p:spPr bwMode="auto">
            <a:xfrm flipH="1">
              <a:off x="1612752" y="4691162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66"/>
            <p:cNvSpPr>
              <a:spLocks noChangeShapeType="1"/>
            </p:cNvSpPr>
            <p:nvPr/>
          </p:nvSpPr>
          <p:spPr bwMode="auto">
            <a:xfrm flipH="1">
              <a:off x="2458599" y="4763826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64"/>
            <p:cNvSpPr>
              <a:spLocks noChangeShapeType="1"/>
            </p:cNvSpPr>
            <p:nvPr/>
          </p:nvSpPr>
          <p:spPr bwMode="auto">
            <a:xfrm flipH="1">
              <a:off x="2050950" y="3585213"/>
              <a:ext cx="648842" cy="2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64"/>
            <p:cNvSpPr>
              <a:spLocks noChangeShapeType="1"/>
            </p:cNvSpPr>
            <p:nvPr/>
          </p:nvSpPr>
          <p:spPr bwMode="auto">
            <a:xfrm flipH="1">
              <a:off x="2688728" y="3585213"/>
              <a:ext cx="11061" cy="2763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64"/>
            <p:cNvSpPr>
              <a:spLocks noChangeShapeType="1"/>
            </p:cNvSpPr>
            <p:nvPr/>
          </p:nvSpPr>
          <p:spPr bwMode="auto">
            <a:xfrm>
              <a:off x="2699791" y="3585213"/>
              <a:ext cx="899840" cy="3226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64"/>
            <p:cNvSpPr>
              <a:spLocks noChangeShapeType="1"/>
            </p:cNvSpPr>
            <p:nvPr/>
          </p:nvSpPr>
          <p:spPr bwMode="auto">
            <a:xfrm>
              <a:off x="2699792" y="3585214"/>
              <a:ext cx="1658398" cy="331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54"/>
            <p:cNvSpPr>
              <a:spLocks noChangeArrowheads="1"/>
            </p:cNvSpPr>
            <p:nvPr/>
          </p:nvSpPr>
          <p:spPr bwMode="auto">
            <a:xfrm>
              <a:off x="2681904" y="4351777"/>
              <a:ext cx="2276264" cy="397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while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B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do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      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 flipH="1">
              <a:off x="3209524" y="4155349"/>
              <a:ext cx="437598" cy="2300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Line 56"/>
            <p:cNvSpPr>
              <a:spLocks noChangeShapeType="1"/>
            </p:cNvSpPr>
            <p:nvPr/>
          </p:nvSpPr>
          <p:spPr bwMode="auto">
            <a:xfrm>
              <a:off x="3680249" y="4156809"/>
              <a:ext cx="1072173" cy="2455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59"/>
            <p:cNvSpPr>
              <a:spLocks noChangeShapeType="1"/>
            </p:cNvSpPr>
            <p:nvPr/>
          </p:nvSpPr>
          <p:spPr bwMode="auto">
            <a:xfrm>
              <a:off x="3680249" y="4155348"/>
              <a:ext cx="453391" cy="282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59"/>
            <p:cNvSpPr>
              <a:spLocks noChangeShapeType="1"/>
            </p:cNvSpPr>
            <p:nvPr/>
          </p:nvSpPr>
          <p:spPr bwMode="auto">
            <a:xfrm flipH="1">
              <a:off x="3568104" y="4156809"/>
              <a:ext cx="90238" cy="2822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47"/>
            <p:cNvSpPr>
              <a:spLocks noChangeShapeType="1"/>
            </p:cNvSpPr>
            <p:nvPr/>
          </p:nvSpPr>
          <p:spPr bwMode="auto">
            <a:xfrm flipH="1">
              <a:off x="3191146" y="4755613"/>
              <a:ext cx="272630" cy="2551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Line 48"/>
            <p:cNvSpPr>
              <a:spLocks noChangeShapeType="1"/>
            </p:cNvSpPr>
            <p:nvPr/>
          </p:nvSpPr>
          <p:spPr bwMode="auto">
            <a:xfrm>
              <a:off x="3473303" y="4755613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Line 49"/>
            <p:cNvSpPr>
              <a:spLocks noChangeShapeType="1"/>
            </p:cNvSpPr>
            <p:nvPr/>
          </p:nvSpPr>
          <p:spPr bwMode="auto">
            <a:xfrm>
              <a:off x="3473304" y="4755613"/>
              <a:ext cx="421752" cy="2160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57"/>
            <p:cNvSpPr>
              <a:spLocks noChangeArrowheads="1"/>
            </p:cNvSpPr>
            <p:nvPr/>
          </p:nvSpPr>
          <p:spPr bwMode="auto">
            <a:xfrm>
              <a:off x="2970944" y="4971637"/>
              <a:ext cx="1117935" cy="375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b="1" dirty="0" err="1">
                  <a:latin typeface="Times New Roman" pitchFamily="18" charset="0"/>
                  <a:cs typeface="Times New Roman" panose="02020603050405020304" pitchFamily="18" charset="0"/>
                </a:rPr>
                <a:t>relop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b="1" i="1" dirty="0">
                  <a:latin typeface="Times New Roman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3" name="Line 60"/>
            <p:cNvSpPr>
              <a:spLocks noChangeShapeType="1"/>
            </p:cNvSpPr>
            <p:nvPr/>
          </p:nvSpPr>
          <p:spPr bwMode="auto">
            <a:xfrm flipH="1">
              <a:off x="3147479" y="5267226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Line 66"/>
            <p:cNvSpPr>
              <a:spLocks noChangeShapeType="1"/>
            </p:cNvSpPr>
            <p:nvPr/>
          </p:nvSpPr>
          <p:spPr bwMode="auto">
            <a:xfrm flipH="1">
              <a:off x="3898189" y="5339890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4224989" y="4975542"/>
              <a:ext cx="1375377" cy="7577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  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z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6" name="Line 55"/>
            <p:cNvSpPr>
              <a:spLocks noChangeShapeType="1"/>
            </p:cNvSpPr>
            <p:nvPr/>
          </p:nvSpPr>
          <p:spPr bwMode="auto">
            <a:xfrm flipH="1">
              <a:off x="4577674" y="4691162"/>
              <a:ext cx="188075" cy="3180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Line 56"/>
            <p:cNvSpPr>
              <a:spLocks noChangeShapeType="1"/>
            </p:cNvSpPr>
            <p:nvPr/>
          </p:nvSpPr>
          <p:spPr bwMode="auto">
            <a:xfrm>
              <a:off x="4752422" y="4707260"/>
              <a:ext cx="726208" cy="322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Line 59"/>
            <p:cNvSpPr>
              <a:spLocks noChangeShapeType="1"/>
            </p:cNvSpPr>
            <p:nvPr/>
          </p:nvSpPr>
          <p:spPr bwMode="auto">
            <a:xfrm>
              <a:off x="4762608" y="4691162"/>
              <a:ext cx="398739" cy="3180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Line 59"/>
            <p:cNvSpPr>
              <a:spLocks noChangeShapeType="1"/>
            </p:cNvSpPr>
            <p:nvPr/>
          </p:nvSpPr>
          <p:spPr bwMode="auto">
            <a:xfrm>
              <a:off x="4752422" y="4703782"/>
              <a:ext cx="19075" cy="3054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Line 47"/>
            <p:cNvSpPr>
              <a:spLocks noChangeShapeType="1"/>
            </p:cNvSpPr>
            <p:nvPr/>
          </p:nvSpPr>
          <p:spPr bwMode="auto">
            <a:xfrm flipH="1">
              <a:off x="4924643" y="5318945"/>
              <a:ext cx="208552" cy="2453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Line 48"/>
            <p:cNvSpPr>
              <a:spLocks noChangeShapeType="1"/>
            </p:cNvSpPr>
            <p:nvPr/>
          </p:nvSpPr>
          <p:spPr bwMode="auto">
            <a:xfrm>
              <a:off x="5142722" y="5318945"/>
              <a:ext cx="1588" cy="3349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Line 49"/>
            <p:cNvSpPr>
              <a:spLocks noChangeShapeType="1"/>
            </p:cNvSpPr>
            <p:nvPr/>
          </p:nvSpPr>
          <p:spPr bwMode="auto">
            <a:xfrm>
              <a:off x="5142722" y="5318945"/>
              <a:ext cx="245175" cy="245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7"/>
            <p:cNvSpPr>
              <a:spLocks noChangeArrowheads="1"/>
            </p:cNvSpPr>
            <p:nvPr/>
          </p:nvSpPr>
          <p:spPr bwMode="auto">
            <a:xfrm>
              <a:off x="4712371" y="5534969"/>
              <a:ext cx="856004" cy="397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 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54" name="Line 60"/>
            <p:cNvSpPr>
              <a:spLocks noChangeShapeType="1"/>
            </p:cNvSpPr>
            <p:nvPr/>
          </p:nvSpPr>
          <p:spPr bwMode="auto">
            <a:xfrm flipH="1">
              <a:off x="4830082" y="5830558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Line 66"/>
            <p:cNvSpPr>
              <a:spLocks noChangeShapeType="1"/>
            </p:cNvSpPr>
            <p:nvPr/>
          </p:nvSpPr>
          <p:spPr bwMode="auto">
            <a:xfrm flipH="1">
              <a:off x="5387897" y="5877272"/>
              <a:ext cx="0" cy="2444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5508104" y="4552088"/>
              <a:ext cx="1029128" cy="533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 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kumimoji="1"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5855695" y="4138584"/>
              <a:ext cx="119232" cy="3869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Line 56"/>
            <p:cNvSpPr>
              <a:spLocks noChangeShapeType="1"/>
            </p:cNvSpPr>
            <p:nvPr/>
          </p:nvSpPr>
          <p:spPr bwMode="auto">
            <a:xfrm>
              <a:off x="5855695" y="4151154"/>
              <a:ext cx="536534" cy="3535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59"/>
            <p:cNvSpPr>
              <a:spLocks noChangeShapeType="1"/>
            </p:cNvSpPr>
            <p:nvPr/>
          </p:nvSpPr>
          <p:spPr bwMode="auto">
            <a:xfrm>
              <a:off x="5855696" y="4161628"/>
              <a:ext cx="322679" cy="3639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 flipH="1">
              <a:off x="5655043" y="4138583"/>
              <a:ext cx="200653" cy="3660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 flipH="1">
              <a:off x="6208410" y="4796259"/>
              <a:ext cx="0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763688" y="4653136"/>
              <a:ext cx="470000" cy="3970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hangingPunct="0">
                <a:lnSpc>
                  <a:spcPct val="1100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kumimoji="1" lang="en-US" altLang="zh-CN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3" name="Rectangle 53"/>
            <p:cNvSpPr>
              <a:spLocks noChangeArrowheads="1"/>
            </p:cNvSpPr>
            <p:nvPr/>
          </p:nvSpPr>
          <p:spPr bwMode="auto">
            <a:xfrm>
              <a:off x="2195736" y="5013176"/>
              <a:ext cx="634789" cy="533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endPara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5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4" name="Rectangle 53"/>
            <p:cNvSpPr>
              <a:spLocks noChangeArrowheads="1"/>
            </p:cNvSpPr>
            <p:nvPr/>
          </p:nvSpPr>
          <p:spPr bwMode="auto">
            <a:xfrm>
              <a:off x="2928678" y="5570774"/>
              <a:ext cx="455253" cy="533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id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5" name="Rectangle 53"/>
            <p:cNvSpPr>
              <a:spLocks noChangeArrowheads="1"/>
            </p:cNvSpPr>
            <p:nvPr/>
          </p:nvSpPr>
          <p:spPr bwMode="auto">
            <a:xfrm>
              <a:off x="3684699" y="5589240"/>
              <a:ext cx="455253" cy="533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id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3308629" y="5213623"/>
              <a:ext cx="471283" cy="397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rgbClr val="3333CC"/>
                </a:buClr>
                <a:buSzPct val="75000"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7" name="Rectangle 53"/>
            <p:cNvSpPr>
              <a:spLocks noChangeArrowheads="1"/>
            </p:cNvSpPr>
            <p:nvPr/>
          </p:nvSpPr>
          <p:spPr bwMode="auto">
            <a:xfrm>
              <a:off x="4620803" y="6136264"/>
              <a:ext cx="455253" cy="533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id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8" name="Rectangle 53"/>
            <p:cNvSpPr>
              <a:spLocks noChangeArrowheads="1"/>
            </p:cNvSpPr>
            <p:nvPr/>
          </p:nvSpPr>
          <p:spPr bwMode="auto">
            <a:xfrm>
              <a:off x="5076056" y="6136264"/>
              <a:ext cx="634789" cy="533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</a:t>
              </a:r>
              <a:endPara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9" name="Rectangle 53"/>
            <p:cNvSpPr>
              <a:spLocks noChangeArrowheads="1"/>
            </p:cNvSpPr>
            <p:nvPr/>
          </p:nvSpPr>
          <p:spPr bwMode="auto">
            <a:xfrm>
              <a:off x="5999131" y="5128152"/>
              <a:ext cx="455253" cy="533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id</a:t>
              </a:r>
            </a:p>
            <a:p>
              <a:pPr eaLnBrk="0" hangingPunct="0">
                <a:lnSpc>
                  <a:spcPts val="15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/>
                <a:buNone/>
              </a:pP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zh-CN" b="1" dirty="0">
                  <a:solidFill>
                    <a:srgbClr val="FF0000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y</a:t>
              </a:r>
              <a:r>
                <a:rPr kumimoji="1" lang="en-US" altLang="zh-CN" b="1" dirty="0"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70" name="内容占位符 2"/>
          <p:cNvSpPr txBox="1">
            <a:spLocks/>
          </p:cNvSpPr>
          <p:nvPr/>
        </p:nvSpPr>
        <p:spPr bwMode="auto">
          <a:xfrm>
            <a:off x="6702536" y="1453624"/>
            <a:ext cx="2242600" cy="35342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Times New Roman" pitchFamily="18" charset="0"/>
                <a:ea typeface="楷体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100: 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&lt;,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, 102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 sz="1800" b="1" kern="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101: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, - ,  - , 112 )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102: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&lt;,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, 5 , 104 )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103: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 , - ,  - , 110 )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104: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&gt;,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, 106 )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105: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 , - ,  - , 100 )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106: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+ ,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, 1 ,  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800" b="1" i="1" kern="0" baseline="-25000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kern="0" baseline="-250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107: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= ,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1800" b="1" i="1" kern="0" baseline="-25000" dirty="0"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1800" b="1" kern="0" baseline="-250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, - ,  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  )</a:t>
            </a:r>
            <a:endParaRPr lang="en-US" altLang="zh-CN" sz="1800" b="1" kern="0" baseline="-2500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108: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 , - ,  - , 104 )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109: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, - ,  - , 100 )</a:t>
            </a:r>
            <a:endParaRPr lang="zh-CN" altLang="en-US" sz="1800" b="1" kern="0" dirty="0">
              <a:ea typeface="楷体_GB2312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110: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 = ,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,  - ,   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 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111:</a:t>
            </a:r>
            <a:r>
              <a:rPr lang="zh-CN" altLang="en-US" sz="1800" b="1" kern="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800" b="1" i="1" kern="0" dirty="0">
                <a:ea typeface="楷体_GB2312" pitchFamily="49" charset="-122"/>
                <a:cs typeface="Times New Roman" panose="02020603050405020304" pitchFamily="18" charset="0"/>
              </a:rPr>
              <a:t> j  </a:t>
            </a: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, - ,  - , 100 )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 kern="0" dirty="0">
                <a:ea typeface="楷体_GB2312" pitchFamily="49" charset="-122"/>
                <a:cs typeface="Times New Roman" panose="02020603050405020304" pitchFamily="18" charset="0"/>
              </a:rPr>
              <a:t>112:</a:t>
            </a:r>
          </a:p>
        </p:txBody>
      </p:sp>
      <p:grpSp>
        <p:nvGrpSpPr>
          <p:cNvPr id="71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72" name="五边形 7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五边形 7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4" name="标题 1"/>
          <p:cNvSpPr txBox="1">
            <a:spLocks/>
          </p:cNvSpPr>
          <p:nvPr/>
        </p:nvSpPr>
        <p:spPr>
          <a:xfrm>
            <a:off x="2786050" y="696442"/>
            <a:ext cx="1800066" cy="123236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 fontAlgn="auto">
              <a:spcAft>
                <a:spcPts val="0"/>
              </a:spcAft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while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do </a:t>
            </a:r>
          </a:p>
          <a:p>
            <a:pPr algn="l" fontAlgn="auto">
              <a:spcAft>
                <a:spcPts val="0"/>
              </a:spcAft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if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&lt;5 then </a:t>
            </a:r>
          </a:p>
          <a:p>
            <a:pPr algn="l" fontAlgn="auto">
              <a:spcAft>
                <a:spcPts val="0"/>
              </a:spcAft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     while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do    </a:t>
            </a:r>
          </a:p>
          <a:p>
            <a:pPr algn="l" fontAlgn="auto">
              <a:spcAft>
                <a:spcPts val="0"/>
              </a:spcAft>
            </a:pP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          z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+1; </a:t>
            </a:r>
          </a:p>
          <a:p>
            <a:pPr algn="l" fontAlgn="auto">
              <a:spcAft>
                <a:spcPts val="0"/>
              </a:spcAft>
            </a:pP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     else 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y</a:t>
            </a:r>
            <a:r>
              <a:rPr kumimoji="1" lang="en-US" altLang="zh-CN" sz="1600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;</a:t>
            </a:r>
            <a:endParaRPr lang="zh-CN" altLang="en-US" sz="1600" b="1" dirty="0">
              <a:solidFill>
                <a:schemeClr val="tx1"/>
              </a:solidFill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5" name="右箭头 74"/>
          <p:cNvSpPr/>
          <p:nvPr/>
        </p:nvSpPr>
        <p:spPr>
          <a:xfrm>
            <a:off x="5131296" y="1535864"/>
            <a:ext cx="1384920" cy="648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5477309" y="699542"/>
            <a:ext cx="59503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7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4" grpId="0" animBg="1"/>
      <p:bldP spid="75" grpId="0" animBg="1"/>
      <p:bldP spid="7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428596" y="931087"/>
            <a:ext cx="4431436" cy="4212431"/>
          </a:xfrm>
        </p:spPr>
        <p:txBody>
          <a:bodyPr>
            <a:noAutofit/>
          </a:bodyPr>
          <a:lstStyle/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目标代码生成以源程序的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中间表示形式</a:t>
            </a:r>
            <a:r>
              <a:rPr lang="zh-CN" altLang="en-US" b="1" dirty="0">
                <a:solidFill>
                  <a:schemeClr val="tx1"/>
                </a:solidFill>
              </a:rPr>
              <a:t>作为输入，并把它映射到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目标语言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目标代码生成的一个重要任务是为程序中使用的变量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合理分配寄存器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grpSp>
        <p:nvGrpSpPr>
          <p:cNvPr id="28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9" name="五边形 2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五边形 29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4798446" y="11631"/>
            <a:ext cx="2221826" cy="5117606"/>
          </a:xfrm>
          <a:prstGeom prst="rect">
            <a:avLst/>
          </a:prstGeom>
        </p:spPr>
      </p:pic>
      <p:sp>
        <p:nvSpPr>
          <p:cNvPr id="25" name="Rectangle 42"/>
          <p:cNvSpPr>
            <a:spLocks noChangeArrowheads="1"/>
          </p:cNvSpPr>
          <p:nvPr/>
        </p:nvSpPr>
        <p:spPr bwMode="auto">
          <a:xfrm flipV="1">
            <a:off x="4942462" y="3718875"/>
            <a:ext cx="1928826" cy="385766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4798446" y="11631"/>
            <a:ext cx="2221826" cy="5117606"/>
          </a:xfrm>
          <a:prstGeom prst="rect">
            <a:avLst/>
          </a:prstGeom>
        </p:spPr>
      </p:pic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编译器的结构</a:t>
            </a:r>
          </a:p>
        </p:txBody>
      </p:sp>
      <p:grpSp>
        <p:nvGrpSpPr>
          <p:cNvPr id="24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5" name="五边形 24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五边形 25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6" name="Rectangle 42"/>
          <p:cNvSpPr>
            <a:spLocks noChangeArrowheads="1"/>
          </p:cNvSpPr>
          <p:nvPr/>
        </p:nvSpPr>
        <p:spPr bwMode="auto">
          <a:xfrm>
            <a:off x="4932040" y="4371950"/>
            <a:ext cx="1944216" cy="432048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4932040" y="3003798"/>
            <a:ext cx="1944216" cy="432048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371481" y="1202865"/>
            <a:ext cx="4416543" cy="3226273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代码优化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为改进代码所进行的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等价程序变换</a:t>
            </a:r>
            <a:r>
              <a:rPr lang="zh-CN" altLang="en-US" sz="2400" b="1" dirty="0">
                <a:solidFill>
                  <a:schemeClr val="tx1"/>
                </a:solidFill>
              </a:rPr>
              <a:t>，使其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运行得更快</a:t>
            </a:r>
            <a:r>
              <a:rPr lang="zh-CN" altLang="en-US" sz="2400" b="1" dirty="0">
                <a:solidFill>
                  <a:schemeClr val="tx1"/>
                </a:solidFill>
              </a:rPr>
              <a:t>一些、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占用空间更少</a:t>
            </a:r>
            <a:r>
              <a:rPr lang="zh-CN" altLang="en-US" sz="2400" b="1" dirty="0">
                <a:solidFill>
                  <a:schemeClr val="tx1"/>
                </a:solidFill>
              </a:rPr>
              <a:t>一些，或者二者兼顾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12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00563" y="1357313"/>
            <a:ext cx="4357687" cy="2657138"/>
          </a:xfrm>
          <a:prstGeom prst="rect">
            <a:avLst/>
          </a:prstGeom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1.1 什么是编译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1.2 编译系统的结构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rgbClr val="073E87">
                    <a:lumMod val="60000"/>
                    <a:lumOff val="40000"/>
                  </a:srgbClr>
                </a:solidFill>
                <a:latin typeface="微软雅黑" pitchFamily="34" charset="-122"/>
                <a:ea typeface="微软雅黑" pitchFamily="34" charset="-122"/>
              </a:rPr>
              <a:t>1.3 编译程序的生成</a:t>
            </a:r>
            <a:endParaRPr lang="en-US" altLang="zh-CN" sz="2500" b="1" dirty="0">
              <a:solidFill>
                <a:srgbClr val="073E87">
                  <a:lumMod val="60000"/>
                  <a:lumOff val="40000"/>
                </a:srgb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4000"/>
              </a:lnSpc>
              <a:defRPr/>
            </a:pPr>
            <a:r>
              <a:rPr lang="en-US" altLang="zh-CN" sz="2500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1.4 </a:t>
            </a:r>
            <a:r>
              <a:rPr lang="zh-CN" altLang="en-US" sz="2500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为什么要学习编译原理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500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pic>
        <p:nvPicPr>
          <p:cNvPr id="2867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901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Calibri"/>
              <a:ea typeface="华文楷体" panose="02010600040101010101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5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华文楷体" panose="0201060004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华文楷体" panose="02010600040101010101" pitchFamily="2" charset="-122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28596" y="843559"/>
            <a:ext cx="7743805" cy="367371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1970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年以前，几乎所有的编译程序都是用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机器语言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编写的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优点：更好地发挥硬件系统的效率</a:t>
            </a:r>
            <a:endParaRPr lang="en-US" altLang="zh-CN" sz="18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缺点：可读性、可靠性、可维护性、编制效率差</a:t>
            </a:r>
          </a:p>
          <a:p>
            <a:pPr lvl="0" algn="just">
              <a:buClrTx/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1980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年以后，通常用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高级语言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来编写编译程序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（自展技术）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674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内容占位符 2"/>
          <p:cNvSpPr>
            <a:spLocks noGrp="1"/>
          </p:cNvSpPr>
          <p:nvPr>
            <p:ph idx="1"/>
          </p:nvPr>
        </p:nvSpPr>
        <p:spPr>
          <a:xfrm>
            <a:off x="428596" y="843559"/>
            <a:ext cx="7743805" cy="367371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：编译器（程序）</a:t>
            </a:r>
            <a:endParaRPr lang="en-US" altLang="zh-CN" sz="2000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800" b="1" dirty="0">
                <a:solidFill>
                  <a:srgbClr val="FF0000"/>
                </a:solidFill>
                <a:ea typeface="楷体" pitchFamily="49" charset="-122"/>
                <a:cs typeface="Times New Roman" panose="02020603050405020304" pitchFamily="18" charset="0"/>
              </a:rPr>
              <a:t>实现语言</a:t>
            </a: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输入</a:t>
            </a:r>
            <a:r>
              <a:rPr lang="zh-CN" altLang="en-US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ea typeface="楷体" pitchFamily="49" charset="-122"/>
                <a:cs typeface="Times New Roman" panose="02020603050405020304" pitchFamily="18" charset="0"/>
              </a:rPr>
              <a:t>源语言程序</a:t>
            </a: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输出</a:t>
            </a:r>
            <a:r>
              <a:rPr lang="zh-CN" altLang="en-US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1800" b="1" dirty="0">
                <a:solidFill>
                  <a:schemeClr val="tx2">
                    <a:lumMod val="60000"/>
                    <a:lumOff val="4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可执行</a:t>
            </a:r>
            <a:r>
              <a:rPr lang="zh-CN" altLang="en-US" sz="18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ea typeface="楷体" pitchFamily="49" charset="-122"/>
                <a:cs typeface="Times New Roman" panose="02020603050405020304" pitchFamily="18" charset="0"/>
              </a:rPr>
              <a:t>目标程序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</a:t>
            </a:r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形图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5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3891358" y="289751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772585" y="2700080"/>
            <a:ext cx="2376264" cy="936104"/>
            <a:chOff x="1835696" y="3147814"/>
            <a:chExt cx="2376264" cy="936104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835696" y="3147814"/>
              <a:ext cx="23683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835696" y="3579862"/>
              <a:ext cx="79208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491880" y="3579862"/>
              <a:ext cx="7200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627784" y="4011910"/>
              <a:ext cx="86409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2059051" y="3174526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83949" y="3188390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2960663" y="3714586"/>
              <a:ext cx="261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835696" y="3147814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4211960" y="3147814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3491880" y="3579862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2627784" y="3579862"/>
              <a:ext cx="0" cy="4320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29C32AEC-23EF-4FBD-A16A-4582E67E533F}"/>
              </a:ext>
            </a:extLst>
          </p:cNvPr>
          <p:cNvSpPr txBox="1"/>
          <p:nvPr/>
        </p:nvSpPr>
        <p:spPr>
          <a:xfrm>
            <a:off x="830341" y="3840553"/>
            <a:ext cx="71968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b="1" dirty="0"/>
              <a:t>注意：</a:t>
            </a:r>
            <a:endParaRPr lang="en-US" altLang="zh-CN" sz="1500" b="1" dirty="0"/>
          </a:p>
          <a:p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表示的是</a:t>
            </a:r>
            <a:r>
              <a:rPr lang="zh-CN" alt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，而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表示的是</a:t>
            </a:r>
            <a:r>
              <a:rPr lang="zh-CN" alt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程序</a:t>
            </a:r>
          </a:p>
          <a:p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形图的</a:t>
            </a:r>
            <a:r>
              <a:rPr lang="zh-CN" alt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上端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体现了编译器的</a:t>
            </a:r>
            <a:r>
              <a:rPr lang="zh-CN" alt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，即从哪种语言到哪种语言的翻译</a:t>
            </a:r>
          </a:p>
          <a:p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对应于某</a:t>
            </a:r>
            <a:r>
              <a:rPr lang="zh-CN" altLang="en-US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机器语言</a:t>
            </a:r>
          </a:p>
        </p:txBody>
      </p:sp>
    </p:spTree>
    <p:extLst>
      <p:ext uri="{BB962C8B-B14F-4D97-AF65-F5344CB8AC3E}">
        <p14:creationId xmlns:p14="http://schemas.microsoft.com/office/powerpoint/2010/main" val="166223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自展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5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28596" y="843559"/>
            <a:ext cx="7743805" cy="367371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endParaRPr lang="en-US" altLang="zh-CN" sz="2000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A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000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A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000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endParaRPr lang="en-US" altLang="zh-CN" sz="2000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2675289" y="2077619"/>
            <a:ext cx="2421508" cy="864096"/>
            <a:chOff x="1811407" y="3147814"/>
            <a:chExt cx="2421508" cy="864096"/>
          </a:xfrm>
        </p:grpSpPr>
        <p:grpSp>
          <p:nvGrpSpPr>
            <p:cNvPr id="81" name="组合 80"/>
            <p:cNvGrpSpPr/>
            <p:nvPr/>
          </p:nvGrpSpPr>
          <p:grpSpPr>
            <a:xfrm>
              <a:off x="1811407" y="3147814"/>
              <a:ext cx="2421508" cy="864096"/>
              <a:chOff x="1811407" y="3147814"/>
              <a:chExt cx="2421508" cy="864096"/>
            </a:xfrm>
          </p:grpSpPr>
          <p:cxnSp>
            <p:nvCxnSpPr>
              <p:cNvPr id="83" name="直接连接符 82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矩形 86"/>
              <p:cNvSpPr/>
              <p:nvPr/>
            </p:nvSpPr>
            <p:spPr>
              <a:xfrm>
                <a:off x="1811407" y="3174526"/>
                <a:ext cx="8643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程序</a:t>
                </a: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3419872" y="3188390"/>
                <a:ext cx="8130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代码</a:t>
                </a:r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2649234" y="3641945"/>
                <a:ext cx="8643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5BD078">
                        <a:lumMod val="75000"/>
                      </a:srgb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baseline="-25000" dirty="0">
                    <a:solidFill>
                      <a:srgbClr val="5BD078">
                        <a:lumMod val="75000"/>
                      </a:srgb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solidFill>
                      <a:srgbClr val="5BD078">
                        <a:lumMod val="75000"/>
                      </a:srgbClr>
                    </a:solidFill>
                  </a:rPr>
                  <a:t>语言</a:t>
                </a:r>
                <a:endParaRPr lang="en-US" altLang="zh-CN" dirty="0">
                  <a:solidFill>
                    <a:srgbClr val="5BD078">
                      <a:lumMod val="75000"/>
                    </a:srgbClr>
                  </a:solidFill>
                </a:endParaRPr>
              </a:p>
            </p:txBody>
          </p:sp>
          <p:cxnSp>
            <p:nvCxnSpPr>
              <p:cNvPr id="90" name="直接连接符 89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连接符 91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rgbClr val="00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矩形 81"/>
            <p:cNvSpPr/>
            <p:nvPr/>
          </p:nvSpPr>
          <p:spPr>
            <a:xfrm>
              <a:off x="2795016" y="3353913"/>
              <a:ext cx="437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FF0000"/>
                  </a:solidFill>
                </a:rPr>
                <a:t>’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6059664" y="2077621"/>
            <a:ext cx="2421508" cy="936104"/>
            <a:chOff x="1811407" y="3147814"/>
            <a:chExt cx="2421508" cy="936104"/>
          </a:xfrm>
        </p:grpSpPr>
        <p:grpSp>
          <p:nvGrpSpPr>
            <p:cNvPr id="109" name="组合 108"/>
            <p:cNvGrpSpPr/>
            <p:nvPr/>
          </p:nvGrpSpPr>
          <p:grpSpPr>
            <a:xfrm>
              <a:off x="1811407" y="3147814"/>
              <a:ext cx="2421508" cy="936104"/>
              <a:chOff x="1811407" y="3147814"/>
              <a:chExt cx="2421508" cy="936104"/>
            </a:xfrm>
          </p:grpSpPr>
          <p:cxnSp>
            <p:nvCxnSpPr>
              <p:cNvPr id="111" name="直接连接符 110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/>
            </p:nvSpPr>
            <p:spPr>
              <a:xfrm>
                <a:off x="1811407" y="3174526"/>
                <a:ext cx="8643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程序</a:t>
                </a: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3419872" y="3188390"/>
                <a:ext cx="8130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代码</a:t>
                </a: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649234" y="3714586"/>
                <a:ext cx="8130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A5D02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A5D02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语言</a:t>
                </a:r>
                <a:endParaRPr lang="en-US" altLang="zh-CN" dirty="0">
                  <a:solidFill>
                    <a:srgbClr val="A5D02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8" name="直接连接符 117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矩形 109"/>
            <p:cNvSpPr/>
            <p:nvPr/>
          </p:nvSpPr>
          <p:spPr>
            <a:xfrm>
              <a:off x="2795016" y="3353913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31" name="矩形 130"/>
          <p:cNvSpPr/>
          <p:nvPr/>
        </p:nvSpPr>
        <p:spPr>
          <a:xfrm>
            <a:off x="3645703" y="3635785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9247C57-F2B7-4873-BA24-1D5AF77A17B2}"/>
              </a:ext>
            </a:extLst>
          </p:cNvPr>
          <p:cNvGrpSpPr/>
          <p:nvPr/>
        </p:nvGrpSpPr>
        <p:grpSpPr>
          <a:xfrm>
            <a:off x="2749419" y="3069014"/>
            <a:ext cx="2421508" cy="864095"/>
            <a:chOff x="3665891" y="4092018"/>
            <a:chExt cx="3228677" cy="1152127"/>
          </a:xfrm>
        </p:grpSpPr>
        <p:cxnSp>
          <p:nvCxnSpPr>
            <p:cNvPr id="125" name="直接连接符 124"/>
            <p:cNvCxnSpPr/>
            <p:nvPr/>
          </p:nvCxnSpPr>
          <p:spPr>
            <a:xfrm>
              <a:off x="3698276" y="4092018"/>
              <a:ext cx="3157820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3698276" y="4668081"/>
              <a:ext cx="1056117" cy="0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5906521" y="4668081"/>
              <a:ext cx="960107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4754394" y="5244145"/>
              <a:ext cx="1152128" cy="0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矩形 128"/>
            <p:cNvSpPr/>
            <p:nvPr/>
          </p:nvSpPr>
          <p:spPr>
            <a:xfrm>
              <a:off x="3665891" y="4127634"/>
              <a:ext cx="1152452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baseline="-25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程序</a:t>
              </a:r>
            </a:p>
          </p:txBody>
        </p:sp>
        <p:sp>
          <p:nvSpPr>
            <p:cNvPr id="130" name="矩形 129"/>
            <p:cNvSpPr/>
            <p:nvPr/>
          </p:nvSpPr>
          <p:spPr>
            <a:xfrm>
              <a:off x="5810511" y="4146119"/>
              <a:ext cx="1084057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代码</a:t>
              </a:r>
            </a:p>
          </p:txBody>
        </p:sp>
        <p:cxnSp>
          <p:nvCxnSpPr>
            <p:cNvPr id="132" name="直接连接符 131"/>
            <p:cNvCxnSpPr/>
            <p:nvPr/>
          </p:nvCxnSpPr>
          <p:spPr>
            <a:xfrm>
              <a:off x="3698276" y="4092018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>
              <a:off x="6866628" y="4092018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5906521" y="4668081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>
              <a:off x="4754394" y="4668081"/>
              <a:ext cx="0" cy="576063"/>
            </a:xfrm>
            <a:prstGeom prst="line">
              <a:avLst/>
            </a:prstGeom>
            <a:ln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矩形 123"/>
          <p:cNvSpPr/>
          <p:nvPr/>
        </p:nvSpPr>
        <p:spPr>
          <a:xfrm>
            <a:off x="3733027" y="3291828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5" name="矩形 144"/>
          <p:cNvSpPr/>
          <p:nvPr/>
        </p:nvSpPr>
        <p:spPr>
          <a:xfrm>
            <a:off x="1868485" y="3025604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baseline="-25000" dirty="0">
                <a:solidFill>
                  <a:srgbClr val="073E8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73E87"/>
                </a:solidFill>
              </a:rPr>
              <a:t>语言</a:t>
            </a:r>
            <a:endParaRPr lang="en-US" altLang="zh-CN" dirty="0">
              <a:solidFill>
                <a:srgbClr val="073E87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103AE2E-551D-4FB1-900F-5D5B2DD981E6}"/>
              </a:ext>
            </a:extLst>
          </p:cNvPr>
          <p:cNvGrpSpPr/>
          <p:nvPr/>
        </p:nvGrpSpPr>
        <p:grpSpPr>
          <a:xfrm>
            <a:off x="1028946" y="2569526"/>
            <a:ext cx="2421508" cy="864098"/>
            <a:chOff x="7482602" y="5110827"/>
            <a:chExt cx="3228677" cy="1152130"/>
          </a:xfrm>
        </p:grpSpPr>
        <p:cxnSp>
          <p:nvCxnSpPr>
            <p:cNvPr id="139" name="直接连接符 138"/>
            <p:cNvCxnSpPr/>
            <p:nvPr/>
          </p:nvCxnSpPr>
          <p:spPr>
            <a:xfrm>
              <a:off x="7514987" y="5110827"/>
              <a:ext cx="3157820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7514987" y="5686892"/>
              <a:ext cx="1056117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>
              <a:off x="9723232" y="5686892"/>
              <a:ext cx="960107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/>
          </p:nvCxnSpPr>
          <p:spPr>
            <a:xfrm>
              <a:off x="8571105" y="6262956"/>
              <a:ext cx="115212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矩形 142"/>
            <p:cNvSpPr/>
            <p:nvPr/>
          </p:nvSpPr>
          <p:spPr>
            <a:xfrm>
              <a:off x="7482602" y="5146443"/>
              <a:ext cx="1152452" cy="4924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baseline="-25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dirty="0">
                  <a:solidFill>
                    <a:prstClr val="black"/>
                  </a:solidFill>
                </a:rPr>
                <a:t>程序</a:t>
              </a:r>
            </a:p>
          </p:txBody>
        </p:sp>
        <p:sp>
          <p:nvSpPr>
            <p:cNvPr id="144" name="矩形 143"/>
            <p:cNvSpPr/>
            <p:nvPr/>
          </p:nvSpPr>
          <p:spPr>
            <a:xfrm>
              <a:off x="9627222" y="5164928"/>
              <a:ext cx="1084057" cy="4924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dirty="0">
                  <a:solidFill>
                    <a:prstClr val="black"/>
                  </a:solidFill>
                </a:rPr>
                <a:t>代码</a:t>
              </a:r>
            </a:p>
          </p:txBody>
        </p:sp>
        <p:cxnSp>
          <p:nvCxnSpPr>
            <p:cNvPr id="146" name="直接连接符 145"/>
            <p:cNvCxnSpPr/>
            <p:nvPr/>
          </p:nvCxnSpPr>
          <p:spPr>
            <a:xfrm>
              <a:off x="7514987" y="5110827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10683339" y="5110827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>
              <a:off x="9723232" y="5686892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8571105" y="5686892"/>
              <a:ext cx="0" cy="57606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矩形 137"/>
          <p:cNvSpPr/>
          <p:nvPr/>
        </p:nvSpPr>
        <p:spPr>
          <a:xfrm>
            <a:off x="2102638" y="2727446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’</a:t>
            </a:r>
            <a:endParaRPr lang="en-US" altLang="zh-CN" dirty="0">
              <a:solidFill>
                <a:srgbClr val="FF0000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4403481" y="2581676"/>
            <a:ext cx="2421508" cy="936104"/>
            <a:chOff x="1811407" y="3147814"/>
            <a:chExt cx="2421508" cy="936104"/>
          </a:xfrm>
        </p:grpSpPr>
        <p:grpSp>
          <p:nvGrpSpPr>
            <p:cNvPr id="151" name="组合 150"/>
            <p:cNvGrpSpPr/>
            <p:nvPr/>
          </p:nvGrpSpPr>
          <p:grpSpPr>
            <a:xfrm>
              <a:off x="1811407" y="3147814"/>
              <a:ext cx="2421508" cy="936104"/>
              <a:chOff x="1811407" y="3147814"/>
              <a:chExt cx="2421508" cy="936104"/>
            </a:xfrm>
          </p:grpSpPr>
          <p:cxnSp>
            <p:nvCxnSpPr>
              <p:cNvPr id="153" name="直接连接符 152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矩形 156"/>
              <p:cNvSpPr/>
              <p:nvPr/>
            </p:nvSpPr>
            <p:spPr>
              <a:xfrm>
                <a:off x="1811407" y="3174526"/>
                <a:ext cx="8643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baseline="-25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程序</a:t>
                </a:r>
              </a:p>
            </p:txBody>
          </p:sp>
          <p:sp>
            <p:nvSpPr>
              <p:cNvPr id="158" name="矩形 157"/>
              <p:cNvSpPr/>
              <p:nvPr/>
            </p:nvSpPr>
            <p:spPr>
              <a:xfrm>
                <a:off x="3419872" y="3188390"/>
                <a:ext cx="8130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代码</a:t>
                </a:r>
              </a:p>
            </p:txBody>
          </p:sp>
          <p:sp>
            <p:nvSpPr>
              <p:cNvPr id="159" name="矩形 158"/>
              <p:cNvSpPr/>
              <p:nvPr/>
            </p:nvSpPr>
            <p:spPr>
              <a:xfrm>
                <a:off x="2649234" y="3714586"/>
                <a:ext cx="8130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rgbClr val="31B6F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solidFill>
                      <a:srgbClr val="31B6FD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语言</a:t>
                </a:r>
                <a:endParaRPr lang="en-US" altLang="zh-CN" dirty="0">
                  <a:solidFill>
                    <a:srgbClr val="31B6F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0" name="直接连接符 159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矩形 151"/>
            <p:cNvSpPr/>
            <p:nvPr/>
          </p:nvSpPr>
          <p:spPr>
            <a:xfrm>
              <a:off x="2795016" y="3353913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4" name="矩形 3"/>
          <p:cNvSpPr/>
          <p:nvPr/>
        </p:nvSpPr>
        <p:spPr>
          <a:xfrm>
            <a:off x="1637713" y="237877"/>
            <a:ext cx="7686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（在同一台机器上实现不同语言的编译器）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D2E7CC0-C08A-4894-9351-79105FC958F1}"/>
              </a:ext>
            </a:extLst>
          </p:cNvPr>
          <p:cNvSpPr txBox="1"/>
          <p:nvPr/>
        </p:nvSpPr>
        <p:spPr>
          <a:xfrm>
            <a:off x="1760534" y="840455"/>
            <a:ext cx="48863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73E87">
                    <a:lumMod val="40000"/>
                    <a:lumOff val="60000"/>
                  </a:srgbClr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73E87">
                    <a:lumMod val="40000"/>
                    <a:lumOff val="60000"/>
                  </a:srgbClr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000" b="1" dirty="0">
                <a:solidFill>
                  <a:srgbClr val="073E87">
                    <a:lumMod val="40000"/>
                    <a:lumOff val="60000"/>
                  </a:srgbClr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000" b="1" dirty="0">
                <a:solidFill>
                  <a:srgbClr val="073E87">
                    <a:lumMod val="40000"/>
                    <a:lumOff val="60000"/>
                  </a:srgbClr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baseline="-25000" dirty="0">
                <a:solidFill>
                  <a:srgbClr val="073E87">
                    <a:lumMod val="40000"/>
                    <a:lumOff val="60000"/>
                  </a:srgbClr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805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24" grpId="0"/>
      <p:bldP spid="145" grpId="0"/>
      <p:bldP spid="138" grpId="0"/>
      <p:bldP spid="4" grpId="0"/>
      <p:bldP spid="9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直接连接符 248">
            <a:extLst>
              <a:ext uri="{FF2B5EF4-FFF2-40B4-BE49-F238E27FC236}">
                <a16:creationId xmlns:a16="http://schemas.microsoft.com/office/drawing/2014/main" id="{A12F2937-E10B-4ABE-9329-BE52D5A68344}"/>
              </a:ext>
            </a:extLst>
          </p:cNvPr>
          <p:cNvCxnSpPr>
            <a:cxnSpLocks/>
          </p:cNvCxnSpPr>
          <p:nvPr/>
        </p:nvCxnSpPr>
        <p:spPr>
          <a:xfrm flipH="1">
            <a:off x="5088080" y="2243246"/>
            <a:ext cx="0" cy="240476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自展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Calibri"/>
              <a:ea typeface="华文楷体" panose="02010600040101010101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5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华文楷体" panose="0201060004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华文楷体" panose="02010600040101010101" pitchFamily="2" charset="-122"/>
              </a:endParaRPr>
            </a:p>
          </p:txBody>
        </p:sp>
      </p:grpSp>
      <p:cxnSp>
        <p:nvCxnSpPr>
          <p:cNvPr id="139" name="直接连接符 138"/>
          <p:cNvCxnSpPr>
            <a:cxnSpLocks/>
          </p:cNvCxnSpPr>
          <p:nvPr/>
        </p:nvCxnSpPr>
        <p:spPr>
          <a:xfrm>
            <a:off x="2144162" y="3407441"/>
            <a:ext cx="384597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cxnSpLocks/>
          </p:cNvCxnSpPr>
          <p:nvPr/>
        </p:nvCxnSpPr>
        <p:spPr>
          <a:xfrm>
            <a:off x="1739287" y="3655959"/>
            <a:ext cx="4166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cxnSpLocks/>
          </p:cNvCxnSpPr>
          <p:nvPr/>
        </p:nvCxnSpPr>
        <p:spPr>
          <a:xfrm flipH="1">
            <a:off x="1369408" y="3157168"/>
            <a:ext cx="0" cy="240476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637713" y="237877"/>
            <a:ext cx="768681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spc="3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（在同一台机器上实现不同语言的编译器）</a:t>
            </a:r>
            <a:endParaRPr lang="zh-CN" altLang="en-US" dirty="0">
              <a:solidFill>
                <a:prstClr val="black"/>
              </a:solidFill>
              <a:latin typeface="Candara"/>
              <a:ea typeface="华文楷体" panose="02010600040101010101" pitchFamily="2" charset="-122"/>
            </a:endParaRPr>
          </a:p>
        </p:txBody>
      </p: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815214EC-1BEE-4C6F-83A2-2F9276FD42CE}"/>
              </a:ext>
            </a:extLst>
          </p:cNvPr>
          <p:cNvCxnSpPr>
            <a:cxnSpLocks/>
          </p:cNvCxnSpPr>
          <p:nvPr/>
        </p:nvCxnSpPr>
        <p:spPr>
          <a:xfrm flipH="1">
            <a:off x="1752419" y="3397644"/>
            <a:ext cx="0" cy="240476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C6FBE89B-001A-4B98-AE8B-54C7495AF6A1}"/>
              </a:ext>
            </a:extLst>
          </p:cNvPr>
          <p:cNvCxnSpPr>
            <a:cxnSpLocks/>
          </p:cNvCxnSpPr>
          <p:nvPr/>
        </p:nvCxnSpPr>
        <p:spPr>
          <a:xfrm>
            <a:off x="1367822" y="3397643"/>
            <a:ext cx="384597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1E9AEB59-6DF4-4196-9E53-3488A20B5615}"/>
              </a:ext>
            </a:extLst>
          </p:cNvPr>
          <p:cNvCxnSpPr>
            <a:cxnSpLocks/>
          </p:cNvCxnSpPr>
          <p:nvPr/>
        </p:nvCxnSpPr>
        <p:spPr>
          <a:xfrm flipH="1">
            <a:off x="2158533" y="3417466"/>
            <a:ext cx="0" cy="240476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A4C82D64-5A80-46A2-9924-A98B851305B4}"/>
              </a:ext>
            </a:extLst>
          </p:cNvPr>
          <p:cNvCxnSpPr>
            <a:cxnSpLocks/>
          </p:cNvCxnSpPr>
          <p:nvPr/>
        </p:nvCxnSpPr>
        <p:spPr>
          <a:xfrm>
            <a:off x="1359611" y="3149782"/>
            <a:ext cx="1184343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634DFAF4-619E-4D94-A572-661EAAC29837}"/>
              </a:ext>
            </a:extLst>
          </p:cNvPr>
          <p:cNvCxnSpPr>
            <a:cxnSpLocks/>
          </p:cNvCxnSpPr>
          <p:nvPr/>
        </p:nvCxnSpPr>
        <p:spPr>
          <a:xfrm flipH="1">
            <a:off x="2528759" y="3161026"/>
            <a:ext cx="0" cy="240476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>
            <a:extLst>
              <a:ext uri="{FF2B5EF4-FFF2-40B4-BE49-F238E27FC236}">
                <a16:creationId xmlns:a16="http://schemas.microsoft.com/office/drawing/2014/main" id="{1669D65B-6B9F-4851-AE1B-B8E3F2AF62A4}"/>
              </a:ext>
            </a:extLst>
          </p:cNvPr>
          <p:cNvCxnSpPr>
            <a:cxnSpLocks/>
          </p:cNvCxnSpPr>
          <p:nvPr/>
        </p:nvCxnSpPr>
        <p:spPr>
          <a:xfrm>
            <a:off x="3826973" y="3427856"/>
            <a:ext cx="384597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743451A4-EEFB-490E-B05F-789CEDABD587}"/>
              </a:ext>
            </a:extLst>
          </p:cNvPr>
          <p:cNvCxnSpPr>
            <a:cxnSpLocks/>
          </p:cNvCxnSpPr>
          <p:nvPr/>
        </p:nvCxnSpPr>
        <p:spPr>
          <a:xfrm>
            <a:off x="3422098" y="3676374"/>
            <a:ext cx="416642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287B5D36-F12F-4323-9371-50B682EC4CFA}"/>
              </a:ext>
            </a:extLst>
          </p:cNvPr>
          <p:cNvCxnSpPr>
            <a:cxnSpLocks/>
          </p:cNvCxnSpPr>
          <p:nvPr/>
        </p:nvCxnSpPr>
        <p:spPr>
          <a:xfrm flipH="1">
            <a:off x="3052219" y="3177583"/>
            <a:ext cx="0" cy="240476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>
            <a:extLst>
              <a:ext uri="{FF2B5EF4-FFF2-40B4-BE49-F238E27FC236}">
                <a16:creationId xmlns:a16="http://schemas.microsoft.com/office/drawing/2014/main" id="{B5CC00CC-4AD8-466A-B132-37D05CB931A7}"/>
              </a:ext>
            </a:extLst>
          </p:cNvPr>
          <p:cNvCxnSpPr>
            <a:cxnSpLocks/>
          </p:cNvCxnSpPr>
          <p:nvPr/>
        </p:nvCxnSpPr>
        <p:spPr>
          <a:xfrm flipH="1">
            <a:off x="3435230" y="3418059"/>
            <a:ext cx="0" cy="240476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86402631-9843-4ED1-BA4C-A8F0B8C5CBB1}"/>
              </a:ext>
            </a:extLst>
          </p:cNvPr>
          <p:cNvCxnSpPr>
            <a:cxnSpLocks/>
          </p:cNvCxnSpPr>
          <p:nvPr/>
        </p:nvCxnSpPr>
        <p:spPr>
          <a:xfrm>
            <a:off x="3050633" y="3418058"/>
            <a:ext cx="384597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B10CA310-670E-48F8-9AB8-FCB2EDC6AEFE}"/>
              </a:ext>
            </a:extLst>
          </p:cNvPr>
          <p:cNvCxnSpPr>
            <a:cxnSpLocks/>
          </p:cNvCxnSpPr>
          <p:nvPr/>
        </p:nvCxnSpPr>
        <p:spPr>
          <a:xfrm flipH="1">
            <a:off x="3841344" y="3437881"/>
            <a:ext cx="0" cy="240476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811322FF-A538-491E-AADB-5AC4C1098F9D}"/>
              </a:ext>
            </a:extLst>
          </p:cNvPr>
          <p:cNvCxnSpPr>
            <a:cxnSpLocks/>
          </p:cNvCxnSpPr>
          <p:nvPr/>
        </p:nvCxnSpPr>
        <p:spPr>
          <a:xfrm>
            <a:off x="3042422" y="3170197"/>
            <a:ext cx="1184343" cy="0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CA7F2280-C93A-49F4-893E-7E6993F854E2}"/>
              </a:ext>
            </a:extLst>
          </p:cNvPr>
          <p:cNvCxnSpPr>
            <a:cxnSpLocks/>
          </p:cNvCxnSpPr>
          <p:nvPr/>
        </p:nvCxnSpPr>
        <p:spPr>
          <a:xfrm flipH="1">
            <a:off x="4211570" y="3181441"/>
            <a:ext cx="0" cy="240476"/>
          </a:xfrm>
          <a:prstGeom prst="line">
            <a:avLst/>
          </a:prstGeom>
          <a:ln w="254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5B19843E-CD9D-41E1-9967-37100AFE407F}"/>
              </a:ext>
            </a:extLst>
          </p:cNvPr>
          <p:cNvCxnSpPr>
            <a:cxnSpLocks/>
          </p:cNvCxnSpPr>
          <p:nvPr/>
        </p:nvCxnSpPr>
        <p:spPr>
          <a:xfrm>
            <a:off x="2998790" y="3714280"/>
            <a:ext cx="384597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93F6CA5B-ED94-4151-98C1-6C341BD0DA87}"/>
              </a:ext>
            </a:extLst>
          </p:cNvPr>
          <p:cNvCxnSpPr>
            <a:cxnSpLocks/>
          </p:cNvCxnSpPr>
          <p:nvPr/>
        </p:nvCxnSpPr>
        <p:spPr>
          <a:xfrm>
            <a:off x="2593915" y="3962798"/>
            <a:ext cx="416642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DF19869B-73F0-4347-9667-5B33FDD79C28}"/>
              </a:ext>
            </a:extLst>
          </p:cNvPr>
          <p:cNvCxnSpPr>
            <a:cxnSpLocks/>
          </p:cNvCxnSpPr>
          <p:nvPr/>
        </p:nvCxnSpPr>
        <p:spPr>
          <a:xfrm flipH="1">
            <a:off x="2224036" y="3464007"/>
            <a:ext cx="0" cy="240476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1E6D7B09-F480-4E12-873F-D8243B734495}"/>
              </a:ext>
            </a:extLst>
          </p:cNvPr>
          <p:cNvCxnSpPr>
            <a:cxnSpLocks/>
          </p:cNvCxnSpPr>
          <p:nvPr/>
        </p:nvCxnSpPr>
        <p:spPr>
          <a:xfrm flipH="1">
            <a:off x="2607047" y="3704483"/>
            <a:ext cx="0" cy="240476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90E928F4-8FA8-4167-87F7-8AC63FE7B467}"/>
              </a:ext>
            </a:extLst>
          </p:cNvPr>
          <p:cNvCxnSpPr>
            <a:cxnSpLocks/>
          </p:cNvCxnSpPr>
          <p:nvPr/>
        </p:nvCxnSpPr>
        <p:spPr>
          <a:xfrm>
            <a:off x="2222450" y="3704483"/>
            <a:ext cx="384597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FDD88609-8356-462E-8105-E3AC1CACC154}"/>
              </a:ext>
            </a:extLst>
          </p:cNvPr>
          <p:cNvCxnSpPr>
            <a:cxnSpLocks/>
          </p:cNvCxnSpPr>
          <p:nvPr/>
        </p:nvCxnSpPr>
        <p:spPr>
          <a:xfrm flipH="1">
            <a:off x="3013161" y="3724305"/>
            <a:ext cx="0" cy="240476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01CAF34A-44DA-4949-A953-88BAE43AF64A}"/>
              </a:ext>
            </a:extLst>
          </p:cNvPr>
          <p:cNvCxnSpPr>
            <a:cxnSpLocks/>
          </p:cNvCxnSpPr>
          <p:nvPr/>
        </p:nvCxnSpPr>
        <p:spPr>
          <a:xfrm>
            <a:off x="2214239" y="3456621"/>
            <a:ext cx="1184343" cy="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855B5D7C-EE0B-4860-B907-F555A6D46B92}"/>
              </a:ext>
            </a:extLst>
          </p:cNvPr>
          <p:cNvCxnSpPr>
            <a:cxnSpLocks/>
          </p:cNvCxnSpPr>
          <p:nvPr/>
        </p:nvCxnSpPr>
        <p:spPr>
          <a:xfrm flipH="1">
            <a:off x="3383387" y="3467866"/>
            <a:ext cx="0" cy="240476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1B0F2433-B8AA-4449-B948-3349528CE065}"/>
              </a:ext>
            </a:extLst>
          </p:cNvPr>
          <p:cNvCxnSpPr>
            <a:cxnSpLocks/>
          </p:cNvCxnSpPr>
          <p:nvPr/>
        </p:nvCxnSpPr>
        <p:spPr>
          <a:xfrm>
            <a:off x="2983596" y="3119693"/>
            <a:ext cx="384597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9941538F-EB5E-45DE-86D9-AC0AD41A9A20}"/>
              </a:ext>
            </a:extLst>
          </p:cNvPr>
          <p:cNvCxnSpPr>
            <a:cxnSpLocks/>
          </p:cNvCxnSpPr>
          <p:nvPr/>
        </p:nvCxnSpPr>
        <p:spPr>
          <a:xfrm>
            <a:off x="2578720" y="3368211"/>
            <a:ext cx="416642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CDC24D72-018A-4126-BD2D-D4BBCD343EC4}"/>
              </a:ext>
            </a:extLst>
          </p:cNvPr>
          <p:cNvCxnSpPr>
            <a:cxnSpLocks/>
          </p:cNvCxnSpPr>
          <p:nvPr/>
        </p:nvCxnSpPr>
        <p:spPr>
          <a:xfrm flipH="1">
            <a:off x="2208842" y="2869420"/>
            <a:ext cx="0" cy="24047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>
            <a:extLst>
              <a:ext uri="{FF2B5EF4-FFF2-40B4-BE49-F238E27FC236}">
                <a16:creationId xmlns:a16="http://schemas.microsoft.com/office/drawing/2014/main" id="{14D5AEA4-B0FC-47D4-8497-959852704399}"/>
              </a:ext>
            </a:extLst>
          </p:cNvPr>
          <p:cNvCxnSpPr>
            <a:cxnSpLocks/>
          </p:cNvCxnSpPr>
          <p:nvPr/>
        </p:nvCxnSpPr>
        <p:spPr>
          <a:xfrm flipH="1">
            <a:off x="2591852" y="3109896"/>
            <a:ext cx="0" cy="24047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5D9B7B3E-204D-4B3F-AA57-E84A1580C4BB}"/>
              </a:ext>
            </a:extLst>
          </p:cNvPr>
          <p:cNvCxnSpPr>
            <a:cxnSpLocks/>
          </p:cNvCxnSpPr>
          <p:nvPr/>
        </p:nvCxnSpPr>
        <p:spPr>
          <a:xfrm>
            <a:off x="2207255" y="3109895"/>
            <a:ext cx="384597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F60E2113-4F9D-45F1-B939-F7B6CB6FD017}"/>
              </a:ext>
            </a:extLst>
          </p:cNvPr>
          <p:cNvCxnSpPr>
            <a:cxnSpLocks/>
          </p:cNvCxnSpPr>
          <p:nvPr/>
        </p:nvCxnSpPr>
        <p:spPr>
          <a:xfrm flipH="1">
            <a:off x="2997967" y="3129718"/>
            <a:ext cx="0" cy="24047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10D3772D-7E49-4219-A2E7-450F8F0E02E8}"/>
              </a:ext>
            </a:extLst>
          </p:cNvPr>
          <p:cNvCxnSpPr>
            <a:cxnSpLocks/>
          </p:cNvCxnSpPr>
          <p:nvPr/>
        </p:nvCxnSpPr>
        <p:spPr>
          <a:xfrm>
            <a:off x="2199044" y="2862034"/>
            <a:ext cx="1184343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4BF667AB-EDAF-4EEF-89B8-68C2E5288664}"/>
              </a:ext>
            </a:extLst>
          </p:cNvPr>
          <p:cNvCxnSpPr>
            <a:cxnSpLocks/>
          </p:cNvCxnSpPr>
          <p:nvPr/>
        </p:nvCxnSpPr>
        <p:spPr>
          <a:xfrm flipH="1">
            <a:off x="3368193" y="2873278"/>
            <a:ext cx="0" cy="240476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5361B7B3-0D8E-4033-9295-9E39F6C61807}"/>
              </a:ext>
            </a:extLst>
          </p:cNvPr>
          <p:cNvCxnSpPr>
            <a:cxnSpLocks/>
          </p:cNvCxnSpPr>
          <p:nvPr/>
        </p:nvCxnSpPr>
        <p:spPr>
          <a:xfrm>
            <a:off x="4673859" y="3127078"/>
            <a:ext cx="384597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CC1F630C-4850-4B07-891A-0E108982033C}"/>
              </a:ext>
            </a:extLst>
          </p:cNvPr>
          <p:cNvCxnSpPr>
            <a:cxnSpLocks/>
          </p:cNvCxnSpPr>
          <p:nvPr/>
        </p:nvCxnSpPr>
        <p:spPr>
          <a:xfrm>
            <a:off x="4268983" y="3375596"/>
            <a:ext cx="416642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B48EF6D5-C548-45D5-8034-E5A55B2CB219}"/>
              </a:ext>
            </a:extLst>
          </p:cNvPr>
          <p:cNvCxnSpPr>
            <a:cxnSpLocks/>
          </p:cNvCxnSpPr>
          <p:nvPr/>
        </p:nvCxnSpPr>
        <p:spPr>
          <a:xfrm flipH="1">
            <a:off x="3899105" y="2876805"/>
            <a:ext cx="0" cy="240476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0663B7F9-EBD1-4928-86F2-C275D134D441}"/>
              </a:ext>
            </a:extLst>
          </p:cNvPr>
          <p:cNvCxnSpPr>
            <a:cxnSpLocks/>
          </p:cNvCxnSpPr>
          <p:nvPr/>
        </p:nvCxnSpPr>
        <p:spPr>
          <a:xfrm flipH="1">
            <a:off x="4282115" y="3117281"/>
            <a:ext cx="0" cy="240476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1D6F6134-8946-4148-BC90-163C8E6F2F65}"/>
              </a:ext>
            </a:extLst>
          </p:cNvPr>
          <p:cNvCxnSpPr>
            <a:cxnSpLocks/>
          </p:cNvCxnSpPr>
          <p:nvPr/>
        </p:nvCxnSpPr>
        <p:spPr>
          <a:xfrm>
            <a:off x="3897518" y="3117281"/>
            <a:ext cx="384597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B833E2D3-0505-4613-911D-CC2374E05664}"/>
              </a:ext>
            </a:extLst>
          </p:cNvPr>
          <p:cNvCxnSpPr>
            <a:cxnSpLocks/>
          </p:cNvCxnSpPr>
          <p:nvPr/>
        </p:nvCxnSpPr>
        <p:spPr>
          <a:xfrm flipH="1">
            <a:off x="4688230" y="3137103"/>
            <a:ext cx="0" cy="240476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237B4E00-A8C0-464E-BAD4-AB08184648AA}"/>
              </a:ext>
            </a:extLst>
          </p:cNvPr>
          <p:cNvCxnSpPr>
            <a:cxnSpLocks/>
          </p:cNvCxnSpPr>
          <p:nvPr/>
        </p:nvCxnSpPr>
        <p:spPr>
          <a:xfrm>
            <a:off x="3889307" y="2869419"/>
            <a:ext cx="1184343" cy="0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89C0A6A5-F819-430B-815E-19DD884A0288}"/>
              </a:ext>
            </a:extLst>
          </p:cNvPr>
          <p:cNvCxnSpPr>
            <a:cxnSpLocks/>
          </p:cNvCxnSpPr>
          <p:nvPr/>
        </p:nvCxnSpPr>
        <p:spPr>
          <a:xfrm flipH="1">
            <a:off x="5058456" y="2880664"/>
            <a:ext cx="0" cy="240476"/>
          </a:xfrm>
          <a:prstGeom prst="line">
            <a:avLst/>
          </a:prstGeom>
          <a:ln w="254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0026A79E-EFD7-4CF7-A6D1-364ECF2462A3}"/>
              </a:ext>
            </a:extLst>
          </p:cNvPr>
          <p:cNvCxnSpPr>
            <a:cxnSpLocks/>
          </p:cNvCxnSpPr>
          <p:nvPr/>
        </p:nvCxnSpPr>
        <p:spPr>
          <a:xfrm>
            <a:off x="3826973" y="2829409"/>
            <a:ext cx="384597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53881270-5177-4899-8534-120544DA40A3}"/>
              </a:ext>
            </a:extLst>
          </p:cNvPr>
          <p:cNvCxnSpPr>
            <a:cxnSpLocks/>
          </p:cNvCxnSpPr>
          <p:nvPr/>
        </p:nvCxnSpPr>
        <p:spPr>
          <a:xfrm>
            <a:off x="3422098" y="3077927"/>
            <a:ext cx="416642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35AD15AB-97F2-4496-8AB4-055C63109FF3}"/>
              </a:ext>
            </a:extLst>
          </p:cNvPr>
          <p:cNvCxnSpPr>
            <a:cxnSpLocks/>
          </p:cNvCxnSpPr>
          <p:nvPr/>
        </p:nvCxnSpPr>
        <p:spPr>
          <a:xfrm flipH="1">
            <a:off x="3052219" y="2579136"/>
            <a:ext cx="0" cy="240476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47EC20A4-E075-4CF4-8579-6E36AE3D948A}"/>
              </a:ext>
            </a:extLst>
          </p:cNvPr>
          <p:cNvCxnSpPr>
            <a:cxnSpLocks/>
          </p:cNvCxnSpPr>
          <p:nvPr/>
        </p:nvCxnSpPr>
        <p:spPr>
          <a:xfrm flipH="1">
            <a:off x="3435230" y="2819612"/>
            <a:ext cx="0" cy="240476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>
            <a:extLst>
              <a:ext uri="{FF2B5EF4-FFF2-40B4-BE49-F238E27FC236}">
                <a16:creationId xmlns:a16="http://schemas.microsoft.com/office/drawing/2014/main" id="{32B50192-7A27-4731-9E0E-5689B32C9DBF}"/>
              </a:ext>
            </a:extLst>
          </p:cNvPr>
          <p:cNvCxnSpPr>
            <a:cxnSpLocks/>
          </p:cNvCxnSpPr>
          <p:nvPr/>
        </p:nvCxnSpPr>
        <p:spPr>
          <a:xfrm>
            <a:off x="3050633" y="2819612"/>
            <a:ext cx="384597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D2228906-E6A8-43DA-96C9-FDAC638D9BFA}"/>
              </a:ext>
            </a:extLst>
          </p:cNvPr>
          <p:cNvCxnSpPr>
            <a:cxnSpLocks/>
          </p:cNvCxnSpPr>
          <p:nvPr/>
        </p:nvCxnSpPr>
        <p:spPr>
          <a:xfrm flipH="1">
            <a:off x="3841344" y="2839434"/>
            <a:ext cx="0" cy="240476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43C30F47-2FCD-47E7-8A9D-DFCB3C9B76BD}"/>
              </a:ext>
            </a:extLst>
          </p:cNvPr>
          <p:cNvCxnSpPr>
            <a:cxnSpLocks/>
          </p:cNvCxnSpPr>
          <p:nvPr/>
        </p:nvCxnSpPr>
        <p:spPr>
          <a:xfrm>
            <a:off x="3042422" y="2571750"/>
            <a:ext cx="1184343" cy="0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15F89BA7-8F86-44BD-BF36-190F729DDC51}"/>
              </a:ext>
            </a:extLst>
          </p:cNvPr>
          <p:cNvCxnSpPr>
            <a:cxnSpLocks/>
          </p:cNvCxnSpPr>
          <p:nvPr/>
        </p:nvCxnSpPr>
        <p:spPr>
          <a:xfrm flipH="1">
            <a:off x="4211570" y="2582995"/>
            <a:ext cx="0" cy="240476"/>
          </a:xfrm>
          <a:prstGeom prst="line">
            <a:avLst/>
          </a:prstGeom>
          <a:ln w="25400">
            <a:solidFill>
              <a:srgbClr val="FF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2FD445FA-EF25-4AE6-9DD0-9237C2A2BB6F}"/>
              </a:ext>
            </a:extLst>
          </p:cNvPr>
          <p:cNvCxnSpPr>
            <a:cxnSpLocks/>
          </p:cNvCxnSpPr>
          <p:nvPr/>
        </p:nvCxnSpPr>
        <p:spPr>
          <a:xfrm>
            <a:off x="5495018" y="2846591"/>
            <a:ext cx="384597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C5616154-ABF2-42A6-B164-28C5ABD4A218}"/>
              </a:ext>
            </a:extLst>
          </p:cNvPr>
          <p:cNvCxnSpPr>
            <a:cxnSpLocks/>
          </p:cNvCxnSpPr>
          <p:nvPr/>
        </p:nvCxnSpPr>
        <p:spPr>
          <a:xfrm>
            <a:off x="5090143" y="3095110"/>
            <a:ext cx="416642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30A6458A-00FF-4CEC-AAB3-B0D7636AD74A}"/>
              </a:ext>
            </a:extLst>
          </p:cNvPr>
          <p:cNvCxnSpPr>
            <a:cxnSpLocks/>
          </p:cNvCxnSpPr>
          <p:nvPr/>
        </p:nvCxnSpPr>
        <p:spPr>
          <a:xfrm flipH="1">
            <a:off x="4720264" y="2596318"/>
            <a:ext cx="0" cy="240476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>
            <a:extLst>
              <a:ext uri="{FF2B5EF4-FFF2-40B4-BE49-F238E27FC236}">
                <a16:creationId xmlns:a16="http://schemas.microsoft.com/office/drawing/2014/main" id="{66777D75-8FBE-452E-9A73-6E87C7BE0BAA}"/>
              </a:ext>
            </a:extLst>
          </p:cNvPr>
          <p:cNvCxnSpPr>
            <a:cxnSpLocks/>
          </p:cNvCxnSpPr>
          <p:nvPr/>
        </p:nvCxnSpPr>
        <p:spPr>
          <a:xfrm flipH="1">
            <a:off x="5103275" y="2836795"/>
            <a:ext cx="0" cy="240476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B1FFB501-B06E-4507-BD6F-052DFDC456E5}"/>
              </a:ext>
            </a:extLst>
          </p:cNvPr>
          <p:cNvCxnSpPr>
            <a:cxnSpLocks/>
          </p:cNvCxnSpPr>
          <p:nvPr/>
        </p:nvCxnSpPr>
        <p:spPr>
          <a:xfrm>
            <a:off x="4718678" y="2836794"/>
            <a:ext cx="384597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3D3E71DF-4654-4CFD-BC1B-399C0E65CF00}"/>
              </a:ext>
            </a:extLst>
          </p:cNvPr>
          <p:cNvCxnSpPr>
            <a:cxnSpLocks/>
          </p:cNvCxnSpPr>
          <p:nvPr/>
        </p:nvCxnSpPr>
        <p:spPr>
          <a:xfrm flipH="1">
            <a:off x="5509389" y="2856616"/>
            <a:ext cx="0" cy="240476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CD407D36-1AC4-4F08-8EBE-E6819F6B5257}"/>
              </a:ext>
            </a:extLst>
          </p:cNvPr>
          <p:cNvCxnSpPr>
            <a:cxnSpLocks/>
          </p:cNvCxnSpPr>
          <p:nvPr/>
        </p:nvCxnSpPr>
        <p:spPr>
          <a:xfrm>
            <a:off x="4710467" y="2588933"/>
            <a:ext cx="1184343" cy="0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AD442619-E46C-47D5-9A5D-65ACAF43134F}"/>
              </a:ext>
            </a:extLst>
          </p:cNvPr>
          <p:cNvCxnSpPr>
            <a:cxnSpLocks/>
          </p:cNvCxnSpPr>
          <p:nvPr/>
        </p:nvCxnSpPr>
        <p:spPr>
          <a:xfrm flipH="1">
            <a:off x="5879615" y="2600177"/>
            <a:ext cx="0" cy="240476"/>
          </a:xfrm>
          <a:prstGeom prst="line">
            <a:avLst/>
          </a:prstGeom>
          <a:ln w="25400">
            <a:solidFill>
              <a:srgbClr val="FF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DAB3DFA6-AD60-411A-A33E-7C26671ADDD0}"/>
              </a:ext>
            </a:extLst>
          </p:cNvPr>
          <p:cNvCxnSpPr>
            <a:cxnSpLocks/>
          </p:cNvCxnSpPr>
          <p:nvPr/>
        </p:nvCxnSpPr>
        <p:spPr>
          <a:xfrm>
            <a:off x="4658665" y="2535495"/>
            <a:ext cx="384597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B0C8C70C-318D-4116-A80B-1AD2A1E286A1}"/>
              </a:ext>
            </a:extLst>
          </p:cNvPr>
          <p:cNvCxnSpPr>
            <a:cxnSpLocks/>
          </p:cNvCxnSpPr>
          <p:nvPr/>
        </p:nvCxnSpPr>
        <p:spPr>
          <a:xfrm>
            <a:off x="4253789" y="2784014"/>
            <a:ext cx="416642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A356C3BD-0C9F-422C-BC42-83CD4969A65F}"/>
              </a:ext>
            </a:extLst>
          </p:cNvPr>
          <p:cNvCxnSpPr>
            <a:cxnSpLocks/>
          </p:cNvCxnSpPr>
          <p:nvPr/>
        </p:nvCxnSpPr>
        <p:spPr>
          <a:xfrm flipH="1">
            <a:off x="3883910" y="2285222"/>
            <a:ext cx="0" cy="240476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332E1865-D014-4CE9-BE95-F4CCDEAF1CF0}"/>
              </a:ext>
            </a:extLst>
          </p:cNvPr>
          <p:cNvCxnSpPr>
            <a:cxnSpLocks/>
          </p:cNvCxnSpPr>
          <p:nvPr/>
        </p:nvCxnSpPr>
        <p:spPr>
          <a:xfrm flipH="1">
            <a:off x="4266921" y="2542843"/>
            <a:ext cx="0" cy="240476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8B4930F7-1424-4C98-8D7C-4F4F6FB43BFE}"/>
              </a:ext>
            </a:extLst>
          </p:cNvPr>
          <p:cNvCxnSpPr>
            <a:cxnSpLocks/>
          </p:cNvCxnSpPr>
          <p:nvPr/>
        </p:nvCxnSpPr>
        <p:spPr>
          <a:xfrm>
            <a:off x="3882324" y="2537945"/>
            <a:ext cx="384597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87AA3C07-DB05-49D6-A40C-378DB1DFE8B2}"/>
              </a:ext>
            </a:extLst>
          </p:cNvPr>
          <p:cNvCxnSpPr>
            <a:cxnSpLocks/>
          </p:cNvCxnSpPr>
          <p:nvPr/>
        </p:nvCxnSpPr>
        <p:spPr>
          <a:xfrm flipH="1">
            <a:off x="4673036" y="2545520"/>
            <a:ext cx="0" cy="240476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AC1E6D0B-72DF-4E99-BB41-E6A6B1E2D317}"/>
              </a:ext>
            </a:extLst>
          </p:cNvPr>
          <p:cNvCxnSpPr>
            <a:cxnSpLocks/>
          </p:cNvCxnSpPr>
          <p:nvPr/>
        </p:nvCxnSpPr>
        <p:spPr>
          <a:xfrm>
            <a:off x="3874113" y="2290083"/>
            <a:ext cx="1184343" cy="0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C5377F6A-5F7C-446A-B6BC-63F7EF784BA3}"/>
              </a:ext>
            </a:extLst>
          </p:cNvPr>
          <p:cNvCxnSpPr>
            <a:cxnSpLocks/>
          </p:cNvCxnSpPr>
          <p:nvPr/>
        </p:nvCxnSpPr>
        <p:spPr>
          <a:xfrm flipH="1">
            <a:off x="5043262" y="2306226"/>
            <a:ext cx="0" cy="240476"/>
          </a:xfrm>
          <a:prstGeom prst="line">
            <a:avLst/>
          </a:prstGeom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B3B68633-C9FA-4E38-96B2-E4231F7ED7D5}"/>
              </a:ext>
            </a:extLst>
          </p:cNvPr>
          <p:cNvCxnSpPr>
            <a:cxnSpLocks/>
          </p:cNvCxnSpPr>
          <p:nvPr/>
        </p:nvCxnSpPr>
        <p:spPr>
          <a:xfrm>
            <a:off x="6317978" y="2558322"/>
            <a:ext cx="384597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A995D181-D057-4B4C-828F-DCE0C6F37514}"/>
              </a:ext>
            </a:extLst>
          </p:cNvPr>
          <p:cNvCxnSpPr>
            <a:cxnSpLocks/>
          </p:cNvCxnSpPr>
          <p:nvPr/>
        </p:nvCxnSpPr>
        <p:spPr>
          <a:xfrm>
            <a:off x="5913103" y="2806841"/>
            <a:ext cx="416642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DEF79FDF-B347-41CC-9062-B22C2DE9827B}"/>
              </a:ext>
            </a:extLst>
          </p:cNvPr>
          <p:cNvCxnSpPr>
            <a:cxnSpLocks/>
          </p:cNvCxnSpPr>
          <p:nvPr/>
        </p:nvCxnSpPr>
        <p:spPr>
          <a:xfrm flipH="1">
            <a:off x="5543224" y="2308049"/>
            <a:ext cx="0" cy="240476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连接符 240">
            <a:extLst>
              <a:ext uri="{FF2B5EF4-FFF2-40B4-BE49-F238E27FC236}">
                <a16:creationId xmlns:a16="http://schemas.microsoft.com/office/drawing/2014/main" id="{60433E2C-8248-4300-891F-8FB9ED8CD0FF}"/>
              </a:ext>
            </a:extLst>
          </p:cNvPr>
          <p:cNvCxnSpPr>
            <a:cxnSpLocks/>
          </p:cNvCxnSpPr>
          <p:nvPr/>
        </p:nvCxnSpPr>
        <p:spPr>
          <a:xfrm flipH="1">
            <a:off x="5926235" y="2548525"/>
            <a:ext cx="0" cy="240476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连接符 241">
            <a:extLst>
              <a:ext uri="{FF2B5EF4-FFF2-40B4-BE49-F238E27FC236}">
                <a16:creationId xmlns:a16="http://schemas.microsoft.com/office/drawing/2014/main" id="{37671178-43DE-4253-8572-BC3C70D0FC33}"/>
              </a:ext>
            </a:extLst>
          </p:cNvPr>
          <p:cNvCxnSpPr>
            <a:cxnSpLocks/>
          </p:cNvCxnSpPr>
          <p:nvPr/>
        </p:nvCxnSpPr>
        <p:spPr>
          <a:xfrm>
            <a:off x="5541638" y="2548525"/>
            <a:ext cx="384597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55AEA4C9-4EF1-489E-9C35-7FBA86FC1175}"/>
              </a:ext>
            </a:extLst>
          </p:cNvPr>
          <p:cNvCxnSpPr>
            <a:cxnSpLocks/>
          </p:cNvCxnSpPr>
          <p:nvPr/>
        </p:nvCxnSpPr>
        <p:spPr>
          <a:xfrm flipH="1">
            <a:off x="6332349" y="2568347"/>
            <a:ext cx="0" cy="240476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A218CC5E-1123-4101-B7FE-A4F29E6B1C5F}"/>
              </a:ext>
            </a:extLst>
          </p:cNvPr>
          <p:cNvCxnSpPr>
            <a:cxnSpLocks/>
          </p:cNvCxnSpPr>
          <p:nvPr/>
        </p:nvCxnSpPr>
        <p:spPr>
          <a:xfrm>
            <a:off x="5533427" y="2300663"/>
            <a:ext cx="1184343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D434B3CC-0B02-4C76-B257-DB803D1B2F9E}"/>
              </a:ext>
            </a:extLst>
          </p:cNvPr>
          <p:cNvCxnSpPr>
            <a:cxnSpLocks/>
          </p:cNvCxnSpPr>
          <p:nvPr/>
        </p:nvCxnSpPr>
        <p:spPr>
          <a:xfrm flipH="1">
            <a:off x="6702575" y="2311908"/>
            <a:ext cx="0" cy="240476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DD00075B-5029-44CE-945E-3BDF2586E458}"/>
              </a:ext>
            </a:extLst>
          </p:cNvPr>
          <p:cNvCxnSpPr>
            <a:cxnSpLocks/>
          </p:cNvCxnSpPr>
          <p:nvPr/>
        </p:nvCxnSpPr>
        <p:spPr>
          <a:xfrm>
            <a:off x="5479824" y="2253043"/>
            <a:ext cx="384597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69EF7C26-833D-40D7-9C23-B3932275129A}"/>
              </a:ext>
            </a:extLst>
          </p:cNvPr>
          <p:cNvCxnSpPr>
            <a:cxnSpLocks/>
          </p:cNvCxnSpPr>
          <p:nvPr/>
        </p:nvCxnSpPr>
        <p:spPr>
          <a:xfrm>
            <a:off x="5074948" y="2472170"/>
            <a:ext cx="416642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EE079384-22BF-474C-A196-E94B2C725A6D}"/>
              </a:ext>
            </a:extLst>
          </p:cNvPr>
          <p:cNvCxnSpPr>
            <a:cxnSpLocks/>
          </p:cNvCxnSpPr>
          <p:nvPr/>
        </p:nvCxnSpPr>
        <p:spPr>
          <a:xfrm flipH="1">
            <a:off x="4705070" y="2002770"/>
            <a:ext cx="0" cy="240476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>
            <a:extLst>
              <a:ext uri="{FF2B5EF4-FFF2-40B4-BE49-F238E27FC236}">
                <a16:creationId xmlns:a16="http://schemas.microsoft.com/office/drawing/2014/main" id="{EDB302ED-70FC-4744-8478-F85EB261E6BB}"/>
              </a:ext>
            </a:extLst>
          </p:cNvPr>
          <p:cNvCxnSpPr>
            <a:cxnSpLocks/>
          </p:cNvCxnSpPr>
          <p:nvPr/>
        </p:nvCxnSpPr>
        <p:spPr>
          <a:xfrm>
            <a:off x="4703483" y="2243246"/>
            <a:ext cx="384597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131B0F9E-2E76-43E8-83E2-9CBD1A0D9965}"/>
              </a:ext>
            </a:extLst>
          </p:cNvPr>
          <p:cNvCxnSpPr>
            <a:cxnSpLocks/>
          </p:cNvCxnSpPr>
          <p:nvPr/>
        </p:nvCxnSpPr>
        <p:spPr>
          <a:xfrm flipH="1">
            <a:off x="5494195" y="2233676"/>
            <a:ext cx="0" cy="240476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9897BE1F-87F0-4573-9A3F-DD297A2368A9}"/>
              </a:ext>
            </a:extLst>
          </p:cNvPr>
          <p:cNvCxnSpPr>
            <a:cxnSpLocks/>
          </p:cNvCxnSpPr>
          <p:nvPr/>
        </p:nvCxnSpPr>
        <p:spPr>
          <a:xfrm>
            <a:off x="4695272" y="1965992"/>
            <a:ext cx="1184343" cy="0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146E4691-DD2B-4C16-BD41-C5CD842E9E73}"/>
              </a:ext>
            </a:extLst>
          </p:cNvPr>
          <p:cNvCxnSpPr>
            <a:cxnSpLocks/>
          </p:cNvCxnSpPr>
          <p:nvPr/>
        </p:nvCxnSpPr>
        <p:spPr>
          <a:xfrm flipH="1">
            <a:off x="5864421" y="1977237"/>
            <a:ext cx="0" cy="240476"/>
          </a:xfrm>
          <a:prstGeom prst="line">
            <a:avLst/>
          </a:prstGeom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>
            <a:extLst>
              <a:ext uri="{FF2B5EF4-FFF2-40B4-BE49-F238E27FC236}">
                <a16:creationId xmlns:a16="http://schemas.microsoft.com/office/drawing/2014/main" id="{FE2B9CF9-7D41-4A36-96ED-24DD16C028AE}"/>
              </a:ext>
            </a:extLst>
          </p:cNvPr>
          <p:cNvCxnSpPr>
            <a:cxnSpLocks/>
          </p:cNvCxnSpPr>
          <p:nvPr/>
        </p:nvCxnSpPr>
        <p:spPr>
          <a:xfrm>
            <a:off x="7153485" y="2254490"/>
            <a:ext cx="384597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1B877CAF-497A-471F-A8F4-64ACEC065E1C}"/>
              </a:ext>
            </a:extLst>
          </p:cNvPr>
          <p:cNvCxnSpPr>
            <a:cxnSpLocks/>
          </p:cNvCxnSpPr>
          <p:nvPr/>
        </p:nvCxnSpPr>
        <p:spPr>
          <a:xfrm>
            <a:off x="6748609" y="2503008"/>
            <a:ext cx="416642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CF0D3774-0987-46B4-A8E6-735E08D32B94}"/>
              </a:ext>
            </a:extLst>
          </p:cNvPr>
          <p:cNvCxnSpPr>
            <a:cxnSpLocks/>
          </p:cNvCxnSpPr>
          <p:nvPr/>
        </p:nvCxnSpPr>
        <p:spPr>
          <a:xfrm flipH="1">
            <a:off x="6378731" y="2004217"/>
            <a:ext cx="0" cy="240476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>
            <a:extLst>
              <a:ext uri="{FF2B5EF4-FFF2-40B4-BE49-F238E27FC236}">
                <a16:creationId xmlns:a16="http://schemas.microsoft.com/office/drawing/2014/main" id="{E2B631FB-9F73-4057-AE23-811D32AAC077}"/>
              </a:ext>
            </a:extLst>
          </p:cNvPr>
          <p:cNvCxnSpPr>
            <a:cxnSpLocks/>
          </p:cNvCxnSpPr>
          <p:nvPr/>
        </p:nvCxnSpPr>
        <p:spPr>
          <a:xfrm flipH="1">
            <a:off x="6761741" y="2244693"/>
            <a:ext cx="0" cy="240476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BBF38681-C17D-4E8D-AFB7-F1D060EA6369}"/>
              </a:ext>
            </a:extLst>
          </p:cNvPr>
          <p:cNvCxnSpPr>
            <a:cxnSpLocks/>
          </p:cNvCxnSpPr>
          <p:nvPr/>
        </p:nvCxnSpPr>
        <p:spPr>
          <a:xfrm>
            <a:off x="6377144" y="2244692"/>
            <a:ext cx="384597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1C363500-17EF-45CE-82EB-FA7DEFFF36C6}"/>
              </a:ext>
            </a:extLst>
          </p:cNvPr>
          <p:cNvCxnSpPr>
            <a:cxnSpLocks/>
          </p:cNvCxnSpPr>
          <p:nvPr/>
        </p:nvCxnSpPr>
        <p:spPr>
          <a:xfrm flipH="1">
            <a:off x="7167856" y="2264515"/>
            <a:ext cx="0" cy="240476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85EA9624-72B9-405B-80D5-B2E7530005B3}"/>
              </a:ext>
            </a:extLst>
          </p:cNvPr>
          <p:cNvCxnSpPr>
            <a:cxnSpLocks/>
          </p:cNvCxnSpPr>
          <p:nvPr/>
        </p:nvCxnSpPr>
        <p:spPr>
          <a:xfrm>
            <a:off x="6368933" y="1996831"/>
            <a:ext cx="1184343" cy="0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>
            <a:extLst>
              <a:ext uri="{FF2B5EF4-FFF2-40B4-BE49-F238E27FC236}">
                <a16:creationId xmlns:a16="http://schemas.microsoft.com/office/drawing/2014/main" id="{8522681C-886D-4AF3-8F0E-94D54B241D5A}"/>
              </a:ext>
            </a:extLst>
          </p:cNvPr>
          <p:cNvCxnSpPr>
            <a:cxnSpLocks/>
          </p:cNvCxnSpPr>
          <p:nvPr/>
        </p:nvCxnSpPr>
        <p:spPr>
          <a:xfrm flipH="1">
            <a:off x="7538082" y="2008075"/>
            <a:ext cx="0" cy="240476"/>
          </a:xfrm>
          <a:prstGeom prst="line">
            <a:avLst/>
          </a:prstGeom>
          <a:ln w="25400">
            <a:solidFill>
              <a:srgbClr val="FF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矩形 261">
            <a:extLst>
              <a:ext uri="{FF2B5EF4-FFF2-40B4-BE49-F238E27FC236}">
                <a16:creationId xmlns:a16="http://schemas.microsoft.com/office/drawing/2014/main" id="{ACBE8666-5DDE-4054-ABC1-CC94AA14CE94}"/>
              </a:ext>
            </a:extLst>
          </p:cNvPr>
          <p:cNvSpPr/>
          <p:nvPr/>
        </p:nvSpPr>
        <p:spPr>
          <a:xfrm>
            <a:off x="2656291" y="3508337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3DED4FA6-0305-41A6-818C-F04CB3DE15EB}"/>
              </a:ext>
            </a:extLst>
          </p:cNvPr>
          <p:cNvSpPr/>
          <p:nvPr/>
        </p:nvSpPr>
        <p:spPr>
          <a:xfrm>
            <a:off x="3498033" y="3205866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A04E82E-BC15-4780-98DC-B87F42C0F565}"/>
              </a:ext>
            </a:extLst>
          </p:cNvPr>
          <p:cNvSpPr/>
          <p:nvPr/>
        </p:nvSpPr>
        <p:spPr>
          <a:xfrm>
            <a:off x="4321076" y="2891270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0482FFF3-5FE3-4E56-897A-FB43F92DFF0E}"/>
              </a:ext>
            </a:extLst>
          </p:cNvPr>
          <p:cNvSpPr/>
          <p:nvPr/>
        </p:nvSpPr>
        <p:spPr>
          <a:xfrm>
            <a:off x="5144254" y="2648526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AE9F18F8-1788-443B-A474-B9F28CBD9858}"/>
              </a:ext>
            </a:extLst>
          </p:cNvPr>
          <p:cNvSpPr/>
          <p:nvPr/>
        </p:nvSpPr>
        <p:spPr>
          <a:xfrm>
            <a:off x="5967309" y="2342336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777B4F28-3101-4B50-A8CB-09C73A4F1521}"/>
              </a:ext>
            </a:extLst>
          </p:cNvPr>
          <p:cNvSpPr/>
          <p:nvPr/>
        </p:nvSpPr>
        <p:spPr>
          <a:xfrm>
            <a:off x="6827924" y="2038503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15957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5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28596" y="843559"/>
            <a:ext cx="7743805" cy="367371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1970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年以前，几乎所有的编译程序都是用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机器语言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编写的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优点：更好地发挥硬件系统的效率</a:t>
            </a:r>
            <a:endParaRPr lang="en-US" altLang="zh-CN" sz="18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缺点：可读性、可靠性、可维护性、编制效率差</a:t>
            </a:r>
          </a:p>
          <a:p>
            <a:pPr lvl="0" algn="just">
              <a:buClrTx/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1980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年以后，通常用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高级语言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来编写编译程序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（自展技术）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编译器的移植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有时也称为交叉编译，是指将一台机器上运行的编译器进行处理，构造出在另一台机器上可以运行的编译器</a:t>
            </a:r>
          </a:p>
        </p:txBody>
      </p:sp>
    </p:spTree>
    <p:extLst>
      <p:ext uri="{BB962C8B-B14F-4D97-AF65-F5344CB8AC3E}">
        <p14:creationId xmlns:p14="http://schemas.microsoft.com/office/powerpoint/2010/main" val="238455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编译器的移植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Calibri"/>
              <a:ea typeface="华文楷体" panose="02010600040101010101" pitchFamily="2" charset="-122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5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华文楷体" panose="02010600040101010101" pitchFamily="2" charset="-122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  <a:ea typeface="华文楷体" panose="02010600040101010101" pitchFamily="2" charset="-122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28596" y="843559"/>
            <a:ext cx="7743805" cy="367371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A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000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 B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上运行的</a:t>
            </a:r>
            <a:r>
              <a:rPr lang="zh-CN" altLang="en-US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高级语言</a:t>
            </a:r>
            <a:r>
              <a:rPr lang="en-US" altLang="zh-CN" sz="2000" b="1" dirty="0">
                <a:solidFill>
                  <a:schemeClr val="tx2">
                    <a:lumMod val="40000"/>
                    <a:lumOff val="60000"/>
                  </a:schemeClr>
                </a:solidFill>
                <a:ea typeface="楷体" pitchFamily="49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solidFill>
                  <a:schemeClr val="tx1"/>
                </a:solidFill>
                <a:ea typeface="楷体" pitchFamily="49" charset="-122"/>
                <a:cs typeface="Times New Roman" panose="02020603050405020304" pitchFamily="18" charset="0"/>
              </a:rPr>
              <a:t>的编译器</a:t>
            </a:r>
            <a:endParaRPr lang="en-US" altLang="zh-CN" sz="2000" b="1" dirty="0">
              <a:solidFill>
                <a:schemeClr val="tx1"/>
              </a:solidFill>
              <a:ea typeface="楷体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13530" y="3131099"/>
            <a:ext cx="2400553" cy="936104"/>
            <a:chOff x="1811407" y="3147814"/>
            <a:chExt cx="2400553" cy="936104"/>
          </a:xfrm>
        </p:grpSpPr>
        <p:grpSp>
          <p:nvGrpSpPr>
            <p:cNvPr id="109" name="组合 108"/>
            <p:cNvGrpSpPr/>
            <p:nvPr/>
          </p:nvGrpSpPr>
          <p:grpSpPr>
            <a:xfrm>
              <a:off x="1811407" y="3147814"/>
              <a:ext cx="2400553" cy="936104"/>
              <a:chOff x="1811407" y="3147814"/>
              <a:chExt cx="2400553" cy="936104"/>
            </a:xfrm>
          </p:grpSpPr>
          <p:cxnSp>
            <p:nvCxnSpPr>
              <p:cNvPr id="111" name="直接连接符 110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矩形 114"/>
              <p:cNvSpPr/>
              <p:nvPr/>
            </p:nvSpPr>
            <p:spPr>
              <a:xfrm>
                <a:off x="1811407" y="3174526"/>
                <a:ext cx="7601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L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程序</a:t>
                </a: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3419872" y="3188390"/>
                <a:ext cx="7889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代码</a:t>
                </a: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707691" y="3714586"/>
                <a:ext cx="7889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语言</a:t>
                </a:r>
                <a:endParaRPr lang="en-US" altLang="zh-CN" dirty="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118" name="直接连接符 117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连接符 119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>
                <a:solidFill>
                  <a:srgbClr val="FF99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矩形 109"/>
            <p:cNvSpPr/>
            <p:nvPr/>
          </p:nvSpPr>
          <p:spPr>
            <a:xfrm>
              <a:off x="2795016" y="3398640"/>
              <a:ext cx="39305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Candara"/>
                  <a:ea typeface="华文楷体" panose="02010600040101010101" pitchFamily="2" charset="-122"/>
                </a:rPr>
                <a:t>P1</a:t>
              </a: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121096" y="2651888"/>
            <a:ext cx="2400554" cy="936103"/>
            <a:chOff x="1811408" y="3147814"/>
            <a:chExt cx="2400554" cy="936104"/>
          </a:xfrm>
        </p:grpSpPr>
        <p:grpSp>
          <p:nvGrpSpPr>
            <p:cNvPr id="123" name="组合 122"/>
            <p:cNvGrpSpPr/>
            <p:nvPr/>
          </p:nvGrpSpPr>
          <p:grpSpPr>
            <a:xfrm>
              <a:off x="1811408" y="3147814"/>
              <a:ext cx="2400554" cy="936104"/>
              <a:chOff x="1811407" y="3147814"/>
              <a:chExt cx="2400553" cy="936104"/>
            </a:xfrm>
          </p:grpSpPr>
          <p:cxnSp>
            <p:nvCxnSpPr>
              <p:cNvPr id="125" name="直接连接符 124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矩形 128"/>
              <p:cNvSpPr/>
              <p:nvPr/>
            </p:nvSpPr>
            <p:spPr>
              <a:xfrm>
                <a:off x="1811407" y="3174526"/>
                <a:ext cx="7601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L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程序</a:t>
                </a:r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3419872" y="3188390"/>
                <a:ext cx="7809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代码</a:t>
                </a:r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2649234" y="3714586"/>
                <a:ext cx="7601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srgbClr val="073E87"/>
                    </a:solidFill>
                    <a:latin typeface="Candara"/>
                    <a:ea typeface="华文楷体" panose="02010600040101010101" pitchFamily="2" charset="-122"/>
                  </a:rPr>
                  <a:t>L</a:t>
                </a:r>
                <a:r>
                  <a:rPr lang="zh-CN" altLang="en-US" dirty="0">
                    <a:solidFill>
                      <a:srgbClr val="073E87"/>
                    </a:solidFill>
                    <a:latin typeface="Candara"/>
                    <a:ea typeface="华文楷体" panose="02010600040101010101" pitchFamily="2" charset="-122"/>
                  </a:rPr>
                  <a:t>语言</a:t>
                </a:r>
                <a:endParaRPr lang="en-US" altLang="zh-CN" dirty="0">
                  <a:solidFill>
                    <a:srgbClr val="073E87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132" name="直接连接符 131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矩形 123"/>
            <p:cNvSpPr/>
            <p:nvPr/>
          </p:nvSpPr>
          <p:spPr>
            <a:xfrm>
              <a:off x="2795016" y="3398640"/>
              <a:ext cx="4780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Candara"/>
                  <a:ea typeface="华文楷体" panose="02010600040101010101" pitchFamily="2" charset="-122"/>
                </a:rPr>
                <a:t>P2’</a:t>
              </a: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3455272" y="2663048"/>
            <a:ext cx="2400554" cy="936104"/>
            <a:chOff x="1811407" y="3147814"/>
            <a:chExt cx="2400553" cy="936104"/>
          </a:xfrm>
        </p:grpSpPr>
        <p:grpSp>
          <p:nvGrpSpPr>
            <p:cNvPr id="137" name="组合 136"/>
            <p:cNvGrpSpPr/>
            <p:nvPr/>
          </p:nvGrpSpPr>
          <p:grpSpPr>
            <a:xfrm>
              <a:off x="1811407" y="3147814"/>
              <a:ext cx="2400553" cy="936104"/>
              <a:chOff x="1811407" y="3147814"/>
              <a:chExt cx="2400553" cy="936104"/>
            </a:xfrm>
          </p:grpSpPr>
          <p:cxnSp>
            <p:nvCxnSpPr>
              <p:cNvPr id="139" name="直接连接符 138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矩形 142"/>
              <p:cNvSpPr/>
              <p:nvPr/>
            </p:nvSpPr>
            <p:spPr>
              <a:xfrm>
                <a:off x="1811407" y="3174526"/>
                <a:ext cx="7601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L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程序</a:t>
                </a:r>
              </a:p>
            </p:txBody>
          </p:sp>
          <p:sp>
            <p:nvSpPr>
              <p:cNvPr id="144" name="矩形 143"/>
              <p:cNvSpPr/>
              <p:nvPr/>
            </p:nvSpPr>
            <p:spPr>
              <a:xfrm>
                <a:off x="3419872" y="3188390"/>
                <a:ext cx="7809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代码</a:t>
                </a:r>
              </a:p>
            </p:txBody>
          </p:sp>
          <p:sp>
            <p:nvSpPr>
              <p:cNvPr id="145" name="矩形 144"/>
              <p:cNvSpPr/>
              <p:nvPr/>
            </p:nvSpPr>
            <p:spPr>
              <a:xfrm>
                <a:off x="2683403" y="3714586"/>
                <a:ext cx="7889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srgbClr val="073E87">
                        <a:lumMod val="60000"/>
                        <a:lumOff val="40000"/>
                      </a:srgbClr>
                    </a:solidFill>
                    <a:latin typeface="Candara"/>
                    <a:ea typeface="华文楷体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srgbClr val="073E87">
                        <a:lumMod val="60000"/>
                        <a:lumOff val="40000"/>
                      </a:srgbClr>
                    </a:solidFill>
                    <a:latin typeface="Candara"/>
                    <a:ea typeface="华文楷体" panose="02010600040101010101" pitchFamily="2" charset="-122"/>
                  </a:rPr>
                  <a:t>语言</a:t>
                </a:r>
                <a:endParaRPr lang="en-US" altLang="zh-CN" dirty="0">
                  <a:solidFill>
                    <a:srgbClr val="073E87">
                      <a:lumMod val="60000"/>
                      <a:lumOff val="40000"/>
                    </a:srgbClr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146" name="直接连接符 145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矩形 137"/>
            <p:cNvSpPr/>
            <p:nvPr/>
          </p:nvSpPr>
          <p:spPr>
            <a:xfrm>
              <a:off x="2795016" y="3398640"/>
              <a:ext cx="535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Candara"/>
                  <a:ea typeface="华文楷体" panose="02010600040101010101" pitchFamily="2" charset="-122"/>
                </a:rPr>
                <a:t>P2’’</a:t>
              </a:r>
            </a:p>
          </p:txBody>
        </p:sp>
      </p:grpSp>
      <p:cxnSp>
        <p:nvCxnSpPr>
          <p:cNvPr id="150" name="直接箭头连接符 149"/>
          <p:cNvCxnSpPr>
            <a:cxnSpLocks/>
          </p:cNvCxnSpPr>
          <p:nvPr/>
        </p:nvCxnSpPr>
        <p:spPr>
          <a:xfrm>
            <a:off x="5799757" y="1469572"/>
            <a:ext cx="751541" cy="543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3" name="组合 192"/>
          <p:cNvGrpSpPr/>
          <p:nvPr/>
        </p:nvGrpSpPr>
        <p:grpSpPr>
          <a:xfrm>
            <a:off x="6527008" y="2147833"/>
            <a:ext cx="2400554" cy="936104"/>
            <a:chOff x="1811407" y="3147814"/>
            <a:chExt cx="2400553" cy="936104"/>
          </a:xfrm>
        </p:grpSpPr>
        <p:grpSp>
          <p:nvGrpSpPr>
            <p:cNvPr id="194" name="组合 193"/>
            <p:cNvGrpSpPr/>
            <p:nvPr/>
          </p:nvGrpSpPr>
          <p:grpSpPr>
            <a:xfrm>
              <a:off x="1811407" y="3147814"/>
              <a:ext cx="2400553" cy="936104"/>
              <a:chOff x="1811407" y="3147814"/>
              <a:chExt cx="2400553" cy="936104"/>
            </a:xfrm>
          </p:grpSpPr>
          <p:cxnSp>
            <p:nvCxnSpPr>
              <p:cNvPr id="196" name="直接连接符 195"/>
              <p:cNvCxnSpPr/>
              <p:nvPr/>
            </p:nvCxnSpPr>
            <p:spPr>
              <a:xfrm>
                <a:off x="1835696" y="3147814"/>
                <a:ext cx="2368365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1835696" y="3579862"/>
                <a:ext cx="792088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/>
              <p:cNvCxnSpPr/>
              <p:nvPr/>
            </p:nvCxnSpPr>
            <p:spPr>
              <a:xfrm>
                <a:off x="3491880" y="3579862"/>
                <a:ext cx="720080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/>
              <p:cNvCxnSpPr/>
              <p:nvPr/>
            </p:nvCxnSpPr>
            <p:spPr>
              <a:xfrm>
                <a:off x="2627784" y="4011910"/>
                <a:ext cx="864096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矩形 199"/>
              <p:cNvSpPr/>
              <p:nvPr/>
            </p:nvSpPr>
            <p:spPr>
              <a:xfrm>
                <a:off x="1811407" y="3174526"/>
                <a:ext cx="7601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L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程序</a:t>
                </a: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3419872" y="3188390"/>
                <a:ext cx="7809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prstClr val="black"/>
                    </a:solidFill>
                    <a:latin typeface="Candara"/>
                    <a:ea typeface="华文楷体" panose="02010600040101010101" pitchFamily="2" charset="-122"/>
                  </a:rPr>
                  <a:t>代码</a:t>
                </a: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2649234" y="3714586"/>
                <a:ext cx="7809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68580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dirty="0">
                    <a:solidFill>
                      <a:srgbClr val="31B6FD"/>
                    </a:solidFill>
                    <a:latin typeface="Candara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srgbClr val="31B6FD"/>
                    </a:solidFill>
                    <a:latin typeface="Candara"/>
                    <a:ea typeface="华文楷体" panose="02010600040101010101" pitchFamily="2" charset="-122"/>
                  </a:rPr>
                  <a:t>语言</a:t>
                </a:r>
                <a:endParaRPr lang="en-US" altLang="zh-CN" dirty="0">
                  <a:solidFill>
                    <a:srgbClr val="31B6FD"/>
                  </a:solidFill>
                  <a:latin typeface="Candara"/>
                  <a:ea typeface="华文楷体" panose="02010600040101010101" pitchFamily="2" charset="-122"/>
                </a:endParaRPr>
              </a:p>
            </p:txBody>
          </p:sp>
          <p:cxnSp>
            <p:nvCxnSpPr>
              <p:cNvPr id="203" name="直接连接符 202"/>
              <p:cNvCxnSpPr/>
              <p:nvPr/>
            </p:nvCxnSpPr>
            <p:spPr>
              <a:xfrm>
                <a:off x="1835696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4211960" y="3147814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3491880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 205"/>
              <p:cNvCxnSpPr/>
              <p:nvPr/>
            </p:nvCxnSpPr>
            <p:spPr>
              <a:xfrm>
                <a:off x="2627784" y="3579862"/>
                <a:ext cx="0" cy="43204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矩形 194"/>
            <p:cNvSpPr/>
            <p:nvPr/>
          </p:nvSpPr>
          <p:spPr>
            <a:xfrm>
              <a:off x="2795016" y="3398640"/>
              <a:ext cx="4203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Candara"/>
                  <a:ea typeface="华文楷体" panose="02010600040101010101" pitchFamily="2" charset="-122"/>
                </a:rPr>
                <a:t>P2</a:t>
              </a: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1750865" y="2171414"/>
            <a:ext cx="2400554" cy="936104"/>
            <a:chOff x="1811407" y="3147814"/>
            <a:chExt cx="2400553" cy="936104"/>
          </a:xfrm>
        </p:grpSpPr>
        <p:cxnSp>
          <p:nvCxnSpPr>
            <p:cNvPr id="210" name="直接连接符 209"/>
            <p:cNvCxnSpPr/>
            <p:nvPr/>
          </p:nvCxnSpPr>
          <p:spPr>
            <a:xfrm>
              <a:off x="1835696" y="3147814"/>
              <a:ext cx="2368365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1835696" y="3579862"/>
              <a:ext cx="792088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>
              <a:off x="3491880" y="3579862"/>
              <a:ext cx="720080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>
              <a:off x="2627784" y="4011910"/>
              <a:ext cx="864096" cy="0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矩形 213"/>
            <p:cNvSpPr/>
            <p:nvPr/>
          </p:nvSpPr>
          <p:spPr>
            <a:xfrm>
              <a:off x="1811407" y="3174526"/>
              <a:ext cx="7601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rPr>
                <a:t>L</a:t>
              </a:r>
              <a:r>
                <a:rPr lang="zh-CN" altLang="en-US" dirty="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rPr>
                <a:t>程序</a:t>
              </a:r>
            </a:p>
          </p:txBody>
        </p:sp>
        <p:sp>
          <p:nvSpPr>
            <p:cNvPr id="215" name="矩形 214"/>
            <p:cNvSpPr/>
            <p:nvPr/>
          </p:nvSpPr>
          <p:spPr>
            <a:xfrm>
              <a:off x="3419872" y="3188390"/>
              <a:ext cx="78098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rPr>
                <a:t>B</a:t>
              </a:r>
              <a:r>
                <a:rPr lang="zh-CN" altLang="en-US" dirty="0">
                  <a:solidFill>
                    <a:prstClr val="black"/>
                  </a:solidFill>
                  <a:latin typeface="Candara"/>
                  <a:ea typeface="华文楷体" panose="02010600040101010101" pitchFamily="2" charset="-122"/>
                </a:rPr>
                <a:t>代码</a:t>
              </a:r>
            </a:p>
          </p:txBody>
        </p:sp>
        <p:sp>
          <p:nvSpPr>
            <p:cNvPr id="216" name="矩形 215"/>
            <p:cNvSpPr/>
            <p:nvPr/>
          </p:nvSpPr>
          <p:spPr>
            <a:xfrm>
              <a:off x="2649234" y="3714586"/>
              <a:ext cx="7601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srgbClr val="073E87"/>
                  </a:solidFill>
                  <a:latin typeface="Candara"/>
                  <a:ea typeface="华文楷体" panose="02010600040101010101" pitchFamily="2" charset="-122"/>
                </a:rPr>
                <a:t>L</a:t>
              </a:r>
              <a:r>
                <a:rPr lang="zh-CN" altLang="en-US" dirty="0">
                  <a:solidFill>
                    <a:srgbClr val="073E87"/>
                  </a:solidFill>
                  <a:latin typeface="Candara"/>
                  <a:ea typeface="华文楷体" panose="02010600040101010101" pitchFamily="2" charset="-122"/>
                </a:rPr>
                <a:t>语言</a:t>
              </a:r>
              <a:endParaRPr lang="en-US" altLang="zh-CN" dirty="0">
                <a:solidFill>
                  <a:srgbClr val="073E87"/>
                </a:solidFill>
                <a:latin typeface="Candara"/>
                <a:ea typeface="华文楷体" panose="02010600040101010101" pitchFamily="2" charset="-122"/>
              </a:endParaRPr>
            </a:p>
          </p:txBody>
        </p:sp>
        <p:cxnSp>
          <p:nvCxnSpPr>
            <p:cNvPr id="217" name="直接连接符 216"/>
            <p:cNvCxnSpPr/>
            <p:nvPr/>
          </p:nvCxnSpPr>
          <p:spPr>
            <a:xfrm>
              <a:off x="1835696" y="3147814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>
              <a:off x="4211960" y="3147814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>
              <a:off x="3491880" y="3579862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>
              <a:off x="2627784" y="3579862"/>
              <a:ext cx="0" cy="432048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矩形 208"/>
          <p:cNvSpPr/>
          <p:nvPr/>
        </p:nvSpPr>
        <p:spPr>
          <a:xfrm>
            <a:off x="2734475" y="2422240"/>
            <a:ext cx="4780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rgbClr val="FF0000"/>
                </a:solidFill>
                <a:latin typeface="Candara"/>
                <a:ea typeface="华文楷体" panose="02010600040101010101" pitchFamily="2" charset="-122"/>
              </a:rPr>
              <a:t>P2’</a:t>
            </a:r>
          </a:p>
        </p:txBody>
      </p:sp>
    </p:spTree>
    <p:extLst>
      <p:ext uri="{BB962C8B-B14F-4D97-AF65-F5344CB8AC3E}">
        <p14:creationId xmlns:p14="http://schemas.microsoft.com/office/powerpoint/2010/main" val="420511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1 0.00231 L -0.15677 0.00231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-785" y="195486"/>
            <a:ext cx="756363" cy="432048"/>
            <a:chOff x="-786" y="195486"/>
            <a:chExt cx="756363" cy="432048"/>
          </a:xfrm>
        </p:grpSpPr>
        <p:sp>
          <p:nvSpPr>
            <p:cNvPr id="19" name="五边形 18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五边形 20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428596" y="843559"/>
            <a:ext cx="7743805" cy="3673711"/>
          </a:xfrm>
        </p:spPr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1970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年以前，几乎所有的编译程序都是用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机器语言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编写的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优点：更好地发挥硬件系统的效率</a:t>
            </a:r>
            <a:endParaRPr lang="en-US" altLang="zh-CN" sz="18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缺点：可读性、可靠性、可维护性、编制效率差</a:t>
            </a:r>
          </a:p>
          <a:p>
            <a:pPr lvl="0" algn="just">
              <a:buClrTx/>
              <a:buFont typeface="Wingdings" pitchFamily="2" charset="2"/>
              <a:buChar char="Ø"/>
            </a:pPr>
            <a:r>
              <a:rPr lang="en-US" altLang="zh-CN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1980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年以后，通常用</a:t>
            </a:r>
            <a:r>
              <a:rPr lang="zh-CN" alt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高级语言</a:t>
            </a: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来编写编译程序</a:t>
            </a:r>
            <a:r>
              <a:rPr lang="zh-CN" altLang="en-US" sz="2000" b="1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</a:rPr>
              <a:t>（自展技术）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编译器的移植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algn="just"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编译器的自动生成</a:t>
            </a:r>
            <a:endParaRPr lang="en-US" altLang="zh-CN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marL="561643" lvl="3" indent="-274313" algn="just"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LEX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词法分析程序生成器</a:t>
            </a:r>
          </a:p>
          <a:p>
            <a:pPr lvl="1" algn="just">
              <a:buClrTx/>
              <a:buFont typeface="Wingdings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YACC</a:t>
            </a:r>
            <a:r>
              <a:rPr lang="zh-CN" altLang="en-US" sz="18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：语法分析程序生成器</a:t>
            </a:r>
          </a:p>
          <a:p>
            <a:pPr algn="just">
              <a:buClrTx/>
              <a:buFont typeface="Wingdings" pitchFamily="2" charset="2"/>
              <a:buChar char="Ø"/>
            </a:pPr>
            <a:endParaRPr lang="zh-CN" altLang="en-US" sz="20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08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00563" y="1357313"/>
            <a:ext cx="4357687" cy="2657138"/>
          </a:xfrm>
          <a:prstGeom prst="rect">
            <a:avLst/>
          </a:prstGeom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1.1 什么是编译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1.2 编译系统的结构</a:t>
            </a:r>
          </a:p>
          <a:p>
            <a:pPr>
              <a:lnSpc>
                <a:spcPts val="4000"/>
              </a:lnSpc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为什么要学习编译原理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pic>
        <p:nvPicPr>
          <p:cNvPr id="2867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1954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1.4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为什么要学习编译原理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754790" y="915566"/>
            <a:ext cx="8229599" cy="4824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        </a:t>
            </a:r>
            <a:r>
              <a:rPr lang="zh-CN" altLang="zh-CN" b="1" dirty="0">
                <a:solidFill>
                  <a:schemeClr val="tx1"/>
                </a:solidFill>
              </a:rPr>
              <a:t>编写编译器的原理和技术具有十分普遍的意义，以至于在每个计算机科学家的研究生涯中，本课程中的原理和技术都会反复用到。</a:t>
            </a:r>
            <a:endParaRPr lang="en-US" altLang="zh-CN" sz="2800" b="1" dirty="0">
              <a:solidFill>
                <a:schemeClr val="tx1"/>
              </a:solidFill>
              <a:latin typeface="楷体" pitchFamily="49" charset="-122"/>
            </a:endParaRPr>
          </a:p>
          <a:p>
            <a:pPr marL="0" indent="0" algn="r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——Alfred </a:t>
            </a:r>
            <a:r>
              <a:rPr lang="en-US" altLang="zh-CN" sz="2800" dirty="0" err="1">
                <a:solidFill>
                  <a:schemeClr val="tx1"/>
                </a:solidFill>
              </a:rPr>
              <a:t>V.Aho</a:t>
            </a:r>
            <a:endParaRPr lang="zh-CN" altLang="en-US" sz="2800" b="1" dirty="0">
              <a:solidFill>
                <a:schemeClr val="tx1"/>
              </a:solidFill>
              <a:latin typeface="楷体" pitchFamily="49" charset="-122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947" y="2245886"/>
            <a:ext cx="2371290" cy="278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407" y="2245886"/>
            <a:ext cx="1857923" cy="275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47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6" y="1059989"/>
            <a:ext cx="8033473" cy="3816017"/>
          </a:xfrm>
        </p:spPr>
        <p:txBody>
          <a:bodyPr>
            <a:normAutofit fontScale="92500"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更深刻地理解高级语言程序的内部运行机制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教给我们如何严谨地去思考、编写程序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编译原理涉及了计算机科学求解问题的基本思路和方法，即问题的“形式化描述→自动化处理”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所涉及的理论和方法在很多领域都会被用到</a:t>
            </a: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900" b="1" dirty="0">
                <a:solidFill>
                  <a:schemeClr val="tx1"/>
                </a:solidFill>
                <a:cs typeface="Times New Roman" pitchFamily="18" charset="0"/>
              </a:rPr>
              <a:t>自然语言处理、模式识别、人工智能、</a:t>
            </a:r>
            <a:r>
              <a:rPr lang="en-US" altLang="zh-CN" sz="2900" b="1" dirty="0">
                <a:solidFill>
                  <a:schemeClr val="tx1"/>
                </a:solidFill>
                <a:cs typeface="Times New Roman" pitchFamily="18" charset="0"/>
              </a:rPr>
              <a:t>……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很多应用软件都会用到编译技术</a:t>
            </a: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通过本课程的学习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794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00563" y="1357313"/>
            <a:ext cx="4357687" cy="2657138"/>
          </a:xfrm>
          <a:prstGeom prst="rect">
            <a:avLst/>
          </a:prstGeom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1.1 什么是编译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1.2 编译系统的结构</a:t>
            </a:r>
          </a:p>
          <a:p>
            <a:pPr>
              <a:lnSpc>
                <a:spcPts val="4000"/>
              </a:lnSpc>
              <a:defRPr/>
            </a:pP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1.3 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5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为什么要学习编译原理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pic>
        <p:nvPicPr>
          <p:cNvPr id="2867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4931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结构化编辑器（</a:t>
            </a:r>
            <a:r>
              <a:rPr lang="en-US" altLang="zh-CN" b="1" dirty="0">
                <a:solidFill>
                  <a:schemeClr val="tx1"/>
                </a:solidFill>
              </a:rPr>
              <a:t>Structure editors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引导用户在语言的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语法约束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下编制程序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能自动地提供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关键字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与其匹配的关键字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108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结构化编辑器（</a:t>
            </a:r>
            <a:r>
              <a:rPr lang="en-US" altLang="zh-CN" b="1" dirty="0">
                <a:solidFill>
                  <a:schemeClr val="tx1"/>
                </a:solidFill>
              </a:rPr>
              <a:t>Structure editors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智能打印机（</a:t>
            </a:r>
            <a:r>
              <a:rPr lang="en-US" altLang="zh-CN" b="1" dirty="0">
                <a:solidFill>
                  <a:schemeClr val="tx1"/>
                </a:solidFill>
              </a:rPr>
              <a:t>Pretty printers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对程序进行分析，打印出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结构清晰的程序</a:t>
            </a:r>
          </a:p>
          <a:p>
            <a:pPr lvl="2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cs typeface="Times New Roman" pitchFamily="18" charset="0"/>
              </a:rPr>
              <a:t>注释以一种特殊的字体打印</a:t>
            </a:r>
          </a:p>
          <a:p>
            <a:pPr lvl="2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cs typeface="Times New Roman" pitchFamily="18" charset="0"/>
              </a:rPr>
              <a:t>根据各个语句在程序的层次结构中的</a:t>
            </a:r>
            <a:r>
              <a:rPr lang="zh-CN" altLang="en-US" sz="1800" b="1" dirty="0">
                <a:solidFill>
                  <a:srgbClr val="0000FF"/>
                </a:solidFill>
                <a:cs typeface="Times New Roman" pitchFamily="18" charset="0"/>
              </a:rPr>
              <a:t>嵌套深度</a:t>
            </a:r>
            <a:r>
              <a:rPr lang="zh-CN" altLang="en-US" sz="1800" b="1" dirty="0">
                <a:solidFill>
                  <a:schemeClr val="tx1"/>
                </a:solidFill>
                <a:cs typeface="Times New Roman" pitchFamily="18" charset="0"/>
              </a:rPr>
              <a:t>进行</a:t>
            </a:r>
            <a:r>
              <a:rPr lang="zh-CN" altLang="en-US" sz="1800" b="1" dirty="0">
                <a:solidFill>
                  <a:srgbClr val="0000FF"/>
                </a:solidFill>
                <a:cs typeface="Times New Roman" pitchFamily="18" charset="0"/>
              </a:rPr>
              <a:t>缩进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809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结构化编辑器（</a:t>
            </a:r>
            <a:r>
              <a:rPr lang="en-US" altLang="zh-CN" b="1" dirty="0">
                <a:solidFill>
                  <a:schemeClr val="tx1"/>
                </a:solidFill>
              </a:rPr>
              <a:t>Structure editors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智能打印机（</a:t>
            </a:r>
            <a:r>
              <a:rPr lang="en-US" altLang="zh-CN" b="1" dirty="0">
                <a:solidFill>
                  <a:schemeClr val="tx1"/>
                </a:solidFill>
              </a:rPr>
              <a:t>Pretty printers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静态检测器（</a:t>
            </a:r>
            <a:r>
              <a:rPr lang="en-US" altLang="zh-CN" b="1" dirty="0">
                <a:solidFill>
                  <a:schemeClr val="tx1"/>
                </a:solidFill>
              </a:rPr>
              <a:t>Static checkers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静态定位程序中的错误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2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cs typeface="Times New Roman" pitchFamily="18" charset="0"/>
              </a:rPr>
              <a:t>释放</a:t>
            </a:r>
            <a:r>
              <a:rPr lang="zh-CN" altLang="en-US" sz="1800" b="1" dirty="0">
                <a:solidFill>
                  <a:srgbClr val="0000FF"/>
                </a:solidFill>
                <a:cs typeface="Times New Roman" pitchFamily="18" charset="0"/>
              </a:rPr>
              <a:t>空指针</a:t>
            </a:r>
            <a:r>
              <a:rPr lang="zh-CN" altLang="en-US" sz="1800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zh-CN" altLang="en-US" sz="1800" b="1" dirty="0">
                <a:solidFill>
                  <a:srgbClr val="0000FF"/>
                </a:solidFill>
                <a:cs typeface="Times New Roman" pitchFamily="18" charset="0"/>
              </a:rPr>
              <a:t>已释放过的指针</a:t>
            </a:r>
            <a:endParaRPr lang="en-US" altLang="zh-CN" sz="1800" b="1" dirty="0">
              <a:solidFill>
                <a:srgbClr val="0000FF"/>
              </a:solidFill>
              <a:cs typeface="Times New Roman" pitchFamily="18" charset="0"/>
            </a:endParaRPr>
          </a:p>
          <a:p>
            <a:pPr lvl="2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cs typeface="Times New Roman" pitchFamily="18" charset="0"/>
              </a:rPr>
              <a:t>检测出程序中</a:t>
            </a:r>
            <a:r>
              <a:rPr lang="zh-CN" altLang="en-US" sz="1800" b="1" dirty="0">
                <a:solidFill>
                  <a:srgbClr val="0000FF"/>
                </a:solidFill>
                <a:cs typeface="Times New Roman" pitchFamily="18" charset="0"/>
              </a:rPr>
              <a:t>永远不能被执行的语句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175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结构化编辑器（</a:t>
            </a:r>
            <a:r>
              <a:rPr lang="en-US" altLang="zh-CN" b="1" dirty="0">
                <a:solidFill>
                  <a:schemeClr val="tx1"/>
                </a:solidFill>
              </a:rPr>
              <a:t>Structure editors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智能打印机（</a:t>
            </a:r>
            <a:r>
              <a:rPr lang="en-US" altLang="zh-CN" b="1" dirty="0">
                <a:solidFill>
                  <a:schemeClr val="tx1"/>
                </a:solidFill>
              </a:rPr>
              <a:t>Pretty printers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静态检测器（</a:t>
            </a:r>
            <a:r>
              <a:rPr lang="en-US" altLang="zh-CN" b="1" dirty="0">
                <a:solidFill>
                  <a:schemeClr val="tx1"/>
                </a:solidFill>
              </a:rPr>
              <a:t>Static checkers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文本格式器（</a:t>
            </a:r>
            <a:r>
              <a:rPr lang="en-US" altLang="zh-CN" b="1" dirty="0">
                <a:solidFill>
                  <a:schemeClr val="tx1"/>
                </a:solidFill>
              </a:rPr>
              <a:t>Text formatters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文本格式器处理的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字符流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中除了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需要排版输出的字符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以外，还包含一些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用来说明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字符流中的段落、图表或者上标和下标等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数学结构的命令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00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结构化编辑器（</a:t>
            </a:r>
            <a:r>
              <a:rPr lang="en-US" altLang="zh-CN" b="1" dirty="0">
                <a:solidFill>
                  <a:schemeClr val="tx1"/>
                </a:solidFill>
              </a:rPr>
              <a:t>Structure editors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智能打印机（</a:t>
            </a:r>
            <a:r>
              <a:rPr lang="en-US" altLang="zh-CN" b="1" dirty="0">
                <a:solidFill>
                  <a:schemeClr val="tx1"/>
                </a:solidFill>
              </a:rPr>
              <a:t>Pretty printers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静态检测器（</a:t>
            </a:r>
            <a:r>
              <a:rPr lang="en-US" altLang="zh-CN" b="1" dirty="0">
                <a:solidFill>
                  <a:schemeClr val="tx1"/>
                </a:solidFill>
              </a:rPr>
              <a:t>Static checkers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文本格式器（</a:t>
            </a:r>
            <a:r>
              <a:rPr lang="en-US" altLang="zh-CN" b="1" dirty="0">
                <a:solidFill>
                  <a:schemeClr val="tx1"/>
                </a:solidFill>
              </a:rPr>
              <a:t>Text formatters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数据库查询解释器（ </a:t>
            </a:r>
            <a:r>
              <a:rPr lang="en-US" altLang="zh-CN" b="1" dirty="0">
                <a:solidFill>
                  <a:schemeClr val="tx1"/>
                </a:solidFill>
              </a:rPr>
              <a:t>Database Query Interpreters 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数据库查询语句由包含了关系和布尔运算的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谓词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组成。查询解释器把这些谓词翻译成</a:t>
            </a:r>
            <a:r>
              <a:rPr lang="zh-CN" altLang="en-US" sz="2000" b="1" dirty="0">
                <a:solidFill>
                  <a:srgbClr val="0000FF"/>
                </a:solidFill>
                <a:cs typeface="Times New Roman" pitchFamily="18" charset="0"/>
              </a:rPr>
              <a:t>数据库命令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，在数据库中查询满足条件的记录。</a:t>
            </a: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16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结构化编辑器（</a:t>
            </a:r>
            <a:r>
              <a:rPr lang="en-US" altLang="zh-CN" b="1" dirty="0">
                <a:solidFill>
                  <a:schemeClr val="tx1"/>
                </a:solidFill>
              </a:rPr>
              <a:t>Structure editors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智能打印机（</a:t>
            </a:r>
            <a:r>
              <a:rPr lang="en-US" altLang="zh-CN" b="1" dirty="0">
                <a:solidFill>
                  <a:schemeClr val="tx1"/>
                </a:solidFill>
              </a:rPr>
              <a:t>Pretty printers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静态检测器（</a:t>
            </a:r>
            <a:r>
              <a:rPr lang="en-US" altLang="zh-CN" b="1" dirty="0">
                <a:solidFill>
                  <a:schemeClr val="tx1"/>
                </a:solidFill>
              </a:rPr>
              <a:t>Static checkers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文本格式器（</a:t>
            </a:r>
            <a:r>
              <a:rPr lang="en-US" altLang="zh-CN" b="1" dirty="0">
                <a:solidFill>
                  <a:schemeClr val="tx1"/>
                </a:solidFill>
              </a:rPr>
              <a:t>Text formatters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数据库查询解释器（ </a:t>
            </a:r>
            <a:r>
              <a:rPr lang="en-US" altLang="zh-CN" b="1" dirty="0">
                <a:solidFill>
                  <a:schemeClr val="tx1"/>
                </a:solidFill>
              </a:rPr>
              <a:t>Database Query Interpreters 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高级语言的翻译工具</a:t>
            </a:r>
          </a:p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1.5 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375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00563" y="1357313"/>
            <a:ext cx="4357687" cy="2657138"/>
          </a:xfrm>
          <a:prstGeom prst="rect">
            <a:avLst/>
          </a:prstGeom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什么是编译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编译系统的结构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编译程序的生成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为什么要学习编译原理</a:t>
            </a:r>
          </a:p>
          <a:p>
            <a:pPr>
              <a:lnSpc>
                <a:spcPts val="4000"/>
              </a:lnSpc>
              <a:defRPr/>
            </a:pPr>
            <a:r>
              <a:rPr lang="zh-CN" altLang="en-US" sz="25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编译技术的应用</a:t>
            </a:r>
          </a:p>
        </p:txBody>
      </p:sp>
      <p:pic>
        <p:nvPicPr>
          <p:cNvPr id="28676" name="Picture 7" descr="E:\工大编译\ppt\制作\0330e9c554c768200000158fc50d53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4143375" y="357188"/>
            <a:ext cx="338095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b="1" spc="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2274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．绪论 	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2.   </a:t>
            </a:r>
            <a:r>
              <a:rPr lang="zh-CN" altLang="en-US" b="1" dirty="0">
                <a:solidFill>
                  <a:schemeClr val="tx1"/>
                </a:solidFill>
              </a:rPr>
              <a:t>语言及其文法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．词法分析		（</a:t>
            </a: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zh-CN" altLang="en-US" b="1" dirty="0">
                <a:solidFill>
                  <a:schemeClr val="tx1"/>
                </a:solidFill>
              </a:rPr>
              <a:t>．语法分析		（</a:t>
            </a: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．语法制导翻译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．中间代码生成		（</a:t>
            </a: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．运行时的存贮组织	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8</a:t>
            </a:r>
            <a:r>
              <a:rPr lang="zh-CN" altLang="en-US" b="1" dirty="0">
                <a:solidFill>
                  <a:schemeClr val="tx1"/>
                </a:solidFill>
              </a:rPr>
              <a:t>．代码优化       		（</a:t>
            </a: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>
              <a:lnSpc>
                <a:spcPts val="2500"/>
              </a:lnSpc>
              <a:buClrTx/>
              <a:buFont typeface="Wingdings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．代码生成       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课程主要内容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00620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G:\QQ截图201607142012副本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9144000" cy="5152203"/>
          </a:xfrm>
          <a:prstGeom prst="rect">
            <a:avLst/>
          </a:prstGeom>
          <a:noFill/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5148064" y="1714494"/>
            <a:ext cx="2952328" cy="939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fontAlgn="auto">
              <a:spcAft>
                <a:spcPts val="0"/>
              </a:spcAft>
              <a:defRPr/>
            </a:pPr>
            <a:r>
              <a:rPr lang="zh-CN" altLang="en-US" sz="3500" spc="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结束</a:t>
            </a:r>
            <a:endParaRPr lang="en-US" altLang="zh-CN" sz="3500" spc="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8750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18266</TotalTime>
  <Words>3447</Words>
  <Application>Microsoft Office PowerPoint</Application>
  <PresentationFormat>全屏显示(16:9)</PresentationFormat>
  <Paragraphs>720</Paragraphs>
  <Slides>57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Monotype Sorts</vt:lpstr>
      <vt:lpstr>华文楷体</vt:lpstr>
      <vt:lpstr>楷体</vt:lpstr>
      <vt:lpstr>楷体_GB2312</vt:lpstr>
      <vt:lpstr>微软雅黑</vt:lpstr>
      <vt:lpstr>Arial</vt:lpstr>
      <vt:lpstr>Calibri</vt:lpstr>
      <vt:lpstr>Candara</vt:lpstr>
      <vt:lpstr>Ebrima</vt:lpstr>
      <vt:lpstr>Symbol</vt:lpstr>
      <vt:lpstr>Tahoma</vt:lpstr>
      <vt:lpstr>Times New Roman</vt:lpstr>
      <vt:lpstr>Wingdings</vt:lpstr>
      <vt:lpstr>波形</vt:lpstr>
      <vt:lpstr>PowerPoint 演示文稿</vt:lpstr>
      <vt:lpstr>PowerPoint 演示文稿</vt:lpstr>
      <vt:lpstr>1.1 什么是编译？</vt:lpstr>
      <vt:lpstr>1.1 什么是编译？</vt:lpstr>
      <vt:lpstr>编译器在语言处理系统中的位置</vt:lpstr>
      <vt:lpstr>编译器在语言处理系统中的位置</vt:lpstr>
      <vt:lpstr>编译器在语言处理系统中的位置</vt:lpstr>
      <vt:lpstr>PowerPoint 演示文稿</vt:lpstr>
      <vt:lpstr>1.2 编译系统的结构</vt:lpstr>
      <vt:lpstr>人工英汉翻译的例子</vt:lpstr>
      <vt:lpstr>人工英汉翻译的例子</vt:lpstr>
      <vt:lpstr>人工英汉翻译的例子</vt:lpstr>
      <vt:lpstr>编译器的结构</vt:lpstr>
      <vt:lpstr>编译器的结构</vt:lpstr>
      <vt:lpstr>词法分析/扫描(Scanning)</vt:lpstr>
      <vt:lpstr>例：词法分析后得到的token序列</vt:lpstr>
      <vt:lpstr>编译器的结构</vt:lpstr>
      <vt:lpstr>语法分析 ( parsing)</vt:lpstr>
      <vt:lpstr>例1：赋值语句的分析树</vt:lpstr>
      <vt:lpstr> 例2：变量声明语句的分析树</vt:lpstr>
      <vt:lpstr>编译器的结构</vt:lpstr>
      <vt:lpstr>语义分析的主要任务</vt:lpstr>
      <vt:lpstr>语义分析的主要任务</vt:lpstr>
      <vt:lpstr>语义分析的主要任务</vt:lpstr>
      <vt:lpstr>语义分析的主要任务</vt:lpstr>
      <vt:lpstr>语义分析的主要任务</vt:lpstr>
      <vt:lpstr>语义分析的主要任务</vt:lpstr>
      <vt:lpstr>语义分析的主要任务</vt:lpstr>
      <vt:lpstr>编译器的结构</vt:lpstr>
      <vt:lpstr>常用的中间表示形式</vt:lpstr>
      <vt:lpstr>常用的三地址指令</vt:lpstr>
      <vt:lpstr>三地址指令的表示</vt:lpstr>
      <vt:lpstr>三地址指令的四元式表示</vt:lpstr>
      <vt:lpstr>中间代码生成的例子</vt:lpstr>
      <vt:lpstr>编译器的结构</vt:lpstr>
      <vt:lpstr>编译器的结构</vt:lpstr>
      <vt:lpstr>PowerPoint 演示文稿</vt:lpstr>
      <vt:lpstr>编译程序的生成</vt:lpstr>
      <vt:lpstr>编译器的T形图</vt:lpstr>
      <vt:lpstr>自展</vt:lpstr>
      <vt:lpstr>自展</vt:lpstr>
      <vt:lpstr>编译程序的生成</vt:lpstr>
      <vt:lpstr>编译器的移植</vt:lpstr>
      <vt:lpstr>编译程序的生成</vt:lpstr>
      <vt:lpstr>PowerPoint 演示文稿</vt:lpstr>
      <vt:lpstr>1.4 为什么要学习编译原理</vt:lpstr>
      <vt:lpstr>通过本课程的学习</vt:lpstr>
      <vt:lpstr>PowerPoint 演示文稿</vt:lpstr>
      <vt:lpstr>1.5 编译技术的应用</vt:lpstr>
      <vt:lpstr>1.5 编译技术的应用</vt:lpstr>
      <vt:lpstr>1.5 编译技术的应用</vt:lpstr>
      <vt:lpstr>1.5 编译技术的应用</vt:lpstr>
      <vt:lpstr>1.5 编译技术的应用</vt:lpstr>
      <vt:lpstr>1.5 编译技术的应用</vt:lpstr>
      <vt:lpstr>PowerPoint 演示文稿</vt:lpstr>
      <vt:lpstr>课程主要内容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Shunyu</cp:lastModifiedBy>
  <cp:revision>1066</cp:revision>
  <cp:lastPrinted>2019-02-15T07:37:09Z</cp:lastPrinted>
  <dcterms:created xsi:type="dcterms:W3CDTF">2003-07-09T14:46:46Z</dcterms:created>
  <dcterms:modified xsi:type="dcterms:W3CDTF">2022-05-06T14:43:06Z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