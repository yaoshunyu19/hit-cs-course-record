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0"/>
  </p:notesMasterIdLst>
  <p:sldIdLst>
    <p:sldId id="555" r:id="rId2"/>
    <p:sldId id="560" r:id="rId3"/>
    <p:sldId id="561" r:id="rId4"/>
    <p:sldId id="466" r:id="rId5"/>
    <p:sldId id="469" r:id="rId6"/>
    <p:sldId id="559" r:id="rId7"/>
    <p:sldId id="558" r:id="rId8"/>
    <p:sldId id="557" r:id="rId9"/>
    <p:sldId id="470" r:id="rId10"/>
    <p:sldId id="562" r:id="rId11"/>
    <p:sldId id="473" r:id="rId12"/>
    <p:sldId id="474" r:id="rId13"/>
    <p:sldId id="563" r:id="rId14"/>
    <p:sldId id="475" r:id="rId15"/>
    <p:sldId id="476" r:id="rId16"/>
    <p:sldId id="477" r:id="rId17"/>
    <p:sldId id="581" r:id="rId18"/>
    <p:sldId id="582" r:id="rId19"/>
    <p:sldId id="478" r:id="rId20"/>
    <p:sldId id="576" r:id="rId21"/>
    <p:sldId id="577" r:id="rId22"/>
    <p:sldId id="578" r:id="rId23"/>
    <p:sldId id="579" r:id="rId24"/>
    <p:sldId id="564" r:id="rId25"/>
    <p:sldId id="481" r:id="rId26"/>
    <p:sldId id="482" r:id="rId27"/>
    <p:sldId id="483" r:id="rId28"/>
    <p:sldId id="565" r:id="rId29"/>
    <p:sldId id="513" r:id="rId30"/>
    <p:sldId id="514" r:id="rId31"/>
    <p:sldId id="515" r:id="rId32"/>
    <p:sldId id="484" r:id="rId33"/>
    <p:sldId id="516" r:id="rId34"/>
    <p:sldId id="508" r:id="rId35"/>
    <p:sldId id="517" r:id="rId36"/>
    <p:sldId id="518" r:id="rId37"/>
    <p:sldId id="519" r:id="rId38"/>
    <p:sldId id="520" r:id="rId39"/>
    <p:sldId id="509" r:id="rId40"/>
    <p:sldId id="510" r:id="rId41"/>
    <p:sldId id="511" r:id="rId42"/>
    <p:sldId id="525" r:id="rId43"/>
    <p:sldId id="485" r:id="rId44"/>
    <p:sldId id="524" r:id="rId45"/>
    <p:sldId id="526" r:id="rId46"/>
    <p:sldId id="527" r:id="rId47"/>
    <p:sldId id="512" r:id="rId48"/>
    <p:sldId id="528" r:id="rId49"/>
    <p:sldId id="531" r:id="rId50"/>
    <p:sldId id="529" r:id="rId51"/>
    <p:sldId id="530" r:id="rId52"/>
    <p:sldId id="486" r:id="rId53"/>
    <p:sldId id="553" r:id="rId54"/>
    <p:sldId id="566" r:id="rId55"/>
    <p:sldId id="487" r:id="rId56"/>
    <p:sldId id="567" r:id="rId57"/>
    <p:sldId id="532" r:id="rId58"/>
    <p:sldId id="533" r:id="rId59"/>
    <p:sldId id="488" r:id="rId60"/>
    <p:sldId id="568" r:id="rId61"/>
    <p:sldId id="536" r:id="rId62"/>
    <p:sldId id="569" r:id="rId63"/>
    <p:sldId id="538" r:id="rId64"/>
    <p:sldId id="490" r:id="rId65"/>
    <p:sldId id="492" r:id="rId66"/>
    <p:sldId id="655" r:id="rId67"/>
    <p:sldId id="570" r:id="rId68"/>
    <p:sldId id="541" r:id="rId69"/>
    <p:sldId id="494" r:id="rId70"/>
    <p:sldId id="495" r:id="rId71"/>
    <p:sldId id="496" r:id="rId72"/>
    <p:sldId id="583" r:id="rId73"/>
    <p:sldId id="571" r:id="rId74"/>
    <p:sldId id="504" r:id="rId75"/>
    <p:sldId id="547" r:id="rId76"/>
    <p:sldId id="545" r:id="rId77"/>
    <p:sldId id="546" r:id="rId78"/>
    <p:sldId id="548" r:id="rId79"/>
    <p:sldId id="542" r:id="rId80"/>
    <p:sldId id="549" r:id="rId81"/>
    <p:sldId id="550" r:id="rId82"/>
    <p:sldId id="572" r:id="rId83"/>
    <p:sldId id="691" r:id="rId84"/>
    <p:sldId id="692" r:id="rId85"/>
    <p:sldId id="693" r:id="rId86"/>
    <p:sldId id="687" r:id="rId87"/>
    <p:sldId id="688" r:id="rId88"/>
    <p:sldId id="689" r:id="rId89"/>
    <p:sldId id="690" r:id="rId90"/>
    <p:sldId id="580" r:id="rId91"/>
    <p:sldId id="573" r:id="rId92"/>
    <p:sldId id="575" r:id="rId93"/>
    <p:sldId id="694" r:id="rId94"/>
    <p:sldId id="584" r:id="rId95"/>
    <p:sldId id="585" r:id="rId96"/>
    <p:sldId id="586" r:id="rId97"/>
    <p:sldId id="507" r:id="rId98"/>
    <p:sldId id="287" r:id="rId9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rZvxbJ0hn8EAQnqoJTmuFQ==" hashData="YbyvSPqtz3eWKxp0k4YIhjCQgMbUKPS391vL7DsJ8QCBbWp8glmEfNXS3sR4eedmJPZn2zYkRBRONUj32ivn4A=="/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9900"/>
    <a:srgbClr val="99FFCC"/>
    <a:srgbClr val="FFFFCC"/>
    <a:srgbClr val="990033"/>
    <a:srgbClr val="66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8"/>
    <p:restoredTop sz="90482"/>
  </p:normalViewPr>
  <p:slideViewPr>
    <p:cSldViewPr showGuides="1">
      <p:cViewPr varScale="1">
        <p:scale>
          <a:sx n="78" d="100"/>
          <a:sy n="78" d="100"/>
        </p:scale>
        <p:origin x="1608" y="62"/>
      </p:cViewPr>
      <p:guideLst>
        <p:guide orient="horz" pos="215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Primary key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的说明可以与属性说明合在一起，例如：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TABLE  Student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Name             VARCHAR(15) Primary key,   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SSN                CHAR(9)   NOT NULL,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Year                INTEGER, </a:t>
            </a: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Speciality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VARCHAR(30)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Department    VARCHAR(30)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Primary key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的说明可以与属性说明合在一起，例如：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TABLE  Student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Name             VARCHAR(15) Primary key,   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SSN                CHAR(9)   NOT NULL,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Year                INTEGER, </a:t>
            </a: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Speciality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VARCHAR(30)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  <a:p>
            <a:pPr marL="742950" marR="0" lvl="1" indent="-285750" algn="just" defTabSz="914400" rtl="0" eaLnBrk="0" fontAlgn="b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Department    VARCHAR(30)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视图中的列使用的名称。</a:t>
            </a:r>
          </a:p>
          <a:p>
            <a:pPr lvl="0"/>
            <a:r>
              <a:rPr lang="zh-CN" altLang="en-US" dirty="0"/>
              <a:t>仅在下列情况下需要列名：列是从算术表达式、函数或常量派生的；两个或更多的列可能会具有相同的名称（通常是由于联接的原因）；</a:t>
            </a:r>
          </a:p>
          <a:p>
            <a:pPr lvl="0"/>
            <a:r>
              <a:rPr lang="zh-CN" altLang="en-US" dirty="0"/>
              <a:t>视图中的某个列的指定名称不同于其派生来源列的名称。还可以在</a:t>
            </a:r>
            <a:r>
              <a:rPr lang="en-US" altLang="zh-CN" dirty="0"/>
              <a:t>SELECT </a:t>
            </a:r>
            <a:r>
              <a:rPr lang="zh-CN" altLang="en-US" dirty="0"/>
              <a:t>语句中分配列名。 </a:t>
            </a:r>
          </a:p>
          <a:p>
            <a:pPr lvl="0"/>
            <a:r>
              <a:rPr lang="zh-CN" altLang="en-US" dirty="0"/>
              <a:t>如果未指定</a:t>
            </a:r>
            <a:r>
              <a:rPr lang="en-US" altLang="zh-CN" i="1" dirty="0"/>
              <a:t>column</a:t>
            </a:r>
            <a:r>
              <a:rPr lang="zh-CN" altLang="en-US" dirty="0"/>
              <a:t>，则视图列将获得与</a:t>
            </a:r>
            <a:r>
              <a:rPr lang="en-US" altLang="zh-CN" dirty="0"/>
              <a:t>SELECT </a:t>
            </a:r>
            <a:r>
              <a:rPr lang="zh-CN" altLang="en-US" dirty="0"/>
              <a:t>语句中的列相同的名称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b="1" dirty="0">
                <a:ea typeface="楷体_GB2312"/>
              </a:rPr>
              <a:t>例如：</a:t>
            </a:r>
            <a:r>
              <a:rPr lang="en-US" altLang="zh-CN" b="1" dirty="0">
                <a:ea typeface="楷体_GB2312"/>
              </a:rPr>
              <a:t>CREATE VIEW CS_Student</a:t>
            </a:r>
            <a:r>
              <a:rPr lang="zh-CN" altLang="en-US" b="1" dirty="0">
                <a:ea typeface="楷体_GB2312"/>
              </a:rPr>
              <a:t>（</a:t>
            </a:r>
            <a:r>
              <a:rPr lang="en-US" altLang="zh-CN" b="1" dirty="0">
                <a:ea typeface="楷体_GB2312"/>
              </a:rPr>
              <a:t>S_no, S_name,S_age</a:t>
            </a:r>
            <a:r>
              <a:rPr lang="zh-CN" altLang="en-US" b="1" dirty="0">
                <a:ea typeface="楷体_GB2312"/>
              </a:rPr>
              <a:t>）</a:t>
            </a:r>
            <a:endParaRPr lang="en-US" altLang="zh-CN" b="1" dirty="0">
              <a:ea typeface="楷体_GB2312"/>
            </a:endParaRPr>
          </a:p>
          <a:p>
            <a:pPr lvl="0"/>
            <a:r>
              <a:rPr lang="en-US" altLang="zh-CN" b="1" dirty="0">
                <a:ea typeface="楷体_GB2312"/>
              </a:rPr>
              <a:t>               AS </a:t>
            </a:r>
          </a:p>
          <a:p>
            <a:pPr lvl="0"/>
            <a:r>
              <a:rPr lang="en-US" altLang="zh-CN" b="1" dirty="0">
                <a:ea typeface="楷体_GB2312"/>
              </a:rPr>
              <a:t>               SELECT Sno</a:t>
            </a:r>
            <a:r>
              <a:rPr lang="zh-CN" altLang="en-US" b="1" dirty="0">
                <a:ea typeface="楷体_GB2312"/>
              </a:rPr>
              <a:t>，</a:t>
            </a:r>
            <a:r>
              <a:rPr lang="en-US" altLang="zh-CN" b="1" dirty="0">
                <a:ea typeface="楷体_GB2312"/>
              </a:rPr>
              <a:t>Sname</a:t>
            </a:r>
            <a:r>
              <a:rPr lang="zh-CN" altLang="en-US" b="1" dirty="0">
                <a:ea typeface="楷体_GB2312"/>
              </a:rPr>
              <a:t>，</a:t>
            </a:r>
            <a:r>
              <a:rPr lang="en-US" altLang="zh-CN" b="1" dirty="0">
                <a:ea typeface="楷体_GB2312"/>
              </a:rPr>
              <a:t>Sage</a:t>
            </a:r>
          </a:p>
          <a:p>
            <a:pPr lvl="0"/>
            <a:r>
              <a:rPr lang="en-US" altLang="zh-CN" b="1" dirty="0">
                <a:ea typeface="楷体_GB2312"/>
              </a:rPr>
              <a:t>               FROM  Student</a:t>
            </a:r>
          </a:p>
          <a:p>
            <a:pPr lvl="0"/>
            <a:r>
              <a:rPr lang="en-US" altLang="zh-CN" b="1" dirty="0">
                <a:ea typeface="楷体_GB2312"/>
              </a:rPr>
              <a:t>               WHERE  Sdept= ‘CS'</a:t>
            </a:r>
            <a:r>
              <a:rPr lang="zh-CN" altLang="en-US" b="1" dirty="0">
                <a:ea typeface="楷体_GB2312"/>
              </a:rPr>
              <a:t>；</a:t>
            </a:r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96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SQL</a:t>
            </a:r>
            <a:r>
              <a:rPr lang="zh-CN" altLang="en-US" dirty="0"/>
              <a:t>不区分大小写。</a:t>
            </a:r>
            <a:endParaRPr lang="en-US" altLang="zh-CN" dirty="0"/>
          </a:p>
          <a:p>
            <a:pPr lvl="0"/>
            <a:r>
              <a:rPr lang="en-US" altLang="zh-CN" dirty="0"/>
              <a:t>SQL</a:t>
            </a:r>
            <a:r>
              <a:rPr lang="zh-CN" altLang="en-US" dirty="0"/>
              <a:t>允许查询结果表中有重复元组，如果不允许出现重复元组，则必须用“</a:t>
            </a:r>
            <a:r>
              <a:rPr lang="en-US" altLang="zh-CN" dirty="0"/>
              <a:t>DISTINCT</a:t>
            </a:r>
            <a:r>
              <a:rPr lang="zh-CN" altLang="en-US" dirty="0"/>
              <a:t>”去重。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ALL</a:t>
            </a:r>
            <a:r>
              <a:rPr lang="zh-CN" altLang="en-US" dirty="0"/>
              <a:t>意指列出所有，不去重。</a:t>
            </a:r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25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54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视图中的列使用的名称。</a:t>
            </a:r>
          </a:p>
          <a:p>
            <a:pPr lvl="0"/>
            <a:r>
              <a:rPr lang="zh-CN" altLang="en-US" dirty="0"/>
              <a:t>仅在下列情况下需要列名：列是从算术表达式、函数或常量派生的；两个或更多的列可能会具有相同的名称（通常是由于联接的原因）；</a:t>
            </a:r>
          </a:p>
          <a:p>
            <a:pPr lvl="0"/>
            <a:r>
              <a:rPr lang="zh-CN" altLang="en-US" dirty="0"/>
              <a:t>视图中的某个列的指定名称不同于其派生来源列的名称。还可以在</a:t>
            </a:r>
            <a:r>
              <a:rPr lang="en-US" altLang="zh-CN" dirty="0"/>
              <a:t>SELECT </a:t>
            </a:r>
            <a:r>
              <a:rPr lang="zh-CN" altLang="en-US" dirty="0"/>
              <a:t>语句中分配列名。 </a:t>
            </a:r>
          </a:p>
          <a:p>
            <a:pPr lvl="0"/>
            <a:r>
              <a:rPr lang="zh-CN" altLang="en-US" dirty="0"/>
              <a:t>如果未指定</a:t>
            </a:r>
            <a:r>
              <a:rPr lang="en-US" altLang="zh-CN" i="1" dirty="0"/>
              <a:t>column</a:t>
            </a:r>
            <a:r>
              <a:rPr lang="zh-CN" altLang="en-US" dirty="0"/>
              <a:t>，则视图列将获得与</a:t>
            </a:r>
            <a:r>
              <a:rPr lang="en-US" altLang="zh-CN" dirty="0"/>
              <a:t>SELECT </a:t>
            </a:r>
            <a:r>
              <a:rPr lang="zh-CN" altLang="en-US" dirty="0"/>
              <a:t>语句中的列相同的名称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b="1" dirty="0">
                <a:ea typeface="楷体_GB2312"/>
              </a:rPr>
              <a:t>例如：</a:t>
            </a:r>
            <a:r>
              <a:rPr lang="en-US" altLang="zh-CN" b="1" dirty="0">
                <a:ea typeface="楷体_GB2312"/>
              </a:rPr>
              <a:t>CREATE VIEW CS_Student</a:t>
            </a:r>
            <a:r>
              <a:rPr lang="zh-CN" altLang="en-US" b="1" dirty="0">
                <a:ea typeface="楷体_GB2312"/>
              </a:rPr>
              <a:t>（</a:t>
            </a:r>
            <a:r>
              <a:rPr lang="en-US" altLang="zh-CN" b="1" dirty="0">
                <a:ea typeface="楷体_GB2312"/>
              </a:rPr>
              <a:t>S_no, S_name,S_age</a:t>
            </a:r>
            <a:r>
              <a:rPr lang="zh-CN" altLang="en-US" b="1" dirty="0">
                <a:ea typeface="楷体_GB2312"/>
              </a:rPr>
              <a:t>）</a:t>
            </a:r>
            <a:endParaRPr lang="en-US" altLang="zh-CN" b="1" dirty="0">
              <a:ea typeface="楷体_GB2312"/>
            </a:endParaRPr>
          </a:p>
          <a:p>
            <a:pPr lvl="0"/>
            <a:r>
              <a:rPr lang="en-US" altLang="zh-CN" b="1" dirty="0">
                <a:ea typeface="楷体_GB2312"/>
              </a:rPr>
              <a:t>               AS </a:t>
            </a:r>
          </a:p>
          <a:p>
            <a:pPr lvl="0"/>
            <a:r>
              <a:rPr lang="en-US" altLang="zh-CN" b="1" dirty="0">
                <a:ea typeface="楷体_GB2312"/>
              </a:rPr>
              <a:t>               SELECT Sno</a:t>
            </a:r>
            <a:r>
              <a:rPr lang="zh-CN" altLang="en-US" b="1" dirty="0">
                <a:ea typeface="楷体_GB2312"/>
              </a:rPr>
              <a:t>，</a:t>
            </a:r>
            <a:r>
              <a:rPr lang="en-US" altLang="zh-CN" b="1" dirty="0">
                <a:ea typeface="楷体_GB2312"/>
              </a:rPr>
              <a:t>Sname</a:t>
            </a:r>
            <a:r>
              <a:rPr lang="zh-CN" altLang="en-US" b="1" dirty="0">
                <a:ea typeface="楷体_GB2312"/>
              </a:rPr>
              <a:t>，</a:t>
            </a:r>
            <a:r>
              <a:rPr lang="en-US" altLang="zh-CN" b="1" dirty="0">
                <a:ea typeface="楷体_GB2312"/>
              </a:rPr>
              <a:t>Sage</a:t>
            </a:r>
          </a:p>
          <a:p>
            <a:pPr lvl="0"/>
            <a:r>
              <a:rPr lang="en-US" altLang="zh-CN" b="1" dirty="0">
                <a:ea typeface="楷体_GB2312"/>
              </a:rPr>
              <a:t>               FROM  Student</a:t>
            </a:r>
          </a:p>
          <a:p>
            <a:pPr lvl="0"/>
            <a:r>
              <a:rPr lang="en-US" altLang="zh-CN" b="1" dirty="0">
                <a:ea typeface="楷体_GB2312"/>
              </a:rPr>
              <a:t>               WHERE  Sdept= ‘CS'</a:t>
            </a:r>
            <a:r>
              <a:rPr lang="zh-CN" altLang="en-US" b="1" dirty="0">
                <a:ea typeface="楷体_GB2312"/>
              </a:rPr>
              <a:t>；</a:t>
            </a:r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72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54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89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1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94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136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95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98</a:t>
            </a:fld>
            <a:endParaRPr lang="zh-CN" altLang="en-US" sz="1200" dirty="0"/>
          </a:p>
        </p:txBody>
      </p:sp>
      <p:sp>
        <p:nvSpPr>
          <p:cNvPr id="1177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pic>
        <p:nvPicPr>
          <p:cNvPr id="2051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1F746-E08B-4ADF-916E-D9D5B1274D7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solidFill>
                  <a:srgbClr val="00339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+mj-ea"/>
          <a:cs typeface="楷体_GB2312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" y="1268413"/>
            <a:ext cx="8820150" cy="2760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基础篇</a:t>
            </a:r>
            <a:b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第三章 结构化查询语言</a:t>
            </a: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SQL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4367213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990600" y="1139825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查询语言概览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数据库的修改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数据库授权机制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08088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</a:p>
        </p:txBody>
      </p:sp>
      <p:sp>
        <p:nvSpPr>
          <p:cNvPr id="33587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1534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语言：结构化查询语言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最早的版本是由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IBM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开发的，最初被叫做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Sequel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20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世纪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70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年代早期作为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System R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项目的一部分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目前被各种数据库系统广泛使用，已经很明显地确立了自己作为标准的关系数据库查询语言的地位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38947" name="Rectangle 3"/>
          <p:cNvSpPr>
            <a:spLocks noGrp="1"/>
          </p:cNvSpPr>
          <p:nvPr>
            <p:ph idx="1"/>
          </p:nvPr>
        </p:nvSpPr>
        <p:spPr>
          <a:xfrm>
            <a:off x="381000" y="113347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标准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SQL/86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第一个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标准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由美国国家标准局（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American National Standard Institute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，简称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ANSI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）公布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1987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年国际标准化组织（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International Organization for Standardization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，简称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ISO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）通过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SQL/89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SQL/92           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SQL99           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SQL/2003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SQL/2006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SQL/2008 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2" name="左箭头标注 1"/>
          <p:cNvSpPr/>
          <p:nvPr/>
        </p:nvSpPr>
        <p:spPr>
          <a:xfrm>
            <a:off x="3041650" y="4103688"/>
            <a:ext cx="2520950" cy="2160588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参见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参考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文献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8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38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38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38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38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341313" y="1358900"/>
            <a:ext cx="8229600" cy="479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语言的表达能力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72191" y="3314037"/>
            <a:ext cx="2896135" cy="192882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0245" name="组合 39"/>
          <p:cNvGrpSpPr/>
          <p:nvPr/>
        </p:nvGrpSpPr>
        <p:grpSpPr>
          <a:xfrm>
            <a:off x="963609" y="1771646"/>
            <a:ext cx="5184775" cy="5043488"/>
            <a:chOff x="678652" y="1600640"/>
            <a:chExt cx="5183264" cy="5043046"/>
          </a:xfrm>
        </p:grpSpPr>
        <p:pic>
          <p:nvPicPr>
            <p:cNvPr id="12" name="图片 11" descr="无标题1.bmp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652" y="3143248"/>
              <a:ext cx="2893215" cy="1928826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3" name="图片 12" descr="mp_3368_480_thumb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1033" y="1600640"/>
              <a:ext cx="2574441" cy="1714512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5" name="图片 14" descr="20109563566297.jpg"/>
            <p:cNvPicPr>
              <a:picLocks noChangeAspect="1"/>
            </p:cNvPicPr>
            <p:nvPr/>
          </p:nvPicPr>
          <p:blipFill>
            <a:blip r:embed="rId5" cstate="print"/>
            <a:srcRect l="46875"/>
            <a:stretch>
              <a:fillRect/>
            </a:stretch>
          </p:blipFill>
          <p:spPr>
            <a:xfrm>
              <a:off x="3357554" y="4929198"/>
              <a:ext cx="2504362" cy="1714488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grpSp>
          <p:nvGrpSpPr>
            <p:cNvPr id="16" name="Group 2"/>
            <p:cNvGrpSpPr/>
            <p:nvPr/>
          </p:nvGrpSpPr>
          <p:grpSpPr bwMode="auto">
            <a:xfrm>
              <a:off x="3428992" y="3214466"/>
              <a:ext cx="2418996" cy="1787378"/>
              <a:chOff x="1310" y="1776"/>
              <a:chExt cx="1844" cy="1807"/>
            </a:xfrm>
            <a:solidFill>
              <a:srgbClr val="4D4D4D"/>
            </a:solidFill>
          </p:grpSpPr>
          <p:grpSp>
            <p:nvGrpSpPr>
              <p:cNvPr id="17" name="Group 3"/>
              <p:cNvGrpSpPr/>
              <p:nvPr/>
            </p:nvGrpSpPr>
            <p:grpSpPr bwMode="auto">
              <a:xfrm>
                <a:off x="1310" y="1776"/>
                <a:ext cx="1844" cy="1807"/>
                <a:chOff x="1613" y="2007"/>
                <a:chExt cx="1553" cy="1719"/>
              </a:xfrm>
              <a:grpFill/>
            </p:grpSpPr>
            <p:grpSp>
              <p:nvGrpSpPr>
                <p:cNvPr id="19" name="Group 9"/>
                <p:cNvGrpSpPr/>
                <p:nvPr/>
              </p:nvGrpSpPr>
              <p:grpSpPr bwMode="auto">
                <a:xfrm>
                  <a:off x="1613" y="2007"/>
                  <a:ext cx="1339" cy="1669"/>
                  <a:chOff x="4167" y="1405"/>
                  <a:chExt cx="1339" cy="1669"/>
                </a:xfrm>
                <a:grpFill/>
              </p:grpSpPr>
              <p:sp>
                <p:nvSpPr>
                  <p:cNvPr id="28" name="AutoShape 10"/>
                  <p:cNvSpPr>
                    <a:spLocks noChangeArrowheads="1"/>
                  </p:cNvSpPr>
                  <p:nvPr/>
                </p:nvSpPr>
                <p:spPr bwMode="auto">
                  <a:xfrm>
                    <a:off x="4168" y="1853"/>
                    <a:ext cx="454" cy="681"/>
                  </a:xfrm>
                  <a:prstGeom prst="can">
                    <a:avLst>
                      <a:gd name="adj" fmla="val 37500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4167" y="2393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0" name="AutoShape 12"/>
                  <p:cNvSpPr>
                    <a:spLocks noChangeArrowheads="1"/>
                  </p:cNvSpPr>
                  <p:nvPr/>
                </p:nvSpPr>
                <p:spPr bwMode="auto">
                  <a:xfrm>
                    <a:off x="4993" y="2294"/>
                    <a:ext cx="454" cy="682"/>
                  </a:xfrm>
                  <a:prstGeom prst="can">
                    <a:avLst>
                      <a:gd name="adj" fmla="val 37555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1" name="AutoShape 13"/>
                  <p:cNvSpPr>
                    <a:spLocks noChangeArrowheads="1"/>
                  </p:cNvSpPr>
                  <p:nvPr/>
                </p:nvSpPr>
                <p:spPr bwMode="auto">
                  <a:xfrm>
                    <a:off x="4710" y="1785"/>
                    <a:ext cx="453" cy="681"/>
                  </a:xfrm>
                  <a:prstGeom prst="can">
                    <a:avLst>
                      <a:gd name="adj" fmla="val 37583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4331" y="1954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3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5051" y="2125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4" name="AutoShape 16"/>
                  <p:cNvSpPr>
                    <a:spLocks noChangeArrowheads="1"/>
                  </p:cNvSpPr>
                  <p:nvPr/>
                </p:nvSpPr>
                <p:spPr bwMode="auto">
                  <a:xfrm>
                    <a:off x="4811" y="2299"/>
                    <a:ext cx="454" cy="682"/>
                  </a:xfrm>
                  <a:prstGeom prst="can">
                    <a:avLst>
                      <a:gd name="adj" fmla="val 37555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5" name="AutoShape 19"/>
                  <p:cNvSpPr>
                    <a:spLocks noChangeArrowheads="1"/>
                  </p:cNvSpPr>
                  <p:nvPr/>
                </p:nvSpPr>
                <p:spPr bwMode="auto">
                  <a:xfrm>
                    <a:off x="4400" y="1405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0" name="Group 23"/>
                <p:cNvGrpSpPr/>
                <p:nvPr/>
              </p:nvGrpSpPr>
              <p:grpSpPr bwMode="auto">
                <a:xfrm>
                  <a:off x="1984" y="2013"/>
                  <a:ext cx="1182" cy="1713"/>
                  <a:chOff x="4085" y="1729"/>
                  <a:chExt cx="1182" cy="1713"/>
                </a:xfrm>
                <a:grpFill/>
              </p:grpSpPr>
              <p:sp>
                <p:nvSpPr>
                  <p:cNvPr id="21" name="AutoShape 24"/>
                  <p:cNvSpPr>
                    <a:spLocks noChangeArrowheads="1"/>
                  </p:cNvSpPr>
                  <p:nvPr/>
                </p:nvSpPr>
                <p:spPr bwMode="auto">
                  <a:xfrm>
                    <a:off x="4407" y="1729"/>
                    <a:ext cx="454" cy="681"/>
                  </a:xfrm>
                  <a:prstGeom prst="can">
                    <a:avLst>
                      <a:gd name="adj" fmla="val 37500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2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4268" y="2686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" name="AutoShape 26"/>
                  <p:cNvSpPr>
                    <a:spLocks noChangeArrowheads="1"/>
                  </p:cNvSpPr>
                  <p:nvPr/>
                </p:nvSpPr>
                <p:spPr bwMode="auto">
                  <a:xfrm>
                    <a:off x="4813" y="2404"/>
                    <a:ext cx="454" cy="682"/>
                  </a:xfrm>
                  <a:prstGeom prst="can">
                    <a:avLst>
                      <a:gd name="adj" fmla="val 37555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4" name="AutoShape 27"/>
                  <p:cNvSpPr>
                    <a:spLocks noChangeArrowheads="1"/>
                  </p:cNvSpPr>
                  <p:nvPr/>
                </p:nvSpPr>
                <p:spPr bwMode="auto">
                  <a:xfrm>
                    <a:off x="4677" y="2143"/>
                    <a:ext cx="453" cy="681"/>
                  </a:xfrm>
                  <a:prstGeom prst="can">
                    <a:avLst>
                      <a:gd name="adj" fmla="val 37583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" name="AutoShape 28"/>
                  <p:cNvSpPr>
                    <a:spLocks noChangeArrowheads="1"/>
                  </p:cNvSpPr>
                  <p:nvPr/>
                </p:nvSpPr>
                <p:spPr bwMode="auto">
                  <a:xfrm>
                    <a:off x="4218" y="2143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" name="AutoShape 29"/>
                  <p:cNvSpPr>
                    <a:spLocks noChangeArrowheads="1"/>
                  </p:cNvSpPr>
                  <p:nvPr/>
                </p:nvSpPr>
                <p:spPr bwMode="auto">
                  <a:xfrm>
                    <a:off x="4085" y="2761"/>
                    <a:ext cx="455" cy="681"/>
                  </a:xfrm>
                  <a:prstGeom prst="can">
                    <a:avLst>
                      <a:gd name="adj" fmla="val 37418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" name="AutoShape 30"/>
                  <p:cNvSpPr>
                    <a:spLocks noChangeArrowheads="1"/>
                  </p:cNvSpPr>
                  <p:nvPr/>
                </p:nvSpPr>
                <p:spPr bwMode="auto">
                  <a:xfrm>
                    <a:off x="4494" y="2666"/>
                    <a:ext cx="454" cy="682"/>
                  </a:xfrm>
                  <a:prstGeom prst="can">
                    <a:avLst>
                      <a:gd name="adj" fmla="val 37555"/>
                    </a:avLst>
                  </a:prstGeom>
                  <a:grp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1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0000"/>
                      <a:buFont typeface="Monotype Sorts" pitchFamily="2" charset="2"/>
                      <a:buNone/>
                      <a:defRPr/>
                    </a:pPr>
                    <a:endParaRPr kumimoji="1" lang="zh-CN" altLang="en-US" sz="3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新魏" panose="02010800040101010101" pitchFamily="2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8" name="Text Box 35"/>
              <p:cNvSpPr txBox="1">
                <a:spLocks noChangeArrowheads="1"/>
              </p:cNvSpPr>
              <p:nvPr/>
            </p:nvSpPr>
            <p:spPr bwMode="auto">
              <a:xfrm>
                <a:off x="1637" y="2426"/>
                <a:ext cx="1118" cy="57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rPr>
                  <a:t>数据库</a:t>
                </a:r>
                <a:endParaRPr kumimoji="1" lang="zh-CN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7643834" y="2802278"/>
            <a:ext cx="954107" cy="868956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 wrap="none">
            <a:spAutoFit/>
          </a:bodyPr>
          <a:lstStyle/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数据</a:t>
            </a:r>
            <a:endParaRPr kumimoji="1" lang="en-US" altLang="zh-CN" sz="3000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加载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8157" y="1599532"/>
            <a:ext cx="954107" cy="868956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 wrap="none">
            <a:spAutoFit/>
          </a:bodyPr>
          <a:lstStyle/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数据</a:t>
            </a:r>
            <a:endParaRPr kumimoji="1" lang="en-US" altLang="zh-CN" sz="3000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查询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4109" y="5528620"/>
            <a:ext cx="974947" cy="86177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 wrap="none">
            <a:spAutoFit/>
          </a:bodyPr>
          <a:lstStyle/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数据</a:t>
            </a:r>
            <a:endParaRPr kumimoji="1" lang="en-US" altLang="zh-CN" sz="3000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定义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093" y="4452532"/>
            <a:ext cx="974947" cy="86177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34925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 wrap="none">
            <a:spAutoFit/>
          </a:bodyPr>
          <a:lstStyle/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数据</a:t>
            </a:r>
            <a:endParaRPr kumimoji="1" lang="en-US" altLang="zh-CN" sz="3000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R="0" algn="just" defTabSz="914400">
              <a:lnSpc>
                <a:spcPts val="3000"/>
              </a:lnSpc>
              <a:spcBef>
                <a:spcPts val="0"/>
              </a:spcBef>
              <a:buClr>
                <a:schemeClr val="hlink"/>
              </a:buClr>
              <a:buSzPct val="50000"/>
              <a:buFont typeface="Monotype Sorts" pitchFamily="2" charset="2"/>
              <a:defRPr/>
            </a:pPr>
            <a:r>
              <a:rPr kumimoji="1" lang="zh-CN" altLang="en-US" sz="30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安全</a:t>
            </a:r>
          </a:p>
        </p:txBody>
      </p:sp>
      <p:sp>
        <p:nvSpPr>
          <p:cNvPr id="48" name="内容占位符 2"/>
          <p:cNvSpPr txBox="1"/>
          <p:nvPr/>
        </p:nvSpPr>
        <p:spPr>
          <a:xfrm>
            <a:off x="3714750" y="5499100"/>
            <a:ext cx="2343150" cy="928688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数据定义机制</a:t>
            </a:r>
            <a:endParaRPr kumimoji="0" lang="en-US" altLang="zh-CN" sz="2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视图定义机制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49" name="内容占位符 2"/>
          <p:cNvSpPr txBox="1"/>
          <p:nvPr/>
        </p:nvSpPr>
        <p:spPr>
          <a:xfrm>
            <a:off x="6357938" y="4000500"/>
            <a:ext cx="2428875" cy="500063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数据插入更新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50" name="内容占位符 2"/>
          <p:cNvSpPr txBox="1"/>
          <p:nvPr/>
        </p:nvSpPr>
        <p:spPr>
          <a:xfrm>
            <a:off x="3559175" y="2298700"/>
            <a:ext cx="2513013" cy="557213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数据查询机制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51" name="内容占位符 2"/>
          <p:cNvSpPr txBox="1"/>
          <p:nvPr/>
        </p:nvSpPr>
        <p:spPr>
          <a:xfrm>
            <a:off x="1109663" y="3957638"/>
            <a:ext cx="2490788" cy="5619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安全定义机制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042988"/>
            <a:ext cx="9144000" cy="4456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语言有以下几个部分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数据定义语言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(Data-Definition Language, DDL):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提供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定义关系模式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删除关系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以及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修改关系模式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的命令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数据操纵语言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(Data-Manipulation Language, DML):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提供从数据中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查询信息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、以及在数据中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插入元组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删除元组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修改元组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的能力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完整性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(integrity):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 DDL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包括定义完整性约束命令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视图定义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(view definition):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 DDL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包括定义视图的命令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26988" y="1133475"/>
            <a:ext cx="8955088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语言有以下几个部分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续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事物控制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(transaction control):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定义事务的开始和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结束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和动态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SQL(embedded SQL and dynamic SQL):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如何将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嵌入到通用编程语言，如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Java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(authorization):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 DDL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包括定义对关系和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视图的访问权限的命令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3.1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查询语言概览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语言的特点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综合统一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高度非过程化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面向集合的操作方式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语言简捷，易学易用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106488" y="122555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556625" cy="4843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的数据定义语句（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DDL）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包括以下语句：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注意：视图和索引无修改语句！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graphicFrame>
        <p:nvGraphicFramePr>
          <p:cNvPr id="15364" name="内容占位符 15363"/>
          <p:cNvGraphicFramePr>
            <a:graphicFrameLocks noGrp="1"/>
          </p:cNvGraphicFramePr>
          <p:nvPr>
            <p:ph sz="half" idx="1"/>
            <p:custDataLst>
              <p:tags r:id="rId1"/>
            </p:custDataLst>
          </p:nvPr>
        </p:nvGraphicFramePr>
        <p:xfrm>
          <a:off x="792163" y="2619375"/>
          <a:ext cx="8178800" cy="2459038"/>
        </p:xfrm>
        <a:graphic>
          <a:graphicData uri="http://schemas.openxmlformats.org/drawingml/2006/table">
            <a:tbl>
              <a:tblPr/>
              <a:tblGrid>
                <a:gridCol w="116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400" b="1" dirty="0">
                        <a:latin typeface="楷体_GB2312"/>
                        <a:ea typeface="楷体_GB231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创建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删除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修改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表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CREATE TABLE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DROP TABLE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ALTER TABLE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视图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CREATE VIEW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DROP VIEW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400" b="1" dirty="0"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索引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CREATE INDEX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DROP INDEX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sz="2400" b="1" dirty="0"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45091" name="Rectangle 3"/>
          <p:cNvSpPr>
            <a:spLocks noGrp="1"/>
          </p:cNvSpPr>
          <p:nvPr>
            <p:ph idx="1"/>
          </p:nvPr>
        </p:nvSpPr>
        <p:spPr>
          <a:xfrm>
            <a:off x="385763" y="1179513"/>
            <a:ext cx="8229600" cy="3014662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建立关系模式(</a:t>
            </a:r>
            <a:r>
              <a:rPr lang="en-US" altLang="zh-CN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CREATE TABLE)</a:t>
            </a: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的语法格式</a:t>
            </a:r>
            <a:endParaRPr lang="zh-CN" altLang="en-US" sz="24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dirty="0">
                <a:effectLst/>
              </a:rPr>
              <a:t>     </a:t>
            </a:r>
            <a:r>
              <a:rPr lang="zh-CN" altLang="en-US" sz="2400" dirty="0">
                <a:effectLst/>
              </a:rPr>
              <a:t>	  </a:t>
            </a:r>
            <a:r>
              <a:rPr lang="en-US" altLang="zh-CN" sz="2000" dirty="0">
                <a:solidFill>
                  <a:srgbClr val="A50021"/>
                </a:solidFill>
                <a:effectLst/>
              </a:rPr>
              <a:t>CREATE TABLE  &lt;</a:t>
            </a:r>
            <a:r>
              <a:rPr lang="zh-CN" altLang="en-US" sz="2000" dirty="0">
                <a:solidFill>
                  <a:srgbClr val="A50021"/>
                </a:solidFill>
                <a:effectLst/>
              </a:rPr>
              <a:t>关系名&gt;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A50021"/>
                </a:solidFill>
                <a:effectLst/>
              </a:rPr>
              <a:t>			(&lt;属性名&gt; &lt;属性类型&gt;[</a:t>
            </a:r>
            <a:r>
              <a:rPr lang="en-US" altLang="zh-CN" sz="2000" dirty="0">
                <a:solidFill>
                  <a:srgbClr val="A50021"/>
                </a:solidFill>
                <a:effectLst/>
              </a:rPr>
              <a:t>NOT NULL], ... ,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000" dirty="0">
                <a:solidFill>
                  <a:srgbClr val="A50021"/>
                </a:solidFill>
                <a:effectLst/>
              </a:rPr>
              <a:t>		 	&lt;属性名&gt; &lt;属性类型&gt;[</a:t>
            </a:r>
            <a:r>
              <a:rPr lang="en-US" altLang="zh-CN" sz="2000" dirty="0">
                <a:solidFill>
                  <a:srgbClr val="A50021"/>
                </a:solidFill>
                <a:effectLst/>
              </a:rPr>
              <a:t>NOT NULL],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000" dirty="0">
                <a:solidFill>
                  <a:srgbClr val="A50021"/>
                </a:solidFill>
                <a:effectLst/>
              </a:rPr>
              <a:t>                                      </a:t>
            </a:r>
            <a:r>
              <a:rPr lang="zh-CN" altLang="en-US" sz="2000" dirty="0">
                <a:solidFill>
                  <a:srgbClr val="A50021"/>
                </a:solidFill>
                <a:effectLst/>
              </a:rPr>
              <a:t>完整性约束</a:t>
            </a:r>
            <a:r>
              <a:rPr lang="en-US" altLang="zh-CN" sz="2000" dirty="0">
                <a:solidFill>
                  <a:srgbClr val="A50021"/>
                </a:solidFill>
                <a:effectLst/>
              </a:rPr>
              <a:t>1</a:t>
            </a:r>
            <a:r>
              <a:rPr lang="zh-CN" altLang="en-US" sz="2000" dirty="0">
                <a:solidFill>
                  <a:srgbClr val="A50021"/>
                </a:solidFill>
                <a:effectLst/>
              </a:rPr>
              <a:t>，完整性约束</a:t>
            </a:r>
            <a:r>
              <a:rPr lang="en-US" altLang="zh-CN" sz="2000" dirty="0">
                <a:solidFill>
                  <a:srgbClr val="A50021"/>
                </a:solidFill>
                <a:effectLst/>
              </a:rPr>
              <a:t>2,…);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功能：建立一个新关系模式，定义关系模式的每个属性的数据类型和长度。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</a:p>
        </p:txBody>
      </p:sp>
      <p:sp>
        <p:nvSpPr>
          <p:cNvPr id="345092" name="Rectangle 4"/>
          <p:cNvSpPr>
            <a:spLocks noChangeArrowheads="1"/>
          </p:cNvSpPr>
          <p:nvPr/>
        </p:nvSpPr>
        <p:spPr bwMode="auto">
          <a:xfrm>
            <a:off x="127000" y="3024188"/>
            <a:ext cx="4933950" cy="22225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TABLE  Student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(SSN                CHAR(9)   NOT NULL,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Name             VARCHAR(15) NOT NULL ,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Year                INTEGER, 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Specialty       VARCHAR(30)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Department    VARCHAR(30),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Primary key (SSN)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71950" y="4673600"/>
            <a:ext cx="4889500" cy="2044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TABLE  Grade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SSN                      CHAR(9)   NOT NULL,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CNO                     CHAR(7)   NOT NULL, 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Score                    INTEGER,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Primary key (SSN, CNO),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foreign key(SSN) references Student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foreign key(CNO) references Course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345091" name="Rectangle 3"/>
          <p:cNvSpPr>
            <a:spLocks noGrp="1"/>
          </p:cNvSpPr>
          <p:nvPr>
            <p:ph idx="1"/>
          </p:nvPr>
        </p:nvSpPr>
        <p:spPr>
          <a:xfrm>
            <a:off x="385763" y="2214563"/>
            <a:ext cx="8229600" cy="3014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Create Table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命令后面用分号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(;)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结束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属性类型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char(n)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varchar(n)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int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smallint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numeric(p,d)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real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float(n)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double precision…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完整性约束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primary key(A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,..A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：声明属性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,..A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构成关系的主码，主码属性必须是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非空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且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唯一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foreign key(A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,..A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 references: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声明表示关系中任意元组在属性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,..A</a:t>
            </a:r>
            <a:r>
              <a:rPr kumimoji="0" lang="en-US" altLang="zh-CN" sz="24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上的取值必须对应于关系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中某元组在主码属性上的取值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not null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：在该属性上不允许为空值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Times New Roman" panose="02020603050405020304" pitchFamily="18" charset="0"/>
                <a:cs typeface="楷体_GB2312"/>
              </a:rPr>
              <a:t>    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Times New Roman" panose="02020603050405020304" pitchFamily="18" charset="0"/>
                <a:cs typeface="楷体_GB2312"/>
              </a:rPr>
              <a:t>	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211638" y="34925"/>
            <a:ext cx="4889500" cy="2044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 TABLE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Grade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SSN        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CHAR(9)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NOT NULL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CNO       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CHAR(7)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NOT NULL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Score      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INTEGER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Primary key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(SSN, CNO),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foreign key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(SSN)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references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Student</a:t>
            </a:r>
          </a:p>
          <a:p>
            <a:pPr marL="742950" marR="0" lvl="1" indent="-285750" algn="just" defTabSz="914400" rtl="0" eaLnBrk="1" fontAlgn="b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foreign key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(CNO)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references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Course)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2324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修改关系模式(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ALTER TABLE)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语法格式：</a:t>
            </a:r>
          </a:p>
          <a:p>
            <a:pPr marL="742950" marR="0" lvl="1" indent="-285750" algn="ctr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ALTER TABLE &lt;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关系名&gt; 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ADD|DROP &lt;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列名&gt;&lt;列类型&gt;</a:t>
            </a:r>
          </a:p>
          <a:p>
            <a:pPr marL="742950" marR="0" lvl="1" indent="-28575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功能：</a:t>
            </a:r>
          </a:p>
          <a:p>
            <a:pPr marL="1143000" marR="0" lvl="2" indent="-22860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在一个关系模式中增加或删除一个属性。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346116" name="Rectangle 4"/>
          <p:cNvSpPr>
            <a:spLocks noChangeArrowheads="1"/>
          </p:cNvSpPr>
          <p:nvPr/>
        </p:nvSpPr>
        <p:spPr bwMode="auto">
          <a:xfrm>
            <a:off x="392113" y="3810000"/>
            <a:ext cx="8229600" cy="228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marR="0" lvl="1" indent="-28575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例：</a:t>
            </a:r>
          </a:p>
          <a:p>
            <a:pPr marL="1143000" marR="0" lvl="2" indent="-22860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Student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关系模式中增加一个属性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Age</a:t>
            </a:r>
          </a:p>
          <a:p>
            <a:pPr marL="1143000" marR="0" lvl="2" indent="-228600" algn="ctr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46117" name="Rectangle 5"/>
          <p:cNvSpPr>
            <a:spLocks noChangeArrowheads="1"/>
          </p:cNvSpPr>
          <p:nvPr/>
        </p:nvSpPr>
        <p:spPr bwMode="auto">
          <a:xfrm>
            <a:off x="528638" y="4706938"/>
            <a:ext cx="8229600" cy="477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ctr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ALTER TABLE Student ADD Age INTEGER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6118" name="Rectangle 6"/>
          <p:cNvSpPr/>
          <p:nvPr/>
        </p:nvSpPr>
        <p:spPr>
          <a:xfrm>
            <a:off x="798513" y="5164138"/>
            <a:ext cx="8229600" cy="560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742950" marR="0" lvl="1" indent="-28575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关系模式中删除属性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Age        </a:t>
            </a:r>
          </a:p>
        </p:txBody>
      </p:sp>
      <p:sp>
        <p:nvSpPr>
          <p:cNvPr id="346119" name="Rectangle 7"/>
          <p:cNvSpPr>
            <a:spLocks noChangeArrowheads="1"/>
          </p:cNvSpPr>
          <p:nvPr/>
        </p:nvSpPr>
        <p:spPr bwMode="auto">
          <a:xfrm>
            <a:off x="1284288" y="5622925"/>
            <a:ext cx="5688013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143000" marR="0" lvl="2" indent="-228600" algn="l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ALTER TABLE Student DROP 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6" grpId="0"/>
      <p:bldP spid="346117" grpId="0"/>
      <p:bldP spid="346118" grpId="0"/>
      <p:bldP spid="3461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47139" name="Rectangle 3"/>
          <p:cNvSpPr>
            <a:spLocks noGrp="1"/>
          </p:cNvSpPr>
          <p:nvPr>
            <p:ph idx="1"/>
          </p:nvPr>
        </p:nvSpPr>
        <p:spPr>
          <a:xfrm>
            <a:off x="385763" y="1358900"/>
            <a:ext cx="8229600" cy="3419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删除关系模式(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DROP TABLE)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语法格式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	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DROP TABLE 〈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关系名〉</a:t>
            </a:r>
          </a:p>
          <a:p>
            <a:pPr marL="742950" marR="0" lvl="1" indent="-28575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功能：</a:t>
            </a:r>
          </a:p>
          <a:p>
            <a:pPr marL="1143000" marR="0" lvl="2" indent="-22860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删除一个关系</a:t>
            </a:r>
          </a:p>
          <a:p>
            <a:pPr marL="742950" marR="0" lvl="1" indent="-28575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例如：</a:t>
            </a:r>
          </a:p>
          <a:p>
            <a:pPr marL="1143000" marR="0" lvl="2" indent="-228600" algn="l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删除关系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347141" name="Rectangle 5"/>
          <p:cNvSpPr>
            <a:spLocks noChangeArrowheads="1"/>
          </p:cNvSpPr>
          <p:nvPr/>
        </p:nvSpPr>
        <p:spPr bwMode="auto">
          <a:xfrm>
            <a:off x="431800" y="4598988"/>
            <a:ext cx="79248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143000" marR="0" lvl="2" indent="-228600" algn="just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2400" b="1" i="0" u="none" strike="noStrike" kern="1200" cap="none" spc="0" normalizeH="0" baseline="0" noProof="1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DROP TABLE Student </a:t>
            </a:r>
            <a:endParaRPr kumimoji="0" lang="en-US" altLang="zh-CN" sz="24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2" name="左箭头标注 1"/>
          <p:cNvSpPr/>
          <p:nvPr/>
        </p:nvSpPr>
        <p:spPr>
          <a:xfrm>
            <a:off x="5111750" y="2079625"/>
            <a:ext cx="3825875" cy="3105150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不仅删除关系的所有元组，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还删除关系模式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1" grpId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48163" name="Rectangle 3"/>
          <p:cNvSpPr>
            <a:spLocks noGrp="1"/>
          </p:cNvSpPr>
          <p:nvPr>
            <p:ph idx="1"/>
          </p:nvPr>
        </p:nvSpPr>
        <p:spPr>
          <a:xfrm>
            <a:off x="385763" y="1314450"/>
            <a:ext cx="8229600" cy="4229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建立索引(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CREATE INDEX)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语法格式：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	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CREATE [UNIQUE] INDEX 〈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索引名〉 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ON 〈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关系名〉(〈列名〉[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ORDER], ...,〈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列名〉[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ORDER]) [CLUSTER]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功能：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在一个指定关系的指定属性上建立索引。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ORDER:ASC 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DESC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CLUSTER: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是否为聚集索引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例如，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在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关系上以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SSN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属性为索引属性，建立一个聚集索引，索引文件名字为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SSN_INDEX，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并说明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SSN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是主码属性，索引按照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SSN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的值递增排序</a:t>
            </a:r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611188" y="5678488"/>
            <a:ext cx="79248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600200" marR="0" lvl="3" indent="-228600" algn="just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CREATE UNIQUE INDEX SSN_INDEX ON Student(SSN ASC) CLUSTER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5416550" y="1428750"/>
            <a:ext cx="3155950" cy="755650"/>
          </a:xfrm>
          <a:prstGeom prst="wedgeRectCallout">
            <a:avLst>
              <a:gd name="adj1" fmla="val -121182"/>
              <a:gd name="adj2" fmla="val 6754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表示索引属性或属性组是主码属性，即不允许重复值出现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表格 23553"/>
          <p:cNvGraphicFramePr/>
          <p:nvPr/>
        </p:nvGraphicFramePr>
        <p:xfrm>
          <a:off x="0" y="0"/>
          <a:ext cx="5400675" cy="6523038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22" marB="45722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200215128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200215130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200215133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200215200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200215210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200215211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200215213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200215234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200215235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200220123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200220123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200230123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200230123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200230123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</a:txBody>
                  <a:tcPr marT="45722" marB="45722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张三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李斯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王五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刘华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IS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EE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EE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VE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VE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VE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FC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FC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…</a:t>
                      </a:r>
                    </a:p>
                  </a:txBody>
                  <a:tcPr marT="45722" marB="4572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292" name="Rectangle 4"/>
          <p:cNvSpPr txBox="1"/>
          <p:nvPr/>
        </p:nvSpPr>
        <p:spPr>
          <a:xfrm>
            <a:off x="5651500" y="368300"/>
            <a:ext cx="3349625" cy="1260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Select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*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sdept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in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(’MA’，’CS’);</a:t>
            </a:r>
          </a:p>
        </p:txBody>
      </p:sp>
      <p:sp>
        <p:nvSpPr>
          <p:cNvPr id="395321" name="Rectangle 57"/>
          <p:cNvSpPr/>
          <p:nvPr/>
        </p:nvSpPr>
        <p:spPr>
          <a:xfrm>
            <a:off x="5157788" y="1989138"/>
            <a:ext cx="3824288" cy="22494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RDBMS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执行该查询的一种可能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过程：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表进行全表扫描，取出一个元组，检查该元组在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Sdept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列的值是否等于’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CS’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’MA’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。如果相等，则取出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Sname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列的值形成一个新元组输出，否则跳过该元组，取下一个元组。</a:t>
            </a:r>
          </a:p>
        </p:txBody>
      </p:sp>
      <p:sp>
        <p:nvSpPr>
          <p:cNvPr id="3" name="七角星 2"/>
          <p:cNvSpPr/>
          <p:nvPr/>
        </p:nvSpPr>
        <p:spPr>
          <a:xfrm>
            <a:off x="6597650" y="4581525"/>
            <a:ext cx="1844675" cy="1665288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顺序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扫描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2" grpId="0" animBg="1"/>
      <p:bldP spid="395321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3" y="1763713"/>
            <a:ext cx="8382000" cy="3795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Text Box 126"/>
          <p:cNvSpPr txBox="1"/>
          <p:nvPr/>
        </p:nvSpPr>
        <p:spPr>
          <a:xfrm>
            <a:off x="420688" y="1179513"/>
            <a:ext cx="6326188" cy="4921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为加快查找速度，在</a:t>
            </a:r>
            <a:r>
              <a:rPr kumimoji="0" lang="en-US" altLang="zh-CN" sz="26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Sdept</a:t>
            </a:r>
            <a:r>
              <a:rPr kumimoji="0" lang="zh-CN" altLang="en-US" sz="26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属性上建立索引</a:t>
            </a:r>
          </a:p>
        </p:txBody>
      </p:sp>
      <p:sp>
        <p:nvSpPr>
          <p:cNvPr id="24580" name="Text Box 127"/>
          <p:cNvSpPr txBox="1"/>
          <p:nvPr/>
        </p:nvSpPr>
        <p:spPr>
          <a:xfrm>
            <a:off x="3536950" y="2798763"/>
            <a:ext cx="35401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CS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Text Box 128"/>
          <p:cNvSpPr txBox="1"/>
          <p:nvPr/>
        </p:nvSpPr>
        <p:spPr>
          <a:xfrm>
            <a:off x="5067300" y="2843213"/>
            <a:ext cx="35401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CS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2" name="Text Box 129"/>
          <p:cNvSpPr txBox="1"/>
          <p:nvPr/>
        </p:nvSpPr>
        <p:spPr>
          <a:xfrm>
            <a:off x="7812088" y="2843213"/>
            <a:ext cx="354013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CS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3" name="Text Box 130"/>
          <p:cNvSpPr txBox="1"/>
          <p:nvPr/>
        </p:nvSpPr>
        <p:spPr>
          <a:xfrm>
            <a:off x="3446463" y="5724525"/>
            <a:ext cx="19288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简单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HASH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索引</a:t>
            </a:r>
          </a:p>
        </p:txBody>
      </p:sp>
      <p:sp>
        <p:nvSpPr>
          <p:cNvPr id="24584" name="Text Box 131"/>
          <p:cNvSpPr txBox="1"/>
          <p:nvPr/>
        </p:nvSpPr>
        <p:spPr>
          <a:xfrm>
            <a:off x="3509963" y="4778375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MA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5" name="Text Box 132"/>
          <p:cNvSpPr txBox="1"/>
          <p:nvPr/>
        </p:nvSpPr>
        <p:spPr>
          <a:xfrm>
            <a:off x="4976813" y="4778375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MA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6" name="Text Box 133"/>
          <p:cNvSpPr txBox="1"/>
          <p:nvPr/>
        </p:nvSpPr>
        <p:spPr>
          <a:xfrm>
            <a:off x="7721600" y="4778375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marR="0" algn="r" defTabSz="914400">
              <a:buClrTx/>
              <a:buSzTx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MA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229600" cy="3089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删除索引(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DROP INDEX)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语法格式：</a:t>
            </a:r>
          </a:p>
          <a:p>
            <a:pPr marL="342900" marR="0" lvl="0" indent="-34290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		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DROP INDEX 〈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索引名〉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功能：</a:t>
            </a:r>
          </a:p>
          <a:p>
            <a:pPr marL="1143000" marR="0" lvl="2" indent="-22860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删除索引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例如，</a:t>
            </a:r>
          </a:p>
          <a:p>
            <a:pPr marL="1600200" marR="0" lvl="3" indent="-22860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删除索引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SSN_INDEX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99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349188" name="Rectangle 4"/>
          <p:cNvSpPr>
            <a:spLocks noChangeArrowheads="1"/>
          </p:cNvSpPr>
          <p:nvPr/>
        </p:nvSpPr>
        <p:spPr bwMode="auto">
          <a:xfrm>
            <a:off x="609600" y="4692650"/>
            <a:ext cx="79248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143000" marR="0" lvl="2" indent="-228600" algn="just" defTabSz="914400" rtl="0" eaLnBrk="1" fontAlgn="b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DROP  INDEX  SSN_INDEX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</a:p>
        </p:txBody>
      </p:sp>
      <p:sp>
        <p:nvSpPr>
          <p:cNvPr id="371715" name="Rectangle 3"/>
          <p:cNvSpPr>
            <a:spLocks noGrp="1"/>
          </p:cNvSpPr>
          <p:nvPr>
            <p:ph idx="1"/>
          </p:nvPr>
        </p:nvSpPr>
        <p:spPr>
          <a:xfrm>
            <a:off x="0" y="1133475"/>
            <a:ext cx="911701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语言定义视图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Why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？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让所有用户都看到整个逻辑是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不合适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的，出于安全考虑，可能需要向用户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隐藏特定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的数据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希望创建一个比逻辑模型更符合用户直觉的个人化关系集合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What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？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允许通过查询来定义“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虚关系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”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从一个或几个基本表（或视图）导出的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虚关系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——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视图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视图本身不保存数据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，数据仍保存在基本表中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语言视图定义机制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889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定义视图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CREATE  VIEW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视图名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 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                      [(&lt;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 [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，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&gt;]…)]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AS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子查询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[WITH  CHECK  OPTION]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；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说明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组成视图的属性列名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或全部省略或全部指定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子查询：合法的查询表达式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WITH CHECK OPTION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透过视图进行增删改操作时，不得破坏视图定义中的谓词条件（即子查询中的条件表达式）</a:t>
            </a:r>
          </a:p>
        </p:txBody>
      </p:sp>
      <p:sp>
        <p:nvSpPr>
          <p:cNvPr id="419844" name="Text Box 4"/>
          <p:cNvSpPr txBox="1"/>
          <p:nvPr/>
        </p:nvSpPr>
        <p:spPr>
          <a:xfrm>
            <a:off x="1481138" y="4103688"/>
            <a:ext cx="6030913" cy="22923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建立计算机系学生的视图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CREATE VIEW CS_Student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AS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SELECT Sno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Sname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Sage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FROM 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WHERE  Sdept= ‘CS'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  <p:sp>
        <p:nvSpPr>
          <p:cNvPr id="419845" name="Text Box 5"/>
          <p:cNvSpPr txBox="1">
            <a:spLocks noChangeArrowheads="1"/>
          </p:cNvSpPr>
          <p:nvPr/>
        </p:nvSpPr>
        <p:spPr bwMode="auto">
          <a:xfrm>
            <a:off x="881063" y="1933575"/>
            <a:ext cx="7470775" cy="1809750"/>
          </a:xfrm>
          <a:prstGeom prst="rect">
            <a:avLst/>
          </a:prstGeom>
          <a:solidFill>
            <a:srgbClr val="FFFFCC"/>
          </a:solidFill>
          <a:ln w="9525">
            <a:solidFill>
              <a:srgbClr val="FF99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注意：</a:t>
            </a:r>
            <a:r>
              <a:rPr kumimoji="0" lang="en-US" altLang="zh-CN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DBMS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执行</a:t>
            </a:r>
            <a:r>
              <a:rPr kumimoji="0" lang="en-US" altLang="zh-CN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CREATE VIEW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语句时只是把视图的</a:t>
            </a:r>
            <a:r>
              <a:rPr kumimoji="0" lang="zh-CN" altLang="en-US" sz="28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定义存入数据字典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，并不执行其中的</a:t>
            </a:r>
            <a:r>
              <a:rPr kumimoji="0" lang="en-US" altLang="zh-CN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SELECT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语句。</a:t>
            </a:r>
            <a:r>
              <a:rPr kumimoji="0" lang="zh-CN" altLang="en-US" sz="28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只是在对视图查询时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，才按视图的定义从基本表中将数据查出</a:t>
            </a:r>
            <a:r>
              <a:rPr kumimoji="0" lang="zh-CN" altLang="en-US" sz="2800" b="1" kern="1200" cap="none" spc="0" normalizeH="0" baseline="0" noProof="1"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4" grpId="0" animBg="1"/>
      <p:bldP spid="4198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A6804E-1491-45CE-A639-62EFADEA9DEF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725" name="表格 30724"/>
          <p:cNvGraphicFramePr/>
          <p:nvPr/>
        </p:nvGraphicFramePr>
        <p:xfrm>
          <a:off x="0" y="0"/>
          <a:ext cx="5400675" cy="2378075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637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200215128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200215130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200215133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200215200</a:t>
                      </a:r>
                    </a:p>
                  </a:txBody>
                  <a:tcPr marT="45732" marB="45732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张三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李斯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王五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刘华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IS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CH</a:t>
                      </a:r>
                    </a:p>
                  </a:txBody>
                  <a:tcPr marT="45732" marB="45732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43" name="Text Box 4"/>
          <p:cNvSpPr txBox="1"/>
          <p:nvPr/>
        </p:nvSpPr>
        <p:spPr>
          <a:xfrm>
            <a:off x="0" y="2798763"/>
            <a:ext cx="5246688" cy="19399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CREATE VIEW CS_Student</a:t>
            </a:r>
            <a:endParaRPr kumimoji="0" lang="en-US" altLang="zh-CN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AS </a:t>
            </a:r>
            <a:endParaRPr kumimoji="0" lang="en-US" altLang="zh-CN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SELECT Sno</a:t>
            </a:r>
            <a:r>
              <a:rPr kumimoji="0" lang="zh-CN" altLang="en-US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Sname</a:t>
            </a:r>
            <a:r>
              <a:rPr kumimoji="0" lang="zh-CN" altLang="en-US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Sage</a:t>
            </a:r>
            <a:endParaRPr kumimoji="0" lang="en-US" altLang="zh-CN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FROM  Student</a:t>
            </a:r>
            <a:endParaRPr kumimoji="0" lang="en-US" altLang="zh-CN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WHERE  Sdept= ‘CS'</a:t>
            </a:r>
            <a:r>
              <a:rPr kumimoji="0" lang="zh-CN" altLang="en-US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  <a:endParaRPr kumimoji="0" lang="zh-CN" altLang="en-US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9" name="Rectangle 3"/>
          <p:cNvSpPr txBox="1"/>
          <p:nvPr/>
        </p:nvSpPr>
        <p:spPr>
          <a:xfrm>
            <a:off x="0" y="4868863"/>
            <a:ext cx="6102350" cy="1890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查询计算机系年龄不大于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20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岁的学生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CS_student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Sage&lt;=20;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graphicFrame>
        <p:nvGraphicFramePr>
          <p:cNvPr id="30745" name="表格 30744"/>
          <p:cNvGraphicFramePr/>
          <p:nvPr/>
        </p:nvGraphicFramePr>
        <p:xfrm>
          <a:off x="0" y="2349500"/>
          <a:ext cx="5400675" cy="358775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200215150</a:t>
                      </a:r>
                    </a:p>
                  </a:txBody>
                  <a:tcPr marT="45559" marB="45559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李南</a:t>
                      </a:r>
                    </a:p>
                  </a:txBody>
                  <a:tcPr marT="45559" marB="4555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</a:txBody>
                  <a:tcPr marT="45559" marB="4555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</a:txBody>
                  <a:tcPr marT="45559" marB="4555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</a:txBody>
                  <a:tcPr marT="45559" marB="4555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24"/>
          <p:cNvSpPr/>
          <p:nvPr/>
        </p:nvSpPr>
        <p:spPr>
          <a:xfrm>
            <a:off x="5472113" y="2798763"/>
            <a:ext cx="3671888" cy="175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输出结果：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Sno        Sname         Sage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200215121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李勇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20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200215122      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刘晨   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19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200215128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张三       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20                      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4"/>
          <p:cNvSpPr/>
          <p:nvPr/>
        </p:nvSpPr>
        <p:spPr>
          <a:xfrm>
            <a:off x="5472113" y="4464050"/>
            <a:ext cx="3671888" cy="3603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/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/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/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/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/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Times New Roman" panose="02020603050405020304" pitchFamily="18" charset="0"/>
              </a:rPr>
              <a:t>200215150       </a:t>
            </a:r>
            <a:r>
              <a:rPr kumimoji="0" lang="en-US" altLang="en-US" sz="18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Times New Roman" panose="02020603050405020304" pitchFamily="18" charset="0"/>
              </a:rPr>
              <a:t>李南      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Times New Roman" panose="02020603050405020304" pitchFamily="18" charset="0"/>
              </a:rPr>
              <a:t>        20               </a:t>
            </a:r>
            <a:endParaRPr kumimoji="0" lang="en-US" altLang="zh-CN" sz="1800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Times New Roman" panose="02020603050405020304" pitchFamily="18" charset="0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语言视图定义机制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删除视图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DROP  VIEW  &lt;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视图名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  [CASCADE]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说明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该语句从数据字典中删除指定的视图定义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如果没有指定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CASCADE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选项，而该视图上定义了其他视图，该语句将被拒绝执行。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指定了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CASCADE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选项，该视图和由它导出的所有视图一起删除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。</a:t>
            </a:r>
          </a:p>
        </p:txBody>
      </p:sp>
      <p:sp>
        <p:nvSpPr>
          <p:cNvPr id="420868" name="Text Box 4"/>
          <p:cNvSpPr txBox="1"/>
          <p:nvPr/>
        </p:nvSpPr>
        <p:spPr>
          <a:xfrm>
            <a:off x="2097088" y="5408613"/>
            <a:ext cx="4306888" cy="8302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zh-CN" altLang="en-US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删除视图</a:t>
            </a: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CS_Student</a:t>
            </a:r>
            <a:endParaRPr kumimoji="0" lang="en-US" altLang="zh-CN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DROP VIEW CS_Student</a:t>
            </a:r>
            <a:r>
              <a:rPr kumimoji="0" lang="zh-CN" altLang="en-US" sz="24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  <a:endParaRPr kumimoji="0" lang="zh-CN" altLang="en-US" sz="2400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106488" y="1131888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38100" y="2647943"/>
            <a:ext cx="9105900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SELECT [DISTINCT/ALL] &lt;</a:t>
            </a:r>
            <a:r>
              <a:rPr kumimoji="1" lang="zh-CN" altLang="en-US" sz="2400" b="1" kern="800" cap="none" spc="-30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列表达式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2400" b="1" kern="1200" cap="none" spc="-30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别名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] [, &lt;</a:t>
            </a:r>
            <a:r>
              <a:rPr kumimoji="1" lang="zh-CN" altLang="en-US" sz="2400" b="1" kern="600" cap="none" spc="-30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列表达式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zh-CN" altLang="en-US" sz="2400" b="1" kern="1200" cap="none" spc="-30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别名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]]…</a:t>
            </a:r>
            <a:endParaRPr kumimoji="1" lang="zh-CN" altLang="en-US" sz="2400" b="1" kern="1200" cap="none" spc="0" normalizeH="0" baseline="0" noProof="0" dirty="0">
              <a:solidFill>
                <a:srgbClr val="CC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FROM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表名&gt;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别名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&gt;]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&lt;表名&gt;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[&lt;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别名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&gt;]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en-US" altLang="zh-CN" sz="2400" b="1" kern="1200" cap="none" spc="0" normalizeH="0" baseline="-2500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1~n</a:t>
            </a:r>
            <a:endParaRPr kumimoji="1" lang="zh-CN" altLang="en-US" sz="2400" b="1" kern="1200" cap="none" spc="0" normalizeH="0" baseline="0" noProof="0" dirty="0">
              <a:solidFill>
                <a:srgbClr val="CC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WHERE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条件表达式&gt;]</a:t>
            </a:r>
          </a:p>
          <a:p>
            <a:pPr marL="342900" marR="0" indent="-342900" defTabSz="9144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GROUP BY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分组属性表&gt;  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HAVING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条件表达式&gt; ]]</a:t>
            </a:r>
          </a:p>
          <a:p>
            <a:pPr marL="342900" marR="0" indent="-342900" defTabSz="9144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ORDER BY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列名&gt; 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ORDER],…, &lt;</a:t>
            </a: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列名&gt; [</a:t>
            </a:r>
            <a:r>
              <a:rPr kumimoji="1" lang="en-US" altLang="zh-CN" sz="2400" b="1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ORDER]]；</a:t>
            </a:r>
            <a:endParaRPr kumimoji="1" lang="zh-CN" altLang="en-US" sz="2400" b="1" kern="1200" cap="none" spc="0" normalizeH="0" baseline="0" noProof="0" dirty="0">
              <a:solidFill>
                <a:srgbClr val="CC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</a:p>
        </p:txBody>
      </p:sp>
      <p:sp>
        <p:nvSpPr>
          <p:cNvPr id="358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一般语法格式</a:t>
            </a:r>
          </a:p>
        </p:txBody>
      </p:sp>
      <p:sp>
        <p:nvSpPr>
          <p:cNvPr id="7" name="AutoShape 1030"/>
          <p:cNvSpPr>
            <a:spLocks noChangeArrowheads="1"/>
          </p:cNvSpPr>
          <p:nvPr/>
        </p:nvSpPr>
        <p:spPr bwMode="auto">
          <a:xfrm>
            <a:off x="4810129" y="1598597"/>
            <a:ext cx="2895600" cy="914400"/>
          </a:xfrm>
          <a:prstGeom prst="wedgeEllipseCallout">
            <a:avLst>
              <a:gd name="adj1" fmla="val -41282"/>
              <a:gd name="adj2" fmla="val 80037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指定要显示的属性列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428728" y="1938327"/>
            <a:ext cx="3643338" cy="990600"/>
          </a:xfrm>
          <a:prstGeom prst="wedgeEllipseCallout">
            <a:avLst>
              <a:gd name="adj1" fmla="val -31250"/>
              <a:gd name="adj2" fmla="val 91505"/>
            </a:avLst>
          </a:prstGeom>
          <a:solidFill>
            <a:srgbClr val="FFCCCC"/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1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指定查询对象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(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基本表或视图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)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011481" y="2701927"/>
            <a:ext cx="3286147" cy="842962"/>
          </a:xfrm>
          <a:prstGeom prst="wedgeEllipseCallout">
            <a:avLst>
              <a:gd name="adj1" fmla="val -44620"/>
              <a:gd name="adj2" fmla="val 80037"/>
            </a:avLst>
          </a:prstGeom>
          <a:solidFill>
            <a:schemeClr val="bg2">
              <a:lumMod val="25000"/>
              <a:lumOff val="75000"/>
            </a:schemeClr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1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指定查询条件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1974828" y="1995478"/>
            <a:ext cx="4500593" cy="1928826"/>
          </a:xfrm>
          <a:prstGeom prst="wedgeEllipseCallout">
            <a:avLst>
              <a:gd name="adj1" fmla="val -58815"/>
              <a:gd name="adj2" fmla="val 6320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1" indent="0" algn="just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对查询结果按指定列值分组，该属性列值相等的元组为一个组。通常在每组中作用集函数</a:t>
            </a: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5586414" y="2990855"/>
            <a:ext cx="3505199" cy="914400"/>
          </a:xfrm>
          <a:prstGeom prst="wedgeEllipseCallout">
            <a:avLst>
              <a:gd name="adj1" fmla="val -70516"/>
              <a:gd name="adj2" fmla="val 80037"/>
            </a:avLst>
          </a:prstGeom>
          <a:solidFill>
            <a:srgbClr val="99FFCC"/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筛选出满足指定条件的组</a:t>
            </a: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2616200" y="4984750"/>
            <a:ext cx="4724400" cy="1171588"/>
          </a:xfrm>
          <a:prstGeom prst="wedgeEllipseCallout">
            <a:avLst>
              <a:gd name="adj1" fmla="val -72075"/>
              <a:gd name="adj2" fmla="val -77392"/>
            </a:avLst>
          </a:prstGeom>
          <a:solidFill>
            <a:srgbClr val="66FFFF"/>
          </a:solidFill>
          <a:ln w="2857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90000" tIns="46800" rIns="90000" bIns="46800" anchor="ctr"/>
          <a:lstStyle/>
          <a:p>
            <a:pPr marL="0" marR="0" lvl="0" indent="0" algn="just" defTabSz="914400" rtl="0" eaLnBrk="1" fontAlgn="base" latinLnBrk="0" hangingPunct="1">
              <a:lnSpc>
                <a:spcPts val="26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对查询结果表按指定列值的升序或降序排序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2636778" y="2213865"/>
            <a:ext cx="3643338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单表查询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连接查询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嵌套子查询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集合查询</a:t>
            </a:r>
            <a:endParaRPr kumimoji="0" lang="zh-CN" altLang="en-US" sz="2800" kern="1200" cap="none" spc="0" normalizeH="0" baseline="0" noProof="1">
              <a:solidFill>
                <a:srgbClr val="FF0000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表格 38913"/>
          <p:cNvGraphicFramePr/>
          <p:nvPr/>
        </p:nvGraphicFramePr>
        <p:xfrm>
          <a:off x="1062038" y="684213"/>
          <a:ext cx="7326313" cy="1554163"/>
        </p:xfrm>
        <a:graphic>
          <a:graphicData uri="http://schemas.openxmlformats.org/drawingml/2006/table">
            <a:tbl>
              <a:tblPr/>
              <a:tblGrid>
                <a:gridCol w="156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3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83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79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32" name="Rectangle 28"/>
          <p:cNvSpPr/>
          <p:nvPr/>
        </p:nvSpPr>
        <p:spPr>
          <a:xfrm>
            <a:off x="1646238" y="188913"/>
            <a:ext cx="5105400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Student(Sno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Sname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Ssex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Sage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Sdept)</a:t>
            </a:r>
          </a:p>
        </p:txBody>
      </p:sp>
      <p:sp>
        <p:nvSpPr>
          <p:cNvPr id="38933" name="Rectangle 24"/>
          <p:cNvSpPr/>
          <p:nvPr/>
        </p:nvSpPr>
        <p:spPr>
          <a:xfrm>
            <a:off x="161925" y="3159125"/>
            <a:ext cx="4140200" cy="5286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Course(Cno, Cname, Cpno, Ccredit)</a:t>
            </a:r>
          </a:p>
        </p:txBody>
      </p:sp>
      <p:graphicFrame>
        <p:nvGraphicFramePr>
          <p:cNvPr id="38934" name="表格 38933"/>
          <p:cNvGraphicFramePr/>
          <p:nvPr/>
        </p:nvGraphicFramePr>
        <p:xfrm>
          <a:off x="161925" y="3659188"/>
          <a:ext cx="4724400" cy="3055938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80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89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6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信息系统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操作系统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数据结构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数据处理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PASCAL</a:t>
                      </a: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语言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80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6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80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6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49" name="Rectangle 21"/>
          <p:cNvSpPr/>
          <p:nvPr/>
        </p:nvSpPr>
        <p:spPr>
          <a:xfrm>
            <a:off x="5651500" y="3024188"/>
            <a:ext cx="2970213" cy="539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SC(Sno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Cno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Grade) </a:t>
            </a:r>
          </a:p>
        </p:txBody>
      </p:sp>
      <p:graphicFrame>
        <p:nvGraphicFramePr>
          <p:cNvPr id="38950" name="表格 38949"/>
          <p:cNvGraphicFramePr/>
          <p:nvPr/>
        </p:nvGraphicFramePr>
        <p:xfrm>
          <a:off x="5110163" y="3654425"/>
          <a:ext cx="3916363" cy="2928938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688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67" name="Line 71"/>
          <p:cNvSpPr/>
          <p:nvPr/>
        </p:nvSpPr>
        <p:spPr>
          <a:xfrm>
            <a:off x="0" y="2889250"/>
            <a:ext cx="914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68" name="Line 72"/>
          <p:cNvSpPr/>
          <p:nvPr/>
        </p:nvSpPr>
        <p:spPr>
          <a:xfrm>
            <a:off x="5021263" y="2889250"/>
            <a:ext cx="0" cy="3968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2636778" y="2213865"/>
            <a:ext cx="3643338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单表查询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连接查询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嵌套子查询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集合查询</a:t>
            </a:r>
            <a:endParaRPr kumimoji="0" lang="zh-CN" altLang="en-US" sz="2800" kern="1200" cap="none" spc="0" normalizeH="0" baseline="0" noProof="1">
              <a:solidFill>
                <a:srgbClr val="A6A6A6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3.3.1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单表查询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查询仅涉及一个表，是一种最简单的查询操作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选择表中的若干列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选择表中的若干元组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对查询结果排序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使用聚集函数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对查询结果分组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3.3.1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3870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选择表中的若干列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对应于投影运算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8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变化方式主要表现在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子句的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列表达式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查询指定列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查询全部列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查询经过计算的值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-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选择表中的若干列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388099" name="Rectangle 3"/>
          <p:cNvSpPr>
            <a:spLocks noGrp="1"/>
          </p:cNvSpPr>
          <p:nvPr>
            <p:ph idx="1"/>
          </p:nvPr>
        </p:nvSpPr>
        <p:spPr>
          <a:xfrm>
            <a:off x="476250" y="1358900"/>
            <a:ext cx="8229600" cy="2825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查询指定列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子句的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列表达式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中指定要查询的属性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	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列表达式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中各个列的先后顺序可以与表中的逻辑顺序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不一致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。即用户可以根据应用的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需要改变列的显示顺序</a:t>
            </a:r>
          </a:p>
        </p:txBody>
      </p:sp>
      <p:sp>
        <p:nvSpPr>
          <p:cNvPr id="5" name="Rectangle 4"/>
          <p:cNvSpPr txBox="1"/>
          <p:nvPr/>
        </p:nvSpPr>
        <p:spPr>
          <a:xfrm>
            <a:off x="1149350" y="5340350"/>
            <a:ext cx="6534150" cy="933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Sno, Sname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student;</a:t>
            </a:r>
          </a:p>
        </p:txBody>
      </p:sp>
      <p:sp>
        <p:nvSpPr>
          <p:cNvPr id="7" name="Rectangle 28"/>
          <p:cNvSpPr/>
          <p:nvPr/>
        </p:nvSpPr>
        <p:spPr>
          <a:xfrm>
            <a:off x="1638300" y="4273550"/>
            <a:ext cx="6045200" cy="977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Student(Sno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Sname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Ssex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Sage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Sdept)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例1.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查询全体学生的学号与姓名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/>
          <p:nvPr/>
        </p:nvSpPr>
        <p:spPr>
          <a:xfrm>
            <a:off x="260350" y="4575175"/>
            <a:ext cx="8631238" cy="10318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Select  Sno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Sname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Ssex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Sage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Sdept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From Student;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楷体_GB2312"/>
              </a:rPr>
              <a:t>                   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44035" name="Rectangle 28"/>
          <p:cNvSpPr/>
          <p:nvPr/>
        </p:nvSpPr>
        <p:spPr>
          <a:xfrm>
            <a:off x="5337175" y="279400"/>
            <a:ext cx="1081088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44036" name="表格占位符 44035"/>
          <p:cNvGraphicFramePr>
            <a:graphicFrameLocks noGrp="1"/>
          </p:cNvGraphicFramePr>
          <p:nvPr>
            <p:ph type="tbl" idx="1"/>
          </p:nvPr>
        </p:nvGraphicFramePr>
        <p:xfrm>
          <a:off x="2432050" y="819150"/>
          <a:ext cx="6711950" cy="1554163"/>
        </p:xfrm>
        <a:graphic>
          <a:graphicData uri="http://schemas.openxmlformats.org/drawingml/2006/table">
            <a:tbl>
              <a:tblPr/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84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79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5361" name="Text Box 33"/>
          <p:cNvSpPr txBox="1"/>
          <p:nvPr/>
        </p:nvSpPr>
        <p:spPr>
          <a:xfrm>
            <a:off x="82550" y="5727700"/>
            <a:ext cx="56705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或：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Select  *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        From Student;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800" y="2495550"/>
            <a:ext cx="8229600" cy="2178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indent="-342900" algn="just" defTabSz="914400" eaLnBrk="0" hangingPunct="0">
              <a:lnSpc>
                <a:spcPct val="90000"/>
              </a:lnSpc>
              <a:spcBef>
                <a:spcPct val="40000"/>
              </a:spcBef>
              <a:spcAft>
                <a:spcPct val="40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查询全部列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SELECT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关键字后面列出所有列名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当列的显示顺序与其在基表中的顺序相同时，也可以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简单地将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目标列表达式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&gt;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指定为 *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5361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-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选择表中的若干列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查询经过计算的值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子句的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列表达式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选为表达式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算术表达式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字符串常量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函数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……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/>
          <p:nvPr/>
        </p:nvSpPr>
        <p:spPr>
          <a:xfrm>
            <a:off x="431800" y="2619375"/>
            <a:ext cx="8286750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例2.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查询全体学生的姓名、出生年份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sname，2022-sage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student                </a:t>
            </a:r>
          </a:p>
        </p:txBody>
      </p:sp>
      <p:sp>
        <p:nvSpPr>
          <p:cNvPr id="46083" name="Rectangle 28"/>
          <p:cNvSpPr/>
          <p:nvPr/>
        </p:nvSpPr>
        <p:spPr>
          <a:xfrm>
            <a:off x="5337175" y="279400"/>
            <a:ext cx="1081088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46084" name="表格 46083"/>
          <p:cNvGraphicFramePr/>
          <p:nvPr/>
        </p:nvGraphicFramePr>
        <p:xfrm>
          <a:off x="2432050" y="819150"/>
          <a:ext cx="6711950" cy="1554163"/>
        </p:xfrm>
        <a:graphic>
          <a:graphicData uri="http://schemas.openxmlformats.org/drawingml/2006/table">
            <a:tbl>
              <a:tblPr/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84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79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9932" name="Text Box 28"/>
          <p:cNvSpPr txBox="1"/>
          <p:nvPr/>
        </p:nvSpPr>
        <p:spPr>
          <a:xfrm>
            <a:off x="2636838" y="4329113"/>
            <a:ext cx="4859338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输出结果：</a:t>
            </a: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Sname   2022-Sage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---------    -------------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李勇    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2002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刘晨    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2003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王敏    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2004              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8" name="Rectangle 4"/>
          <p:cNvSpPr/>
          <p:nvPr/>
        </p:nvSpPr>
        <p:spPr>
          <a:xfrm>
            <a:off x="657225" y="2484438"/>
            <a:ext cx="7875588" cy="2122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查询全体学生的姓名、出生年份和所在系，要求用小写字母表示所在系名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 Sname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2022-Sage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LOWER(Sdept)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 Student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；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</a:p>
        </p:txBody>
      </p:sp>
      <p:sp>
        <p:nvSpPr>
          <p:cNvPr id="47107" name="Rectangle 28"/>
          <p:cNvSpPr/>
          <p:nvPr/>
        </p:nvSpPr>
        <p:spPr>
          <a:xfrm>
            <a:off x="5337175" y="279400"/>
            <a:ext cx="1081088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47108" name="表格 47107"/>
          <p:cNvGraphicFramePr/>
          <p:nvPr/>
        </p:nvGraphicFramePr>
        <p:xfrm>
          <a:off x="2432050" y="819150"/>
          <a:ext cx="6711950" cy="1554163"/>
        </p:xfrm>
        <a:graphic>
          <a:graphicData uri="http://schemas.openxmlformats.org/drawingml/2006/table">
            <a:tbl>
              <a:tblPr/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84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79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58" marB="45658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80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58" marB="4565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0168" name="Rectangle 24"/>
          <p:cNvSpPr/>
          <p:nvPr/>
        </p:nvSpPr>
        <p:spPr>
          <a:xfrm>
            <a:off x="1816100" y="4806950"/>
            <a:ext cx="6435725" cy="185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输出结果：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Sname      2022-Sage      LOWER(Sdept)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李勇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2002               cs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刘晨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2003               cs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王敏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2004               ma       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0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0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0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0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2" name="Rectangle 4"/>
          <p:cNvSpPr/>
          <p:nvPr/>
        </p:nvSpPr>
        <p:spPr>
          <a:xfrm>
            <a:off x="274955" y="1403350"/>
            <a:ext cx="8753475" cy="50863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使用列别名改变查询结果的列标题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SELECT Sname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as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NAME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2022-Sage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as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BIRTHYEAR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LOWER(Sdept)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as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DEPARTMENT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FROM Student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输出结果：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NAME      BIRTHYEAR   DEPARTMENT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-------       -------------  ------------------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李勇 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2002               cs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刘晨 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2003               cs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王名 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2004             ma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</a:t>
            </a:r>
          </a:p>
        </p:txBody>
      </p:sp>
      <p:pic>
        <p:nvPicPr>
          <p:cNvPr id="4813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7938"/>
            <a:ext cx="8437562" cy="126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charRg st="130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1172">
                                            <p:txEl>
                                              <p:charRg st="130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1172">
                                            <p:txEl>
                                              <p:charRg st="130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charRg st="16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1172">
                                            <p:txEl>
                                              <p:charRg st="16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1172">
                                            <p:txEl>
                                              <p:charRg st="16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charRg st="223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72">
                                            <p:txEl>
                                              <p:charRg st="223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72">
                                            <p:txEl>
                                              <p:charRg st="223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charRg st="264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1172">
                                            <p:txEl>
                                              <p:charRg st="264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1172">
                                            <p:txEl>
                                              <p:charRg st="264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charRg st="305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1172">
                                            <p:txEl>
                                              <p:charRg st="305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1172">
                                            <p:txEl>
                                              <p:charRg st="305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-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选择表中若干元组</a:t>
            </a:r>
          </a:p>
        </p:txBody>
      </p:sp>
      <p:sp>
        <p:nvSpPr>
          <p:cNvPr id="3921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选择表中若干元组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查询满足条件的元组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对应于选择运算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通过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子句实现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消除取值重复的行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DISTINCT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明确要求不消除重复的行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ALL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46" name="Rectangle 30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-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选择表中若干元组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7835900" cy="568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子句常用的查询条件</a:t>
            </a:r>
          </a:p>
        </p:txBody>
      </p:sp>
      <p:graphicFrame>
        <p:nvGraphicFramePr>
          <p:cNvPr id="50180" name="内容占位符 50179"/>
          <p:cNvGraphicFramePr>
            <a:graphicFrameLocks noGrp="1"/>
          </p:cNvGraphicFramePr>
          <p:nvPr>
            <p:ph sz="half" idx="1"/>
          </p:nvPr>
        </p:nvGraphicFramePr>
        <p:xfrm>
          <a:off x="615950" y="2673350"/>
          <a:ext cx="8056563" cy="2809875"/>
        </p:xfrm>
        <a:graphic>
          <a:graphicData uri="http://schemas.openxmlformats.org/drawingml/2006/table">
            <a:tbl>
              <a:tblPr/>
              <a:tblGrid>
                <a:gridCol w="177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查询条件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                 </a:t>
                      </a: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谓词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比较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=，&gt;，&lt;，&gt;=，&lt;=，!=，&lt;&gt;，!&lt;，!&gt;， </a:t>
                      </a: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NOT+</a:t>
                      </a: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上述符号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确定范围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BETWEEN AND， NOT BETWEEN AND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确定集合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IN，NOT IN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空值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IS NULL， IS NOT NULL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多重条件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AND，OR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字符串运算</a:t>
                      </a:r>
                    </a:p>
                  </a:txBody>
                  <a:tcPr marT="45727" marB="4572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%</a:t>
                      </a: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，</a:t>
                      </a: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_</a:t>
                      </a: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，</a:t>
                      </a: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upper(),lower(),like</a:t>
                      </a:r>
                      <a:r>
                        <a:rPr lang="zh-CN" altLang="en-US" b="1" dirty="0">
                          <a:latin typeface="楷体_GB2312"/>
                          <a:ea typeface="楷体_GB2312"/>
                        </a:rPr>
                        <a:t>，</a:t>
                      </a:r>
                      <a:r>
                        <a:rPr lang="en-US" altLang="zh-CN" b="1" dirty="0">
                          <a:latin typeface="楷体_GB2312"/>
                          <a:ea typeface="楷体_GB2312"/>
                        </a:rPr>
                        <a:t>escape</a:t>
                      </a:r>
                    </a:p>
                  </a:txBody>
                  <a:tcPr marT="45727" marB="4572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/>
          <p:nvPr/>
        </p:nvSpPr>
        <p:spPr>
          <a:xfrm>
            <a:off x="522288" y="3743325"/>
            <a:ext cx="8286750" cy="171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例3.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查询选修过课的学生的学号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distinct sno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sc;</a:t>
            </a:r>
          </a:p>
        </p:txBody>
      </p:sp>
      <p:sp>
        <p:nvSpPr>
          <p:cNvPr id="51203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1204" name="表格 51203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222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1223" name="表格 51222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238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1239" name="表格 51238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2227" name="表格 52226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245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2246" name="表格 52245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261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2262" name="表格 52261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4"/>
          <p:cNvSpPr txBox="1"/>
          <p:nvPr/>
        </p:nvSpPr>
        <p:spPr>
          <a:xfrm>
            <a:off x="522288" y="3563938"/>
            <a:ext cx="8429625" cy="2973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例4.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查询年龄在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19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-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21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之间的学生姓名及性别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sname, ssex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sage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between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19  and 21;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3251" name="表格 53250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69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3270" name="表格 53269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85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3286" name="表格 53285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4"/>
          <p:cNvSpPr txBox="1"/>
          <p:nvPr/>
        </p:nvSpPr>
        <p:spPr>
          <a:xfrm>
            <a:off x="522288" y="3519488"/>
            <a:ext cx="8429625" cy="288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例5.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查询姓“欧阳”的学生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student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sname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like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‘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欧阳%’;</a:t>
            </a:r>
          </a:p>
        </p:txBody>
      </p:sp>
      <p:sp>
        <p:nvSpPr>
          <p:cNvPr id="384053" name="Text Box 53"/>
          <p:cNvSpPr txBox="1"/>
          <p:nvPr/>
        </p:nvSpPr>
        <p:spPr>
          <a:xfrm>
            <a:off x="1285875" y="5724525"/>
            <a:ext cx="5446713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说明： 通配符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%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替代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0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个或多个字符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   通配符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_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仅替代一个字符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5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466138" cy="1289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ESCAPE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短语：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当用户要查询的字符串本身就含有 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%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 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_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时，要使用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ESCAPE '&lt;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换码字符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&gt;'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短语对通配符进行转义。</a:t>
            </a:r>
          </a:p>
        </p:txBody>
      </p:sp>
      <p:sp>
        <p:nvSpPr>
          <p:cNvPr id="399364" name="Text Box 4"/>
          <p:cNvSpPr txBox="1"/>
          <p:nvPr/>
        </p:nvSpPr>
        <p:spPr>
          <a:xfrm>
            <a:off x="971550" y="3203575"/>
            <a:ext cx="50117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DB_Design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课程的课程号和学分</a:t>
            </a:r>
          </a:p>
        </p:txBody>
      </p:sp>
      <p:sp>
        <p:nvSpPr>
          <p:cNvPr id="399365" name="Text Box 5"/>
          <p:cNvSpPr txBox="1"/>
          <p:nvPr/>
        </p:nvSpPr>
        <p:spPr>
          <a:xfrm>
            <a:off x="1241425" y="4057650"/>
            <a:ext cx="4246563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SELECT Cno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Ccredit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FROM Course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WHERE Cname LIKE 'DB_Design'</a:t>
            </a:r>
            <a:endParaRPr kumimoji="0" lang="zh-CN" altLang="en-US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99366" name="Rectangle 24"/>
          <p:cNvSpPr/>
          <p:nvPr/>
        </p:nvSpPr>
        <p:spPr>
          <a:xfrm>
            <a:off x="4995863" y="144463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4278" name="表格 54277"/>
          <p:cNvGraphicFramePr/>
          <p:nvPr/>
        </p:nvGraphicFramePr>
        <p:xfrm>
          <a:off x="4751388" y="549275"/>
          <a:ext cx="4140200" cy="1214438"/>
        </p:xfrm>
        <a:graphic>
          <a:graphicData uri="http://schemas.openxmlformats.org/drawingml/2006/table">
            <a:tbl>
              <a:tblPr/>
              <a:tblGrid>
                <a:gridCol w="85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L="91454" marR="91454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 marL="91454" marR="91454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DB_Design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 marL="91454" marR="9145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382" name="Text Box 22"/>
          <p:cNvSpPr txBox="1"/>
          <p:nvPr/>
        </p:nvSpPr>
        <p:spPr>
          <a:xfrm>
            <a:off x="1252538" y="5273675"/>
            <a:ext cx="4814888" cy="13208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SELECT Cno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Ccredit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FROM     Course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WHERE  Cname LIKE 'DB\_Design'      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 ESCAPE '\'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99383" name="Text Box 23"/>
          <p:cNvSpPr txBox="1"/>
          <p:nvPr/>
        </p:nvSpPr>
        <p:spPr>
          <a:xfrm>
            <a:off x="657225" y="3024188"/>
            <a:ext cx="8486775" cy="37861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查询以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“DB_”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开头，且倒数第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个字符为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的课程的详细情况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399384" name="Text Box 24"/>
          <p:cNvSpPr txBox="1"/>
          <p:nvPr/>
        </p:nvSpPr>
        <p:spPr>
          <a:xfrm>
            <a:off x="1106488" y="4554538"/>
            <a:ext cx="6038850" cy="1016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SELECT  *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FROM   Course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WHERE  Cname LIKE  'DB\_%i_ _' ESCAPE ' \ '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9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  <p:bldP spid="399365" grpId="0"/>
      <p:bldP spid="399366" grpId="0"/>
      <p:bldP spid="399382" grpId="0" animBg="1"/>
      <p:bldP spid="399383" grpId="0" animBg="1"/>
      <p:bldP spid="39938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/>
          <p:nvPr/>
        </p:nvSpPr>
        <p:spPr>
          <a:xfrm>
            <a:off x="385763" y="3654425"/>
            <a:ext cx="8429625" cy="238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例6.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查询数学系和计算机系的学生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*  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sdept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in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(’MA’，’CS’);</a:t>
            </a:r>
          </a:p>
        </p:txBody>
      </p:sp>
      <p:sp>
        <p:nvSpPr>
          <p:cNvPr id="55299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5300" name="表格 55299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318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5319" name="表格 55318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334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5335" name="表格 55334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--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对查询结果排序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方法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	使用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 BY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可以按一个或多个属性列排序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升序：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ASC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；降序：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DESC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；缺省值为升序</a:t>
            </a:r>
          </a:p>
          <a:p>
            <a:pPr marL="457200" marR="0" lvl="1" indent="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8" name="Text Box 4"/>
          <p:cNvSpPr txBox="1"/>
          <p:nvPr/>
        </p:nvSpPr>
        <p:spPr>
          <a:xfrm>
            <a:off x="1062038" y="3519488"/>
            <a:ext cx="6456363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查询选修了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号课程的学生的学号及其成绩，查询结果按分数降序排列</a:t>
            </a:r>
          </a:p>
        </p:txBody>
      </p:sp>
      <p:sp>
        <p:nvSpPr>
          <p:cNvPr id="57347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7348" name="表格 57347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366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7367" name="表格 57366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382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7383" name="表格 57382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0437" name="Text Box 53"/>
          <p:cNvSpPr txBox="1"/>
          <p:nvPr/>
        </p:nvSpPr>
        <p:spPr>
          <a:xfrm>
            <a:off x="1916113" y="4598988"/>
            <a:ext cx="4749800" cy="1552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  Sno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Grade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     SC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    Cno= ' 3 '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ORDER BY   Grade DESC;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  <p:bldP spid="40043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聚集函数</a:t>
            </a:r>
          </a:p>
        </p:txBody>
      </p:sp>
      <p:sp>
        <p:nvSpPr>
          <p:cNvPr id="401411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763000" cy="4529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聚集函数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COUNT（[DISTINCT | ALL] *）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统计元组个数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计算由查询中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from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子句和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子句所创建的关系中的元组个数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COUNT（[DISTINCT | ALL]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列名&gt;）统计一列中值的个数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计算某一列中值的个数，空值不计入统计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SUM（[DISTINCT | ALL]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列名&gt;）计算一列值的总和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AVG（[DISTINCT | ALL]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列名&gt;）计算一列的平均值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MAX（[DISTINCT | ALL]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列名&gt;）计算一列的最大值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MIN（[DISTINCT | ALL]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列名&gt;）计算一列的最小值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59395" name="表格 59394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413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59414" name="表格 59413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429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59430" name="表格 59429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3"/>
          <p:cNvSpPr txBox="1"/>
          <p:nvPr/>
        </p:nvSpPr>
        <p:spPr>
          <a:xfrm>
            <a:off x="701675" y="3338513"/>
            <a:ext cx="7929563" cy="1576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例7.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统计学生总人数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</a:t>
            </a:r>
          </a:p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(*)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student;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701675" y="4959350"/>
            <a:ext cx="7929563" cy="1576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8.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查询选修了课程的学生人数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</a:t>
            </a:r>
          </a:p>
          <a:p>
            <a:pPr marL="0" marR="0" lvl="0" indent="0" algn="just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(distinct Sno)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SC;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对查询结果分组</a:t>
            </a: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12175" cy="4033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Group By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用途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细化聚集函数的作用对象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未对查询结果分组，聚集函数将作用于整个查询结果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对查询结果分组后，聚集函数将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分别作用于每个组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4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3" y="2224088"/>
            <a:ext cx="5511800" cy="440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272338" y="2708275"/>
            <a:ext cx="1731962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分组属性：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r"/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dept_name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27100" y="3022600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927100" y="4013200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1063" y="4327525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27100" y="5002213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81063" y="5632450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1063" y="5949950"/>
            <a:ext cx="537845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6788" y="1763713"/>
            <a:ext cx="1731962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聚集属性：</a:t>
            </a:r>
            <a:endParaRPr lang="en-US" altLang="zh-CN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salary</a:t>
            </a:r>
            <a:endParaRPr lang="zh-CN" altLang="en-US" sz="2400" b="1" i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1" name="文本框 1"/>
          <p:cNvSpPr txBox="1"/>
          <p:nvPr/>
        </p:nvSpPr>
        <p:spPr>
          <a:xfrm>
            <a:off x="1196975" y="742950"/>
            <a:ext cx="45005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Select dept_name, avg(salary) from instructor</a:t>
            </a:r>
            <a:endParaRPr kumimoji="0" lang="en-US" altLang="zh-CN" sz="2400" b="1" kern="1200" cap="none" spc="0" normalizeH="0" baseline="0" noProof="1">
              <a:solidFill>
                <a:srgbClr val="00206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defRPr/>
            </a:pPr>
            <a:r>
              <a:rPr kumimoji="0" lang="en-US" altLang="zh-CN" sz="2400" b="1" kern="1200" cap="none" spc="0" normalizeH="0" baseline="0" noProof="1">
                <a:solidFill>
                  <a:srgbClr val="00206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group by dept_name</a:t>
            </a:r>
            <a:endParaRPr kumimoji="0" lang="zh-CN" altLang="en-US" sz="2400" b="1" kern="1200" cap="none" spc="0" normalizeH="0" baseline="0" noProof="1">
              <a:solidFill>
                <a:srgbClr val="00206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516563" y="1403350"/>
            <a:ext cx="1665288" cy="6302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1"/>
          <p:cNvSpPr/>
          <p:nvPr/>
        </p:nvSpPr>
        <p:spPr>
          <a:xfrm>
            <a:off x="881063" y="134938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62467" name="表格 62466"/>
          <p:cNvGraphicFramePr/>
          <p:nvPr/>
        </p:nvGraphicFramePr>
        <p:xfrm>
          <a:off x="1420813" y="0"/>
          <a:ext cx="3375025" cy="29622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1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956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200215124   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3"/>
          <p:cNvSpPr txBox="1"/>
          <p:nvPr/>
        </p:nvSpPr>
        <p:spPr>
          <a:xfrm>
            <a:off x="836613" y="3563938"/>
            <a:ext cx="7929563" cy="256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例9.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查询各个课程号与相应的选课人次。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Cno,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(Sno)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sc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Group  by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Cno;</a:t>
            </a:r>
          </a:p>
        </p:txBody>
      </p:sp>
      <p:graphicFrame>
        <p:nvGraphicFramePr>
          <p:cNvPr id="62480" name="表格 62479"/>
          <p:cNvGraphicFramePr/>
          <p:nvPr/>
        </p:nvGraphicFramePr>
        <p:xfrm>
          <a:off x="5337175" y="7938"/>
          <a:ext cx="3375025" cy="29622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1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956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200215124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200215123</a:t>
                      </a: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78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3557" name="AutoShape 101"/>
          <p:cNvSpPr/>
          <p:nvPr/>
        </p:nvSpPr>
        <p:spPr>
          <a:xfrm>
            <a:off x="6958013" y="3249613"/>
            <a:ext cx="763588" cy="67468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C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62493" name="表格 62492"/>
          <p:cNvGraphicFramePr/>
          <p:nvPr/>
        </p:nvGraphicFramePr>
        <p:xfrm>
          <a:off x="6551613" y="4194175"/>
          <a:ext cx="1936750" cy="1500188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7" marB="45737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Count 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(Sno)</a:t>
                      </a:r>
                    </a:p>
                  </a:txBody>
                  <a:tcPr marT="45737" marB="4573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</a:txBody>
                  <a:tcPr marT="45737" marB="45737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 marT="45737" marB="4573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0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55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500063" y="3790950"/>
            <a:ext cx="8643938" cy="26527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0.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查询所有选课学生的学号及平均分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sno,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avg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(grade)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sc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Group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by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sno;</a:t>
            </a: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63491" name="Rectangle 21"/>
          <p:cNvSpPr/>
          <p:nvPr/>
        </p:nvSpPr>
        <p:spPr>
          <a:xfrm>
            <a:off x="881063" y="134938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63492" name="表格 63491"/>
          <p:cNvGraphicFramePr/>
          <p:nvPr/>
        </p:nvGraphicFramePr>
        <p:xfrm>
          <a:off x="1420813" y="0"/>
          <a:ext cx="3375025" cy="29622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1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956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200215124   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504" name="表格 63503"/>
          <p:cNvGraphicFramePr/>
          <p:nvPr/>
        </p:nvGraphicFramePr>
        <p:xfrm>
          <a:off x="5607050" y="53975"/>
          <a:ext cx="3375025" cy="29622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1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956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200215124   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</a:t>
                      </a: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516" name="表格 63515"/>
          <p:cNvGraphicFramePr/>
          <p:nvPr/>
        </p:nvGraphicFramePr>
        <p:xfrm>
          <a:off x="6237288" y="4554538"/>
          <a:ext cx="2473325" cy="1792288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354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15" marB="45715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avg</a:t>
                      </a:r>
                      <a:endParaRPr lang="zh-CN" altLang="en-US" sz="1600" b="1" dirty="0">
                        <a:solidFill>
                          <a:srgbClr val="800000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(Grade)</a:t>
                      </a: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933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200215124   </a:t>
                      </a:r>
                    </a:p>
                  </a:txBody>
                  <a:tcPr marT="45715" marB="45715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88.5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84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4574" name="AutoShape 94"/>
          <p:cNvSpPr/>
          <p:nvPr/>
        </p:nvSpPr>
        <p:spPr>
          <a:xfrm>
            <a:off x="7362825" y="3429000"/>
            <a:ext cx="630238" cy="720725"/>
          </a:xfrm>
          <a:prstGeom prst="downArrow">
            <a:avLst>
              <a:gd name="adj1" fmla="val 50000"/>
              <a:gd name="adj2" fmla="val 28589"/>
            </a:avLst>
          </a:prstGeom>
          <a:solidFill>
            <a:srgbClr val="CC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4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7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836613" y="3429000"/>
            <a:ext cx="7929563" cy="2352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1.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查询选修了4门课以上的学生的学号。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Sno 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SC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Group by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Sno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Having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(*)&gt;4</a:t>
            </a:r>
          </a:p>
        </p:txBody>
      </p:sp>
      <p:sp>
        <p:nvSpPr>
          <p:cNvPr id="64515" name="Rectangle 21"/>
          <p:cNvSpPr/>
          <p:nvPr/>
        </p:nvSpPr>
        <p:spPr>
          <a:xfrm>
            <a:off x="1692275" y="134938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64516" name="表格 64515"/>
          <p:cNvGraphicFramePr/>
          <p:nvPr/>
        </p:nvGraphicFramePr>
        <p:xfrm>
          <a:off x="2232025" y="0"/>
          <a:ext cx="3375025" cy="29622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19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956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200215123   </a:t>
                      </a:r>
                    </a:p>
                  </a:txBody>
                  <a:tcPr marT="45666" marB="45666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3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89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90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78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88</a:t>
                      </a:r>
                    </a:p>
                  </a:txBody>
                  <a:tcPr marT="45666" marB="4566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673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存款人：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depositor (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c_name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account_number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A6804E-1491-45CE-A639-62EFADEA9DEF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53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836613" y="3384550"/>
            <a:ext cx="7929563" cy="2352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2.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查询银行中有多少存款用户。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count(distinct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c_name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)  </a:t>
            </a:r>
          </a:p>
          <a:p>
            <a:pPr marL="0" marR="0" lvl="0" indent="0" algn="l" defTabSz="914400" rtl="0" eaLnBrk="1" fontAlgn="base" latinLnBrk="0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depositor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对查询结果分组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单表查询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对查询结果分组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512175" cy="4033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注意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需要保证：任何没出现在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group by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子句中的属性如果出现在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子句中的话，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它只能出现在聚集函数内部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例：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dept_name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ID,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avg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(salary)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from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instructor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group by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dept_name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pic>
        <p:nvPicPr>
          <p:cNvPr id="4" name="图片 3" descr="7971_15142903962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3" y="4103688"/>
            <a:ext cx="1357312" cy="1476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050" y="4413250"/>
            <a:ext cx="1716088" cy="1716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500063" y="3384550"/>
            <a:ext cx="8643938" cy="3473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查询每一年龄上人数超过20的男同学的具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体人数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并按年龄从小到大的顺序排列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sage,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(sno)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Student 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ssex=‘M’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Group by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sage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Having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count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(*)&gt;20</a:t>
            </a:r>
          </a:p>
          <a:p>
            <a:pPr marL="0" marR="0" lvl="0" indent="0" algn="l" defTabSz="914400" rtl="0" eaLnBrk="1" fontAlgn="base" latinLnBrk="0" hangingPunct="1">
              <a:lnSpc>
                <a:spcPts val="37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Order by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sage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ASC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;</a:t>
            </a:r>
          </a:p>
        </p:txBody>
      </p:sp>
      <p:sp>
        <p:nvSpPr>
          <p:cNvPr id="68611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68612" name="表格 68611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630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68631" name="表格 68630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646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68647" name="表格 68646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2636778" y="2213865"/>
            <a:ext cx="3643338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单表查询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连接查询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嵌套子查询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集合查询</a:t>
            </a:r>
            <a:endParaRPr kumimoji="0" lang="zh-CN" altLang="en-US" sz="2800" kern="1200" cap="none" spc="0" normalizeH="0" baseline="0" noProof="1">
              <a:solidFill>
                <a:srgbClr val="A6A6A6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连接查询</a:t>
            </a:r>
          </a:p>
        </p:txBody>
      </p:sp>
      <p:sp>
        <p:nvSpPr>
          <p:cNvPr id="406531" name="Rectangle 3"/>
          <p:cNvSpPr>
            <a:spLocks noGrp="1"/>
          </p:cNvSpPr>
          <p:nvPr>
            <p:ph idx="1"/>
          </p:nvPr>
        </p:nvSpPr>
        <p:spPr>
          <a:xfrm>
            <a:off x="250825" y="1133475"/>
            <a:ext cx="87630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同时涉及多个表的查询称为连接查询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连接条件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用来连接两个表的条件称为连接条件或连接谓词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常用格式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[&lt;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1&gt;.]&lt;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比较运算符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  [&lt;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2&gt;.]&lt;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比较运算符：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=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&gt;=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&lt;=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!=</a:t>
            </a: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[&lt;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1&gt;.]&lt;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 BETWEEN [&lt;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2&gt;.]&lt;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 AND [&lt;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2&gt;.]&lt;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3&gt;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06532" name="Text Box 4"/>
          <p:cNvSpPr txBox="1">
            <a:spLocks noChangeArrowheads="1"/>
          </p:cNvSpPr>
          <p:nvPr/>
        </p:nvSpPr>
        <p:spPr bwMode="auto">
          <a:xfrm>
            <a:off x="1781175" y="5903913"/>
            <a:ext cx="6032500" cy="461963"/>
          </a:xfrm>
          <a:prstGeom prst="rect">
            <a:avLst/>
          </a:prstGeom>
          <a:solidFill>
            <a:srgbClr val="FFFFCC"/>
          </a:solidFill>
          <a:ln w="9525">
            <a:solidFill>
              <a:srgbClr val="FF99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Tx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连接条件中的各连接属性类型必须是可比的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71683" name="表格 71682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701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71702" name="表格 71701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3"/>
          <p:cNvSpPr txBox="1"/>
          <p:nvPr/>
        </p:nvSpPr>
        <p:spPr>
          <a:xfrm>
            <a:off x="357188" y="3206750"/>
            <a:ext cx="8572500" cy="30527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4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查询选修2号课且成绩90分以上学生姓名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sname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From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student,  sc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 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student.sno=sc.sno and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cno=’2’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and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grade&gt;90;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/>
          <p:nvPr/>
        </p:nvSpPr>
        <p:spPr>
          <a:xfrm>
            <a:off x="296863" y="3563938"/>
            <a:ext cx="8572500" cy="30718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例14.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查询每个学生的学号、姓名、选修的课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程名及成绩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student.sno, sname, cname, grade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student, sc, course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student.sno=sc.sno and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sc.cno=course.cno;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72707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72708" name="表格 72707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726" name="Rectangle 24"/>
          <p:cNvSpPr/>
          <p:nvPr/>
        </p:nvSpPr>
        <p:spPr>
          <a:xfrm>
            <a:off x="0" y="14033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72727" name="表格 72726"/>
          <p:cNvGraphicFramePr/>
          <p:nvPr/>
        </p:nvGraphicFramePr>
        <p:xfrm>
          <a:off x="385763" y="18081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742" name="Rectangle 21"/>
          <p:cNvSpPr/>
          <p:nvPr/>
        </p:nvSpPr>
        <p:spPr>
          <a:xfrm>
            <a:off x="4437063" y="18986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72743" name="表格 72742"/>
          <p:cNvGraphicFramePr/>
          <p:nvPr/>
        </p:nvGraphicFramePr>
        <p:xfrm>
          <a:off x="4976813" y="17637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2636778" y="2213865"/>
            <a:ext cx="3643338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单表查询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连接查询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嵌套子查询</a:t>
            </a:r>
            <a:endParaRPr kumimoji="0" lang="zh-CN" altLang="en-US" sz="3200" kern="1200" cap="none" spc="0" normalizeH="0" baseline="0" noProof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集合查询</a:t>
            </a:r>
            <a:endParaRPr kumimoji="0" lang="zh-CN" altLang="en-US" sz="2800" kern="1200" cap="none" spc="0" normalizeH="0" baseline="0" noProof="1">
              <a:solidFill>
                <a:srgbClr val="A6A6A6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嵌套子查询</a:t>
            </a:r>
          </a:p>
        </p:txBody>
      </p:sp>
      <p:sp>
        <p:nvSpPr>
          <p:cNvPr id="411651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60107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SELECT-FROM-WHERE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语句称为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一个查询块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将一个查询块嵌套在另一个查询块的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FROM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子句、或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HAVING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短语的条件中的查询称为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嵌套子查询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嵌套查询一般的求解方法：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由里向外处理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，每个子查询在上一级查询处理之前求解，子查询的结果用于建立其父查询的条件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嵌套子查询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75779" name="Rectangle 4"/>
          <p:cNvSpPr/>
          <p:nvPr/>
        </p:nvSpPr>
        <p:spPr>
          <a:xfrm>
            <a:off x="522288" y="1493838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例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SELECT Sname		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外层查询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/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父查询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FROM Student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WHERE Sno IN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SELECT Sno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内层查询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/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子查询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990033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FROM SC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990033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WHERE Cno= ' 2 '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）；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rgbClr val="990033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" name="图片 4" descr="225028_09234907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0" y="4402138"/>
            <a:ext cx="2222500" cy="2222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嵌套子查询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子查询的限制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不能使用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 BY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有些嵌套查询可以用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连接运算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替代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/>
          <p:nvPr/>
        </p:nvSpPr>
        <p:spPr>
          <a:xfrm>
            <a:off x="474663" y="1943100"/>
            <a:ext cx="8669338" cy="45989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5.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查询与‘刘晨’在同一个系学习的学生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查询分两步完成：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第一步：确定‘刘晨’所在系名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select  sdept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         from  student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         where  sname=’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刘晨’;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第二步：查找所有’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CS’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系学习的学生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        select  sno,sname,sdept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        from   student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        where  sdept=’CS’;</a:t>
            </a:r>
          </a:p>
        </p:txBody>
      </p:sp>
      <p:sp>
        <p:nvSpPr>
          <p:cNvPr id="77827" name="Rectangle 28"/>
          <p:cNvSpPr/>
          <p:nvPr/>
        </p:nvSpPr>
        <p:spPr>
          <a:xfrm>
            <a:off x="2141538" y="458788"/>
            <a:ext cx="1081088" cy="39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Student</a:t>
            </a:r>
          </a:p>
        </p:txBody>
      </p:sp>
      <p:graphicFrame>
        <p:nvGraphicFramePr>
          <p:cNvPr id="77828" name="表格 77827"/>
          <p:cNvGraphicFramePr/>
          <p:nvPr/>
        </p:nvGraphicFramePr>
        <p:xfrm>
          <a:off x="3536950" y="142875"/>
          <a:ext cx="5400675" cy="14033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 号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姓  名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Sname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性  别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Ssex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26670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年  龄</a:t>
                      </a:r>
                    </a:p>
                    <a:p>
                      <a:pPr lvl="0" indent="26670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Sage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133350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所 在 系</a:t>
                      </a:r>
                    </a:p>
                    <a:p>
                      <a:pPr lvl="0" indent="133350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Sdept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470"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200215121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200215122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200215123</a:t>
                      </a:r>
                    </a:p>
                  </a:txBody>
                  <a:tcPr marT="45696" marB="45696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李勇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刘晨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王敏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男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女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20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19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18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CS</a:t>
                      </a:r>
                    </a:p>
                    <a:p>
                      <a:pPr lvl="0" algn="ctr"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MA</a:t>
                      </a:r>
                    </a:p>
                  </a:txBody>
                  <a:tcPr marT="45696" marB="45696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3"/>
          <p:cNvSpPr txBox="1"/>
          <p:nvPr/>
        </p:nvSpPr>
        <p:spPr>
          <a:xfrm>
            <a:off x="385763" y="2533650"/>
            <a:ext cx="8669338" cy="4000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sno, sname, sdept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sdept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in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sdept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student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sname=’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刘晨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’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         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);</a:t>
            </a:r>
            <a:endParaRPr kumimoji="0" lang="en-US" altLang="zh-CN" sz="28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361503" name="Text Box 31"/>
          <p:cNvSpPr txBox="1"/>
          <p:nvPr/>
        </p:nvSpPr>
        <p:spPr>
          <a:xfrm>
            <a:off x="701675" y="5678488"/>
            <a:ext cx="7694613" cy="8302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子查询只执行一次，结果用于父查询，子查询的查询条件不依赖于父查询，这类子查询称为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不相关子查询</a:t>
            </a:r>
          </a:p>
        </p:txBody>
      </p:sp>
      <p:sp>
        <p:nvSpPr>
          <p:cNvPr id="4" name="Rectangle 3"/>
          <p:cNvSpPr txBox="1"/>
          <p:nvPr/>
        </p:nvSpPr>
        <p:spPr>
          <a:xfrm>
            <a:off x="385763" y="2570163"/>
            <a:ext cx="8621713" cy="396081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marL="342900" marR="0" indent="-342900" algn="just" defTabSz="9144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用自身连接完成本查询要求</a:t>
            </a:r>
            <a:endParaRPr kumimoji="0" lang="en-US" altLang="zh-CN" sz="2800" kern="1200" cap="none" spc="0" normalizeH="0" baseline="0" noProof="1">
              <a:solidFill>
                <a:srgbClr val="0000CC"/>
              </a:solidFill>
              <a:effectLst>
                <a:outerShdw blurRad="38100" dist="38100" dir="2700000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defRPr/>
            </a:pPr>
            <a:endParaRPr kumimoji="0" lang="en-US" altLang="zh-CN" sz="2800" kern="1200" cap="none" spc="0" normalizeH="0" baseline="0" noProof="1">
              <a:solidFill>
                <a:srgbClr val="0000CC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defRPr/>
            </a:pP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SELECT  S2.Sno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S2.Sname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S2.Sdept</a:t>
            </a:r>
            <a:endParaRPr kumimoji="0" lang="en-US" altLang="zh-CN" sz="2800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FROM Student as S1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Student as S2</a:t>
            </a:r>
            <a:endParaRPr kumimoji="0" lang="en-US" altLang="zh-CN" sz="2800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WHERE S1.Sdept = S2.Sdept AND</a:t>
            </a:r>
            <a:endParaRPr kumimoji="0" lang="en-US" altLang="zh-CN" sz="2800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S1.Sname = '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刘晨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'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；</a:t>
            </a:r>
            <a:endParaRPr kumimoji="0" lang="en-US" altLang="zh-CN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6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1503" grpId="0" animBg="1"/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357188" y="1857375"/>
            <a:ext cx="8786813" cy="36433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6.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查询选修了1号课的学生姓名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Select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sname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From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  as S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Where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exists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Select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From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sc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         where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sno=S.sno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and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cno=’1’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);</a:t>
            </a: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363528" name="Text Box 8"/>
          <p:cNvSpPr txBox="1"/>
          <p:nvPr/>
        </p:nvSpPr>
        <p:spPr>
          <a:xfrm>
            <a:off x="1206500" y="5702300"/>
            <a:ext cx="7010400" cy="8318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使用存在量词后，若内层查询结果非空，则外层的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子句返回真值，否则返回假值。</a:t>
            </a:r>
          </a:p>
        </p:txBody>
      </p:sp>
      <p:sp>
        <p:nvSpPr>
          <p:cNvPr id="363529" name="Text Box 9"/>
          <p:cNvSpPr txBox="1"/>
          <p:nvPr/>
        </p:nvSpPr>
        <p:spPr>
          <a:xfrm>
            <a:off x="1376363" y="368300"/>
            <a:ext cx="7240588" cy="8318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子查询的查询条件依赖于外层父查询的某个属性值，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称其为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相关子查询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8" grpId="0" animBg="1"/>
      <p:bldP spid="3635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79375" y="1947863"/>
            <a:ext cx="8786813" cy="10620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6(2).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查询系平均工资超过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42000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美元的那些系名与教师平均工资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</a:t>
            </a: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363528" name="Text Box 8"/>
          <p:cNvSpPr txBox="1"/>
          <p:nvPr/>
        </p:nvSpPr>
        <p:spPr>
          <a:xfrm>
            <a:off x="277813" y="1323975"/>
            <a:ext cx="3035300" cy="4572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From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子句中的子查询</a:t>
            </a:r>
          </a:p>
        </p:txBody>
      </p:sp>
      <p:sp>
        <p:nvSpPr>
          <p:cNvPr id="413698" name="Rectangle 2"/>
          <p:cNvSpPr>
            <a:spLocks noGrp="1" noChangeArrowheads="1"/>
          </p:cNvSpPr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嵌套子查询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8663" y="3009900"/>
            <a:ext cx="7970838" cy="28384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Select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 dept_name, avg_salary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From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(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dept_name, Avg(salary) as avg_salary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From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instuctor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        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Group by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dept_name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             )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  <a:sym typeface="楷体_GB2312"/>
              </a:rPr>
              <a:t> avg_salary&gt;42000;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3528" grpId="0" bldLvl="0" animBg="1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3.3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语言查询机制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2636778" y="2213865"/>
            <a:ext cx="3643338" cy="271464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单表查询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连接查询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A6A6A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嵌套子查询</a:t>
            </a:r>
            <a:endParaRPr kumimoji="0" lang="zh-CN" altLang="en-US" sz="3200" kern="1200" cap="none" spc="0" normalizeH="0" baseline="0" noProof="1">
              <a:solidFill>
                <a:srgbClr val="A6A6A6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R="0" algn="ctr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0" lang="zh-CN" altLang="en-US" sz="3200" kern="1200" cap="none" spc="0" normalizeH="0" baseline="0" noProof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ea"/>
              </a:rPr>
              <a:t>集合查询</a:t>
            </a:r>
            <a:endParaRPr kumimoji="0" lang="zh-CN" altLang="en-US" sz="2800" kern="1200" cap="none" spc="0" normalizeH="0" baseline="0" noProof="1">
              <a:solidFill>
                <a:srgbClr val="FF0000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集合查询</a:t>
            </a: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UNION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交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INTERSECT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差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EXCEPT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参加集合操作的各结果表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列数必须相同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对应的数据类型也必须相同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，系统自动去掉重复行。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/>
          <p:nvPr/>
        </p:nvSpPr>
        <p:spPr>
          <a:xfrm>
            <a:off x="928688" y="1874838"/>
            <a:ext cx="7786688" cy="4554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17.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CS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系或年龄不大于19岁的学生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sdept=’CS’ 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UNION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From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sage&lt;=19);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pic>
        <p:nvPicPr>
          <p:cNvPr id="8294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88" y="53975"/>
            <a:ext cx="8394700" cy="1212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857250" y="1857375"/>
            <a:ext cx="7786688" cy="4554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18.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CS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系的年龄不大于19岁的学生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sdept=’CS’ 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INTERSECT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From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sage&lt;=19);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•"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pic>
        <p:nvPicPr>
          <p:cNvPr id="8397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88" y="53975"/>
            <a:ext cx="8394700" cy="1214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/>
          <p:nvPr/>
        </p:nvSpPr>
        <p:spPr>
          <a:xfrm>
            <a:off x="857250" y="1857375"/>
            <a:ext cx="7786688" cy="4554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19.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CS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系中年龄不小于19岁的学生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sdept=’CS’)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EXCEPT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*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From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student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Where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sage&lt;19);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</p:txBody>
      </p:sp>
      <p:pic>
        <p:nvPicPr>
          <p:cNvPr id="8499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88" y="53975"/>
            <a:ext cx="8394700" cy="1212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87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charRg st="187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charRg st="187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charRg st="187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视图定义机制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889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定义视图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CREATE  VIEW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视图名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 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                      [(&lt;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 [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，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&gt;]…)]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AS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子查询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&gt;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           [WITH  CHECK  OPTION]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；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说明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组成视图的属性列名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或全部省略或全部指定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子查询：合法的查询表达式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WITH CHECK OPTION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透过视图进行增删改操作时，不得破坏视图定义中的谓词条件（即子查询中的条件表达式）</a:t>
            </a:r>
          </a:p>
        </p:txBody>
      </p:sp>
      <p:sp>
        <p:nvSpPr>
          <p:cNvPr id="419844" name="Text Box 4"/>
          <p:cNvSpPr txBox="1"/>
          <p:nvPr/>
        </p:nvSpPr>
        <p:spPr>
          <a:xfrm>
            <a:off x="1557338" y="4059238"/>
            <a:ext cx="6030913" cy="22923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建立计算机系学生的视图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CREATE VIEW CS_Student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AS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SELECT Sno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Sname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Sage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FROM 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 WHERE  Sdept= ‘CS'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28905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</a:p>
        </p:txBody>
      </p:sp>
      <p:sp>
        <p:nvSpPr>
          <p:cNvPr id="375824" name="Rectangle 16"/>
          <p:cNvSpPr>
            <a:spLocks noGrp="1"/>
          </p:cNvSpPr>
          <p:nvPr>
            <p:ph idx="1"/>
          </p:nvPr>
        </p:nvSpPr>
        <p:spPr>
          <a:xfrm>
            <a:off x="431800" y="1403350"/>
            <a:ext cx="82296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插入单个数据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插入子查询结果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修改某一个元组的值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修改多个元组的值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带子查询的修改语句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删除某一个元组的值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删除多个元组的值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带子查询的删除语句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5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5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5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5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58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58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5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58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58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58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5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58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58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58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58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58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58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58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58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58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23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DBMS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在执行插入、修改及删除语句时会检查所插入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|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|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删除的元组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是否破坏表上已定义的完整性规则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实体完整性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参照完整性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用户定义的完整性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……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2638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插入单个数据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INSERT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INTO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 [(&lt;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属性列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1&gt;[,&lt;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属性列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 &gt;…)]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VALUES (&lt;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常量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 [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常量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2&gt;]…)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21892" name="Text Box 4"/>
          <p:cNvSpPr txBox="1"/>
          <p:nvPr/>
        </p:nvSpPr>
        <p:spPr>
          <a:xfrm>
            <a:off x="792163" y="4373563"/>
            <a:ext cx="7966075" cy="1616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将一个新学生记录（学号：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95020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；姓名：陈冬；性别：男；所在系：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IS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；年龄：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18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岁）插入到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表中。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INSERT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INTO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      VALUES ('95020'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'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陈冬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'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'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男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'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，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18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 ，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'IS')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4"/>
          <p:cNvSpPr/>
          <p:nvPr/>
        </p:nvSpPr>
        <p:spPr>
          <a:xfrm>
            <a:off x="381000" y="1600200"/>
            <a:ext cx="8229600" cy="24145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插入子查询结果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INSERT INTO &lt;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[(&lt;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属性列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1&gt; [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属性列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2&gt;…  )]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子查询；</a:t>
            </a:r>
          </a:p>
        </p:txBody>
      </p:sp>
      <p:pic>
        <p:nvPicPr>
          <p:cNvPr id="9216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7938"/>
            <a:ext cx="8437562" cy="126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4" name="Text Box 4"/>
          <p:cNvSpPr txBox="1"/>
          <p:nvPr/>
        </p:nvSpPr>
        <p:spPr>
          <a:xfrm>
            <a:off x="657225" y="1223963"/>
            <a:ext cx="78438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对每一个系，求学生的平均年龄，并把结果存入数据库。</a:t>
            </a:r>
          </a:p>
        </p:txBody>
      </p:sp>
      <p:sp>
        <p:nvSpPr>
          <p:cNvPr id="424965" name="Text Box 5"/>
          <p:cNvSpPr txBox="1"/>
          <p:nvPr/>
        </p:nvSpPr>
        <p:spPr>
          <a:xfrm>
            <a:off x="701675" y="1981200"/>
            <a:ext cx="6662738" cy="1570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第一步：建表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CREATE  TABLE  Deptage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(Sdept  CHAR(15)           /*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系名*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Avgage SMALLINT)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/*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学生平均年龄*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/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424966" name="Rectangle 6"/>
          <p:cNvSpPr/>
          <p:nvPr/>
        </p:nvSpPr>
        <p:spPr>
          <a:xfrm>
            <a:off x="746125" y="3789363"/>
            <a:ext cx="6507163" cy="2770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第二步：插入数据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INSERT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INTO  Deptage(Sdept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Avgage)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SELECT  Sdept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AVG(Sage)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FROM  Student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     GROUP BY Sdept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  <p:pic>
        <p:nvPicPr>
          <p:cNvPr id="9318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-36512"/>
            <a:ext cx="8437562" cy="126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4" grpId="0"/>
      <p:bldP spid="424965" grpId="0"/>
      <p:bldP spid="42496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07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修改数据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UPDATE 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SET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&gt;=&lt;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表达式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&gt;[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&gt;=&lt;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表达式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&gt;]…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[WHERE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条件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&gt;]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修改指定表中满足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子句条件的元组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SET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指定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要修改的列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修改后取值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8" name="Text Box 4"/>
          <p:cNvSpPr txBox="1"/>
          <p:nvPr/>
        </p:nvSpPr>
        <p:spPr>
          <a:xfrm>
            <a:off x="1376363" y="1830388"/>
            <a:ext cx="4446588" cy="1570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将学生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95001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的年龄改为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22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岁。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UPDATE 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SET Sage=22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WHERE  Sno=' 95001 '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  <p:sp>
        <p:nvSpPr>
          <p:cNvPr id="425989" name="Text Box 5"/>
          <p:cNvSpPr txBox="1"/>
          <p:nvPr/>
        </p:nvSpPr>
        <p:spPr>
          <a:xfrm>
            <a:off x="1422400" y="3676650"/>
            <a:ext cx="6119813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将信息系所有学生的年龄增加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岁。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UPDATE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SET Sage= Sage+1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 WHERE Sdept=' IS '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  <p:pic>
        <p:nvPicPr>
          <p:cNvPr id="9523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7938"/>
            <a:ext cx="8437563" cy="126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83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删除数据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DELETE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FROM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表名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[WHERE &lt;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条件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&gt;]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功能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删除指定表中满足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子句条件的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元组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子句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指定要删除的元组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缺省表示要删除表中的所有元组</a:t>
            </a:r>
          </a:p>
        </p:txBody>
      </p:sp>
      <p:sp>
        <p:nvSpPr>
          <p:cNvPr id="427012" name="Text Box 4"/>
          <p:cNvSpPr txBox="1"/>
          <p:nvPr/>
        </p:nvSpPr>
        <p:spPr>
          <a:xfrm>
            <a:off x="1646238" y="4059238"/>
            <a:ext cx="6210300" cy="1562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删除学号为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95019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的学生记录。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DELETE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FROM Student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        WHERE Sno='95019'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3.4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语言数据更新机制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pic>
        <p:nvPicPr>
          <p:cNvPr id="6" name="图片 5" descr="779917_08055204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286000"/>
            <a:ext cx="1928813" cy="2357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云形标注 2"/>
          <p:cNvSpPr/>
          <p:nvPr/>
        </p:nvSpPr>
        <p:spPr>
          <a:xfrm>
            <a:off x="3401863" y="1718807"/>
            <a:ext cx="4680520" cy="3645405"/>
          </a:xfrm>
          <a:prstGeom prst="cloudCallout">
            <a:avLst>
              <a:gd name="adj1" fmla="val -86147"/>
              <a:gd name="adj2" fmla="val 16740"/>
            </a:avLst>
          </a:prstGeom>
          <a:solidFill>
            <a:srgbClr val="FFFF00"/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Drop table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r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与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Delete from r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有何区别？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101725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事务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70691" name="Rectangle 3"/>
          <p:cNvSpPr>
            <a:spLocks noGrp="1"/>
          </p:cNvSpPr>
          <p:nvPr>
            <p:ph idx="1"/>
          </p:nvPr>
        </p:nvSpPr>
        <p:spPr>
          <a:xfrm>
            <a:off x="174625" y="1155700"/>
            <a:ext cx="879475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事务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(transaction)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由查询和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更新语句的序列组成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Commit: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提交当前事务，也就是将该事务所做的更新在数据库中持久保存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Rollback: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回滚当前事务，即撤销该事务中所有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语句对数据库的更新。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数据库恢复到执行该事务第一条语句之前的状态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一个事务或者在完成所有步骤后提交其行为，或者在不能成功完成其所有动作的情况下回滚其所有动作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事务的原子性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事务的定义：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begin atomic ... end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556250" y="6053138"/>
            <a:ext cx="1933575" cy="630237"/>
            <a:chOff x="9479" y="9602"/>
            <a:chExt cx="3047" cy="993"/>
          </a:xfrm>
        </p:grpSpPr>
        <p:sp>
          <p:nvSpPr>
            <p:cNvPr id="2" name="圆角矩形标注 1"/>
            <p:cNvSpPr/>
            <p:nvPr/>
          </p:nvSpPr>
          <p:spPr>
            <a:xfrm>
              <a:off x="9479" y="9602"/>
              <a:ext cx="3047" cy="993"/>
            </a:xfrm>
            <a:prstGeom prst="wedgeRoundRectCallout">
              <a:avLst>
                <a:gd name="adj1" fmla="val -88201"/>
                <a:gd name="adj2" fmla="val -82527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333" name="文本框 2"/>
            <p:cNvSpPr txBox="1"/>
            <p:nvPr/>
          </p:nvSpPr>
          <p:spPr>
            <a:xfrm>
              <a:off x="9885" y="9742"/>
              <a:ext cx="1888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SQL</a:t>
              </a:r>
              <a:r>
                <a:rPr lang="zh-CN" altLang="en-US" dirty="0">
                  <a:latin typeface="Arial" panose="020B0604020202020204" pitchFamily="34" charset="0"/>
                </a:rPr>
                <a:t>语句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20015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触发器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70691" name="Rectangle 3"/>
          <p:cNvSpPr>
            <a:spLocks noGrp="1"/>
          </p:cNvSpPr>
          <p:nvPr>
            <p:ph idx="1"/>
          </p:nvPr>
        </p:nvSpPr>
        <p:spPr>
          <a:xfrm>
            <a:off x="431800" y="1344613"/>
            <a:ext cx="851217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触发器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(trigger)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是一条语句，当对数据修改时它自动被执行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设置触发器机制，必须满足两个要求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指明什么条件下执行触发器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指明触发器的动作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一旦把一个触发器输入数据库，只要指定的事件发生，相应条件满足，数据库系统就有责任执行它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3175" y="53975"/>
            <a:ext cx="9147175" cy="1304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 txBox="1"/>
          <p:nvPr/>
        </p:nvSpPr>
        <p:spPr>
          <a:xfrm>
            <a:off x="296863" y="2097088"/>
            <a:ext cx="8572500" cy="30718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使用触发器表示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SC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表参照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Course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表的完整性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create trigger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check1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after insert on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SC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</a:t>
            </a: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referencing new row as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nrow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for each row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when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nrow.cno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not in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cno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course) )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begin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rollback;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end</a:t>
            </a:r>
          </a:p>
        </p:txBody>
      </p:sp>
      <p:sp>
        <p:nvSpPr>
          <p:cNvPr id="72726" name="Rectangle 24"/>
          <p:cNvSpPr/>
          <p:nvPr/>
        </p:nvSpPr>
        <p:spPr>
          <a:xfrm>
            <a:off x="311150" y="247650"/>
            <a:ext cx="854075" cy="39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Course</a:t>
            </a:r>
          </a:p>
        </p:txBody>
      </p:sp>
      <p:graphicFrame>
        <p:nvGraphicFramePr>
          <p:cNvPr id="72727" name="表格 72726"/>
          <p:cNvGraphicFramePr/>
          <p:nvPr/>
        </p:nvGraphicFramePr>
        <p:xfrm>
          <a:off x="696913" y="652463"/>
          <a:ext cx="3509963" cy="1214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课程名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Cname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先行课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Cpno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学分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Ccredit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1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数据库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数学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5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endParaRPr lang="en-US" altLang="zh-CN" sz="1600" b="1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楷体_GB231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4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742" name="Rectangle 21"/>
          <p:cNvSpPr/>
          <p:nvPr/>
        </p:nvSpPr>
        <p:spPr>
          <a:xfrm>
            <a:off x="4748213" y="742950"/>
            <a:ext cx="585788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Monotype Sorts"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SC</a:t>
            </a:r>
          </a:p>
        </p:txBody>
      </p:sp>
      <p:graphicFrame>
        <p:nvGraphicFramePr>
          <p:cNvPr id="72743" name="表格 72742"/>
          <p:cNvGraphicFramePr/>
          <p:nvPr/>
        </p:nvGraphicFramePr>
        <p:xfrm>
          <a:off x="5287963" y="608013"/>
          <a:ext cx="3375025" cy="1222375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学 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Sno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课程号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</a:t>
                      </a: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Cno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zh-CN" altLang="en-US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成绩</a:t>
                      </a:r>
                    </a:p>
                    <a:p>
                      <a:pPr lvl="0" algn="ctr" eaLnBrk="1" hangingPunct="1"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Grade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 200215121   </a:t>
                      </a:r>
                    </a:p>
                  </a:txBody>
                  <a:tcPr marT="45732" marB="45732"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1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 2  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92</a:t>
                      </a: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None/>
                      </a:pPr>
                      <a:r>
                        <a:rPr lang="en-US" altLang="zh-CN" sz="1600" b="1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楷体_GB2312"/>
                        </a:rPr>
                        <a:t> 85</a:t>
                      </a: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/>
          <p:nvPr/>
        </p:nvSpPr>
        <p:spPr>
          <a:xfrm>
            <a:off x="285750" y="1296988"/>
            <a:ext cx="8572500" cy="30718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例1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续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.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使用触发器表示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SC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表参照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Course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表的完整性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create trigger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check2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after delete on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Course</a:t>
            </a:r>
            <a:endParaRPr kumimoji="0" lang="en-US" altLang="zh-CN" sz="2800" b="0" i="1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楷体_GB231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referencing old row as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orow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for each row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when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(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orow.cno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not in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cno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Course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)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  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and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orow.cno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in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(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select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cno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from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SC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))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begin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    rollback;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楷体_GB2312"/>
              </a:rPr>
              <a:t>             end</a:t>
            </a:r>
          </a:p>
        </p:txBody>
      </p:sp>
      <p:sp>
        <p:nvSpPr>
          <p:cNvPr id="370690" name="Rectangle 2"/>
          <p:cNvSpPr>
            <a:spLocks noGrp="1" noChangeArrowheads="1"/>
          </p:cNvSpPr>
          <p:nvPr/>
        </p:nvSpPr>
        <p:spPr>
          <a:xfrm>
            <a:off x="998538" y="-7937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  <a:cs typeface="楷体_GB2312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触发器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3" name="Rectangle 3"/>
          <p:cNvSpPr>
            <a:spLocks noGrp="1"/>
          </p:cNvSpPr>
          <p:nvPr>
            <p:ph idx="1"/>
          </p:nvPr>
        </p:nvSpPr>
        <p:spPr>
          <a:xfrm>
            <a:off x="28575" y="101600"/>
            <a:ext cx="9153525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仓库库存数据库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inventory(item,level):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表示物品在仓库中的当前库存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minlevel(item,level):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表示物品应该保持的最小库存量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reorder(item, amount):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表示当物品小于最小库存量的时候要订购的数量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orders(item, amount):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表示物品被订购的数量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0" y="2705100"/>
            <a:ext cx="5981700" cy="4168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33350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225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3.2 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语言数据定义机制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语法格式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GRANT &lt;privilege list&gt;  ON  &lt;object&gt;  TO  &lt;user ID list&gt;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[WITH  GRANT OPTION]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权限列表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(privilege list)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授权读取数据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(select)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授权插入新数据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(insert)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授权更新数据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(update)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授权删除数据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(delete)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最大的授权形式是被授予数据库管理员，数据库管理员可以授权新用户、重构数据库等。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Public 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指系统的所有当前用户和将来用户</a:t>
            </a:r>
            <a:endParaRPr kumimoji="0" lang="en-US" altLang="zh-CN" sz="20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默认情况下，被授权用户无权把此权限授予其他用户或角色，除非加入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with grant option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语句</a:t>
            </a:r>
          </a:p>
        </p:txBody>
      </p:sp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4886325" y="3654425"/>
            <a:ext cx="4006850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GRANT select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ON  R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TO  Alice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Mary</a:t>
            </a:r>
          </a:p>
          <a:p>
            <a:pPr marR="0" defTabSz="914400">
              <a:buClrTx/>
              <a:buSzTx/>
              <a:buFontTx/>
              <a:defRPr/>
            </a:pPr>
            <a:endParaRPr kumimoji="0" lang="zh-CN" altLang="en-US" b="1" kern="1200" cap="none" spc="0" normalizeH="0" baseline="0" noProof="0" dirty="0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权限收回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语法格式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REVOKE &lt;privilege list&gt;  ON  &lt;object&gt;  FROM  &lt;user ID list&gt;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[Restrict/Cascade]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功能</a:t>
            </a:r>
          </a:p>
          <a:p>
            <a:pPr marL="1143000" marR="0" lvl="2" indent="-2286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撤销用户在数据库上的操作权限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Restrict/Cascade</a:t>
            </a:r>
          </a:p>
          <a:p>
            <a:pPr marL="1257300" marR="0" lvl="2" indent="-3429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Restrict: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防止级联收回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Cascade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：支持级联收回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默认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 algn="just" defTabSz="914400" rtl="0" eaLnBrk="0" fontAlgn="b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例如，</a:t>
            </a:r>
          </a:p>
        </p:txBody>
      </p:sp>
      <p:sp>
        <p:nvSpPr>
          <p:cNvPr id="351237" name="Text Box 5"/>
          <p:cNvSpPr txBox="1">
            <a:spLocks noChangeArrowheads="1"/>
          </p:cNvSpPr>
          <p:nvPr/>
        </p:nvSpPr>
        <p:spPr bwMode="auto">
          <a:xfrm>
            <a:off x="2006600" y="5634038"/>
            <a:ext cx="3511550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REVOKE select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ON  R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FROM  Alice</a:t>
            </a:r>
          </a:p>
          <a:p>
            <a:pPr marR="0" defTabSz="914400">
              <a:buClrTx/>
              <a:buSzTx/>
              <a:buFontTx/>
              <a:defRPr/>
            </a:pPr>
            <a:endParaRPr kumimoji="0" lang="zh-CN" altLang="en-US" b="1" kern="1200" cap="none" spc="0" normalizeH="0" baseline="0" noProof="0" dirty="0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854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7938"/>
            <a:ext cx="8437562" cy="1268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7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20015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查询语言概览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数据定义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数据库的修改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事务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触发器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数据库授权机制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嵌入式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</a:t>
            </a:r>
          </a:p>
        </p:txBody>
      </p:sp>
      <p:sp>
        <p:nvSpPr>
          <p:cNvPr id="368643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1217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可以在程序设计语言中使用的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这种程序设计语言称为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宿主语言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语句的宿主语言源程序的编译执行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预编译阶段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编译阶段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连接装配阶段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执行阶段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1" name="组合 24"/>
          <p:cNvGrpSpPr/>
          <p:nvPr/>
        </p:nvGrpSpPr>
        <p:grpSpPr>
          <a:xfrm>
            <a:off x="1328738" y="1546225"/>
            <a:ext cx="6600825" cy="5286375"/>
            <a:chOff x="757198" y="1546952"/>
            <a:chExt cx="6600884" cy="5285033"/>
          </a:xfrm>
        </p:grpSpPr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29051" y="3276888"/>
              <a:ext cx="0" cy="609445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3962389" y="4343417"/>
              <a:ext cx="0" cy="609445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3962389" y="5409946"/>
              <a:ext cx="0" cy="685626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12645" name="Group 4"/>
            <p:cNvGrpSpPr/>
            <p:nvPr/>
          </p:nvGrpSpPr>
          <p:grpSpPr>
            <a:xfrm>
              <a:off x="2975499" y="2578604"/>
              <a:ext cx="2106083" cy="956497"/>
              <a:chOff x="2598" y="2050"/>
              <a:chExt cx="1130" cy="436"/>
            </a:xfrm>
          </p:grpSpPr>
          <p:sp>
            <p:nvSpPr>
              <p:cNvPr id="3" name="Rectangle 5"/>
              <p:cNvSpPr>
                <a:spLocks noChangeArrowheads="1"/>
              </p:cNvSpPr>
              <p:nvPr/>
            </p:nvSpPr>
            <p:spPr bwMode="auto">
              <a:xfrm>
                <a:off x="2688" y="2112"/>
                <a:ext cx="86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03459" name="Text Box 6"/>
              <p:cNvSpPr txBox="1"/>
              <p:nvPr/>
            </p:nvSpPr>
            <p:spPr>
              <a:xfrm>
                <a:off x="2768" y="2112"/>
                <a:ext cx="960" cy="2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2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</a:rPr>
                  <a:t>预编译</a:t>
                </a:r>
              </a:p>
            </p:txBody>
          </p:sp>
        </p:grpSp>
        <p:sp>
          <p:nvSpPr>
            <p:cNvPr id="5" name="Line 7"/>
            <p:cNvSpPr>
              <a:spLocks noChangeShapeType="1"/>
            </p:cNvSpPr>
            <p:nvPr/>
          </p:nvSpPr>
          <p:spPr bwMode="auto">
            <a:xfrm>
              <a:off x="3886188" y="1858023"/>
              <a:ext cx="0" cy="837987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3433" name="Text Box 8"/>
            <p:cNvSpPr txBox="1"/>
            <p:nvPr/>
          </p:nvSpPr>
          <p:spPr>
            <a:xfrm>
              <a:off x="2571726" y="1546952"/>
              <a:ext cx="2895626" cy="81100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包含</a:t>
              </a:r>
              <a:r>
                <a:rPr kumimoji="0" lang="en-US" altLang="zh-CN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SQL</a:t>
              </a: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语句的宿主语言源程序</a:t>
              </a:r>
            </a:p>
          </p:txBody>
        </p:sp>
        <p:grpSp>
          <p:nvGrpSpPr>
            <p:cNvPr id="112650" name="Group 9"/>
            <p:cNvGrpSpPr/>
            <p:nvPr/>
          </p:nvGrpSpPr>
          <p:grpSpPr>
            <a:xfrm>
              <a:off x="3049615" y="3748581"/>
              <a:ext cx="2093889" cy="870953"/>
              <a:chOff x="2599" y="2039"/>
              <a:chExt cx="1129" cy="462"/>
            </a:xfrm>
          </p:grpSpPr>
          <p:sp>
            <p:nvSpPr>
              <p:cNvPr id="8" name="Rectangle 10"/>
              <p:cNvSpPr>
                <a:spLocks noChangeArrowheads="1"/>
              </p:cNvSpPr>
              <p:nvPr/>
            </p:nvSpPr>
            <p:spPr bwMode="auto">
              <a:xfrm>
                <a:off x="2688" y="2112"/>
                <a:ext cx="86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03455" name="Text Box 11"/>
              <p:cNvSpPr txBox="1"/>
              <p:nvPr/>
            </p:nvSpPr>
            <p:spPr>
              <a:xfrm>
                <a:off x="2768" y="2112"/>
                <a:ext cx="960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1">
                    <a:ln>
                      <a:noFill/>
                    </a:ln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</a:rPr>
                  <a:t> </a:t>
                </a:r>
                <a:r>
                  <a:rPr kumimoji="0" lang="zh-CN" altLang="en-US" sz="2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</a:rPr>
                  <a:t>编译</a:t>
                </a:r>
              </a:p>
            </p:txBody>
          </p:sp>
        </p:grpSp>
        <p:grpSp>
          <p:nvGrpSpPr>
            <p:cNvPr id="112653" name="Group 12"/>
            <p:cNvGrpSpPr/>
            <p:nvPr/>
          </p:nvGrpSpPr>
          <p:grpSpPr>
            <a:xfrm>
              <a:off x="3122916" y="5960974"/>
              <a:ext cx="1877712" cy="871011"/>
              <a:chOff x="2589" y="2041"/>
              <a:chExt cx="1139" cy="458"/>
            </a:xfrm>
          </p:grpSpPr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2688" y="2112"/>
                <a:ext cx="86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03451" name="Text Box 14"/>
              <p:cNvSpPr txBox="1"/>
              <p:nvPr/>
            </p:nvSpPr>
            <p:spPr>
              <a:xfrm>
                <a:off x="2768" y="2112"/>
                <a:ext cx="960" cy="2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1">
                    <a:ln>
                      <a:noFill/>
                    </a:ln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</a:rPr>
                  <a:t>  </a:t>
                </a:r>
                <a:r>
                  <a:rPr kumimoji="0" lang="zh-CN" altLang="en-US" sz="2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</a:rPr>
                  <a:t>执行</a:t>
                </a:r>
              </a:p>
            </p:txBody>
          </p:sp>
        </p:grp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3143240" y="4929198"/>
              <a:ext cx="1714512" cy="61914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3143240" y="4929198"/>
              <a:ext cx="1857388" cy="544252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just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2800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连接分配</a:t>
              </a:r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2362174" y="4571959"/>
              <a:ext cx="1143010" cy="0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3505185" y="4571959"/>
              <a:ext cx="0" cy="380903"/>
            </a:xfrm>
            <a:prstGeom prst="line">
              <a:avLst/>
            </a:prstGeom>
            <a:noFill/>
            <a:ln w="38100">
              <a:solidFill>
                <a:schemeClr val="bg2">
                  <a:lumMod val="50000"/>
                  <a:lumOff val="50000"/>
                </a:schemeClr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3444" name="Text Box 24"/>
            <p:cNvSpPr txBox="1"/>
            <p:nvPr/>
          </p:nvSpPr>
          <p:spPr>
            <a:xfrm>
              <a:off x="4000489" y="3300695"/>
              <a:ext cx="3357593" cy="5126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包含</a:t>
              </a:r>
              <a:r>
                <a:rPr kumimoji="0" lang="en-US" altLang="zh-CN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SQL</a:t>
              </a: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函数调用</a:t>
              </a:r>
            </a:p>
          </p:txBody>
        </p:sp>
        <p:sp>
          <p:nvSpPr>
            <p:cNvPr id="103445" name="Text Box 25"/>
            <p:cNvSpPr txBox="1"/>
            <p:nvPr/>
          </p:nvSpPr>
          <p:spPr>
            <a:xfrm>
              <a:off x="757198" y="4286281"/>
              <a:ext cx="2171719" cy="51263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r" defTabSz="914400" rtl="0" eaLnBrk="1" fontAlgn="base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en-US" altLang="zh-CN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SQL</a:t>
              </a: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函数库</a:t>
              </a:r>
            </a:p>
          </p:txBody>
        </p:sp>
        <p:sp>
          <p:nvSpPr>
            <p:cNvPr id="103446" name="Text Box 26"/>
            <p:cNvSpPr txBox="1"/>
            <p:nvPr/>
          </p:nvSpPr>
          <p:spPr>
            <a:xfrm>
              <a:off x="4000489" y="4414837"/>
              <a:ext cx="1857392" cy="5110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目标程序</a:t>
              </a:r>
            </a:p>
          </p:txBody>
        </p:sp>
        <p:sp>
          <p:nvSpPr>
            <p:cNvPr id="103447" name="Text Box 27"/>
            <p:cNvSpPr txBox="1"/>
            <p:nvPr/>
          </p:nvSpPr>
          <p:spPr>
            <a:xfrm>
              <a:off x="4000489" y="5500411"/>
              <a:ext cx="2895626" cy="5126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1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rPr>
                <a:t>可执行程序</a:t>
              </a:r>
            </a:p>
          </p:txBody>
        </p:sp>
      </p:grpSp>
      <p:pic>
        <p:nvPicPr>
          <p:cNvPr id="11266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3" y="7938"/>
            <a:ext cx="8437562" cy="1257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嵌入式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SQL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语言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70691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1217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宿主语言与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语言之间的数据传输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宿主变量: 嵌入式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可以引用的语言变量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游标:  存储查询结果集合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每个查询语句对应于一个游标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定义游标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一个游标与一个查询语句关联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打开游标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执行与游标相关联的查询语句,查询结果集合被存储到游标的数据区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从游标读查询结果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每次读一个元组, 游标指针自动指向下一个结果元组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关闭游标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停止使用游标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小结</a:t>
            </a:r>
          </a:p>
        </p:txBody>
      </p:sp>
      <p:sp>
        <p:nvSpPr>
          <p:cNvPr id="378883" name="Rectangle 3"/>
          <p:cNvSpPr>
            <a:spLocks noGrp="1"/>
          </p:cNvSpPr>
          <p:nvPr>
            <p:ph idx="1"/>
          </p:nvPr>
        </p:nvSpPr>
        <p:spPr>
          <a:xfrm>
            <a:off x="438150" y="1223963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数据定义；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数据查询；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数据修改；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完整性约束；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视图；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授权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；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嵌入式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本章重点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熟练使用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进行数据定义、数据查询、数据修改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99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掌握完整性约束、视图操作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98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16742" name="Object 4"/>
          <p:cNvGraphicFramePr/>
          <p:nvPr/>
        </p:nvGraphicFramePr>
        <p:xfrm>
          <a:off x="792163" y="2312988"/>
          <a:ext cx="2808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4" imgW="7833360" imgH="7839075" progId="">
                  <p:embed/>
                </p:oleObj>
              </mc:Choice>
              <mc:Fallback>
                <p:oleObj r:id="rId4" imgW="7833360" imgH="783907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163" y="2312988"/>
                        <a:ext cx="2808287" cy="273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6743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838" y="1916113"/>
            <a:ext cx="5003800" cy="3182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851275" y="2924175"/>
            <a:ext cx="3425825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en-US" altLang="zh-CN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Next Chapter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3a41af1-d646-42ee-b835-bfb098740e89}"/>
</p:tagLst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7556</Words>
  <Application>Microsoft Office PowerPoint</Application>
  <PresentationFormat>全屏显示(4:3)</PresentationFormat>
  <Paragraphs>2007</Paragraphs>
  <Slides>98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98</vt:i4>
      </vt:variant>
    </vt:vector>
  </HeadingPairs>
  <TitlesOfParts>
    <vt:vector size="109" baseType="lpstr">
      <vt:lpstr>Monotype Sorts</vt:lpstr>
      <vt:lpstr>华文仿宋</vt:lpstr>
      <vt:lpstr>华文新魏</vt:lpstr>
      <vt:lpstr>华文行楷</vt:lpstr>
      <vt:lpstr>楷体_GB2312</vt:lpstr>
      <vt:lpstr>宋体</vt:lpstr>
      <vt:lpstr>Arial</vt:lpstr>
      <vt:lpstr>Comic Sans MS</vt:lpstr>
      <vt:lpstr>Times New Roman</vt:lpstr>
      <vt:lpstr>Wingdings</vt:lpstr>
      <vt:lpstr>Autumn2003-4</vt:lpstr>
      <vt:lpstr>基础篇 第三章 结构化查询语言SQL</vt:lpstr>
      <vt:lpstr>目录</vt:lpstr>
      <vt:lpstr>目录</vt:lpstr>
      <vt:lpstr>3.1 SQL查询语言概览</vt:lpstr>
      <vt:lpstr>3.1 SQL查询语言概览</vt:lpstr>
      <vt:lpstr>3.1 SQL查询语言概览</vt:lpstr>
      <vt:lpstr>3.1 SQL查询语言概览</vt:lpstr>
      <vt:lpstr>3.1 SQL查询语言概览</vt:lpstr>
      <vt:lpstr>3.1 SQL查询语言概览</vt:lpstr>
      <vt:lpstr>目录</vt:lpstr>
      <vt:lpstr>3.2 SQL语言数据定义机制</vt:lpstr>
      <vt:lpstr>3.2 SQL语言数据定义机制</vt:lpstr>
      <vt:lpstr>PowerPoint 演示文稿</vt:lpstr>
      <vt:lpstr>3.2 SQL语言数据定义机制</vt:lpstr>
      <vt:lpstr>3.2 SQL语言数据定义机制</vt:lpstr>
      <vt:lpstr>3.2 SQL语言数据定义机制</vt:lpstr>
      <vt:lpstr>PowerPoint 演示文稿</vt:lpstr>
      <vt:lpstr>PowerPoint 演示文稿</vt:lpstr>
      <vt:lpstr>3.2 SQL语言数据定义机制</vt:lpstr>
      <vt:lpstr>3.2 SQL语言数据定义机制</vt:lpstr>
      <vt:lpstr>SQL语言视图定义机制</vt:lpstr>
      <vt:lpstr>PowerPoint 演示文稿</vt:lpstr>
      <vt:lpstr>SQL语言视图定义机制</vt:lpstr>
      <vt:lpstr>目录</vt:lpstr>
      <vt:lpstr>3.3 SQL语言查询机制</vt:lpstr>
      <vt:lpstr>3.3 SQL语言查询机制</vt:lpstr>
      <vt:lpstr>PowerPoint 演示文稿</vt:lpstr>
      <vt:lpstr>3.3 SQL语言查询机制</vt:lpstr>
      <vt:lpstr>3.3.1 单表查询</vt:lpstr>
      <vt:lpstr>3.3.1 单表查询</vt:lpstr>
      <vt:lpstr>单表查询-选择表中的若干列</vt:lpstr>
      <vt:lpstr>PowerPoint 演示文稿</vt:lpstr>
      <vt:lpstr>单表查询-选择表中的若干列</vt:lpstr>
      <vt:lpstr>PowerPoint 演示文稿</vt:lpstr>
      <vt:lpstr>PowerPoint 演示文稿</vt:lpstr>
      <vt:lpstr>PowerPoint 演示文稿</vt:lpstr>
      <vt:lpstr>单表查询-选择表中若干元组</vt:lpstr>
      <vt:lpstr>单表查询-选择表中若干元组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单表查询--对查询结果排序</vt:lpstr>
      <vt:lpstr>PowerPoint 演示文稿</vt:lpstr>
      <vt:lpstr>单表查询—聚集函数</vt:lpstr>
      <vt:lpstr>PowerPoint 演示文稿</vt:lpstr>
      <vt:lpstr>单表查询—对查询结果分组</vt:lpstr>
      <vt:lpstr>PowerPoint 演示文稿</vt:lpstr>
      <vt:lpstr>PowerPoint 演示文稿</vt:lpstr>
      <vt:lpstr>PowerPoint 演示文稿</vt:lpstr>
      <vt:lpstr>PowerPoint 演示文稿</vt:lpstr>
      <vt:lpstr>单表查询—对查询结果分组</vt:lpstr>
      <vt:lpstr>单表查询—对查询结果分组</vt:lpstr>
      <vt:lpstr>PowerPoint 演示文稿</vt:lpstr>
      <vt:lpstr>3.3 SQL语言查询机制</vt:lpstr>
      <vt:lpstr>连接查询</vt:lpstr>
      <vt:lpstr>PowerPoint 演示文稿</vt:lpstr>
      <vt:lpstr>PowerPoint 演示文稿</vt:lpstr>
      <vt:lpstr>3.3 SQL语言查询机制</vt:lpstr>
      <vt:lpstr>嵌套子查询</vt:lpstr>
      <vt:lpstr>嵌套子查询</vt:lpstr>
      <vt:lpstr>嵌套子查询</vt:lpstr>
      <vt:lpstr>PowerPoint 演示文稿</vt:lpstr>
      <vt:lpstr>PowerPoint 演示文稿</vt:lpstr>
      <vt:lpstr>PowerPoint 演示文稿</vt:lpstr>
      <vt:lpstr>3.3 SQL语言查询机制</vt:lpstr>
      <vt:lpstr>集合查询</vt:lpstr>
      <vt:lpstr>PowerPoint 演示文稿</vt:lpstr>
      <vt:lpstr>PowerPoint 演示文稿</vt:lpstr>
      <vt:lpstr>PowerPoint 演示文稿</vt:lpstr>
      <vt:lpstr>视图定义机制</vt:lpstr>
      <vt:lpstr>目录</vt:lpstr>
      <vt:lpstr>3.4 SQL语言数据更新机制</vt:lpstr>
      <vt:lpstr>3.4 SQL语言数据更新机制</vt:lpstr>
      <vt:lpstr>3.4 SQL语言数据更新机制</vt:lpstr>
      <vt:lpstr>PowerPoint 演示文稿</vt:lpstr>
      <vt:lpstr>PowerPoint 演示文稿</vt:lpstr>
      <vt:lpstr>3.4 SQL语言数据更新机制</vt:lpstr>
      <vt:lpstr>PowerPoint 演示文稿</vt:lpstr>
      <vt:lpstr>3.4 SQL语言数据更新机制</vt:lpstr>
      <vt:lpstr>3.4 SQL语言数据更新机制</vt:lpstr>
      <vt:lpstr>目录</vt:lpstr>
      <vt:lpstr>事务</vt:lpstr>
      <vt:lpstr>目录</vt:lpstr>
      <vt:lpstr>触发器</vt:lpstr>
      <vt:lpstr>PowerPoint 演示文稿</vt:lpstr>
      <vt:lpstr>PowerPoint 演示文稿</vt:lpstr>
      <vt:lpstr>PowerPoint 演示文稿</vt:lpstr>
      <vt:lpstr>目录</vt:lpstr>
      <vt:lpstr>3.2 SQL语言数据定义机制</vt:lpstr>
      <vt:lpstr>PowerPoint 演示文稿</vt:lpstr>
      <vt:lpstr>目录</vt:lpstr>
      <vt:lpstr>嵌入式SQL语言</vt:lpstr>
      <vt:lpstr>PowerPoint 演示文稿</vt:lpstr>
      <vt:lpstr>嵌入式SQL语言</vt:lpstr>
      <vt:lpstr>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基础篇 第三章 结构化查询语言SQL</dc:title>
  <dc:creator>贺长江</dc:creator>
  <cp:lastModifiedBy>贺 长江</cp:lastModifiedBy>
  <cp:revision>16</cp:revision>
  <dcterms:created xsi:type="dcterms:W3CDTF">2020-03-01T13:35:00Z</dcterms:created>
  <dcterms:modified xsi:type="dcterms:W3CDTF">2022-03-13T13:31:12Z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BF12EAEBE30146F5A669B7EB13F8AB22</vt:lpwstr>
  </property>
</Properties>
</file>