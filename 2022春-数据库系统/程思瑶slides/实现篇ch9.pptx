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9"/>
  </p:notesMasterIdLst>
  <p:handoutMasterIdLst>
    <p:handoutMasterId r:id="rId50"/>
  </p:handoutMasterIdLst>
  <p:sldIdLst>
    <p:sldId id="482" r:id="rId3"/>
    <p:sldId id="444" r:id="rId4"/>
    <p:sldId id="483" r:id="rId5"/>
    <p:sldId id="445" r:id="rId6"/>
    <p:sldId id="446" r:id="rId7"/>
    <p:sldId id="447" r:id="rId8"/>
    <p:sldId id="448" r:id="rId9"/>
    <p:sldId id="449" r:id="rId10"/>
    <p:sldId id="450" r:id="rId11"/>
    <p:sldId id="451" r:id="rId12"/>
    <p:sldId id="452" r:id="rId13"/>
    <p:sldId id="480" r:id="rId14"/>
    <p:sldId id="454" r:id="rId15"/>
    <p:sldId id="455" r:id="rId16"/>
    <p:sldId id="456" r:id="rId17"/>
    <p:sldId id="457" r:id="rId18"/>
    <p:sldId id="458" r:id="rId19"/>
    <p:sldId id="459" r:id="rId20"/>
    <p:sldId id="460" r:id="rId21"/>
    <p:sldId id="520" r:id="rId22"/>
    <p:sldId id="522" r:id="rId23"/>
    <p:sldId id="523" r:id="rId24"/>
    <p:sldId id="524" r:id="rId25"/>
    <p:sldId id="525" r:id="rId26"/>
    <p:sldId id="526" r:id="rId27"/>
    <p:sldId id="527" r:id="rId28"/>
    <p:sldId id="521" r:id="rId29"/>
    <p:sldId id="461" r:id="rId30"/>
    <p:sldId id="462" r:id="rId31"/>
    <p:sldId id="463" r:id="rId32"/>
    <p:sldId id="464" r:id="rId33"/>
    <p:sldId id="465" r:id="rId34"/>
    <p:sldId id="466" r:id="rId35"/>
    <p:sldId id="467" r:id="rId36"/>
    <p:sldId id="484" r:id="rId37"/>
    <p:sldId id="468" r:id="rId38"/>
    <p:sldId id="469" r:id="rId39"/>
    <p:sldId id="470" r:id="rId40"/>
    <p:sldId id="471" r:id="rId41"/>
    <p:sldId id="472" r:id="rId42"/>
    <p:sldId id="473" r:id="rId43"/>
    <p:sldId id="474" r:id="rId44"/>
    <p:sldId id="476" r:id="rId45"/>
    <p:sldId id="477" r:id="rId46"/>
    <p:sldId id="481" r:id="rId47"/>
    <p:sldId id="287" r:id="rId48"/>
  </p:sldIdLst>
  <p:sldSz cx="9144000" cy="6858000" type="screen4x3"/>
  <p:notesSz cx="7099300" cy="10234613"/>
  <p:defaultTextStyle>
    <a:defPPr>
      <a:defRPr lang="en-US"/>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1" fontAlgn="base" latinLnBrk="0" hangingPunct="1">
      <a:lnSpc>
        <a:spcPct val="100000"/>
      </a:lnSpc>
      <a:spcBef>
        <a:spcPct val="0"/>
      </a:spcBef>
      <a:spcAft>
        <a:spcPct val="0"/>
      </a:spcAft>
      <a:buFontTx/>
      <a:buNone/>
      <a:defRPr sz="20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1" fontAlgn="base" latinLnBrk="0" hangingPunct="1">
      <a:lnSpc>
        <a:spcPct val="100000"/>
      </a:lnSpc>
      <a:spcBef>
        <a:spcPct val="0"/>
      </a:spcBef>
      <a:spcAft>
        <a:spcPct val="0"/>
      </a:spcAft>
      <a:buFontTx/>
      <a:buNone/>
      <a:defRPr sz="2000" b="1" i="0" u="none" kern="1200" baseline="0">
        <a:solidFill>
          <a:schemeClr val="tx1"/>
        </a:solidFill>
        <a:latin typeface="Times New Roman" panose="02020603050405020304" pitchFamily="18" charset="0"/>
        <a:ea typeface="楷体_GB2312"/>
        <a:cs typeface="+mn-cs"/>
      </a:defRPr>
    </a:lvl5pPr>
    <a:lvl6pPr marL="2286000" lvl="5" indent="0" algn="l" defTabSz="914400" rtl="0" eaLnBrk="1" fontAlgn="base" latinLnBrk="0" hangingPunct="1">
      <a:lnSpc>
        <a:spcPct val="100000"/>
      </a:lnSpc>
      <a:spcBef>
        <a:spcPct val="0"/>
      </a:spcBef>
      <a:spcAft>
        <a:spcPct val="0"/>
      </a:spcAft>
      <a:buFontTx/>
      <a:buNone/>
      <a:defRPr sz="2000" b="1" i="0" u="none" kern="1200" baseline="0">
        <a:solidFill>
          <a:schemeClr val="tx1"/>
        </a:solidFill>
        <a:latin typeface="Times New Roman" panose="02020603050405020304" pitchFamily="18" charset="0"/>
        <a:ea typeface="楷体_GB2312"/>
        <a:cs typeface="+mn-cs"/>
      </a:defRPr>
    </a:lvl6pPr>
    <a:lvl7pPr marL="2743200" lvl="6" indent="0" algn="l" defTabSz="914400" rtl="0" eaLnBrk="1" fontAlgn="base" latinLnBrk="0" hangingPunct="1">
      <a:lnSpc>
        <a:spcPct val="100000"/>
      </a:lnSpc>
      <a:spcBef>
        <a:spcPct val="0"/>
      </a:spcBef>
      <a:spcAft>
        <a:spcPct val="0"/>
      </a:spcAft>
      <a:buFontTx/>
      <a:buNone/>
      <a:defRPr sz="2000" b="1" i="0" u="none" kern="1200" baseline="0">
        <a:solidFill>
          <a:schemeClr val="tx1"/>
        </a:solidFill>
        <a:latin typeface="Times New Roman" panose="02020603050405020304" pitchFamily="18" charset="0"/>
        <a:ea typeface="楷体_GB2312"/>
        <a:cs typeface="+mn-cs"/>
      </a:defRPr>
    </a:lvl7pPr>
    <a:lvl8pPr marL="3200400" lvl="7" indent="0" algn="l" defTabSz="914400" rtl="0" eaLnBrk="1" fontAlgn="base" latinLnBrk="0" hangingPunct="1">
      <a:lnSpc>
        <a:spcPct val="100000"/>
      </a:lnSpc>
      <a:spcBef>
        <a:spcPct val="0"/>
      </a:spcBef>
      <a:spcAft>
        <a:spcPct val="0"/>
      </a:spcAft>
      <a:buFontTx/>
      <a:buNone/>
      <a:defRPr sz="2000" b="1" i="0" u="none" kern="1200" baseline="0">
        <a:solidFill>
          <a:schemeClr val="tx1"/>
        </a:solidFill>
        <a:latin typeface="Times New Roman" panose="02020603050405020304" pitchFamily="18" charset="0"/>
        <a:ea typeface="楷体_GB2312"/>
        <a:cs typeface="+mn-cs"/>
      </a:defRPr>
    </a:lvl8pPr>
    <a:lvl9pPr marL="3657600" lvl="8" indent="0" algn="l" defTabSz="914400" rtl="0" eaLnBrk="1" fontAlgn="base" latinLnBrk="0" hangingPunct="1">
      <a:lnSpc>
        <a:spcPct val="100000"/>
      </a:lnSpc>
      <a:spcBef>
        <a:spcPct val="0"/>
      </a:spcBef>
      <a:spcAft>
        <a:spcPct val="0"/>
      </a:spcAft>
      <a:buFontTx/>
      <a:buNone/>
      <a:defRPr sz="2000" b="1" i="0" u="none" kern="1200" baseline="0">
        <a:solidFill>
          <a:schemeClr val="tx1"/>
        </a:solidFill>
        <a:latin typeface="Times New Roman" panose="02020603050405020304" pitchFamily="18" charset="0"/>
        <a:ea typeface="楷体_GB2312"/>
        <a:cs typeface="+mn-cs"/>
      </a:defRPr>
    </a:lvl9pPr>
  </p:defaultTextStyle>
  <p:modifyVerifier cryptProviderType="rsaAES" cryptAlgorithmClass="hash" cryptAlgorithmType="typeAny" cryptAlgorithmSid="14" spinCount="100000" saltData="PgkPU4NlAbp3bvgyMopuog==" hashData="hRHk3+ei6TtCG5PzstYyJqP2/9z2WrY10kHEnjyB3MkzKnSsvBt/oMEqLCDlCzVI/M12Tyy91VkBXLbSRweHhg=="/>
  <p:extLst>
    <p:ext uri="{EFAFB233-063F-42B5-8137-9DF3F51BA10A}">
      <p15:sldGuideLst xmlns:p15="http://schemas.microsoft.com/office/powerpoint/2012/main">
        <p15:guide id="1" orient="horz" pos="2160">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800000"/>
    <a:srgbClr val="FFFFCC"/>
    <a:srgbClr val="FF0000"/>
    <a:srgbClr val="00FF99"/>
    <a:srgbClr val="FFEBFF"/>
    <a:srgbClr val="CC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58"/>
      </p:cViewPr>
      <p:guideLst>
        <p:guide orient="horz" pos="2160"/>
        <p:guide pos="288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3"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4"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5"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316AB71-0FF5-4B0A-BF61-BD941AB2E19B}"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84"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8198"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0DA8F0F-074F-402E-9DC1-A913A7FCBA78}"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solidFill>
                  <a:srgbClr val="000000"/>
                </a:solidFill>
                <a:latin typeface="Arial" panose="020B0604020202020204" pitchFamily="34" charset="0"/>
                <a:ea typeface="宋体" panose="02010600030101010101" pitchFamily="2" charset="-122"/>
              </a:rPr>
              <a:t>1</a:t>
            </a:fld>
            <a:endParaRPr lang="zh-CN" altLang="en-US" sz="1300" b="0" dirty="0">
              <a:solidFill>
                <a:srgbClr val="000000"/>
              </a:solidFill>
              <a:latin typeface="Arial" panose="020B0604020202020204" pitchFamily="34" charset="0"/>
              <a:ea typeface="宋体" panose="02010600030101010101" pitchFamily="2" charset="-122"/>
            </a:endParaRPr>
          </a:p>
        </p:txBody>
      </p:sp>
      <p:sp>
        <p:nvSpPr>
          <p:cNvPr id="22530" name="Rectangle 2"/>
          <p:cNvSpPr>
            <a:spLocks noGrp="1" noRot="1" noChangeAspect="1" noTextEdit="1"/>
          </p:cNvSpPr>
          <p:nvPr>
            <p:ph type="sldImg"/>
          </p:nvPr>
        </p:nvSpPr>
        <p:spPr>
          <a:ln/>
        </p:spPr>
      </p:sp>
      <p:sp>
        <p:nvSpPr>
          <p:cNvPr id="22531" name="Rectangle 3"/>
          <p:cNvSpPr>
            <a:spLocks noGrp="1"/>
          </p:cNvSpPr>
          <p:nvPr>
            <p:ph type="body"/>
          </p:nvPr>
        </p:nvSpPr>
        <p:spPr>
          <a:ln/>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2</a:t>
            </a:fld>
            <a:endParaRPr lang="zh-CN" altLang="en-US" sz="1300" b="0" dirty="0">
              <a:latin typeface="Arial" panose="020B0604020202020204" pitchFamily="34" charset="0"/>
              <a:ea typeface="宋体" panose="02010600030101010101" pitchFamily="2" charset="-122"/>
            </a:endParaRPr>
          </a:p>
        </p:txBody>
      </p:sp>
      <p:sp>
        <p:nvSpPr>
          <p:cNvPr id="24578" name="Rectangle 2"/>
          <p:cNvSpPr>
            <a:spLocks noGrp="1" noRot="1" noChangeAspect="1" noTextEdit="1"/>
          </p:cNvSpPr>
          <p:nvPr>
            <p:ph type="sldImg"/>
          </p:nvPr>
        </p:nvSpPr>
        <p:spPr>
          <a:solidFill>
            <a:srgbClr val="FFFFFF"/>
          </a:solidFill>
          <a:ln/>
        </p:spPr>
      </p:sp>
      <p:sp>
        <p:nvSpPr>
          <p:cNvPr id="24579" name="Rectangle 3"/>
          <p:cNvSpPr>
            <a:spLocks noGrp="1"/>
          </p:cNvSpPr>
          <p:nvPr>
            <p:ph type="body"/>
          </p:nvPr>
        </p:nvSpPr>
        <p:spPr>
          <a:solidFill>
            <a:srgbClr val="FFFFFF"/>
          </a:solidFill>
          <a:ln>
            <a:solidFill>
              <a:srgbClr val="000000"/>
            </a:solidFill>
            <a:miter/>
          </a:ln>
        </p:spPr>
        <p:txBody>
          <a:bodyPr wrap="square" lIns="99048" tIns="49524" rIns="99048" bIns="49524"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3</a:t>
            </a:fld>
            <a:endParaRPr lang="zh-CN" altLang="en-US" sz="1300" b="0" dirty="0">
              <a:latin typeface="Arial" panose="020B0604020202020204" pitchFamily="34" charset="0"/>
              <a:ea typeface="宋体" panose="02010600030101010101" pitchFamily="2" charset="-122"/>
            </a:endParaRPr>
          </a:p>
        </p:txBody>
      </p:sp>
      <p:sp>
        <p:nvSpPr>
          <p:cNvPr id="26626" name="Rectangle 2"/>
          <p:cNvSpPr>
            <a:spLocks noGrp="1" noRot="1" noChangeAspect="1" noTextEdit="1"/>
          </p:cNvSpPr>
          <p:nvPr>
            <p:ph type="sldImg"/>
          </p:nvPr>
        </p:nvSpPr>
        <p:spPr>
          <a:solidFill>
            <a:srgbClr val="FFFFFF"/>
          </a:solidFill>
          <a:ln/>
        </p:spPr>
      </p:sp>
      <p:sp>
        <p:nvSpPr>
          <p:cNvPr id="26627" name="Rectangle 3"/>
          <p:cNvSpPr>
            <a:spLocks noGrp="1"/>
          </p:cNvSpPr>
          <p:nvPr>
            <p:ph type="body"/>
          </p:nvPr>
        </p:nvSpPr>
        <p:spPr>
          <a:solidFill>
            <a:srgbClr val="FFFFFF"/>
          </a:solidFill>
          <a:ln>
            <a:solidFill>
              <a:srgbClr val="000000"/>
            </a:solidFill>
            <a:miter/>
          </a:ln>
        </p:spPr>
        <p:txBody>
          <a:bodyPr wrap="square" lIns="99048" tIns="49524" rIns="99048" bIns="49524" anchor="t" anchorCtr="0"/>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12</a:t>
            </a:fld>
            <a:endParaRPr lang="zh-CN" altLang="en-US" sz="1300" b="0" dirty="0">
              <a:latin typeface="Arial" panose="020B0604020202020204" pitchFamily="34" charset="0"/>
              <a:ea typeface="宋体" panose="02010600030101010101" pitchFamily="2" charset="-122"/>
            </a:endParaRPr>
          </a:p>
        </p:txBody>
      </p:sp>
      <p:sp>
        <p:nvSpPr>
          <p:cNvPr id="36866" name="Rectangle 2"/>
          <p:cNvSpPr>
            <a:spLocks noGrp="1" noRot="1" noChangeAspect="1" noTextEdit="1"/>
          </p:cNvSpPr>
          <p:nvPr>
            <p:ph type="sldImg"/>
          </p:nvPr>
        </p:nvSpPr>
        <p:spPr>
          <a:solidFill>
            <a:srgbClr val="FFFFFF"/>
          </a:solidFill>
          <a:ln/>
        </p:spPr>
      </p:sp>
      <p:sp>
        <p:nvSpPr>
          <p:cNvPr id="36867" name="Rectangle 3"/>
          <p:cNvSpPr>
            <a:spLocks noGrp="1"/>
          </p:cNvSpPr>
          <p:nvPr>
            <p:ph type="body"/>
          </p:nvPr>
        </p:nvSpPr>
        <p:spPr>
          <a:solidFill>
            <a:srgbClr val="FFFFFF"/>
          </a:solidFill>
          <a:ln>
            <a:solidFill>
              <a:srgbClr val="000000"/>
            </a:solidFill>
            <a:miter/>
          </a:ln>
        </p:spPr>
        <p:txBody>
          <a:bodyPr wrap="square" lIns="99048" tIns="49524" rIns="99048" bIns="49524" anchor="t" anchorCtr="0"/>
          <a:lstStyle/>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20</a:t>
            </a:fld>
            <a:endParaRPr lang="zh-CN" altLang="en-US" sz="1300" b="0" dirty="0">
              <a:latin typeface="Arial" panose="020B0604020202020204" pitchFamily="34" charset="0"/>
              <a:ea typeface="宋体" panose="02010600030101010101" pitchFamily="2" charset="-122"/>
            </a:endParaRPr>
          </a:p>
        </p:txBody>
      </p:sp>
      <p:sp>
        <p:nvSpPr>
          <p:cNvPr id="46082" name="Rectangle 2"/>
          <p:cNvSpPr>
            <a:spLocks noGrp="1" noRot="1" noChangeAspect="1" noTextEdit="1"/>
          </p:cNvSpPr>
          <p:nvPr>
            <p:ph type="sldImg"/>
          </p:nvPr>
        </p:nvSpPr>
        <p:spPr>
          <a:solidFill>
            <a:srgbClr val="FFFFFF"/>
          </a:solidFill>
          <a:ln/>
        </p:spPr>
      </p:sp>
      <p:sp>
        <p:nvSpPr>
          <p:cNvPr id="46083" name="Rectangle 3"/>
          <p:cNvSpPr>
            <a:spLocks noGrp="1"/>
          </p:cNvSpPr>
          <p:nvPr>
            <p:ph type="body"/>
          </p:nvPr>
        </p:nvSpPr>
        <p:spPr>
          <a:solidFill>
            <a:srgbClr val="FFFFFF"/>
          </a:solidFill>
          <a:ln>
            <a:solidFill>
              <a:srgbClr val="000000"/>
            </a:solidFill>
            <a:miter/>
          </a:ln>
        </p:spPr>
        <p:txBody>
          <a:bodyPr wrap="square" lIns="99048" tIns="49524" rIns="99048" bIns="49524" anchor="t" anchorCtr="0"/>
          <a:lstStyle/>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27</a:t>
            </a:fld>
            <a:endParaRPr lang="zh-CN" altLang="en-US" sz="1300" b="0" dirty="0">
              <a:latin typeface="Arial" panose="020B0604020202020204" pitchFamily="34" charset="0"/>
              <a:ea typeface="宋体" panose="02010600030101010101" pitchFamily="2" charset="-122"/>
            </a:endParaRPr>
          </a:p>
        </p:txBody>
      </p:sp>
      <p:sp>
        <p:nvSpPr>
          <p:cNvPr id="54274" name="Rectangle 2"/>
          <p:cNvSpPr>
            <a:spLocks noGrp="1" noRot="1" noChangeAspect="1" noTextEdit="1"/>
          </p:cNvSpPr>
          <p:nvPr>
            <p:ph type="sldImg"/>
          </p:nvPr>
        </p:nvSpPr>
        <p:spPr>
          <a:solidFill>
            <a:srgbClr val="FFFFFF"/>
          </a:solidFill>
          <a:ln/>
        </p:spPr>
      </p:sp>
      <p:sp>
        <p:nvSpPr>
          <p:cNvPr id="54275" name="Rectangle 3"/>
          <p:cNvSpPr>
            <a:spLocks noGrp="1"/>
          </p:cNvSpPr>
          <p:nvPr>
            <p:ph type="body"/>
          </p:nvPr>
        </p:nvSpPr>
        <p:spPr>
          <a:solidFill>
            <a:srgbClr val="FFFFFF"/>
          </a:solidFill>
          <a:ln>
            <a:solidFill>
              <a:srgbClr val="000000"/>
            </a:solidFill>
            <a:miter/>
          </a:ln>
        </p:spPr>
        <p:txBody>
          <a:bodyPr wrap="square" lIns="99048" tIns="49524" rIns="99048" bIns="49524" anchor="t" anchorCtr="0"/>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a:ln/>
        </p:spPr>
      </p:sp>
      <p:sp>
        <p:nvSpPr>
          <p:cNvPr id="63490" name="备注占位符 2"/>
          <p:cNvSpPr>
            <a:spLocks noGrp="1"/>
          </p:cNvSpPr>
          <p:nvPr>
            <p:ph type="body"/>
          </p:nvPr>
        </p:nvSpPr>
        <p:spPr>
          <a:ln/>
        </p:spPr>
        <p:txBody>
          <a:bodyPr wrap="square" lIns="99048" tIns="49524" rIns="99048" bIns="49524" anchor="t" anchorCtr="0"/>
          <a:lstStyle/>
          <a:p>
            <a:pPr lvl="0"/>
            <a:endParaRPr lang="zh-CN" altLang="en-US" dirty="0"/>
          </a:p>
        </p:txBody>
      </p:sp>
      <p:sp>
        <p:nvSpPr>
          <p:cNvPr id="63491"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35</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幻灯片图像占位符 1"/>
          <p:cNvSpPr>
            <a:spLocks noGrp="1" noRot="1" noChangeAspect="1" noTextEdit="1"/>
          </p:cNvSpPr>
          <p:nvPr>
            <p:ph type="sldImg"/>
          </p:nvPr>
        </p:nvSpPr>
        <p:spPr>
          <a:ln/>
        </p:spPr>
      </p:sp>
      <p:sp>
        <p:nvSpPr>
          <p:cNvPr id="65538" name="备注占位符 2"/>
          <p:cNvSpPr>
            <a:spLocks noGrp="1"/>
          </p:cNvSpPr>
          <p:nvPr>
            <p:ph type="body"/>
          </p:nvPr>
        </p:nvSpPr>
        <p:spPr>
          <a:ln/>
        </p:spPr>
        <p:txBody>
          <a:bodyPr wrap="square" lIns="99048" tIns="49524" rIns="99048" bIns="49524" anchor="t" anchorCtr="0"/>
          <a:lstStyle/>
          <a:p>
            <a:pPr lvl="0"/>
            <a:endParaRPr lang="zh-CN" altLang="en-US" dirty="0"/>
          </a:p>
        </p:txBody>
      </p:sp>
      <p:sp>
        <p:nvSpPr>
          <p:cNvPr id="65539"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36</a:t>
            </a:fld>
            <a:endParaRPr lang="zh-CN" altLang="en-US" sz="13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43</a:t>
            </a:fld>
            <a:endParaRPr lang="zh-CN" altLang="en-US" sz="1300" b="0" dirty="0">
              <a:latin typeface="Arial" panose="020B0604020202020204" pitchFamily="34" charset="0"/>
              <a:ea typeface="宋体" panose="02010600030101010101" pitchFamily="2" charset="-122"/>
            </a:endParaRPr>
          </a:p>
        </p:txBody>
      </p:sp>
      <p:sp>
        <p:nvSpPr>
          <p:cNvPr id="73730" name="Rectangle 2"/>
          <p:cNvSpPr>
            <a:spLocks noGrp="1" noRot="1" noChangeAspect="1" noTextEdit="1"/>
          </p:cNvSpPr>
          <p:nvPr>
            <p:ph type="sldImg"/>
          </p:nvPr>
        </p:nvSpPr>
        <p:spPr>
          <a:solidFill>
            <a:srgbClr val="FFFFFF"/>
          </a:solidFill>
          <a:ln/>
        </p:spPr>
      </p:sp>
      <p:sp>
        <p:nvSpPr>
          <p:cNvPr id="73731" name="Rectangle 3"/>
          <p:cNvSpPr>
            <a:spLocks noGrp="1"/>
          </p:cNvSpPr>
          <p:nvPr>
            <p:ph type="body"/>
          </p:nvPr>
        </p:nvSpPr>
        <p:spPr>
          <a:solidFill>
            <a:srgbClr val="FFFFFF"/>
          </a:solidFill>
          <a:ln>
            <a:solidFill>
              <a:srgbClr val="000000"/>
            </a:solidFill>
            <a:miter/>
          </a:ln>
        </p:spPr>
        <p:txBody>
          <a:bodyPr wrap="square" lIns="99048" tIns="49524" rIns="99048" bIns="49524" anchor="t" anchorCtr="0"/>
          <a:lstStyle/>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a:fld id="{9A0DB2DC-4C9A-4742-B13C-FB6460FD3503}" type="slidenum">
              <a:rPr lang="zh-CN" altLang="en-US" sz="1300" b="0" dirty="0">
                <a:latin typeface="Arial" panose="020B0604020202020204" pitchFamily="34" charset="0"/>
                <a:ea typeface="宋体" panose="02010600030101010101" pitchFamily="2" charset="-122"/>
              </a:rPr>
              <a:t>46</a:t>
            </a:fld>
            <a:endParaRPr lang="zh-CN" altLang="en-US" sz="1300" b="0" dirty="0">
              <a:latin typeface="Arial" panose="020B0604020202020204" pitchFamily="34" charset="0"/>
              <a:ea typeface="宋体" panose="02010600030101010101" pitchFamily="2" charset="-122"/>
            </a:endParaRPr>
          </a:p>
        </p:txBody>
      </p:sp>
      <p:sp>
        <p:nvSpPr>
          <p:cNvPr id="77826" name="Rectangle 2"/>
          <p:cNvSpPr>
            <a:spLocks noGrp="1" noRot="1" noChangeAspect="1" noTextEdit="1"/>
          </p:cNvSpPr>
          <p:nvPr>
            <p:ph type="sldImg"/>
          </p:nvPr>
        </p:nvSpPr>
        <p:spPr>
          <a:ln/>
        </p:spPr>
      </p:sp>
      <p:sp>
        <p:nvSpPr>
          <p:cNvPr id="77827" name="Rectangle 3"/>
          <p:cNvSpPr>
            <a:spLocks noGrp="1"/>
          </p:cNvSpPr>
          <p:nvPr>
            <p:ph type="body"/>
          </p:nvPr>
        </p:nvSpPr>
        <p:spPr>
          <a:ln/>
        </p:spPr>
        <p:txBody>
          <a:bodyPr wrap="square" lIns="99048" tIns="49524" rIns="99048" bIns="49524" anchor="t" anchorCtr="0"/>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3075"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0" name="Rectangle 7"/>
          <p:cNvSpPr>
            <a:spLocks noChangeArrowheads="1"/>
          </p:cNvSpPr>
          <p:nvPr/>
        </p:nvSpPr>
        <p:spPr bwMode="auto">
          <a:xfrm>
            <a:off x="0" y="0"/>
            <a:ext cx="9144000" cy="1052513"/>
          </a:xfrm>
          <a:prstGeom prst="rect">
            <a:avLst/>
          </a:prstGeom>
          <a:gradFill rotWithShape="0">
            <a:gsLst>
              <a:gs pos="0">
                <a:srgbClr val="45A2FF"/>
              </a:gs>
              <a:gs pos="100000">
                <a:srgbClr val="FFFFFF"/>
              </a:gs>
            </a:gsLst>
            <a:path path="rect">
              <a:fillToRect l="100000" b="100000"/>
            </a:path>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sym typeface="+mn-ea"/>
              </a:rPr>
              <a:t>海量数据计算研究中心</a:t>
            </a:r>
            <a:endParaRPr kumimoji="0" lang="en-US" altLang="zh-CN"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sym typeface="+mn-ea"/>
            </a:endParaRPr>
          </a:p>
        </p:txBody>
      </p:sp>
      <p:pic>
        <p:nvPicPr>
          <p:cNvPr id="4099"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4100"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8485BBC6-42C9-41A4-8794-B856A1CE338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90CA8E9A-2E07-4B04-B598-B1BE1A52F0C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6974BFC6-35DD-462D-AE58-F6C9272360B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1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8F3D3065-BC6A-495A-A101-6C2DAB3C7A8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59181CE4-339F-4B05-9837-C9E790EE01E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55512988-52AA-449F-8D43-9587C7DFD5D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B18F927B-ED31-4562-A4C0-B5F58874E9F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734487A7-13D5-4878-AFAC-636A3585051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8CE71CE9-1A4D-4AB4-AEB1-331A5D787B2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7B0AFA57-FF3D-4E3B-8F34-E5B8F6D4A25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1BD8FE2D-EF13-470A-9346-71FC2307E8F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E7403EF3-F267-4937-B317-4656099D777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3EFFD3F5-EE04-4C29-B3D1-A28FC791E76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lvl="0" indent="0" algn="r" defTabSz="914400" rtl="0" eaLnBrk="1" fontAlgn="base" latinLnBrk="0" hangingPunct="1">
              <a:lnSpc>
                <a:spcPct val="100000"/>
              </a:lnSpc>
              <a:spcBef>
                <a:spcPct val="20000"/>
              </a:spcBef>
              <a:spcAft>
                <a:spcPct val="0"/>
              </a:spcAft>
              <a:buClrTx/>
              <a:buSzTx/>
              <a:buFontTx/>
              <a:buChar char="–"/>
              <a:defRPr/>
            </a:pPr>
            <a:fld id="{02E7D1E4-DC45-46EE-960E-A746268ABE5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wmf"/><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5A4240-97E8-45B3-903B-8C82A514A7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1032"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1033"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j0296302"/>
          <p:cNvPicPr>
            <a:picLocks noChangeAspect="1"/>
          </p:cNvPicPr>
          <p:nvPr/>
        </p:nvPicPr>
        <p:blipFill>
          <a:blip r:embed="rId17"/>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solidFill>
                  <a:srgbClr val="003399"/>
                </a:solidFill>
                <a:effectLst>
                  <a:outerShdw blurRad="38100" dist="38100" dir="2700000" algn="tl">
                    <a:srgbClr val="C0C0C0"/>
                  </a:outerShdw>
                </a:effectLst>
                <a:latin typeface="Arial" panose="020B0604020202020204" pitchFamily="34" charset="0"/>
                <a:ea typeface="楷体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325D1B5-7394-4852-A11F-7135251B319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pic>
        <p:nvPicPr>
          <p:cNvPr id="2056" name="Picture 9"/>
          <p:cNvPicPr>
            <a:picLocks noChangeAspect="1"/>
          </p:cNvPicPr>
          <p:nvPr userDrawn="1"/>
        </p:nvPicPr>
        <p:blipFill>
          <a:blip r:embed="rId18"/>
          <a:stretch>
            <a:fillRect/>
          </a:stretch>
        </p:blipFill>
        <p:spPr>
          <a:xfrm>
            <a:off x="0" y="152400"/>
            <a:ext cx="1066800" cy="955675"/>
          </a:xfrm>
          <a:prstGeom prst="rect">
            <a:avLst/>
          </a:prstGeom>
          <a:noFill/>
          <a:ln w="9525">
            <a:noFill/>
          </a:ln>
        </p:spPr>
      </p:pic>
      <p:pic>
        <p:nvPicPr>
          <p:cNvPr id="2057" name="Picture 11" descr="j0296302"/>
          <p:cNvPicPr>
            <a:picLocks noChangeAspect="1"/>
          </p:cNvPicPr>
          <p:nvPr userDrawn="1"/>
        </p:nvPicPr>
        <p:blipFill>
          <a:blip r:embed="rId17"/>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dt="0"/>
  <p:txStyles>
    <p:titleStyle>
      <a:lvl1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mj-ea"/>
          <a:cs typeface="楷体_GB2312"/>
        </a:defRPr>
      </a:lvl1pPr>
      <a:lvl2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2pPr>
      <a:lvl3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3pPr>
      <a:lvl4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4pPr>
      <a:lvl5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3333FF"/>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6.bin"/><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oleObject" Target="../embeddings/oleObject7.bin"/><Relationship Id="rId7" Type="http://schemas.openxmlformats.org/officeDocument/2006/relationships/oleObject" Target="../embeddings/oleObject10.bin"/><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9.bin"/><Relationship Id="rId11" Type="http://schemas.openxmlformats.org/officeDocument/2006/relationships/oleObject" Target="../embeddings/oleObject14.bin"/><Relationship Id="rId5" Type="http://schemas.openxmlformats.org/officeDocument/2006/relationships/oleObject" Target="../embeddings/oleObject8.bin"/><Relationship Id="rId10" Type="http://schemas.openxmlformats.org/officeDocument/2006/relationships/oleObject" Target="../embeddings/oleObject13.bin"/><Relationship Id="rId4" Type="http://schemas.openxmlformats.org/officeDocument/2006/relationships/image" Target="../media/image3.png"/><Relationship Id="rId9"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wmf"/></Relationships>
</file>

<file path=ppt/slides/_rels/slide22.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6.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23.bin"/></Relationships>
</file>

<file path=ppt/slides/_rels/slide2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1.wmf"/><Relationship Id="rId5" Type="http://schemas.openxmlformats.org/officeDocument/2006/relationships/oleObject" Target="../embeddings/oleObject26.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28.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4.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5.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1.bin"/><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33.bin"/><Relationship Id="rId5" Type="http://schemas.openxmlformats.org/officeDocument/2006/relationships/oleObject" Target="../embeddings/oleObject32.bin"/><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22.png"/><Relationship Id="rId5" Type="http://schemas.openxmlformats.org/officeDocument/2006/relationships/image" Target="../media/image21.wmf"/><Relationship Id="rId4" Type="http://schemas.openxmlformats.org/officeDocument/2006/relationships/oleObject" Target="../embeddings/oleObject4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61925" y="1268413"/>
            <a:ext cx="8820150" cy="27606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600"/>
              </a:spcBef>
              <a:spcAft>
                <a:spcPts val="0"/>
              </a:spcAft>
              <a:buClrTx/>
              <a:buSzTx/>
              <a:buFontTx/>
              <a:buNone/>
              <a:defRPr/>
            </a:pP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实现篇</a:t>
            </a:r>
            <a:b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b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楷体_GB2312"/>
              </a:rPr>
              <a:t>第九章 查询优化</a:t>
            </a:r>
            <a:endPar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4099" name="Rectangle 3"/>
          <p:cNvSpPr>
            <a:spLocks noGrp="1" noChangeArrowheads="1"/>
          </p:cNvSpPr>
          <p:nvPr>
            <p:ph type="subTitle" idx="1"/>
          </p:nvPr>
        </p:nvSpPr>
        <p:spPr>
          <a:xfrm>
            <a:off x="2590800" y="4367213"/>
            <a:ext cx="4860925" cy="1447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主讲：程思瑶</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海量数据计算研究中心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921E52B-A6AB-48A2-ABB8-B74940F543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31D9EF7-2A26-4F2C-BCEB-B0DD804654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685800" y="15240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问题的提出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关系表达式的等价转换规则</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表达式结果大小的估计</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启发式关系代数优化算法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基于复杂性估计的查询优化方法 </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查询优化技术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921E52B-A6AB-48A2-ABB8-B74940F543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8C00FA1-0184-4572-9C90-FAD4560132E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685800" y="15240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问题的提出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关系表达式的等价转换规则</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表达式结果大小的估计</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启发式关系代数优化算法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基于复杂性估计的查询优化方法 </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查询优化技术</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32ABC6E9-2CA3-4623-B5D2-4E85ABD559D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4"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5"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E17B412-9A44-440B-9984-EB2727E8DD3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41059" name="Rectangle 3"/>
          <p:cNvSpPr>
            <a:spLocks noGrp="1" noChangeArrowheads="1"/>
          </p:cNvSpPr>
          <p:nvPr>
            <p:ph idx="1"/>
          </p:nvPr>
        </p:nvSpPr>
        <p:spPr>
          <a:xfrm>
            <a:off x="609600" y="1219200"/>
            <a:ext cx="7924800" cy="13716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设有如下两个关系：</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S(S#,SN,…)</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SC(S#,C#…)</a:t>
            </a:r>
          </a:p>
        </p:txBody>
      </p:sp>
      <p:sp>
        <p:nvSpPr>
          <p:cNvPr id="941060" name="Rectangle 4"/>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grpSp>
        <p:nvGrpSpPr>
          <p:cNvPr id="941074" name="Group 18"/>
          <p:cNvGrpSpPr/>
          <p:nvPr/>
        </p:nvGrpSpPr>
        <p:grpSpPr>
          <a:xfrm>
            <a:off x="609600" y="5905500"/>
            <a:ext cx="7924800" cy="533400"/>
            <a:chOff x="384" y="3720"/>
            <a:chExt cx="4992" cy="336"/>
          </a:xfrm>
        </p:grpSpPr>
        <p:sp>
          <p:nvSpPr>
            <p:cNvPr id="941068" name="Rectangle 12"/>
            <p:cNvSpPr>
              <a:spLocks noChangeArrowheads="1"/>
            </p:cNvSpPr>
            <p:nvPr/>
          </p:nvSpPr>
          <p:spPr bwMode="auto">
            <a:xfrm>
              <a:off x="384" y="3720"/>
              <a:ext cx="49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SN</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((σ</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SC.C#="C2"</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SC)     </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S.S#=SC.S# </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a:t>
              </a:r>
              <a:endParaRPr kumimoji="0" lang="zh-CN" altLang="en-US"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graphicFrame>
          <p:nvGraphicFramePr>
            <p:cNvPr id="27656" name="Object 5"/>
            <p:cNvGraphicFramePr>
              <a:graphicFrameLocks noChangeAspect="1"/>
            </p:cNvGraphicFramePr>
            <p:nvPr/>
          </p:nvGraphicFramePr>
          <p:xfrm>
            <a:off x="3504" y="3816"/>
            <a:ext cx="162" cy="120"/>
          </p:xfrm>
          <a:graphic>
            <a:graphicData uri="http://schemas.openxmlformats.org/presentationml/2006/ole">
              <mc:AlternateContent xmlns:mc="http://schemas.openxmlformats.org/markup-compatibility/2006">
                <mc:Choice xmlns:v="urn:schemas-microsoft-com:vml" Requires="v">
                  <p:oleObj spid="_x0000_s3080" r:id="rId3" imgW="257175" imgH="190500" progId="Paint.Picture">
                    <p:embed/>
                  </p:oleObj>
                </mc:Choice>
                <mc:Fallback>
                  <p:oleObj r:id="rId3" imgW="257175" imgH="190500" progId="Paint.Picture">
                    <p:embed/>
                    <p:pic>
                      <p:nvPicPr>
                        <p:cNvPr id="0" name="图片 3076"/>
                        <p:cNvPicPr/>
                        <p:nvPr/>
                      </p:nvPicPr>
                      <p:blipFill>
                        <a:blip r:embed="rId4"/>
                        <a:stretch>
                          <a:fillRect/>
                        </a:stretch>
                      </p:blipFill>
                      <p:spPr>
                        <a:xfrm>
                          <a:off x="3504" y="3816"/>
                          <a:ext cx="162" cy="120"/>
                        </a:xfrm>
                        <a:prstGeom prst="rect">
                          <a:avLst/>
                        </a:prstGeom>
                        <a:noFill/>
                        <a:ln w="38100">
                          <a:noFill/>
                          <a:miter/>
                        </a:ln>
                      </p:spPr>
                    </p:pic>
                  </p:oleObj>
                </mc:Fallback>
              </mc:AlternateContent>
            </a:graphicData>
          </a:graphic>
        </p:graphicFrame>
      </p:grpSp>
      <p:sp>
        <p:nvSpPr>
          <p:cNvPr id="941063" name="Rectangle 7"/>
          <p:cNvSpPr>
            <a:spLocks noChangeArrowheads="1"/>
          </p:cNvSpPr>
          <p:nvPr/>
        </p:nvSpPr>
        <p:spPr bwMode="auto">
          <a:xfrm>
            <a:off x="609600" y="2590800"/>
            <a:ext cx="7924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有如下</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SQL</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语句：</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CC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SELECT  DISTINCT  S.SN</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CC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FROM  S, SC</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CC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WHERE  S.S#=SC.S# AND SC.C#=“C2”</a:t>
            </a:r>
          </a:p>
        </p:txBody>
      </p:sp>
      <p:sp>
        <p:nvSpPr>
          <p:cNvPr id="941065" name="Rectangle 9"/>
          <p:cNvSpPr>
            <a:spLocks noChangeArrowheads="1"/>
          </p:cNvSpPr>
          <p:nvPr/>
        </p:nvSpPr>
        <p:spPr bwMode="auto">
          <a:xfrm>
            <a:off x="609600" y="4191000"/>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存在多种处理策略：</a:t>
            </a:r>
          </a:p>
        </p:txBody>
      </p:sp>
      <p:grpSp>
        <p:nvGrpSpPr>
          <p:cNvPr id="941073" name="Group 17"/>
          <p:cNvGrpSpPr/>
          <p:nvPr/>
        </p:nvGrpSpPr>
        <p:grpSpPr>
          <a:xfrm>
            <a:off x="609600" y="5295900"/>
            <a:ext cx="7924800" cy="533400"/>
            <a:chOff x="384" y="3336"/>
            <a:chExt cx="4992" cy="336"/>
          </a:xfrm>
        </p:grpSpPr>
        <p:graphicFrame>
          <p:nvGraphicFramePr>
            <p:cNvPr id="27660" name="Object 6"/>
            <p:cNvGraphicFramePr>
              <a:graphicFrameLocks noChangeAspect="1"/>
            </p:cNvGraphicFramePr>
            <p:nvPr/>
          </p:nvGraphicFramePr>
          <p:xfrm>
            <a:off x="3246" y="3456"/>
            <a:ext cx="162" cy="120"/>
          </p:xfrm>
          <a:graphic>
            <a:graphicData uri="http://schemas.openxmlformats.org/presentationml/2006/ole">
              <mc:AlternateContent xmlns:mc="http://schemas.openxmlformats.org/markup-compatibility/2006">
                <mc:Choice xmlns:v="urn:schemas-microsoft-com:vml" Requires="v">
                  <p:oleObj spid="_x0000_s3081" r:id="rId5" imgW="257175" imgH="190500" progId="Paint.Picture">
                    <p:embed/>
                  </p:oleObj>
                </mc:Choice>
                <mc:Fallback>
                  <p:oleObj r:id="rId5" imgW="257175" imgH="190500" progId="Paint.Picture">
                    <p:embed/>
                    <p:pic>
                      <p:nvPicPr>
                        <p:cNvPr id="0" name="图片 3075"/>
                        <p:cNvPicPr/>
                        <p:nvPr/>
                      </p:nvPicPr>
                      <p:blipFill>
                        <a:blip r:embed="rId4"/>
                        <a:stretch>
                          <a:fillRect/>
                        </a:stretch>
                      </p:blipFill>
                      <p:spPr>
                        <a:xfrm>
                          <a:off x="3246" y="3456"/>
                          <a:ext cx="162" cy="120"/>
                        </a:xfrm>
                        <a:prstGeom prst="rect">
                          <a:avLst/>
                        </a:prstGeom>
                        <a:noFill/>
                        <a:ln w="38100">
                          <a:noFill/>
                          <a:miter/>
                        </a:ln>
                      </p:spPr>
                    </p:pic>
                  </p:oleObj>
                </mc:Fallback>
              </mc:AlternateContent>
            </a:graphicData>
          </a:graphic>
        </p:graphicFrame>
        <p:sp>
          <p:nvSpPr>
            <p:cNvPr id="941066" name="Rectangle 10"/>
            <p:cNvSpPr>
              <a:spLocks noChangeArrowheads="1"/>
            </p:cNvSpPr>
            <p:nvPr/>
          </p:nvSpPr>
          <p:spPr bwMode="auto">
            <a:xfrm>
              <a:off x="384" y="3336"/>
              <a:ext cx="49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800" b="1" i="0" u="none" strike="noStrike" kern="1200" cap="none" spc="0" normalizeH="0" baseline="-3000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a:t>
              </a: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800" b="1" i="0" u="none" strike="noStrike" kern="1200" cap="none" spc="0" normalizeH="0" baseline="-3000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SN</a:t>
              </a: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800" b="1" i="0" u="none" strike="noStrike" kern="1200" cap="none" spc="0" normalizeH="0" baseline="0" noProof="0" dirty="0" err="1">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σ</a:t>
              </a:r>
              <a:r>
                <a:rPr kumimoji="0" lang="en-US" altLang="zh-CN" sz="2800" b="1" i="0" u="none" strike="noStrike" kern="1200" cap="none" spc="0" normalizeH="0" baseline="-30000" noProof="0" dirty="0" err="1">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SC.C</a:t>
              </a:r>
              <a:r>
                <a:rPr kumimoji="0" lang="en-US" altLang="zh-CN" sz="2800" b="1" i="0" u="none" strike="noStrike" kern="1200" cap="none" spc="0" normalizeH="0" baseline="-3000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    </a:t>
              </a:r>
              <a:r>
                <a:rPr kumimoji="0" lang="en-US" altLang="zh-CN" sz="2800" b="1" i="0" u="none" strike="noStrike" kern="1200" cap="none" spc="0" normalizeH="0" baseline="-3000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S.S#=SC.S# </a:t>
              </a: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SC))；</a:t>
              </a:r>
            </a:p>
          </p:txBody>
        </p:sp>
      </p:grpSp>
      <p:sp>
        <p:nvSpPr>
          <p:cNvPr id="941067" name="Rectangle 11"/>
          <p:cNvSpPr>
            <a:spLocks noChangeArrowheads="1"/>
          </p:cNvSpPr>
          <p:nvPr/>
        </p:nvSpPr>
        <p:spPr bwMode="auto">
          <a:xfrm>
            <a:off x="609600" y="4762500"/>
            <a:ext cx="80010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SN</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(σ</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(S.S#=SC.S#)∧(SC.C#="C2")</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(S×SC))；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1063"/>
                                        </p:tgtEl>
                                        <p:attrNameLst>
                                          <p:attrName>style.visibility</p:attrName>
                                        </p:attrNameLst>
                                      </p:cBhvr>
                                      <p:to>
                                        <p:strVal val="visible"/>
                                      </p:to>
                                    </p:set>
                                    <p:anim calcmode="lin" valueType="num">
                                      <p:cBhvr>
                                        <p:cTn id="7" dur="500" fill="hold"/>
                                        <p:tgtEl>
                                          <p:spTgt spid="941063"/>
                                        </p:tgtEl>
                                        <p:attrNameLst>
                                          <p:attrName>ppt_x</p:attrName>
                                        </p:attrNameLst>
                                      </p:cBhvr>
                                      <p:tavLst>
                                        <p:tav tm="0">
                                          <p:val>
                                            <p:strVal val="#ppt_x"/>
                                          </p:val>
                                        </p:tav>
                                        <p:tav tm="100000">
                                          <p:val>
                                            <p:strVal val="#ppt_x"/>
                                          </p:val>
                                        </p:tav>
                                      </p:tavLst>
                                    </p:anim>
                                    <p:anim calcmode="lin" valueType="num">
                                      <p:cBhvr>
                                        <p:cTn id="8" dur="500" fill="hold"/>
                                        <p:tgtEl>
                                          <p:spTgt spid="9410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41065"/>
                                        </p:tgtEl>
                                        <p:attrNameLst>
                                          <p:attrName>style.visibility</p:attrName>
                                        </p:attrNameLst>
                                      </p:cBhvr>
                                      <p:to>
                                        <p:strVal val="visible"/>
                                      </p:to>
                                    </p:set>
                                    <p:anim calcmode="lin" valueType="num">
                                      <p:cBhvr>
                                        <p:cTn id="13" dur="500" fill="hold"/>
                                        <p:tgtEl>
                                          <p:spTgt spid="941065"/>
                                        </p:tgtEl>
                                        <p:attrNameLst>
                                          <p:attrName>ppt_x</p:attrName>
                                        </p:attrNameLst>
                                      </p:cBhvr>
                                      <p:tavLst>
                                        <p:tav tm="0">
                                          <p:val>
                                            <p:strVal val="#ppt_x"/>
                                          </p:val>
                                        </p:tav>
                                        <p:tav tm="100000">
                                          <p:val>
                                            <p:strVal val="#ppt_x"/>
                                          </p:val>
                                        </p:tav>
                                      </p:tavLst>
                                    </p:anim>
                                    <p:anim calcmode="lin" valueType="num">
                                      <p:cBhvr>
                                        <p:cTn id="14" dur="500" fill="hold"/>
                                        <p:tgtEl>
                                          <p:spTgt spid="9410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941067"/>
                                        </p:tgtEl>
                                        <p:attrNameLst>
                                          <p:attrName>style.visibility</p:attrName>
                                        </p:attrNameLst>
                                      </p:cBhvr>
                                      <p:to>
                                        <p:strVal val="visible"/>
                                      </p:to>
                                    </p:set>
                                    <p:animEffect transition="in" filter="slide(fromLeft)">
                                      <p:cBhvr>
                                        <p:cTn id="19" dur="500"/>
                                        <p:tgtEl>
                                          <p:spTgt spid="94106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941073"/>
                                        </p:tgtEl>
                                        <p:attrNameLst>
                                          <p:attrName>style.visibility</p:attrName>
                                        </p:attrNameLst>
                                      </p:cBhvr>
                                      <p:to>
                                        <p:strVal val="visible"/>
                                      </p:to>
                                    </p:set>
                                    <p:animEffect transition="in" filter="slide(fromLeft)">
                                      <p:cBhvr>
                                        <p:cTn id="24" dur="500"/>
                                        <p:tgtEl>
                                          <p:spTgt spid="941073"/>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941074"/>
                                        </p:tgtEl>
                                        <p:attrNameLst>
                                          <p:attrName>style.visibility</p:attrName>
                                        </p:attrNameLst>
                                      </p:cBhvr>
                                      <p:to>
                                        <p:strVal val="visible"/>
                                      </p:to>
                                    </p:set>
                                    <p:animEffect transition="in" filter="slide(fromLeft)">
                                      <p:cBhvr>
                                        <p:cTn id="29" dur="500"/>
                                        <p:tgtEl>
                                          <p:spTgt spid="941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63" grpId="0"/>
      <p:bldP spid="941065" grpId="0"/>
      <p:bldP spid="94106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C6C20119-FCB1-43DD-AC89-12988396D354}"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HD-ITR</a:t>
            </a:r>
          </a:p>
        </p:txBody>
      </p:sp>
      <p:sp>
        <p:nvSpPr>
          <p:cNvPr id="10"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2A7FB33-B5A2-420B-82D9-01913D93608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6870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rPr>
              <a:t>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68707" name="Rectangle 3"/>
          <p:cNvSpPr>
            <a:spLocks noGrp="1" noChangeArrowheads="1"/>
          </p:cNvSpPr>
          <p:nvPr>
            <p:ph idx="1"/>
          </p:nvPr>
        </p:nvSpPr>
        <p:spPr>
          <a:xfrm>
            <a:off x="609600" y="1798638"/>
            <a:ext cx="7924800" cy="4873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Q</a:t>
            </a:r>
            <a:r>
              <a:rPr kumimoji="0" lang="en-US" altLang="zh-CN" sz="2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的执行过程:</a:t>
            </a:r>
          </a:p>
        </p:txBody>
      </p:sp>
      <p:sp>
        <p:nvSpPr>
          <p:cNvPr id="968708" name="Rectangle 4"/>
          <p:cNvSpPr>
            <a:spLocks noChangeArrowheads="1"/>
          </p:cNvSpPr>
          <p:nvPr/>
        </p:nvSpPr>
        <p:spPr bwMode="auto">
          <a:xfrm>
            <a:off x="609600" y="1181100"/>
            <a:ext cx="80010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Q1=Π</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SN</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(σ</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(S.S#=SC.S#)∧(SC.C#="C2")</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(S×SC))</a:t>
            </a:r>
          </a:p>
        </p:txBody>
      </p:sp>
      <p:sp>
        <p:nvSpPr>
          <p:cNvPr id="968709" name="Rectangle 5"/>
          <p:cNvSpPr>
            <a:spLocks noChangeArrowheads="1"/>
          </p:cNvSpPr>
          <p:nvPr/>
        </p:nvSpPr>
        <p:spPr bwMode="auto">
          <a:xfrm>
            <a:off x="609600" y="1800225"/>
            <a:ext cx="79248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just"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endParaRP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计算</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的笛卡儿积：</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①使用一个内存缓冲区</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读入某个关系(如</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的未处理元组;</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②使用另一个内存缓冲区</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BSC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读入另一个关系(如</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的未处理元组;</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③把</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中的每个元组和</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BSC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中每个元组相连接，并送入输出缓冲区</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BO；</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④</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如果</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BO</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已满则写到一个临时文件;</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⑤重复步骤②～④，直至</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中元组全部处理完;</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⑥重复步骤①～⑥，直至</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中元组全部处理完。</a:t>
            </a:r>
          </a:p>
        </p:txBody>
      </p:sp>
      <p:sp>
        <p:nvSpPr>
          <p:cNvPr id="968710" name="Rectangle 6"/>
          <p:cNvSpPr>
            <a:spLocks noChangeArrowheads="1"/>
          </p:cNvSpPr>
          <p:nvPr/>
        </p:nvSpPr>
        <p:spPr bwMode="auto">
          <a:xfrm>
            <a:off x="609600" y="5257800"/>
            <a:ext cx="7924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从临时文件读入</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的笛卡儿积，按照选择条件选取满足要求的记录。</a:t>
            </a:r>
          </a:p>
        </p:txBody>
      </p:sp>
      <p:sp>
        <p:nvSpPr>
          <p:cNvPr id="968711" name="Rectangle 7"/>
          <p:cNvSpPr>
            <a:spLocks noChangeArrowheads="1"/>
          </p:cNvSpPr>
          <p:nvPr/>
        </p:nvSpPr>
        <p:spPr bwMode="auto">
          <a:xfrm>
            <a:off x="609600" y="6019800"/>
            <a:ext cx="7924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把第2步的结果在</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SN</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上作投影输出，得到最终结果。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8707">
                                            <p:txEl>
                                              <p:pRg st="0" end="0"/>
                                            </p:txEl>
                                          </p:spTgt>
                                        </p:tgtEl>
                                        <p:attrNameLst>
                                          <p:attrName>style.visibility</p:attrName>
                                        </p:attrNameLst>
                                      </p:cBhvr>
                                      <p:to>
                                        <p:strVal val="visible"/>
                                      </p:to>
                                    </p:set>
                                    <p:anim calcmode="lin" valueType="num">
                                      <p:cBhvr>
                                        <p:cTn id="7" dur="500" fill="hold"/>
                                        <p:tgtEl>
                                          <p:spTgt spid="968707">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9687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8709"/>
                                        </p:tgtEl>
                                        <p:attrNameLst>
                                          <p:attrName>style.visibility</p:attrName>
                                        </p:attrNameLst>
                                      </p:cBhvr>
                                      <p:to>
                                        <p:strVal val="visible"/>
                                      </p:to>
                                    </p:set>
                                    <p:anim calcmode="lin" valueType="num">
                                      <p:cBhvr>
                                        <p:cTn id="13" dur="500" fill="hold"/>
                                        <p:tgtEl>
                                          <p:spTgt spid="968709"/>
                                        </p:tgtEl>
                                        <p:attrNameLst>
                                          <p:attrName>ppt_x</p:attrName>
                                        </p:attrNameLst>
                                      </p:cBhvr>
                                      <p:tavLst>
                                        <p:tav tm="0">
                                          <p:val>
                                            <p:strVal val="#ppt_x"/>
                                          </p:val>
                                        </p:tav>
                                        <p:tav tm="100000">
                                          <p:val>
                                            <p:strVal val="#ppt_x"/>
                                          </p:val>
                                        </p:tav>
                                      </p:tavLst>
                                    </p:anim>
                                    <p:anim calcmode="lin" valueType="num">
                                      <p:cBhvr>
                                        <p:cTn id="14" dur="500" fill="hold"/>
                                        <p:tgtEl>
                                          <p:spTgt spid="96870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68710"/>
                                        </p:tgtEl>
                                        <p:attrNameLst>
                                          <p:attrName>style.visibility</p:attrName>
                                        </p:attrNameLst>
                                      </p:cBhvr>
                                      <p:to>
                                        <p:strVal val="visible"/>
                                      </p:to>
                                    </p:set>
                                    <p:anim calcmode="lin" valueType="num">
                                      <p:cBhvr>
                                        <p:cTn id="19" dur="500" fill="hold"/>
                                        <p:tgtEl>
                                          <p:spTgt spid="968710"/>
                                        </p:tgtEl>
                                        <p:attrNameLst>
                                          <p:attrName>ppt_x</p:attrName>
                                        </p:attrNameLst>
                                      </p:cBhvr>
                                      <p:tavLst>
                                        <p:tav tm="0">
                                          <p:val>
                                            <p:strVal val="#ppt_x"/>
                                          </p:val>
                                        </p:tav>
                                        <p:tav tm="100000">
                                          <p:val>
                                            <p:strVal val="#ppt_x"/>
                                          </p:val>
                                        </p:tav>
                                      </p:tavLst>
                                    </p:anim>
                                    <p:anim calcmode="lin" valueType="num">
                                      <p:cBhvr>
                                        <p:cTn id="20" dur="500" fill="hold"/>
                                        <p:tgtEl>
                                          <p:spTgt spid="9687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68711"/>
                                        </p:tgtEl>
                                        <p:attrNameLst>
                                          <p:attrName>style.visibility</p:attrName>
                                        </p:attrNameLst>
                                      </p:cBhvr>
                                      <p:to>
                                        <p:strVal val="visible"/>
                                      </p:to>
                                    </p:set>
                                    <p:anim calcmode="lin" valueType="num">
                                      <p:cBhvr>
                                        <p:cTn id="25" dur="500" fill="hold"/>
                                        <p:tgtEl>
                                          <p:spTgt spid="968711"/>
                                        </p:tgtEl>
                                        <p:attrNameLst>
                                          <p:attrName>ppt_x</p:attrName>
                                        </p:attrNameLst>
                                      </p:cBhvr>
                                      <p:tavLst>
                                        <p:tav tm="0">
                                          <p:val>
                                            <p:strVal val="#ppt_x"/>
                                          </p:val>
                                        </p:tav>
                                        <p:tav tm="100000">
                                          <p:val>
                                            <p:strVal val="#ppt_x"/>
                                          </p:val>
                                        </p:tav>
                                      </p:tavLst>
                                    </p:anim>
                                    <p:anim calcmode="lin" valueType="num">
                                      <p:cBhvr>
                                        <p:cTn id="26" dur="500" fill="hold"/>
                                        <p:tgtEl>
                                          <p:spTgt spid="9687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07" grpId="0" build="p"/>
      <p:bldP spid="968709" grpId="0"/>
      <p:bldP spid="968710" grpId="0"/>
      <p:bldP spid="9687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56A170A-018D-4090-BFCA-FB1A6D8F7B6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4"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5"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7956768-6AF6-4962-B4A2-3E7DD18AC2F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69730"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69731" name="Rectangle 3"/>
          <p:cNvSpPr>
            <a:spLocks noGrp="1" noChangeArrowheads="1"/>
          </p:cNvSpPr>
          <p:nvPr>
            <p:ph idx="1"/>
          </p:nvPr>
        </p:nvSpPr>
        <p:spPr>
          <a:xfrm>
            <a:off x="609600" y="15240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Q</a:t>
            </a:r>
            <a:r>
              <a:rPr kumimoji="0" lang="en-US" altLang="zh-CN" sz="32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的时间开销:</a:t>
            </a:r>
          </a:p>
        </p:txBody>
      </p:sp>
      <p:sp>
        <p:nvSpPr>
          <p:cNvPr id="969732" name="Rectangle 4"/>
          <p:cNvSpPr>
            <a:spLocks noChangeArrowheads="1"/>
          </p:cNvSpPr>
          <p:nvPr/>
        </p:nvSpPr>
        <p:spPr bwMode="auto">
          <a:xfrm>
            <a:off x="1187450" y="188913"/>
            <a:ext cx="3960813" cy="11382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中有</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1000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个学生记录</a:t>
            </a:r>
          </a:p>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SC</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中有</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10000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个选课记录</a:t>
            </a:r>
          </a:p>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SC</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中选修</a:t>
            </a: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C2</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课程的记录为</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50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a:t>
            </a:r>
          </a:p>
        </p:txBody>
      </p:sp>
      <p:sp>
        <p:nvSpPr>
          <p:cNvPr id="969733" name="Rectangle 5"/>
          <p:cNvSpPr>
            <a:spLocks noChangeArrowheads="1"/>
          </p:cNvSpPr>
          <p:nvPr/>
        </p:nvSpPr>
        <p:spPr bwMode="auto">
          <a:xfrm>
            <a:off x="609600" y="2019300"/>
            <a:ext cx="828357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每个磁盘块能装10个</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的元组或100个</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的元组。每个磁盘块能装5个结果元组。每秒可读/写20个磁盘块。</a:t>
            </a:r>
          </a:p>
        </p:txBody>
      </p:sp>
      <p:sp>
        <p:nvSpPr>
          <p:cNvPr id="969734" name="Rectangle 6"/>
          <p:cNvSpPr>
            <a:spLocks noChangeArrowheads="1"/>
          </p:cNvSpPr>
          <p:nvPr/>
        </p:nvSpPr>
        <p:spPr bwMode="auto">
          <a:xfrm>
            <a:off x="609600" y="2924175"/>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计算</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的笛卡尔积：</a:t>
            </a:r>
          </a:p>
        </p:txBody>
      </p:sp>
      <p:sp>
        <p:nvSpPr>
          <p:cNvPr id="969735" name="Rectangle 7"/>
          <p:cNvSpPr>
            <a:spLocks noChangeArrowheads="1"/>
          </p:cNvSpPr>
          <p:nvPr/>
        </p:nvSpPr>
        <p:spPr bwMode="auto">
          <a:xfrm>
            <a:off x="609600" y="3789363"/>
            <a:ext cx="7924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选择：</a:t>
            </a:r>
          </a:p>
        </p:txBody>
      </p:sp>
      <p:sp>
        <p:nvSpPr>
          <p:cNvPr id="969736" name="Rectangle 8"/>
          <p:cNvSpPr>
            <a:spLocks noChangeArrowheads="1"/>
          </p:cNvSpPr>
          <p:nvPr/>
        </p:nvSpPr>
        <p:spPr bwMode="auto">
          <a:xfrm>
            <a:off x="609600" y="4652963"/>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投影：</a:t>
            </a:r>
          </a:p>
        </p:txBody>
      </p:sp>
      <p:sp>
        <p:nvSpPr>
          <p:cNvPr id="969737" name="Rectangle 9"/>
          <p:cNvSpPr>
            <a:spLocks noChangeArrowheads="1"/>
          </p:cNvSpPr>
          <p:nvPr/>
        </p:nvSpPr>
        <p:spPr bwMode="auto">
          <a:xfrm>
            <a:off x="609600" y="5445125"/>
            <a:ext cx="79248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忽略</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CPU</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需要的处理时间大约</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200</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010</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秒。</a:t>
            </a:r>
          </a:p>
        </p:txBody>
      </p:sp>
      <p:sp>
        <p:nvSpPr>
          <p:cNvPr id="969738" name="Rectangle 10"/>
          <p:cNvSpPr>
            <a:spLocks noChangeArrowheads="1"/>
          </p:cNvSpPr>
          <p:nvPr/>
        </p:nvSpPr>
        <p:spPr bwMode="auto">
          <a:xfrm>
            <a:off x="609600" y="3400425"/>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时间开销：10秒（读）＋100000秒（写）</a:t>
            </a:r>
          </a:p>
        </p:txBody>
      </p:sp>
      <p:sp>
        <p:nvSpPr>
          <p:cNvPr id="969739" name="Rectangle 11"/>
          <p:cNvSpPr>
            <a:spLocks noChangeArrowheads="1"/>
          </p:cNvSpPr>
          <p:nvPr/>
        </p:nvSpPr>
        <p:spPr bwMode="auto">
          <a:xfrm>
            <a:off x="609600" y="4267200"/>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时间开销：100000秒（读）</a:t>
            </a:r>
          </a:p>
        </p:txBody>
      </p:sp>
      <p:sp>
        <p:nvSpPr>
          <p:cNvPr id="969740" name="Rectangle 12"/>
          <p:cNvSpPr>
            <a:spLocks noChangeArrowheads="1"/>
          </p:cNvSpPr>
          <p:nvPr/>
        </p:nvSpPr>
        <p:spPr bwMode="auto">
          <a:xfrm>
            <a:off x="609600" y="5084763"/>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时间开销：0秒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97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969732"/>
                                        </p:tgtEl>
                                        <p:attrNameLst>
                                          <p:attrName>style.visibility</p:attrName>
                                        </p:attrNameLst>
                                      </p:cBhvr>
                                      <p:to>
                                        <p:strVal val="visible"/>
                                      </p:to>
                                    </p:set>
                                    <p:animEffect transition="in" filter="randombar(horizontal)">
                                      <p:cBhvr>
                                        <p:cTn id="11" dur="500"/>
                                        <p:tgtEl>
                                          <p:spTgt spid="969732"/>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969733"/>
                                        </p:tgtEl>
                                        <p:attrNameLst>
                                          <p:attrName>style.visibility</p:attrName>
                                        </p:attrNameLst>
                                      </p:cBhvr>
                                      <p:to>
                                        <p:strVal val="visible"/>
                                      </p:to>
                                    </p:set>
                                    <p:animEffect transition="in" filter="randombar(horizontal)">
                                      <p:cBhvr>
                                        <p:cTn id="16" dur="500"/>
                                        <p:tgtEl>
                                          <p:spTgt spid="96973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697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69738"/>
                                        </p:tgtEl>
                                        <p:attrNameLst>
                                          <p:attrName>style.visibility</p:attrName>
                                        </p:attrNameLst>
                                      </p:cBhvr>
                                      <p:to>
                                        <p:strVal val="visible"/>
                                      </p:to>
                                    </p:set>
                                    <p:animEffect transition="in" filter="dissolve">
                                      <p:cBhvr>
                                        <p:cTn id="25" dur="500"/>
                                        <p:tgtEl>
                                          <p:spTgt spid="96973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96973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969739"/>
                                        </p:tgtEl>
                                        <p:attrNameLst>
                                          <p:attrName>style.visibility</p:attrName>
                                        </p:attrNameLst>
                                      </p:cBhvr>
                                      <p:to>
                                        <p:strVal val="visible"/>
                                      </p:to>
                                    </p:set>
                                    <p:animEffect transition="in" filter="dissolve">
                                      <p:cBhvr>
                                        <p:cTn id="34" dur="500"/>
                                        <p:tgtEl>
                                          <p:spTgt spid="96973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697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969740"/>
                                        </p:tgtEl>
                                        <p:attrNameLst>
                                          <p:attrName>style.visibility</p:attrName>
                                        </p:attrNameLst>
                                      </p:cBhvr>
                                      <p:to>
                                        <p:strVal val="visible"/>
                                      </p:to>
                                    </p:set>
                                    <p:animEffect transition="in" filter="dissolve">
                                      <p:cBhvr>
                                        <p:cTn id="43" dur="500"/>
                                        <p:tgtEl>
                                          <p:spTgt spid="969740"/>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42" fill="hold" grpId="0" nodeType="clickEffect">
                                  <p:stCondLst>
                                    <p:cond delay="0"/>
                                  </p:stCondLst>
                                  <p:childTnLst>
                                    <p:set>
                                      <p:cBhvr>
                                        <p:cTn id="47" dur="1" fill="hold">
                                          <p:stCondLst>
                                            <p:cond delay="0"/>
                                          </p:stCondLst>
                                        </p:cTn>
                                        <p:tgtEl>
                                          <p:spTgt spid="969737"/>
                                        </p:tgtEl>
                                        <p:attrNameLst>
                                          <p:attrName>style.visibility</p:attrName>
                                        </p:attrNameLst>
                                      </p:cBhvr>
                                      <p:to>
                                        <p:strVal val="visible"/>
                                      </p:to>
                                    </p:set>
                                    <p:animEffect transition="in" filter="barn(outHorizontal)">
                                      <p:cBhvr>
                                        <p:cTn id="48" dur="500"/>
                                        <p:tgtEl>
                                          <p:spTgt spid="969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731" grpId="0" build="p"/>
      <p:bldP spid="969732" grpId="0" animBg="1"/>
      <p:bldP spid="969733" grpId="0"/>
      <p:bldP spid="969734" grpId="0"/>
      <p:bldP spid="969735" grpId="0"/>
      <p:bldP spid="969736" grpId="0"/>
      <p:bldP spid="969737" grpId="0"/>
      <p:bldP spid="969738" grpId="0"/>
      <p:bldP spid="969739" grpId="0"/>
      <p:bldP spid="9697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D919064-D235-4A1E-8E20-D0AEFEB0C2B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2"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9A77A5D-AA43-4507-BECE-DC9586928D9B}"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30724" name="Group 8"/>
          <p:cNvGrpSpPr/>
          <p:nvPr/>
        </p:nvGrpSpPr>
        <p:grpSpPr>
          <a:xfrm>
            <a:off x="609600" y="1352550"/>
            <a:ext cx="7924800" cy="533400"/>
            <a:chOff x="336" y="768"/>
            <a:chExt cx="4992" cy="336"/>
          </a:xfrm>
        </p:grpSpPr>
        <p:sp>
          <p:nvSpPr>
            <p:cNvPr id="970759" name="Rectangle 7"/>
            <p:cNvSpPr>
              <a:spLocks noChangeArrowheads="1"/>
            </p:cNvSpPr>
            <p:nvPr/>
          </p:nvSpPr>
          <p:spPr bwMode="auto">
            <a:xfrm>
              <a:off x="336" y="768"/>
              <a:ext cx="49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Q2 </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SN </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(σ</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SC.C#="C2" </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S.S#=SC.S#  </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p>
          </p:txBody>
        </p:sp>
        <p:graphicFrame>
          <p:nvGraphicFramePr>
            <p:cNvPr id="30726" name="Object 6"/>
            <p:cNvGraphicFramePr>
              <a:graphicFrameLocks noChangeAspect="1"/>
            </p:cNvGraphicFramePr>
            <p:nvPr/>
          </p:nvGraphicFramePr>
          <p:xfrm>
            <a:off x="2910" y="806"/>
            <a:ext cx="162" cy="120"/>
          </p:xfrm>
          <a:graphic>
            <a:graphicData uri="http://schemas.openxmlformats.org/presentationml/2006/ole">
              <mc:AlternateContent xmlns:mc="http://schemas.openxmlformats.org/markup-compatibility/2006">
                <mc:Choice xmlns:v="urn:schemas-microsoft-com:vml" Requires="v">
                  <p:oleObj spid="_x0000_s4098" r:id="rId3" imgW="257175" imgH="190500" progId="Paint.Picture">
                    <p:embed/>
                  </p:oleObj>
                </mc:Choice>
                <mc:Fallback>
                  <p:oleObj r:id="rId3" imgW="257175" imgH="190500" progId="Paint.Picture">
                    <p:embed/>
                    <p:pic>
                      <p:nvPicPr>
                        <p:cNvPr id="0" name="图片 3077"/>
                        <p:cNvPicPr/>
                        <p:nvPr/>
                      </p:nvPicPr>
                      <p:blipFill>
                        <a:blip r:embed="rId4"/>
                        <a:stretch>
                          <a:fillRect/>
                        </a:stretch>
                      </p:blipFill>
                      <p:spPr>
                        <a:xfrm>
                          <a:off x="2910" y="806"/>
                          <a:ext cx="162" cy="120"/>
                        </a:xfrm>
                        <a:prstGeom prst="rect">
                          <a:avLst/>
                        </a:prstGeom>
                        <a:noFill/>
                        <a:ln w="38100">
                          <a:noFill/>
                          <a:miter/>
                        </a:ln>
                      </p:spPr>
                    </p:pic>
                  </p:oleObj>
                </mc:Fallback>
              </mc:AlternateContent>
            </a:graphicData>
          </a:graphic>
        </p:graphicFrame>
      </p:grpSp>
      <p:sp>
        <p:nvSpPr>
          <p:cNvPr id="97075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70755" name="Rectangle 3"/>
          <p:cNvSpPr>
            <a:spLocks noGrp="1" noChangeArrowheads="1"/>
          </p:cNvSpPr>
          <p:nvPr>
            <p:ph idx="1"/>
          </p:nvPr>
        </p:nvSpPr>
        <p:spPr>
          <a:xfrm>
            <a:off x="609600" y="2008188"/>
            <a:ext cx="7924800" cy="4873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Q</a:t>
            </a:r>
            <a:r>
              <a:rPr kumimoji="0" lang="en-US" altLang="zh-CN" sz="28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的执行过程：</a:t>
            </a:r>
          </a:p>
        </p:txBody>
      </p:sp>
      <p:sp>
        <p:nvSpPr>
          <p:cNvPr id="970761" name="Rectangle 9"/>
          <p:cNvSpPr>
            <a:spLocks noChangeArrowheads="1"/>
          </p:cNvSpPr>
          <p:nvPr/>
        </p:nvSpPr>
        <p:spPr bwMode="auto">
          <a:xfrm>
            <a:off x="609600" y="2505075"/>
            <a:ext cx="792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计算自然连接。</a:t>
            </a:r>
          </a:p>
        </p:txBody>
      </p:sp>
      <p:sp>
        <p:nvSpPr>
          <p:cNvPr id="970762" name="Rectangle 10"/>
          <p:cNvSpPr>
            <a:spLocks noChangeArrowheads="1"/>
          </p:cNvSpPr>
          <p:nvPr/>
        </p:nvSpPr>
        <p:spPr bwMode="auto">
          <a:xfrm>
            <a:off x="609600" y="2952750"/>
            <a:ext cx="792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读取中间文件块，执行选择运算。</a:t>
            </a:r>
          </a:p>
        </p:txBody>
      </p:sp>
      <p:sp>
        <p:nvSpPr>
          <p:cNvPr id="970763" name="Rectangle 11"/>
          <p:cNvSpPr>
            <a:spLocks noChangeArrowheads="1"/>
          </p:cNvSpPr>
          <p:nvPr/>
        </p:nvSpPr>
        <p:spPr bwMode="auto">
          <a:xfrm>
            <a:off x="609600" y="3409950"/>
            <a:ext cx="792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把第2步结果投影输出。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0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70761"/>
                                        </p:tgtEl>
                                        <p:attrNameLst>
                                          <p:attrName>style.visibility</p:attrName>
                                        </p:attrNameLst>
                                      </p:cBhvr>
                                      <p:to>
                                        <p:strVal val="visible"/>
                                      </p:to>
                                    </p:set>
                                    <p:anim calcmode="lin" valueType="num">
                                      <p:cBhvr>
                                        <p:cTn id="11" dur="500" fill="hold"/>
                                        <p:tgtEl>
                                          <p:spTgt spid="970761"/>
                                        </p:tgtEl>
                                        <p:attrNameLst>
                                          <p:attrName>ppt_x</p:attrName>
                                        </p:attrNameLst>
                                      </p:cBhvr>
                                      <p:tavLst>
                                        <p:tav tm="0">
                                          <p:val>
                                            <p:strVal val="#ppt_x"/>
                                          </p:val>
                                        </p:tav>
                                        <p:tav tm="100000">
                                          <p:val>
                                            <p:strVal val="#ppt_x"/>
                                          </p:val>
                                        </p:tav>
                                      </p:tavLst>
                                    </p:anim>
                                    <p:anim calcmode="lin" valueType="num">
                                      <p:cBhvr>
                                        <p:cTn id="12" dur="500" fill="hold"/>
                                        <p:tgtEl>
                                          <p:spTgt spid="97076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70762"/>
                                        </p:tgtEl>
                                        <p:attrNameLst>
                                          <p:attrName>style.visibility</p:attrName>
                                        </p:attrNameLst>
                                      </p:cBhvr>
                                      <p:to>
                                        <p:strVal val="visible"/>
                                      </p:to>
                                    </p:set>
                                    <p:anim calcmode="lin" valueType="num">
                                      <p:cBhvr>
                                        <p:cTn id="17" dur="500" fill="hold"/>
                                        <p:tgtEl>
                                          <p:spTgt spid="970762"/>
                                        </p:tgtEl>
                                        <p:attrNameLst>
                                          <p:attrName>ppt_x</p:attrName>
                                        </p:attrNameLst>
                                      </p:cBhvr>
                                      <p:tavLst>
                                        <p:tav tm="0">
                                          <p:val>
                                            <p:strVal val="#ppt_x"/>
                                          </p:val>
                                        </p:tav>
                                        <p:tav tm="100000">
                                          <p:val>
                                            <p:strVal val="#ppt_x"/>
                                          </p:val>
                                        </p:tav>
                                      </p:tavLst>
                                    </p:anim>
                                    <p:anim calcmode="lin" valueType="num">
                                      <p:cBhvr>
                                        <p:cTn id="18" dur="500" fill="hold"/>
                                        <p:tgtEl>
                                          <p:spTgt spid="97076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70763"/>
                                        </p:tgtEl>
                                        <p:attrNameLst>
                                          <p:attrName>style.visibility</p:attrName>
                                        </p:attrNameLst>
                                      </p:cBhvr>
                                      <p:to>
                                        <p:strVal val="visible"/>
                                      </p:to>
                                    </p:set>
                                    <p:anim calcmode="lin" valueType="num">
                                      <p:cBhvr>
                                        <p:cTn id="23" dur="500" fill="hold"/>
                                        <p:tgtEl>
                                          <p:spTgt spid="970763"/>
                                        </p:tgtEl>
                                        <p:attrNameLst>
                                          <p:attrName>ppt_x</p:attrName>
                                        </p:attrNameLst>
                                      </p:cBhvr>
                                      <p:tavLst>
                                        <p:tav tm="0">
                                          <p:val>
                                            <p:strVal val="#ppt_x"/>
                                          </p:val>
                                        </p:tav>
                                        <p:tav tm="100000">
                                          <p:val>
                                            <p:strVal val="#ppt_x"/>
                                          </p:val>
                                        </p:tav>
                                      </p:tavLst>
                                    </p:anim>
                                    <p:anim calcmode="lin" valueType="num">
                                      <p:cBhvr>
                                        <p:cTn id="24" dur="500" fill="hold"/>
                                        <p:tgtEl>
                                          <p:spTgt spid="9707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5" grpId="0" build="p"/>
      <p:bldP spid="970761" grpId="0"/>
      <p:bldP spid="970762" grpId="0"/>
      <p:bldP spid="9707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8F6AF5D-D930-4C30-BA1D-1F7C89955584}"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2CE0A4C-261E-4297-BCD2-9259482D8B6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7382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73827" name="Rectangle 3"/>
          <p:cNvSpPr>
            <a:spLocks noGrp="1" noChangeArrowheads="1"/>
          </p:cNvSpPr>
          <p:nvPr>
            <p:ph idx="1"/>
          </p:nvPr>
        </p:nvSpPr>
        <p:spPr>
          <a:xfrm>
            <a:off x="609600" y="15240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Q</a:t>
            </a:r>
            <a:r>
              <a:rPr kumimoji="0" lang="en-US" altLang="zh-CN" sz="32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的时间开销:</a:t>
            </a:r>
          </a:p>
        </p:txBody>
      </p:sp>
      <p:sp>
        <p:nvSpPr>
          <p:cNvPr id="973828" name="Rectangle 4"/>
          <p:cNvSpPr>
            <a:spLocks noChangeArrowheads="1"/>
          </p:cNvSpPr>
          <p:nvPr/>
        </p:nvSpPr>
        <p:spPr bwMode="auto">
          <a:xfrm>
            <a:off x="1201738" y="188913"/>
            <a:ext cx="3946525" cy="11382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中有</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1000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个学生记录</a:t>
            </a:r>
          </a:p>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SC</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中有</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10000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个选课记录</a:t>
            </a:r>
          </a:p>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SC</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中选修</a:t>
            </a: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C2</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课程的记录为</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50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a:t>
            </a:r>
          </a:p>
        </p:txBody>
      </p:sp>
      <p:sp>
        <p:nvSpPr>
          <p:cNvPr id="973829" name="Rectangle 5"/>
          <p:cNvSpPr>
            <a:spLocks noChangeArrowheads="1"/>
          </p:cNvSpPr>
          <p:nvPr/>
        </p:nvSpPr>
        <p:spPr bwMode="auto">
          <a:xfrm>
            <a:off x="609600" y="1989138"/>
            <a:ext cx="81534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每个磁盘块能装10个</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的元组或100个</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的元组。每个磁盘块能装5个结果元组。每秒可读/写20个磁盘块。</a:t>
            </a:r>
          </a:p>
        </p:txBody>
      </p:sp>
      <p:sp>
        <p:nvSpPr>
          <p:cNvPr id="973830" name="Rectangle 6"/>
          <p:cNvSpPr>
            <a:spLocks noChangeArrowheads="1"/>
          </p:cNvSpPr>
          <p:nvPr/>
        </p:nvSpPr>
        <p:spPr bwMode="auto">
          <a:xfrm>
            <a:off x="609600" y="2820988"/>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计算自然连接：</a:t>
            </a:r>
          </a:p>
        </p:txBody>
      </p:sp>
      <p:sp>
        <p:nvSpPr>
          <p:cNvPr id="973831" name="Rectangle 7"/>
          <p:cNvSpPr>
            <a:spLocks noChangeArrowheads="1"/>
          </p:cNvSpPr>
          <p:nvPr/>
        </p:nvSpPr>
        <p:spPr bwMode="auto">
          <a:xfrm>
            <a:off x="609600" y="3925888"/>
            <a:ext cx="7924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选择：</a:t>
            </a:r>
          </a:p>
        </p:txBody>
      </p:sp>
      <p:sp>
        <p:nvSpPr>
          <p:cNvPr id="973832" name="Rectangle 8"/>
          <p:cNvSpPr>
            <a:spLocks noChangeArrowheads="1"/>
          </p:cNvSpPr>
          <p:nvPr/>
        </p:nvSpPr>
        <p:spPr bwMode="auto">
          <a:xfrm>
            <a:off x="609600" y="4725988"/>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投影：</a:t>
            </a:r>
          </a:p>
        </p:txBody>
      </p:sp>
      <p:sp>
        <p:nvSpPr>
          <p:cNvPr id="973833" name="Rectangle 9"/>
          <p:cNvSpPr>
            <a:spLocks noChangeArrowheads="1"/>
          </p:cNvSpPr>
          <p:nvPr/>
        </p:nvSpPr>
        <p:spPr bwMode="auto">
          <a:xfrm>
            <a:off x="609600" y="5526088"/>
            <a:ext cx="79248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忽略</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CPU</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需要的处理时间大约</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30</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秒。</a:t>
            </a:r>
          </a:p>
        </p:txBody>
      </p:sp>
      <p:sp>
        <p:nvSpPr>
          <p:cNvPr id="973834" name="Rectangle 10"/>
          <p:cNvSpPr>
            <a:spLocks noChangeArrowheads="1"/>
          </p:cNvSpPr>
          <p:nvPr/>
        </p:nvSpPr>
        <p:spPr bwMode="auto">
          <a:xfrm>
            <a:off x="609600" y="3554413"/>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时间开销：10秒（读）＋10秒（写）</a:t>
            </a:r>
          </a:p>
        </p:txBody>
      </p:sp>
      <p:sp>
        <p:nvSpPr>
          <p:cNvPr id="973835" name="Rectangle 11"/>
          <p:cNvSpPr>
            <a:spLocks noChangeArrowheads="1"/>
          </p:cNvSpPr>
          <p:nvPr/>
        </p:nvSpPr>
        <p:spPr bwMode="auto">
          <a:xfrm>
            <a:off x="609600" y="4354513"/>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时间开销：10秒（读）</a:t>
            </a:r>
          </a:p>
        </p:txBody>
      </p:sp>
      <p:sp>
        <p:nvSpPr>
          <p:cNvPr id="973836" name="Rectangle 12"/>
          <p:cNvSpPr>
            <a:spLocks noChangeArrowheads="1"/>
          </p:cNvSpPr>
          <p:nvPr/>
        </p:nvSpPr>
        <p:spPr bwMode="auto">
          <a:xfrm>
            <a:off x="609600" y="5154613"/>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时间开销：0秒</a:t>
            </a:r>
          </a:p>
        </p:txBody>
      </p:sp>
      <p:sp>
        <p:nvSpPr>
          <p:cNvPr id="973837" name="Rectangle 13"/>
          <p:cNvSpPr>
            <a:spLocks noChangeArrowheads="1"/>
          </p:cNvSpPr>
          <p:nvPr/>
        </p:nvSpPr>
        <p:spPr bwMode="auto">
          <a:xfrm>
            <a:off x="609600" y="3201988"/>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设自然连接的结果为1000个元组。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73829"/>
                                        </p:tgtEl>
                                        <p:attrNameLst>
                                          <p:attrName>style.visibility</p:attrName>
                                        </p:attrNameLst>
                                      </p:cBhvr>
                                      <p:to>
                                        <p:strVal val="visible"/>
                                      </p:to>
                                    </p:set>
                                    <p:animEffect transition="in" filter="randombar(horizontal)">
                                      <p:cBhvr>
                                        <p:cTn id="7" dur="500"/>
                                        <p:tgtEl>
                                          <p:spTgt spid="97382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7383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73837"/>
                                        </p:tgtEl>
                                        <p:attrNameLst>
                                          <p:attrName>style.visibility</p:attrName>
                                        </p:attrNameLst>
                                      </p:cBhvr>
                                      <p:to>
                                        <p:strVal val="visible"/>
                                      </p:to>
                                    </p:set>
                                    <p:animEffect transition="in" filter="dissolve">
                                      <p:cBhvr>
                                        <p:cTn id="16" dur="500"/>
                                        <p:tgtEl>
                                          <p:spTgt spid="97383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73834"/>
                                        </p:tgtEl>
                                        <p:attrNameLst>
                                          <p:attrName>style.visibility</p:attrName>
                                        </p:attrNameLst>
                                      </p:cBhvr>
                                      <p:to>
                                        <p:strVal val="visible"/>
                                      </p:to>
                                    </p:set>
                                    <p:animEffect transition="in" filter="dissolve">
                                      <p:cBhvr>
                                        <p:cTn id="21" dur="500"/>
                                        <p:tgtEl>
                                          <p:spTgt spid="97383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97383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973835"/>
                                        </p:tgtEl>
                                        <p:attrNameLst>
                                          <p:attrName>style.visibility</p:attrName>
                                        </p:attrNameLst>
                                      </p:cBhvr>
                                      <p:to>
                                        <p:strVal val="visible"/>
                                      </p:to>
                                    </p:set>
                                    <p:animEffect transition="in" filter="dissolve">
                                      <p:cBhvr>
                                        <p:cTn id="30" dur="500"/>
                                        <p:tgtEl>
                                          <p:spTgt spid="97383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738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973836"/>
                                        </p:tgtEl>
                                        <p:attrNameLst>
                                          <p:attrName>style.visibility</p:attrName>
                                        </p:attrNameLst>
                                      </p:cBhvr>
                                      <p:to>
                                        <p:strVal val="visible"/>
                                      </p:to>
                                    </p:set>
                                    <p:animEffect transition="in" filter="dissolve">
                                      <p:cBhvr>
                                        <p:cTn id="39" dur="500"/>
                                        <p:tgtEl>
                                          <p:spTgt spid="973836"/>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42" fill="hold" grpId="0" nodeType="clickEffect">
                                  <p:stCondLst>
                                    <p:cond delay="0"/>
                                  </p:stCondLst>
                                  <p:childTnLst>
                                    <p:set>
                                      <p:cBhvr>
                                        <p:cTn id="43" dur="1" fill="hold">
                                          <p:stCondLst>
                                            <p:cond delay="0"/>
                                          </p:stCondLst>
                                        </p:cTn>
                                        <p:tgtEl>
                                          <p:spTgt spid="973833"/>
                                        </p:tgtEl>
                                        <p:attrNameLst>
                                          <p:attrName>style.visibility</p:attrName>
                                        </p:attrNameLst>
                                      </p:cBhvr>
                                      <p:to>
                                        <p:strVal val="visible"/>
                                      </p:to>
                                    </p:set>
                                    <p:animEffect transition="in" filter="barn(outHorizontal)">
                                      <p:cBhvr>
                                        <p:cTn id="44" dur="500"/>
                                        <p:tgtEl>
                                          <p:spTgt spid="973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9" grpId="0"/>
      <p:bldP spid="973830" grpId="0"/>
      <p:bldP spid="973831" grpId="0"/>
      <p:bldP spid="973832" grpId="0"/>
      <p:bldP spid="973833" grpId="0"/>
      <p:bldP spid="973834" grpId="0"/>
      <p:bldP spid="973835" grpId="0"/>
      <p:bldP spid="973836" grpId="0"/>
      <p:bldP spid="9738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8137492-3E36-4D49-B63C-11DF22C837E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1"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3DCE1B3-B3EF-4120-BBC2-DE332D3FA70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74851" name="Rectangle 1027"/>
          <p:cNvSpPr>
            <a:spLocks noChangeArrowheads="1"/>
          </p:cNvSpPr>
          <p:nvPr/>
        </p:nvSpPr>
        <p:spPr bwMode="auto">
          <a:xfrm>
            <a:off x="609600" y="1371600"/>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SN</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((σ</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SC.C#="C2"</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SC)     </a:t>
            </a:r>
            <a:r>
              <a:rPr kumimoji="0" lang="en-US" altLang="zh-CN" sz="2800" b="1" i="0" u="none" strike="noStrike" kern="1200" cap="none" spc="0" normalizeH="0" baseline="-3000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S.S#=SC.S# </a:t>
            </a:r>
            <a:r>
              <a:rPr kumimoji="0" lang="en-US" altLang="zh-CN" sz="28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S)</a:t>
            </a:r>
          </a:p>
        </p:txBody>
      </p:sp>
      <p:graphicFrame>
        <p:nvGraphicFramePr>
          <p:cNvPr id="32773" name="Object 1028"/>
          <p:cNvGraphicFramePr>
            <a:graphicFrameLocks noChangeAspect="1"/>
          </p:cNvGraphicFramePr>
          <p:nvPr/>
        </p:nvGraphicFramePr>
        <p:xfrm>
          <a:off x="4932363" y="1582738"/>
          <a:ext cx="257175" cy="190500"/>
        </p:xfrm>
        <a:graphic>
          <a:graphicData uri="http://schemas.openxmlformats.org/presentationml/2006/ole">
            <mc:AlternateContent xmlns:mc="http://schemas.openxmlformats.org/markup-compatibility/2006">
              <mc:Choice xmlns:v="urn:schemas-microsoft-com:vml" Requires="v">
                <p:oleObj spid="_x0000_s5122" r:id="rId3" imgW="257175" imgH="190500" progId="Paint.Picture">
                  <p:embed/>
                </p:oleObj>
              </mc:Choice>
              <mc:Fallback>
                <p:oleObj r:id="rId3" imgW="257175" imgH="190500" progId="Paint.Picture">
                  <p:embed/>
                  <p:pic>
                    <p:nvPicPr>
                      <p:cNvPr id="0" name="图片 3078"/>
                      <p:cNvPicPr/>
                      <p:nvPr/>
                    </p:nvPicPr>
                    <p:blipFill>
                      <a:blip r:embed="rId4"/>
                      <a:stretch>
                        <a:fillRect/>
                      </a:stretch>
                    </p:blipFill>
                    <p:spPr>
                      <a:xfrm>
                        <a:off x="4932363" y="1582738"/>
                        <a:ext cx="257175" cy="190500"/>
                      </a:xfrm>
                      <a:prstGeom prst="rect">
                        <a:avLst/>
                      </a:prstGeom>
                      <a:noFill/>
                      <a:ln w="38100">
                        <a:noFill/>
                        <a:miter/>
                      </a:ln>
                    </p:spPr>
                  </p:pic>
                </p:oleObj>
              </mc:Fallback>
            </mc:AlternateContent>
          </a:graphicData>
        </a:graphic>
      </p:graphicFrame>
      <p:sp>
        <p:nvSpPr>
          <p:cNvPr id="974853" name="Rectangle 1029"/>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74854" name="Rectangle 1030"/>
          <p:cNvSpPr>
            <a:spLocks noGrp="1" noChangeArrowheads="1"/>
          </p:cNvSpPr>
          <p:nvPr>
            <p:ph idx="1"/>
          </p:nvPr>
        </p:nvSpPr>
        <p:spPr>
          <a:xfrm>
            <a:off x="609600" y="2008188"/>
            <a:ext cx="7924800" cy="4873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Q</a:t>
            </a:r>
            <a:r>
              <a:rPr kumimoji="0" lang="en-US" altLang="zh-CN" sz="28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的执行过程：</a:t>
            </a:r>
          </a:p>
        </p:txBody>
      </p:sp>
      <p:sp>
        <p:nvSpPr>
          <p:cNvPr id="974855" name="Rectangle 1031"/>
          <p:cNvSpPr>
            <a:spLocks noChangeArrowheads="1"/>
          </p:cNvSpPr>
          <p:nvPr/>
        </p:nvSpPr>
        <p:spPr bwMode="auto">
          <a:xfrm>
            <a:off x="609600" y="2505075"/>
            <a:ext cx="7924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对</a:t>
            </a:r>
            <a:r>
              <a:rPr kumimoji="0" lang="en-US" altLang="zh-CN"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作选择运算。</a:t>
            </a:r>
          </a:p>
        </p:txBody>
      </p:sp>
      <p:sp>
        <p:nvSpPr>
          <p:cNvPr id="974856" name="Rectangle 1032"/>
          <p:cNvSpPr>
            <a:spLocks noChangeArrowheads="1"/>
          </p:cNvSpPr>
          <p:nvPr/>
        </p:nvSpPr>
        <p:spPr bwMode="auto">
          <a:xfrm>
            <a:off x="609600" y="2952750"/>
            <a:ext cx="85137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(2)读取</a:t>
            </a:r>
            <a:r>
              <a:rPr kumimoji="0" lang="en-US" altLang="zh-CN"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表，把读入的</a:t>
            </a:r>
            <a:r>
              <a:rPr kumimoji="0" lang="en-US" altLang="zh-CN"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元组和内存中的</a:t>
            </a:r>
            <a:r>
              <a:rPr kumimoji="0" lang="en-US" altLang="zh-CN"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元组作连接。 </a:t>
            </a:r>
          </a:p>
        </p:txBody>
      </p:sp>
      <p:sp>
        <p:nvSpPr>
          <p:cNvPr id="974857" name="Rectangle 1033"/>
          <p:cNvSpPr>
            <a:spLocks noChangeArrowheads="1"/>
          </p:cNvSpPr>
          <p:nvPr/>
        </p:nvSpPr>
        <p:spPr bwMode="auto">
          <a:xfrm>
            <a:off x="609600" y="3409950"/>
            <a:ext cx="792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把第2步结果投影输出。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4855"/>
                                        </p:tgtEl>
                                        <p:attrNameLst>
                                          <p:attrName>style.visibility</p:attrName>
                                        </p:attrNameLst>
                                      </p:cBhvr>
                                      <p:to>
                                        <p:strVal val="visible"/>
                                      </p:to>
                                    </p:set>
                                    <p:anim calcmode="lin" valueType="num">
                                      <p:cBhvr>
                                        <p:cTn id="7" dur="500" fill="hold"/>
                                        <p:tgtEl>
                                          <p:spTgt spid="974855"/>
                                        </p:tgtEl>
                                        <p:attrNameLst>
                                          <p:attrName>ppt_x</p:attrName>
                                        </p:attrNameLst>
                                      </p:cBhvr>
                                      <p:tavLst>
                                        <p:tav tm="0">
                                          <p:val>
                                            <p:strVal val="#ppt_x"/>
                                          </p:val>
                                        </p:tav>
                                        <p:tav tm="100000">
                                          <p:val>
                                            <p:strVal val="#ppt_x"/>
                                          </p:val>
                                        </p:tav>
                                      </p:tavLst>
                                    </p:anim>
                                    <p:anim calcmode="lin" valueType="num">
                                      <p:cBhvr>
                                        <p:cTn id="8" dur="500" fill="hold"/>
                                        <p:tgtEl>
                                          <p:spTgt spid="9748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74856"/>
                                        </p:tgtEl>
                                        <p:attrNameLst>
                                          <p:attrName>style.visibility</p:attrName>
                                        </p:attrNameLst>
                                      </p:cBhvr>
                                      <p:to>
                                        <p:strVal val="visible"/>
                                      </p:to>
                                    </p:set>
                                    <p:anim calcmode="lin" valueType="num">
                                      <p:cBhvr>
                                        <p:cTn id="13" dur="500" fill="hold"/>
                                        <p:tgtEl>
                                          <p:spTgt spid="974856"/>
                                        </p:tgtEl>
                                        <p:attrNameLst>
                                          <p:attrName>ppt_x</p:attrName>
                                        </p:attrNameLst>
                                      </p:cBhvr>
                                      <p:tavLst>
                                        <p:tav tm="0">
                                          <p:val>
                                            <p:strVal val="#ppt_x"/>
                                          </p:val>
                                        </p:tav>
                                        <p:tav tm="100000">
                                          <p:val>
                                            <p:strVal val="#ppt_x"/>
                                          </p:val>
                                        </p:tav>
                                      </p:tavLst>
                                    </p:anim>
                                    <p:anim calcmode="lin" valueType="num">
                                      <p:cBhvr>
                                        <p:cTn id="14" dur="500" fill="hold"/>
                                        <p:tgtEl>
                                          <p:spTgt spid="97485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74857"/>
                                        </p:tgtEl>
                                        <p:attrNameLst>
                                          <p:attrName>style.visibility</p:attrName>
                                        </p:attrNameLst>
                                      </p:cBhvr>
                                      <p:to>
                                        <p:strVal val="visible"/>
                                      </p:to>
                                    </p:set>
                                    <p:anim calcmode="lin" valueType="num">
                                      <p:cBhvr>
                                        <p:cTn id="19" dur="500" fill="hold"/>
                                        <p:tgtEl>
                                          <p:spTgt spid="974857"/>
                                        </p:tgtEl>
                                        <p:attrNameLst>
                                          <p:attrName>ppt_x</p:attrName>
                                        </p:attrNameLst>
                                      </p:cBhvr>
                                      <p:tavLst>
                                        <p:tav tm="0">
                                          <p:val>
                                            <p:strVal val="#ppt_x"/>
                                          </p:val>
                                        </p:tav>
                                        <p:tav tm="100000">
                                          <p:val>
                                            <p:strVal val="#ppt_x"/>
                                          </p:val>
                                        </p:tav>
                                      </p:tavLst>
                                    </p:anim>
                                    <p:anim calcmode="lin" valueType="num">
                                      <p:cBhvr>
                                        <p:cTn id="20" dur="500" fill="hold"/>
                                        <p:tgtEl>
                                          <p:spTgt spid="9748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855" grpId="0"/>
      <p:bldP spid="974856" grpId="0" bldLvl="0" animBg="1"/>
      <p:bldP spid="9748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4A0F27E-CAC6-4369-A907-FB878D094D3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942D149-3AF4-4DCF-A6E5-3EFD92058FE4}"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7587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75875" name="Rectangle 3"/>
          <p:cNvSpPr>
            <a:spLocks noGrp="1" noChangeArrowheads="1"/>
          </p:cNvSpPr>
          <p:nvPr>
            <p:ph idx="1"/>
          </p:nvPr>
        </p:nvSpPr>
        <p:spPr>
          <a:xfrm>
            <a:off x="609600" y="14478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Q</a:t>
            </a:r>
            <a:r>
              <a:rPr kumimoji="0" lang="en-US" altLang="zh-CN" sz="32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的时间开销:</a:t>
            </a:r>
          </a:p>
        </p:txBody>
      </p:sp>
      <p:sp>
        <p:nvSpPr>
          <p:cNvPr id="975876" name="Rectangle 4"/>
          <p:cNvSpPr>
            <a:spLocks noChangeArrowheads="1"/>
          </p:cNvSpPr>
          <p:nvPr/>
        </p:nvSpPr>
        <p:spPr bwMode="auto">
          <a:xfrm>
            <a:off x="1258888" y="115888"/>
            <a:ext cx="3817938" cy="113982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中有</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1000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个学生记录</a:t>
            </a:r>
          </a:p>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SC</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中有</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10000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个选课记录</a:t>
            </a:r>
          </a:p>
          <a:p>
            <a:pPr marL="0" marR="0" lvl="0" indent="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SC</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中选修</a:t>
            </a: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C2</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课程的记录为</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50</a:t>
            </a:r>
            <a:r>
              <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mn-ea"/>
              </a:rPr>
              <a:t>个</a:t>
            </a:r>
          </a:p>
        </p:txBody>
      </p:sp>
      <p:sp>
        <p:nvSpPr>
          <p:cNvPr id="975877" name="Rectangle 5"/>
          <p:cNvSpPr>
            <a:spLocks noChangeArrowheads="1"/>
          </p:cNvSpPr>
          <p:nvPr/>
        </p:nvSpPr>
        <p:spPr bwMode="auto">
          <a:xfrm>
            <a:off x="609600" y="1943100"/>
            <a:ext cx="81534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每个磁盘块能装10个</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的元组或100个</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的元组。每个磁盘块能装5个结果元组。每秒可读/写20个磁盘块。</a:t>
            </a:r>
          </a:p>
        </p:txBody>
      </p:sp>
      <p:sp>
        <p:nvSpPr>
          <p:cNvPr id="975878" name="Rectangle 6"/>
          <p:cNvSpPr>
            <a:spLocks noChangeArrowheads="1"/>
          </p:cNvSpPr>
          <p:nvPr/>
        </p:nvSpPr>
        <p:spPr bwMode="auto">
          <a:xfrm>
            <a:off x="609600" y="2744788"/>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对</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作选择运算：</a:t>
            </a:r>
          </a:p>
        </p:txBody>
      </p:sp>
      <p:sp>
        <p:nvSpPr>
          <p:cNvPr id="975879" name="Rectangle 7"/>
          <p:cNvSpPr>
            <a:spLocks noChangeArrowheads="1"/>
          </p:cNvSpPr>
          <p:nvPr/>
        </p:nvSpPr>
        <p:spPr bwMode="auto">
          <a:xfrm>
            <a:off x="609600" y="3544888"/>
            <a:ext cx="7924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连接：</a:t>
            </a:r>
          </a:p>
        </p:txBody>
      </p:sp>
      <p:sp>
        <p:nvSpPr>
          <p:cNvPr id="975880" name="Rectangle 8"/>
          <p:cNvSpPr>
            <a:spLocks noChangeArrowheads="1"/>
          </p:cNvSpPr>
          <p:nvPr/>
        </p:nvSpPr>
        <p:spPr bwMode="auto">
          <a:xfrm>
            <a:off x="609600" y="4344988"/>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投影：</a:t>
            </a:r>
          </a:p>
        </p:txBody>
      </p:sp>
      <p:sp>
        <p:nvSpPr>
          <p:cNvPr id="975881" name="Rectangle 9"/>
          <p:cNvSpPr>
            <a:spLocks noChangeArrowheads="1"/>
          </p:cNvSpPr>
          <p:nvPr/>
        </p:nvSpPr>
        <p:spPr bwMode="auto">
          <a:xfrm>
            <a:off x="609600" y="5145088"/>
            <a:ext cx="79248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忽略</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CPU</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需要的处理时间大约</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10</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秒。</a:t>
            </a:r>
          </a:p>
        </p:txBody>
      </p:sp>
      <p:sp>
        <p:nvSpPr>
          <p:cNvPr id="975882" name="Rectangle 10"/>
          <p:cNvSpPr>
            <a:spLocks noChangeArrowheads="1"/>
          </p:cNvSpPr>
          <p:nvPr/>
        </p:nvSpPr>
        <p:spPr bwMode="auto">
          <a:xfrm>
            <a:off x="609600" y="3173413"/>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5</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秒（读）</a:t>
            </a:r>
          </a:p>
        </p:txBody>
      </p:sp>
      <p:sp>
        <p:nvSpPr>
          <p:cNvPr id="975883" name="Rectangle 11"/>
          <p:cNvSpPr>
            <a:spLocks noChangeArrowheads="1"/>
          </p:cNvSpPr>
          <p:nvPr/>
        </p:nvSpPr>
        <p:spPr bwMode="auto">
          <a:xfrm>
            <a:off x="609600" y="3973513"/>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时间开销：5秒（读）</a:t>
            </a:r>
          </a:p>
        </p:txBody>
      </p:sp>
      <p:sp>
        <p:nvSpPr>
          <p:cNvPr id="975884" name="Rectangle 12"/>
          <p:cNvSpPr>
            <a:spLocks noChangeArrowheads="1"/>
          </p:cNvSpPr>
          <p:nvPr/>
        </p:nvSpPr>
        <p:spPr bwMode="auto">
          <a:xfrm>
            <a:off x="609600" y="4773613"/>
            <a:ext cx="792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时间开销：0秒</a:t>
            </a:r>
          </a:p>
        </p:txBody>
      </p:sp>
      <p:sp>
        <p:nvSpPr>
          <p:cNvPr id="975886" name="Rectangle 14"/>
          <p:cNvSpPr>
            <a:spLocks noChangeArrowheads="1"/>
          </p:cNvSpPr>
          <p:nvPr/>
        </p:nvSpPr>
        <p:spPr bwMode="auto">
          <a:xfrm>
            <a:off x="990600" y="5564188"/>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若</a:t>
            </a:r>
            <a:r>
              <a:rPr kumimoji="0" lang="en-US" altLang="zh-CN"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SC</a:t>
            </a:r>
            <a:r>
              <a:rPr kumimoji="0" lang="zh-CN" altLang="en-US"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表的</a:t>
            </a:r>
            <a:r>
              <a:rPr kumimoji="0" lang="en-US" altLang="zh-CN"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字段有索引，</a:t>
            </a:r>
            <a:r>
              <a:rPr kumimoji="0" lang="en-US" altLang="zh-CN"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Q3</a:t>
            </a:r>
            <a:r>
              <a:rPr kumimoji="0" lang="zh-CN" altLang="en-US" sz="2400" b="1" i="0" u="none" strike="noStrike" kern="1200" cap="none" spc="0" normalizeH="0" baseline="0" noProof="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的处理时间将进一步减少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75877"/>
                                        </p:tgtEl>
                                        <p:attrNameLst>
                                          <p:attrName>style.visibility</p:attrName>
                                        </p:attrNameLst>
                                      </p:cBhvr>
                                      <p:to>
                                        <p:strVal val="visible"/>
                                      </p:to>
                                    </p:set>
                                    <p:animEffect transition="in" filter="randombar(horizontal)">
                                      <p:cBhvr>
                                        <p:cTn id="7" dur="500"/>
                                        <p:tgtEl>
                                          <p:spTgt spid="97587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7587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75882"/>
                                        </p:tgtEl>
                                        <p:attrNameLst>
                                          <p:attrName>style.visibility</p:attrName>
                                        </p:attrNameLst>
                                      </p:cBhvr>
                                      <p:to>
                                        <p:strVal val="visible"/>
                                      </p:to>
                                    </p:set>
                                    <p:animEffect transition="in" filter="dissolve">
                                      <p:cBhvr>
                                        <p:cTn id="16" dur="500"/>
                                        <p:tgtEl>
                                          <p:spTgt spid="97588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7587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75883"/>
                                        </p:tgtEl>
                                        <p:attrNameLst>
                                          <p:attrName>style.visibility</p:attrName>
                                        </p:attrNameLst>
                                      </p:cBhvr>
                                      <p:to>
                                        <p:strVal val="visible"/>
                                      </p:to>
                                    </p:set>
                                    <p:animEffect transition="in" filter="dissolve">
                                      <p:cBhvr>
                                        <p:cTn id="25" dur="500"/>
                                        <p:tgtEl>
                                          <p:spTgt spid="97588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9758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975884"/>
                                        </p:tgtEl>
                                        <p:attrNameLst>
                                          <p:attrName>style.visibility</p:attrName>
                                        </p:attrNameLst>
                                      </p:cBhvr>
                                      <p:to>
                                        <p:strVal val="visible"/>
                                      </p:to>
                                    </p:set>
                                    <p:animEffect transition="in" filter="dissolve">
                                      <p:cBhvr>
                                        <p:cTn id="34" dur="500"/>
                                        <p:tgtEl>
                                          <p:spTgt spid="975884"/>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42" fill="hold" grpId="0" nodeType="clickEffect">
                                  <p:stCondLst>
                                    <p:cond delay="0"/>
                                  </p:stCondLst>
                                  <p:childTnLst>
                                    <p:set>
                                      <p:cBhvr>
                                        <p:cTn id="38" dur="1" fill="hold">
                                          <p:stCondLst>
                                            <p:cond delay="0"/>
                                          </p:stCondLst>
                                        </p:cTn>
                                        <p:tgtEl>
                                          <p:spTgt spid="975881"/>
                                        </p:tgtEl>
                                        <p:attrNameLst>
                                          <p:attrName>style.visibility</p:attrName>
                                        </p:attrNameLst>
                                      </p:cBhvr>
                                      <p:to>
                                        <p:strVal val="visible"/>
                                      </p:to>
                                    </p:set>
                                    <p:animEffect transition="in" filter="barn(outHorizontal)">
                                      <p:cBhvr>
                                        <p:cTn id="39" dur="500"/>
                                        <p:tgtEl>
                                          <p:spTgt spid="975881"/>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975886"/>
                                        </p:tgtEl>
                                        <p:attrNameLst>
                                          <p:attrName>style.visibility</p:attrName>
                                        </p:attrNameLst>
                                      </p:cBhvr>
                                      <p:to>
                                        <p:strVal val="visible"/>
                                      </p:to>
                                    </p:set>
                                    <p:animEffect transition="in" filter="box(in)">
                                      <p:cBhvr>
                                        <p:cTn id="44" dur="500"/>
                                        <p:tgtEl>
                                          <p:spTgt spid="975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5877" grpId="0"/>
      <p:bldP spid="975878" grpId="0"/>
      <p:bldP spid="975879" grpId="0"/>
      <p:bldP spid="975880" grpId="0"/>
      <p:bldP spid="975881" grpId="0"/>
      <p:bldP spid="975882" grpId="0"/>
      <p:bldP spid="975883" grpId="0"/>
      <p:bldP spid="975884" grpId="0"/>
      <p:bldP spid="97588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99D775B7-C21D-4400-AD36-8EAC08BF957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8F094B7-EFAA-48EB-84C7-C11BEF54941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76898"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问题的提出</a:t>
            </a:r>
          </a:p>
        </p:txBody>
      </p:sp>
      <p:sp>
        <p:nvSpPr>
          <p:cNvPr id="976910" name="Rectangle 14"/>
          <p:cNvSpPr>
            <a:spLocks noGrp="1" noChangeArrowheads="1"/>
          </p:cNvSpPr>
          <p:nvPr>
            <p:ph idx="1"/>
          </p:nvPr>
        </p:nvSpPr>
        <p:spPr>
          <a:xfrm>
            <a:off x="609600" y="1570038"/>
            <a:ext cx="7924800" cy="9445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使用不同的策略处理一个查询会得到不同的时间开销。</a:t>
            </a:r>
          </a:p>
        </p:txBody>
      </p:sp>
      <p:sp>
        <p:nvSpPr>
          <p:cNvPr id="976911" name="Rectangle 15"/>
          <p:cNvSpPr>
            <a:spLocks noChangeArrowheads="1"/>
          </p:cNvSpPr>
          <p:nvPr/>
        </p:nvSpPr>
        <p:spPr bwMode="auto">
          <a:xfrm>
            <a:off x="609600" y="3124200"/>
            <a:ext cx="7924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需要选择优化的查询处理策略，以减少查询处理时间，提高系统的处理能力。</a:t>
            </a:r>
          </a:p>
        </p:txBody>
      </p:sp>
      <p:sp>
        <p:nvSpPr>
          <p:cNvPr id="976912" name="Rectangle 16"/>
          <p:cNvSpPr>
            <a:spLocks noChangeArrowheads="1"/>
          </p:cNvSpPr>
          <p:nvPr/>
        </p:nvSpPr>
        <p:spPr bwMode="auto">
          <a:xfrm>
            <a:off x="609600" y="3981450"/>
            <a:ext cx="7924800"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这个简单的例子不仅充分说明了查询优化的必要性，也给了我们一个查询优化的方法：</a:t>
            </a: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当一个查询中具有选择和连接时，应当先执行选择后执行连接，尽量减少中间结果的大小，加快连接操作的处理。</a:t>
            </a:r>
          </a:p>
        </p:txBody>
      </p:sp>
      <p:sp>
        <p:nvSpPr>
          <p:cNvPr id="976913" name="AutoShape 17"/>
          <p:cNvSpPr/>
          <p:nvPr/>
        </p:nvSpPr>
        <p:spPr>
          <a:xfrm>
            <a:off x="4038600" y="2362200"/>
            <a:ext cx="304800" cy="685800"/>
          </a:xfrm>
          <a:prstGeom prst="downArrow">
            <a:avLst>
              <a:gd name="adj1" fmla="val 50000"/>
              <a:gd name="adj2" fmla="val 56250"/>
            </a:avLst>
          </a:prstGeom>
          <a:solidFill>
            <a:srgbClr val="FFFF66"/>
          </a:solidFill>
          <a:ln w="9525" cap="flat" cmpd="sng">
            <a:solidFill>
              <a:schemeClr val="tx1"/>
            </a:solidFill>
            <a:prstDash val="solid"/>
            <a:miter/>
            <a:headEnd type="none" w="med" len="med"/>
            <a:tailEnd type="none" w="med" len="med"/>
          </a:ln>
        </p:spPr>
        <p:txBody>
          <a:bodyPr vert="eaVert"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a:ea typeface="+mn-ea"/>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69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1" fill="hold" grpId="0" nodeType="clickEffect">
                                  <p:stCondLst>
                                    <p:cond delay="0"/>
                                  </p:stCondLst>
                                  <p:childTnLst>
                                    <p:set>
                                      <p:cBhvr>
                                        <p:cTn id="10" dur="1" fill="hold">
                                          <p:stCondLst>
                                            <p:cond delay="0"/>
                                          </p:stCondLst>
                                        </p:cTn>
                                        <p:tgtEl>
                                          <p:spTgt spid="976913"/>
                                        </p:tgtEl>
                                        <p:attrNameLst>
                                          <p:attrName>style.visibility</p:attrName>
                                        </p:attrNameLst>
                                      </p:cBhvr>
                                      <p:to>
                                        <p:strVal val="visible"/>
                                      </p:to>
                                    </p:set>
                                    <p:animEffect transition="in" filter="slide(fromTop)">
                                      <p:cBhvr>
                                        <p:cTn id="11" dur="500"/>
                                        <p:tgtEl>
                                          <p:spTgt spid="9769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9769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9769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910" grpId="0" build="p"/>
      <p:bldP spid="976911" grpId="0"/>
      <p:bldP spid="976912" grpId="0"/>
      <p:bldP spid="9769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921E52B-A6AB-48A2-ABB8-B74940F543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9E7D5F2-041F-4E4A-A3A0-85DBF634B8CB}"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685800" y="15240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问题的提出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关系表达式的等价转换规则</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表达式结果大小的估计</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启发式关系代数优化算法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基于复杂性估计的查询优化方法 </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92BCE19-BEA3-4DC1-AF63-8EEF15F7A6E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F0F69BD-6977-4098-9D1C-1E94036E52E8}"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79970" name="Rectangle 2"/>
          <p:cNvSpPr>
            <a:spLocks noGrp="1" noChangeArrowheads="1"/>
          </p:cNvSpPr>
          <p:nvPr>
            <p:ph type="title"/>
          </p:nvPr>
        </p:nvSpPr>
        <p:spPr>
          <a:xfrm>
            <a:off x="1520825"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关系表达式的等价转换规则</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sp>
        <p:nvSpPr>
          <p:cNvPr id="97997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在很多数据库管理系统中，查询处理的第一步是把查询变换为与关系代数对应的内部表示，如查询树。</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一个查询可以变换为一个等价的关系代数表达式。</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在关系数据库管理系统中，</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关系代数表达式的等价转换规则非常重要。</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99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99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70B4EBD-4363-4049-B278-6216446BCB1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646E2BF-F69B-45D4-B796-DA35CF65D07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099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关系表达式的等价转换规则  </a:t>
            </a:r>
          </a:p>
        </p:txBody>
      </p:sp>
      <p:sp>
        <p:nvSpPr>
          <p:cNvPr id="980995" name="Rectangle 3"/>
          <p:cNvSpPr>
            <a:spLocks noGrp="1" noChangeArrowheads="1"/>
          </p:cNvSpPr>
          <p:nvPr>
            <p:ph idx="1"/>
          </p:nvPr>
        </p:nvSpPr>
        <p:spPr>
          <a:xfrm>
            <a:off x="381000" y="1600200"/>
            <a:ext cx="8512175"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关系代数等价转换规则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是两个关系代数表达式。如果</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表示相同的关系，则称</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等价</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，记作</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8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8D1803D-7F06-4485-8ED2-48E04AF5870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0242F2E-DE4E-44BC-A67E-A8EBF164C08B}"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2018"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关系表达式的等价转换规则</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982019" name="Rectangle 3"/>
          <p:cNvSpPr>
            <a:spLocks noGrp="1" noChangeArrowheads="1"/>
          </p:cNvSpPr>
          <p:nvPr>
            <p:ph idx="1"/>
          </p:nvPr>
        </p:nvSpPr>
        <p:spPr>
          <a:xfrm>
            <a:off x="609600" y="1570038"/>
            <a:ext cx="7924800" cy="6397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关系代数等价转换规则 （12类）</a:t>
            </a:r>
          </a:p>
        </p:txBody>
      </p:sp>
      <p:sp>
        <p:nvSpPr>
          <p:cNvPr id="982020" name="Rectangle 4"/>
          <p:cNvSpPr>
            <a:spLocks noChangeArrowheads="1"/>
          </p:cNvSpPr>
          <p:nvPr/>
        </p:nvSpPr>
        <p:spPr bwMode="auto">
          <a:xfrm>
            <a:off x="609600" y="2133600"/>
            <a:ext cx="7924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1. 选择串接律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  AND ... AND </a:t>
            </a:r>
            <a:r>
              <a:rPr kumimoji="0" lang="en-US" altLang="zh-CN" sz="2400" b="1" i="0" u="none" strike="noStrike" kern="1200" cap="none" spc="0" normalizeH="0" baseline="-30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cn</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cn</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 </a:t>
            </a:r>
            <a:endPar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sp>
        <p:nvSpPr>
          <p:cNvPr id="982021" name="Rectangle 5"/>
          <p:cNvSpPr>
            <a:spLocks noChangeArrowheads="1"/>
          </p:cNvSpPr>
          <p:nvPr/>
        </p:nvSpPr>
        <p:spPr bwMode="auto">
          <a:xfrm>
            <a:off x="609600" y="3076575"/>
            <a:ext cx="79248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2. 选择交换律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 )</a:t>
            </a:r>
            <a:endPar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sp>
        <p:nvSpPr>
          <p:cNvPr id="982022" name="Rectangle 6"/>
          <p:cNvSpPr>
            <a:spLocks noChangeArrowheads="1"/>
          </p:cNvSpPr>
          <p:nvPr/>
        </p:nvSpPr>
        <p:spPr bwMode="auto">
          <a:xfrm>
            <a:off x="609600" y="4038600"/>
            <a:ext cx="79248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3. 投影串接律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1"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Ln</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L1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i</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是投影属性集合，而且</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n</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2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82020"/>
                                        </p:tgtEl>
                                        <p:attrNameLst>
                                          <p:attrName>style.visibility</p:attrName>
                                        </p:attrNameLst>
                                      </p:cBhvr>
                                      <p:to>
                                        <p:strVal val="visible"/>
                                      </p:to>
                                    </p:set>
                                    <p:anim calcmode="lin" valueType="num">
                                      <p:cBhvr>
                                        <p:cTn id="11" dur="500" fill="hold"/>
                                        <p:tgtEl>
                                          <p:spTgt spid="982020"/>
                                        </p:tgtEl>
                                        <p:attrNameLst>
                                          <p:attrName>ppt_x</p:attrName>
                                        </p:attrNameLst>
                                      </p:cBhvr>
                                      <p:tavLst>
                                        <p:tav tm="0">
                                          <p:val>
                                            <p:strVal val="#ppt_x"/>
                                          </p:val>
                                        </p:tav>
                                        <p:tav tm="100000">
                                          <p:val>
                                            <p:strVal val="#ppt_x"/>
                                          </p:val>
                                        </p:tav>
                                      </p:tavLst>
                                    </p:anim>
                                    <p:anim calcmode="lin" valueType="num">
                                      <p:cBhvr>
                                        <p:cTn id="12" dur="500" fill="hold"/>
                                        <p:tgtEl>
                                          <p:spTgt spid="98202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82021"/>
                                        </p:tgtEl>
                                        <p:attrNameLst>
                                          <p:attrName>style.visibility</p:attrName>
                                        </p:attrNameLst>
                                      </p:cBhvr>
                                      <p:to>
                                        <p:strVal val="visible"/>
                                      </p:to>
                                    </p:set>
                                    <p:anim calcmode="lin" valueType="num">
                                      <p:cBhvr>
                                        <p:cTn id="17" dur="500" fill="hold"/>
                                        <p:tgtEl>
                                          <p:spTgt spid="982021"/>
                                        </p:tgtEl>
                                        <p:attrNameLst>
                                          <p:attrName>ppt_x</p:attrName>
                                        </p:attrNameLst>
                                      </p:cBhvr>
                                      <p:tavLst>
                                        <p:tav tm="0">
                                          <p:val>
                                            <p:strVal val="#ppt_x"/>
                                          </p:val>
                                        </p:tav>
                                        <p:tav tm="100000">
                                          <p:val>
                                            <p:strVal val="#ppt_x"/>
                                          </p:val>
                                        </p:tav>
                                      </p:tavLst>
                                    </p:anim>
                                    <p:anim calcmode="lin" valueType="num">
                                      <p:cBhvr>
                                        <p:cTn id="18" dur="500" fill="hold"/>
                                        <p:tgtEl>
                                          <p:spTgt spid="98202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82022"/>
                                        </p:tgtEl>
                                        <p:attrNameLst>
                                          <p:attrName>style.visibility</p:attrName>
                                        </p:attrNameLst>
                                      </p:cBhvr>
                                      <p:to>
                                        <p:strVal val="visible"/>
                                      </p:to>
                                    </p:set>
                                    <p:anim calcmode="lin" valueType="num">
                                      <p:cBhvr>
                                        <p:cTn id="23" dur="500" fill="hold"/>
                                        <p:tgtEl>
                                          <p:spTgt spid="982022"/>
                                        </p:tgtEl>
                                        <p:attrNameLst>
                                          <p:attrName>ppt_x</p:attrName>
                                        </p:attrNameLst>
                                      </p:cBhvr>
                                      <p:tavLst>
                                        <p:tav tm="0">
                                          <p:val>
                                            <p:strVal val="#ppt_x"/>
                                          </p:val>
                                        </p:tav>
                                        <p:tav tm="100000">
                                          <p:val>
                                            <p:strVal val="#ppt_x"/>
                                          </p:val>
                                        </p:tav>
                                      </p:tavLst>
                                    </p:anim>
                                    <p:anim calcmode="lin" valueType="num">
                                      <p:cBhvr>
                                        <p:cTn id="24" dur="500" fill="hold"/>
                                        <p:tgtEl>
                                          <p:spTgt spid="9820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2019" grpId="0" build="p"/>
      <p:bldP spid="982020" grpId="0"/>
      <p:bldP spid="982021" grpId="0"/>
      <p:bldP spid="9820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3B965B58-7406-42AF-831E-65073242AA41}"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2"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69F9D0F-7C35-44CC-9287-E83E5768786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3042"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关系表达式的等价转换规则</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sp>
        <p:nvSpPr>
          <p:cNvPr id="983043" name="Rectangle 3"/>
          <p:cNvSpPr>
            <a:spLocks noGrp="1" noChangeArrowheads="1"/>
          </p:cNvSpPr>
          <p:nvPr>
            <p:ph idx="1"/>
          </p:nvPr>
        </p:nvSpPr>
        <p:spPr>
          <a:xfrm>
            <a:off x="609600" y="1295400"/>
            <a:ext cx="7924800" cy="6096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关系代数等价转换规则 （12类）</a:t>
            </a:r>
          </a:p>
        </p:txBody>
      </p:sp>
      <p:sp>
        <p:nvSpPr>
          <p:cNvPr id="983046" name="Rectangle 6"/>
          <p:cNvSpPr>
            <a:spLocks noChangeArrowheads="1"/>
          </p:cNvSpPr>
          <p:nvPr/>
        </p:nvSpPr>
        <p:spPr bwMode="auto">
          <a:xfrm>
            <a:off x="609600" y="1828800"/>
            <a:ext cx="79248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4. </a:t>
            </a: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选择投影交换律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是投影属性集合，</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是选择条件，</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只涉及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中的属性</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 B1, ..., </a:t>
            </a:r>
            <a:r>
              <a:rPr kumimoji="0" lang="en-US" altLang="zh-CN" sz="2400" b="1" i="0" u="none" strike="noStrike" kern="1200" cap="none" spc="0" normalizeH="0" baseline="-30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Bm</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还涉及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以外的属性</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B</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err="1">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B</a:t>
            </a:r>
            <a:r>
              <a:rPr kumimoji="0" lang="en-US" altLang="zh-CN" sz="2000" b="1" i="0" u="none" strike="noStrike" kern="1200" cap="none" spc="0" normalizeH="0" baseline="-30000" noProof="0" dirty="0" err="1">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m</a:t>
            </a:r>
            <a:endPar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grpSp>
        <p:nvGrpSpPr>
          <p:cNvPr id="983049" name="Group 9"/>
          <p:cNvGrpSpPr/>
          <p:nvPr/>
        </p:nvGrpSpPr>
        <p:grpSpPr>
          <a:xfrm>
            <a:off x="609600" y="4005263"/>
            <a:ext cx="7924800" cy="1219200"/>
            <a:chOff x="384" y="2523"/>
            <a:chExt cx="4992" cy="768"/>
          </a:xfrm>
        </p:grpSpPr>
        <p:graphicFrame>
          <p:nvGraphicFramePr>
            <p:cNvPr id="40968" name="Object 4"/>
            <p:cNvGraphicFramePr>
              <a:graphicFrameLocks noChangeAspect="1"/>
            </p:cNvGraphicFramePr>
            <p:nvPr/>
          </p:nvGraphicFramePr>
          <p:xfrm>
            <a:off x="2880" y="2880"/>
            <a:ext cx="162" cy="120"/>
          </p:xfrm>
          <a:graphic>
            <a:graphicData uri="http://schemas.openxmlformats.org/presentationml/2006/ole">
              <mc:AlternateContent xmlns:mc="http://schemas.openxmlformats.org/markup-compatibility/2006">
                <mc:Choice xmlns:v="urn:schemas-microsoft-com:vml" Requires="v">
                  <p:oleObj spid="_x0000_s6147" r:id="rId3" imgW="257175" imgH="190500" progId="Paint.Picture">
                    <p:embed/>
                  </p:oleObj>
                </mc:Choice>
                <mc:Fallback>
                  <p:oleObj r:id="rId3" imgW="257175" imgH="190500" progId="Paint.Picture">
                    <p:embed/>
                    <p:pic>
                      <p:nvPicPr>
                        <p:cNvPr id="0" name="图片 3075"/>
                        <p:cNvPicPr/>
                        <p:nvPr/>
                      </p:nvPicPr>
                      <p:blipFill>
                        <a:blip r:embed="rId4"/>
                        <a:stretch>
                          <a:fillRect/>
                        </a:stretch>
                      </p:blipFill>
                      <p:spPr>
                        <a:xfrm>
                          <a:off x="2880" y="2880"/>
                          <a:ext cx="162" cy="120"/>
                        </a:xfrm>
                        <a:prstGeom prst="rect">
                          <a:avLst/>
                        </a:prstGeom>
                        <a:noFill/>
                        <a:ln w="38100">
                          <a:noFill/>
                          <a:miter/>
                        </a:ln>
                      </p:spPr>
                    </p:pic>
                  </p:oleObj>
                </mc:Fallback>
              </mc:AlternateContent>
            </a:graphicData>
          </a:graphic>
        </p:graphicFrame>
        <p:graphicFrame>
          <p:nvGraphicFramePr>
            <p:cNvPr id="40969" name="Object 5"/>
            <p:cNvGraphicFramePr>
              <a:graphicFrameLocks noChangeAspect="1"/>
            </p:cNvGraphicFramePr>
            <p:nvPr/>
          </p:nvGraphicFramePr>
          <p:xfrm>
            <a:off x="3696" y="2880"/>
            <a:ext cx="162" cy="120"/>
          </p:xfrm>
          <a:graphic>
            <a:graphicData uri="http://schemas.openxmlformats.org/presentationml/2006/ole">
              <mc:AlternateContent xmlns:mc="http://schemas.openxmlformats.org/markup-compatibility/2006">
                <mc:Choice xmlns:v="urn:schemas-microsoft-com:vml" Requires="v">
                  <p:oleObj spid="_x0000_s6148" r:id="rId5" imgW="257175" imgH="190500" progId="Paint.Picture">
                    <p:embed/>
                  </p:oleObj>
                </mc:Choice>
                <mc:Fallback>
                  <p:oleObj r:id="rId5" imgW="257175" imgH="190500" progId="Paint.Picture">
                    <p:embed/>
                    <p:pic>
                      <p:nvPicPr>
                        <p:cNvPr id="0" name="图片 3076"/>
                        <p:cNvPicPr/>
                        <p:nvPr/>
                      </p:nvPicPr>
                      <p:blipFill>
                        <a:blip r:embed="rId4"/>
                        <a:stretch>
                          <a:fillRect/>
                        </a:stretch>
                      </p:blipFill>
                      <p:spPr>
                        <a:xfrm>
                          <a:off x="3696" y="2880"/>
                          <a:ext cx="162" cy="120"/>
                        </a:xfrm>
                        <a:prstGeom prst="rect">
                          <a:avLst/>
                        </a:prstGeom>
                        <a:noFill/>
                        <a:ln w="38100">
                          <a:noFill/>
                          <a:miter/>
                        </a:ln>
                      </p:spPr>
                    </p:pic>
                  </p:oleObj>
                </mc:Fallback>
              </mc:AlternateContent>
            </a:graphicData>
          </a:graphic>
        </p:graphicFrame>
        <p:sp>
          <p:nvSpPr>
            <p:cNvPr id="983047" name="Rectangle 7"/>
            <p:cNvSpPr>
              <a:spLocks noChangeArrowheads="1"/>
            </p:cNvSpPr>
            <p:nvPr/>
          </p:nvSpPr>
          <p:spPr bwMode="auto">
            <a:xfrm>
              <a:off x="384" y="2523"/>
              <a:ext cx="4992"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5. </a:t>
              </a: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连接和笛卡儿乘积的交换律</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endPar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和</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是连接条件。</a:t>
              </a:r>
            </a:p>
          </p:txBody>
        </p:sp>
      </p:grpSp>
      <p:sp>
        <p:nvSpPr>
          <p:cNvPr id="983048" name="Rectangle 8"/>
          <p:cNvSpPr>
            <a:spLocks noChangeArrowheads="1"/>
          </p:cNvSpPr>
          <p:nvPr/>
        </p:nvSpPr>
        <p:spPr bwMode="auto">
          <a:xfrm>
            <a:off x="609600" y="5257800"/>
            <a:ext cx="7924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6. 集合操作的交换律</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和</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304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304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04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304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830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83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4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D9D46FF-BC81-431F-8D0C-B8ED66D86FB9}"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B506252-89BA-4FAA-AB5F-A6FABFAB2218}"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4066"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关系表达式的等价转换规则</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sp>
        <p:nvSpPr>
          <p:cNvPr id="984067" name="Rectangle 3"/>
          <p:cNvSpPr>
            <a:spLocks noGrp="1" noChangeArrowheads="1"/>
          </p:cNvSpPr>
          <p:nvPr>
            <p:ph idx="1"/>
          </p:nvPr>
        </p:nvSpPr>
        <p:spPr>
          <a:xfrm>
            <a:off x="609600" y="1219200"/>
            <a:ext cx="80772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关系代数等价转换规则 （12类）</a:t>
            </a:r>
          </a:p>
        </p:txBody>
      </p:sp>
      <p:grpSp>
        <p:nvGrpSpPr>
          <p:cNvPr id="984082" name="Group 18"/>
          <p:cNvGrpSpPr/>
          <p:nvPr/>
        </p:nvGrpSpPr>
        <p:grpSpPr>
          <a:xfrm>
            <a:off x="609600" y="1676400"/>
            <a:ext cx="8077200" cy="1752600"/>
            <a:chOff x="384" y="1056"/>
            <a:chExt cx="5088" cy="1104"/>
          </a:xfrm>
        </p:grpSpPr>
        <p:graphicFrame>
          <p:nvGraphicFramePr>
            <p:cNvPr id="41991" name="Object 4"/>
            <p:cNvGraphicFramePr>
              <a:graphicFrameLocks noChangeAspect="1"/>
            </p:cNvGraphicFramePr>
            <p:nvPr/>
          </p:nvGraphicFramePr>
          <p:xfrm>
            <a:off x="3072" y="1555"/>
            <a:ext cx="162" cy="120"/>
          </p:xfrm>
          <a:graphic>
            <a:graphicData uri="http://schemas.openxmlformats.org/presentationml/2006/ole">
              <mc:AlternateContent xmlns:mc="http://schemas.openxmlformats.org/markup-compatibility/2006">
                <mc:Choice xmlns:v="urn:schemas-microsoft-com:vml" Requires="v">
                  <p:oleObj spid="_x0000_s7178" r:id="rId3" imgW="257175" imgH="190500" progId="Paint.Picture">
                    <p:embed/>
                  </p:oleObj>
                </mc:Choice>
                <mc:Fallback>
                  <p:oleObj r:id="rId3" imgW="257175" imgH="190500" progId="Paint.Picture">
                    <p:embed/>
                    <p:pic>
                      <p:nvPicPr>
                        <p:cNvPr id="0" name="图片 3082"/>
                        <p:cNvPicPr/>
                        <p:nvPr/>
                      </p:nvPicPr>
                      <p:blipFill>
                        <a:blip r:embed="rId4"/>
                        <a:stretch>
                          <a:fillRect/>
                        </a:stretch>
                      </p:blipFill>
                      <p:spPr>
                        <a:xfrm>
                          <a:off x="3072" y="1555"/>
                          <a:ext cx="162" cy="120"/>
                        </a:xfrm>
                        <a:prstGeom prst="rect">
                          <a:avLst/>
                        </a:prstGeom>
                        <a:noFill/>
                        <a:ln w="38100">
                          <a:noFill/>
                          <a:miter/>
                        </a:ln>
                      </p:spPr>
                    </p:pic>
                  </p:oleObj>
                </mc:Fallback>
              </mc:AlternateContent>
            </a:graphicData>
          </a:graphic>
        </p:graphicFrame>
        <p:graphicFrame>
          <p:nvGraphicFramePr>
            <p:cNvPr id="41992" name="Object 5"/>
            <p:cNvGraphicFramePr>
              <a:graphicFrameLocks noChangeAspect="1"/>
            </p:cNvGraphicFramePr>
            <p:nvPr/>
          </p:nvGraphicFramePr>
          <p:xfrm>
            <a:off x="3648" y="1555"/>
            <a:ext cx="162" cy="120"/>
          </p:xfrm>
          <a:graphic>
            <a:graphicData uri="http://schemas.openxmlformats.org/presentationml/2006/ole">
              <mc:AlternateContent xmlns:mc="http://schemas.openxmlformats.org/markup-compatibility/2006">
                <mc:Choice xmlns:v="urn:schemas-microsoft-com:vml" Requires="v">
                  <p:oleObj spid="_x0000_s7179" r:id="rId5" imgW="257175" imgH="190500" progId="Paint.Picture">
                    <p:embed/>
                  </p:oleObj>
                </mc:Choice>
                <mc:Fallback>
                  <p:oleObj r:id="rId5" imgW="257175" imgH="190500" progId="Paint.Picture">
                    <p:embed/>
                    <p:pic>
                      <p:nvPicPr>
                        <p:cNvPr id="0" name="图片 3078"/>
                        <p:cNvPicPr/>
                        <p:nvPr/>
                      </p:nvPicPr>
                      <p:blipFill>
                        <a:blip r:embed="rId4"/>
                        <a:stretch>
                          <a:fillRect/>
                        </a:stretch>
                      </p:blipFill>
                      <p:spPr>
                        <a:xfrm>
                          <a:off x="3648" y="1555"/>
                          <a:ext cx="162" cy="120"/>
                        </a:xfrm>
                        <a:prstGeom prst="rect">
                          <a:avLst/>
                        </a:prstGeom>
                        <a:noFill/>
                        <a:ln w="38100">
                          <a:noFill/>
                          <a:miter/>
                        </a:ln>
                      </p:spPr>
                    </p:pic>
                  </p:oleObj>
                </mc:Fallback>
              </mc:AlternateContent>
            </a:graphicData>
          </a:graphic>
        </p:graphicFrame>
        <p:graphicFrame>
          <p:nvGraphicFramePr>
            <p:cNvPr id="41993" name="Object 6"/>
            <p:cNvGraphicFramePr>
              <a:graphicFrameLocks noChangeAspect="1"/>
            </p:cNvGraphicFramePr>
            <p:nvPr/>
          </p:nvGraphicFramePr>
          <p:xfrm>
            <a:off x="2208" y="1591"/>
            <a:ext cx="162" cy="120"/>
          </p:xfrm>
          <a:graphic>
            <a:graphicData uri="http://schemas.openxmlformats.org/presentationml/2006/ole">
              <mc:AlternateContent xmlns:mc="http://schemas.openxmlformats.org/markup-compatibility/2006">
                <mc:Choice xmlns:v="urn:schemas-microsoft-com:vml" Requires="v">
                  <p:oleObj spid="_x0000_s7180" r:id="rId6" imgW="257175" imgH="190500" progId="Paint.Picture">
                    <p:embed/>
                  </p:oleObj>
                </mc:Choice>
                <mc:Fallback>
                  <p:oleObj r:id="rId6" imgW="257175" imgH="190500" progId="Paint.Picture">
                    <p:embed/>
                    <p:pic>
                      <p:nvPicPr>
                        <p:cNvPr id="0" name="图片 3084"/>
                        <p:cNvPicPr/>
                        <p:nvPr/>
                      </p:nvPicPr>
                      <p:blipFill>
                        <a:blip r:embed="rId4"/>
                        <a:stretch>
                          <a:fillRect/>
                        </a:stretch>
                      </p:blipFill>
                      <p:spPr>
                        <a:xfrm>
                          <a:off x="2208" y="1591"/>
                          <a:ext cx="162" cy="120"/>
                        </a:xfrm>
                        <a:prstGeom prst="rect">
                          <a:avLst/>
                        </a:prstGeom>
                        <a:noFill/>
                        <a:ln w="38100">
                          <a:noFill/>
                          <a:miter/>
                        </a:ln>
                      </p:spPr>
                    </p:pic>
                  </p:oleObj>
                </mc:Fallback>
              </mc:AlternateContent>
            </a:graphicData>
          </a:graphic>
        </p:graphicFrame>
        <p:graphicFrame>
          <p:nvGraphicFramePr>
            <p:cNvPr id="41994" name="Object 7"/>
            <p:cNvGraphicFramePr>
              <a:graphicFrameLocks noChangeAspect="1"/>
            </p:cNvGraphicFramePr>
            <p:nvPr/>
          </p:nvGraphicFramePr>
          <p:xfrm>
            <a:off x="1662" y="1573"/>
            <a:ext cx="162" cy="120"/>
          </p:xfrm>
          <a:graphic>
            <a:graphicData uri="http://schemas.openxmlformats.org/presentationml/2006/ole">
              <mc:AlternateContent xmlns:mc="http://schemas.openxmlformats.org/markup-compatibility/2006">
                <mc:Choice xmlns:v="urn:schemas-microsoft-com:vml" Requires="v">
                  <p:oleObj spid="_x0000_s7181" r:id="rId7" imgW="257175" imgH="190500" progId="Paint.Picture">
                    <p:embed/>
                  </p:oleObj>
                </mc:Choice>
                <mc:Fallback>
                  <p:oleObj r:id="rId7" imgW="257175" imgH="190500" progId="Paint.Picture">
                    <p:embed/>
                    <p:pic>
                      <p:nvPicPr>
                        <p:cNvPr id="0" name="图片 3081"/>
                        <p:cNvPicPr/>
                        <p:nvPr/>
                      </p:nvPicPr>
                      <p:blipFill>
                        <a:blip r:embed="rId4"/>
                        <a:stretch>
                          <a:fillRect/>
                        </a:stretch>
                      </p:blipFill>
                      <p:spPr>
                        <a:xfrm>
                          <a:off x="1662" y="1573"/>
                          <a:ext cx="162" cy="120"/>
                        </a:xfrm>
                        <a:prstGeom prst="rect">
                          <a:avLst/>
                        </a:prstGeom>
                        <a:noFill/>
                        <a:ln w="38100">
                          <a:noFill/>
                          <a:miter/>
                        </a:ln>
                      </p:spPr>
                    </p:pic>
                  </p:oleObj>
                </mc:Fallback>
              </mc:AlternateContent>
            </a:graphicData>
          </a:graphic>
        </p:graphicFrame>
        <p:sp>
          <p:nvSpPr>
            <p:cNvPr id="984079" name="Rectangle 15"/>
            <p:cNvSpPr>
              <a:spLocks noChangeArrowheads="1"/>
            </p:cNvSpPr>
            <p:nvPr/>
          </p:nvSpPr>
          <p:spPr bwMode="auto">
            <a:xfrm>
              <a:off x="384" y="1056"/>
              <a:ext cx="5088" cy="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7. 连接、笛卡儿乘积和集合操作的结合律</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it-IT"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(4)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 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it-IT"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a:t>
              </a:r>
              <a:r>
                <a:rPr kumimoji="0" lang="it-IT"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grpSp>
      <p:grpSp>
        <p:nvGrpSpPr>
          <p:cNvPr id="2" name="组合 1"/>
          <p:cNvGrpSpPr/>
          <p:nvPr/>
        </p:nvGrpSpPr>
        <p:grpSpPr>
          <a:xfrm>
            <a:off x="609600" y="3429000"/>
            <a:ext cx="8077200" cy="2895600"/>
            <a:chOff x="609600" y="3429000"/>
            <a:chExt cx="8077200" cy="2895600"/>
          </a:xfrm>
        </p:grpSpPr>
        <p:graphicFrame>
          <p:nvGraphicFramePr>
            <p:cNvPr id="41997" name="Object 8"/>
            <p:cNvGraphicFramePr>
              <a:graphicFrameLocks noChangeAspect="1"/>
            </p:cNvGraphicFramePr>
            <p:nvPr/>
          </p:nvGraphicFramePr>
          <p:xfrm>
            <a:off x="2971800" y="3886200"/>
            <a:ext cx="257175" cy="190500"/>
          </p:xfrm>
          <a:graphic>
            <a:graphicData uri="http://schemas.openxmlformats.org/presentationml/2006/ole">
              <mc:AlternateContent xmlns:mc="http://schemas.openxmlformats.org/markup-compatibility/2006">
                <mc:Choice xmlns:v="urn:schemas-microsoft-com:vml" Requires="v">
                  <p:oleObj spid="_x0000_s7182" r:id="rId8" imgW="257175" imgH="190500" progId="Paint.Picture">
                    <p:embed/>
                  </p:oleObj>
                </mc:Choice>
                <mc:Fallback>
                  <p:oleObj r:id="rId8" imgW="257175" imgH="190500" progId="Paint.Picture">
                    <p:embed/>
                    <p:pic>
                      <p:nvPicPr>
                        <p:cNvPr id="0" name="图片 3083"/>
                        <p:cNvPicPr/>
                        <p:nvPr/>
                      </p:nvPicPr>
                      <p:blipFill>
                        <a:blip r:embed="rId4"/>
                        <a:stretch>
                          <a:fillRect/>
                        </a:stretch>
                      </p:blipFill>
                      <p:spPr>
                        <a:xfrm>
                          <a:off x="2971800" y="3886200"/>
                          <a:ext cx="257175" cy="190500"/>
                        </a:xfrm>
                        <a:prstGeom prst="rect">
                          <a:avLst/>
                        </a:prstGeom>
                        <a:noFill/>
                        <a:ln w="38100">
                          <a:noFill/>
                          <a:miter/>
                        </a:ln>
                      </p:spPr>
                    </p:pic>
                  </p:oleObj>
                </mc:Fallback>
              </mc:AlternateContent>
            </a:graphicData>
          </a:graphic>
        </p:graphicFrame>
        <p:graphicFrame>
          <p:nvGraphicFramePr>
            <p:cNvPr id="41998" name="Object 11"/>
            <p:cNvGraphicFramePr>
              <a:graphicFrameLocks noChangeAspect="1"/>
            </p:cNvGraphicFramePr>
            <p:nvPr/>
          </p:nvGraphicFramePr>
          <p:xfrm>
            <a:off x="5105400" y="3886200"/>
            <a:ext cx="257175" cy="190500"/>
          </p:xfrm>
          <a:graphic>
            <a:graphicData uri="http://schemas.openxmlformats.org/presentationml/2006/ole">
              <mc:AlternateContent xmlns:mc="http://schemas.openxmlformats.org/markup-compatibility/2006">
                <mc:Choice xmlns:v="urn:schemas-microsoft-com:vml" Requires="v">
                  <p:oleObj spid="_x0000_s7183" r:id="rId9" imgW="257175" imgH="190500" progId="Paint.Picture">
                    <p:embed/>
                  </p:oleObj>
                </mc:Choice>
                <mc:Fallback>
                  <p:oleObj r:id="rId9" imgW="257175" imgH="190500" progId="Paint.Picture">
                    <p:embed/>
                    <p:pic>
                      <p:nvPicPr>
                        <p:cNvPr id="0" name="图片 3077"/>
                        <p:cNvPicPr/>
                        <p:nvPr/>
                      </p:nvPicPr>
                      <p:blipFill>
                        <a:blip r:embed="rId4"/>
                        <a:stretch>
                          <a:fillRect/>
                        </a:stretch>
                      </p:blipFill>
                      <p:spPr>
                        <a:xfrm>
                          <a:off x="5105400" y="3886200"/>
                          <a:ext cx="257175" cy="190500"/>
                        </a:xfrm>
                        <a:prstGeom prst="rect">
                          <a:avLst/>
                        </a:prstGeom>
                        <a:noFill/>
                        <a:ln w="38100">
                          <a:noFill/>
                          <a:miter/>
                        </a:ln>
                      </p:spPr>
                    </p:pic>
                  </p:oleObj>
                </mc:Fallback>
              </mc:AlternateContent>
            </a:graphicData>
          </a:graphic>
        </p:graphicFrame>
        <p:graphicFrame>
          <p:nvGraphicFramePr>
            <p:cNvPr id="41999" name="Object 12"/>
            <p:cNvGraphicFramePr>
              <a:graphicFrameLocks noChangeAspect="1"/>
            </p:cNvGraphicFramePr>
            <p:nvPr/>
          </p:nvGraphicFramePr>
          <p:xfrm>
            <a:off x="3048000" y="4830763"/>
            <a:ext cx="257175" cy="190500"/>
          </p:xfrm>
          <a:graphic>
            <a:graphicData uri="http://schemas.openxmlformats.org/presentationml/2006/ole">
              <mc:AlternateContent xmlns:mc="http://schemas.openxmlformats.org/markup-compatibility/2006">
                <mc:Choice xmlns:v="urn:schemas-microsoft-com:vml" Requires="v">
                  <p:oleObj spid="_x0000_s7184" r:id="rId10" imgW="257175" imgH="190500" progId="Paint.Picture">
                    <p:embed/>
                  </p:oleObj>
                </mc:Choice>
                <mc:Fallback>
                  <p:oleObj r:id="rId10" imgW="257175" imgH="190500" progId="Paint.Picture">
                    <p:embed/>
                    <p:pic>
                      <p:nvPicPr>
                        <p:cNvPr id="0" name="图片 3085"/>
                        <p:cNvPicPr/>
                        <p:nvPr/>
                      </p:nvPicPr>
                      <p:blipFill>
                        <a:blip r:embed="rId4"/>
                        <a:stretch>
                          <a:fillRect/>
                        </a:stretch>
                      </p:blipFill>
                      <p:spPr>
                        <a:xfrm>
                          <a:off x="3048000" y="4830763"/>
                          <a:ext cx="257175" cy="190500"/>
                        </a:xfrm>
                        <a:prstGeom prst="rect">
                          <a:avLst/>
                        </a:prstGeom>
                        <a:noFill/>
                        <a:ln w="38100">
                          <a:noFill/>
                          <a:miter/>
                        </a:ln>
                      </p:spPr>
                    </p:pic>
                  </p:oleObj>
                </mc:Fallback>
              </mc:AlternateContent>
            </a:graphicData>
          </a:graphic>
        </p:graphicFrame>
        <p:graphicFrame>
          <p:nvGraphicFramePr>
            <p:cNvPr id="42000" name="Object 13"/>
            <p:cNvGraphicFramePr>
              <a:graphicFrameLocks noChangeAspect="1"/>
            </p:cNvGraphicFramePr>
            <p:nvPr/>
          </p:nvGraphicFramePr>
          <p:xfrm>
            <a:off x="5410200" y="4754563"/>
            <a:ext cx="257175" cy="190500"/>
          </p:xfrm>
          <a:graphic>
            <a:graphicData uri="http://schemas.openxmlformats.org/presentationml/2006/ole">
              <mc:AlternateContent xmlns:mc="http://schemas.openxmlformats.org/markup-compatibility/2006">
                <mc:Choice xmlns:v="urn:schemas-microsoft-com:vml" Requires="v">
                  <p:oleObj spid="_x0000_s7185" r:id="rId11" imgW="257175" imgH="190500" progId="Paint.Picture">
                    <p:embed/>
                  </p:oleObj>
                </mc:Choice>
                <mc:Fallback>
                  <p:oleObj r:id="rId11" imgW="257175" imgH="190500" progId="Paint.Picture">
                    <p:embed/>
                    <p:pic>
                      <p:nvPicPr>
                        <p:cNvPr id="0" name="图片 3086"/>
                        <p:cNvPicPr/>
                        <p:nvPr/>
                      </p:nvPicPr>
                      <p:blipFill>
                        <a:blip r:embed="rId4"/>
                        <a:stretch>
                          <a:fillRect/>
                        </a:stretch>
                      </p:blipFill>
                      <p:spPr>
                        <a:xfrm>
                          <a:off x="5410200" y="4754563"/>
                          <a:ext cx="257175" cy="190500"/>
                        </a:xfrm>
                        <a:prstGeom prst="rect">
                          <a:avLst/>
                        </a:prstGeom>
                        <a:noFill/>
                        <a:ln w="38100">
                          <a:noFill/>
                          <a:miter/>
                        </a:ln>
                      </p:spPr>
                    </p:pic>
                  </p:oleObj>
                </mc:Fallback>
              </mc:AlternateContent>
            </a:graphicData>
          </a:graphic>
        </p:graphicFrame>
        <p:graphicFrame>
          <p:nvGraphicFramePr>
            <p:cNvPr id="42001" name="Object 14"/>
            <p:cNvGraphicFramePr>
              <a:graphicFrameLocks noChangeAspect="1"/>
            </p:cNvGraphicFramePr>
            <p:nvPr/>
          </p:nvGraphicFramePr>
          <p:xfrm>
            <a:off x="5562600" y="6118820"/>
            <a:ext cx="257175" cy="190500"/>
          </p:xfrm>
          <a:graphic>
            <a:graphicData uri="http://schemas.openxmlformats.org/presentationml/2006/ole">
              <mc:AlternateContent xmlns:mc="http://schemas.openxmlformats.org/markup-compatibility/2006">
                <mc:Choice xmlns:v="urn:schemas-microsoft-com:vml" Requires="v">
                  <p:oleObj spid="_x0000_s7186" r:id="rId12" imgW="257175" imgH="190500" progId="Paint.Picture">
                    <p:embed/>
                  </p:oleObj>
                </mc:Choice>
                <mc:Fallback>
                  <p:oleObj r:id="rId12" imgW="257175" imgH="190500" progId="Paint.Picture">
                    <p:embed/>
                    <p:pic>
                      <p:nvPicPr>
                        <p:cNvPr id="0" name="图片 3080"/>
                        <p:cNvPicPr/>
                        <p:nvPr/>
                      </p:nvPicPr>
                      <p:blipFill>
                        <a:blip r:embed="rId4"/>
                        <a:stretch>
                          <a:fillRect/>
                        </a:stretch>
                      </p:blipFill>
                      <p:spPr>
                        <a:xfrm>
                          <a:off x="5562600" y="6118820"/>
                          <a:ext cx="257175" cy="190500"/>
                        </a:xfrm>
                        <a:prstGeom prst="rect">
                          <a:avLst/>
                        </a:prstGeom>
                        <a:noFill/>
                        <a:ln w="38100">
                          <a:noFill/>
                          <a:miter/>
                        </a:ln>
                      </p:spPr>
                    </p:pic>
                  </p:oleObj>
                </mc:Fallback>
              </mc:AlternateContent>
            </a:graphicData>
          </a:graphic>
        </p:graphicFrame>
        <p:sp>
          <p:nvSpPr>
            <p:cNvPr id="984080" name="Rectangle 16"/>
            <p:cNvSpPr>
              <a:spLocks noChangeArrowheads="1"/>
            </p:cNvSpPr>
            <p:nvPr/>
          </p:nvSpPr>
          <p:spPr bwMode="auto">
            <a:xfrm>
              <a:off x="609600" y="3429000"/>
              <a:ext cx="8077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8. 选择、连接和笛卡儿乘积的分配律</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是选择条件，</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是连接条件，</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和</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仅涉及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的属性</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是选择条件，</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是连接条件，</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和</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11</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12</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11</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仅涉及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的属性，</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12</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仅涉及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的属性</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用×代替上边两个等价式中的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就可以得到选择与笛卡尔乘积的分配律。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4082"/>
                                        </p:tgtEl>
                                        <p:attrNameLst>
                                          <p:attrName>style.visibility</p:attrName>
                                        </p:attrNameLst>
                                      </p:cBhvr>
                                      <p:to>
                                        <p:strVal val="visible"/>
                                      </p:to>
                                    </p:set>
                                    <p:anim calcmode="lin" valueType="num">
                                      <p:cBhvr>
                                        <p:cTn id="7" dur="500" fill="hold"/>
                                        <p:tgtEl>
                                          <p:spTgt spid="984082"/>
                                        </p:tgtEl>
                                        <p:attrNameLst>
                                          <p:attrName>ppt_x</p:attrName>
                                        </p:attrNameLst>
                                      </p:cBhvr>
                                      <p:tavLst>
                                        <p:tav tm="0">
                                          <p:val>
                                            <p:strVal val="#ppt_x"/>
                                          </p:val>
                                        </p:tav>
                                        <p:tav tm="100000">
                                          <p:val>
                                            <p:strVal val="#ppt_x"/>
                                          </p:val>
                                        </p:tav>
                                      </p:tavLst>
                                    </p:anim>
                                    <p:anim calcmode="lin" valueType="num">
                                      <p:cBhvr>
                                        <p:cTn id="8" dur="500" fill="hold"/>
                                        <p:tgtEl>
                                          <p:spTgt spid="9840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1F8259A-CDFF-45EE-8F60-0E2294DD897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3"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1FEADE7-1F22-41F6-9C54-4F7781721C5B}"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5090"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关系表达式的等价转换规则</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sp>
        <p:nvSpPr>
          <p:cNvPr id="985091" name="Rectangle 3"/>
          <p:cNvSpPr>
            <a:spLocks noGrp="1" noChangeArrowheads="1"/>
          </p:cNvSpPr>
          <p:nvPr>
            <p:ph idx="1"/>
          </p:nvPr>
        </p:nvSpPr>
        <p:spPr>
          <a:xfrm>
            <a:off x="609600" y="12954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关系代数等价转换规则 （12类）</a:t>
            </a:r>
          </a:p>
        </p:txBody>
      </p:sp>
      <p:grpSp>
        <p:nvGrpSpPr>
          <p:cNvPr id="985104" name="Group 16"/>
          <p:cNvGrpSpPr/>
          <p:nvPr/>
        </p:nvGrpSpPr>
        <p:grpSpPr>
          <a:xfrm>
            <a:off x="609600" y="1844675"/>
            <a:ext cx="7924800" cy="4572000"/>
            <a:chOff x="384" y="1162"/>
            <a:chExt cx="4992" cy="2880"/>
          </a:xfrm>
        </p:grpSpPr>
        <p:graphicFrame>
          <p:nvGraphicFramePr>
            <p:cNvPr id="43015" name="Object 6"/>
            <p:cNvGraphicFramePr>
              <a:graphicFrameLocks noChangeAspect="1"/>
            </p:cNvGraphicFramePr>
            <p:nvPr/>
          </p:nvGraphicFramePr>
          <p:xfrm>
            <a:off x="3696" y="1584"/>
            <a:ext cx="162" cy="120"/>
          </p:xfrm>
          <a:graphic>
            <a:graphicData uri="http://schemas.openxmlformats.org/presentationml/2006/ole">
              <mc:AlternateContent xmlns:mc="http://schemas.openxmlformats.org/markup-compatibility/2006">
                <mc:Choice xmlns:v="urn:schemas-microsoft-com:vml" Requires="v">
                  <p:oleObj spid="_x0000_s8196" r:id="rId3" imgW="257175" imgH="190500" progId="Paint.Picture">
                    <p:embed/>
                  </p:oleObj>
                </mc:Choice>
                <mc:Fallback>
                  <p:oleObj r:id="rId3" imgW="257175" imgH="190500" progId="Paint.Picture">
                    <p:embed/>
                    <p:pic>
                      <p:nvPicPr>
                        <p:cNvPr id="0" name="图片 3089"/>
                        <p:cNvPicPr/>
                        <p:nvPr/>
                      </p:nvPicPr>
                      <p:blipFill>
                        <a:blip r:embed="rId4"/>
                        <a:stretch>
                          <a:fillRect/>
                        </a:stretch>
                      </p:blipFill>
                      <p:spPr>
                        <a:xfrm>
                          <a:off x="3696" y="1584"/>
                          <a:ext cx="162" cy="120"/>
                        </a:xfrm>
                        <a:prstGeom prst="rect">
                          <a:avLst/>
                        </a:prstGeom>
                        <a:noFill/>
                        <a:ln w="38100">
                          <a:noFill/>
                          <a:miter/>
                        </a:ln>
                      </p:spPr>
                    </p:pic>
                  </p:oleObj>
                </mc:Fallback>
              </mc:AlternateContent>
            </a:graphicData>
          </a:graphic>
        </p:graphicFrame>
        <p:graphicFrame>
          <p:nvGraphicFramePr>
            <p:cNvPr id="43016" name="Object 7"/>
            <p:cNvGraphicFramePr>
              <a:graphicFrameLocks noChangeAspect="1"/>
            </p:cNvGraphicFramePr>
            <p:nvPr/>
          </p:nvGraphicFramePr>
          <p:xfrm>
            <a:off x="2016" y="1584"/>
            <a:ext cx="162" cy="120"/>
          </p:xfrm>
          <a:graphic>
            <a:graphicData uri="http://schemas.openxmlformats.org/presentationml/2006/ole">
              <mc:AlternateContent xmlns:mc="http://schemas.openxmlformats.org/markup-compatibility/2006">
                <mc:Choice xmlns:v="urn:schemas-microsoft-com:vml" Requires="v">
                  <p:oleObj spid="_x0000_s8197" r:id="rId5" imgW="257175" imgH="190500" progId="Paint.Picture">
                    <p:embed/>
                  </p:oleObj>
                </mc:Choice>
                <mc:Fallback>
                  <p:oleObj r:id="rId5" imgW="257175" imgH="190500" progId="Paint.Picture">
                    <p:embed/>
                    <p:pic>
                      <p:nvPicPr>
                        <p:cNvPr id="0" name="图片 3087"/>
                        <p:cNvPicPr/>
                        <p:nvPr/>
                      </p:nvPicPr>
                      <p:blipFill>
                        <a:blip r:embed="rId4"/>
                        <a:stretch>
                          <a:fillRect/>
                        </a:stretch>
                      </p:blipFill>
                      <p:spPr>
                        <a:xfrm>
                          <a:off x="2016" y="1584"/>
                          <a:ext cx="162" cy="120"/>
                        </a:xfrm>
                        <a:prstGeom prst="rect">
                          <a:avLst/>
                        </a:prstGeom>
                        <a:noFill/>
                        <a:ln w="38100">
                          <a:noFill/>
                          <a:miter/>
                        </a:ln>
                      </p:spPr>
                    </p:pic>
                  </p:oleObj>
                </mc:Fallback>
              </mc:AlternateContent>
            </a:graphicData>
          </a:graphic>
        </p:graphicFrame>
        <p:graphicFrame>
          <p:nvGraphicFramePr>
            <p:cNvPr id="43017" name="Object 10"/>
            <p:cNvGraphicFramePr>
              <a:graphicFrameLocks noChangeAspect="1"/>
            </p:cNvGraphicFramePr>
            <p:nvPr/>
          </p:nvGraphicFramePr>
          <p:xfrm>
            <a:off x="4059" y="2482"/>
            <a:ext cx="162" cy="120"/>
          </p:xfrm>
          <a:graphic>
            <a:graphicData uri="http://schemas.openxmlformats.org/presentationml/2006/ole">
              <mc:AlternateContent xmlns:mc="http://schemas.openxmlformats.org/markup-compatibility/2006">
                <mc:Choice xmlns:v="urn:schemas-microsoft-com:vml" Requires="v">
                  <p:oleObj spid="_x0000_s8198" r:id="rId6" imgW="257175" imgH="190500" progId="Paint.Picture">
                    <p:embed/>
                  </p:oleObj>
                </mc:Choice>
                <mc:Fallback>
                  <p:oleObj r:id="rId6" imgW="257175" imgH="190500" progId="Paint.Picture">
                    <p:embed/>
                    <p:pic>
                      <p:nvPicPr>
                        <p:cNvPr id="0" name="图片 3088"/>
                        <p:cNvPicPr/>
                        <p:nvPr/>
                      </p:nvPicPr>
                      <p:blipFill>
                        <a:blip r:embed="rId4"/>
                        <a:stretch>
                          <a:fillRect/>
                        </a:stretch>
                      </p:blipFill>
                      <p:spPr>
                        <a:xfrm>
                          <a:off x="4059" y="2482"/>
                          <a:ext cx="162" cy="120"/>
                        </a:xfrm>
                        <a:prstGeom prst="rect">
                          <a:avLst/>
                        </a:prstGeom>
                        <a:noFill/>
                        <a:ln w="38100">
                          <a:noFill/>
                          <a:miter/>
                        </a:ln>
                      </p:spPr>
                    </p:pic>
                  </p:oleObj>
                </mc:Fallback>
              </mc:AlternateContent>
            </a:graphicData>
          </a:graphic>
        </p:graphicFrame>
        <p:sp>
          <p:nvSpPr>
            <p:cNvPr id="985103" name="Rectangle 15"/>
            <p:cNvSpPr>
              <a:spLocks noChangeArrowheads="1"/>
            </p:cNvSpPr>
            <p:nvPr/>
          </p:nvSpPr>
          <p:spPr bwMode="auto">
            <a:xfrm>
              <a:off x="384" y="1162"/>
              <a:ext cx="4992" cy="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9. 投影、连接和笛卡尔乘积的分配律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  </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其中，</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是连接条件，</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和</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是关系代数表达式，</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L=L</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是投影属性集合，</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仅涉及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的属性，</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仅涉及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的属性，</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仅涉及</a:t>
              </a:r>
              <a:r>
                <a:rPr kumimoji="0"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的属性</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用×代替上边两个等价式中的   </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就可以得到选择与笛卡尔乘积的分配律。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5104"/>
                                        </p:tgtEl>
                                        <p:attrNameLst>
                                          <p:attrName>style.visibility</p:attrName>
                                        </p:attrNameLst>
                                      </p:cBhvr>
                                      <p:to>
                                        <p:strVal val="visible"/>
                                      </p:to>
                                    </p:set>
                                    <p:anim calcmode="lin" valueType="num">
                                      <p:cBhvr>
                                        <p:cTn id="7" dur="500" fill="hold"/>
                                        <p:tgtEl>
                                          <p:spTgt spid="985104"/>
                                        </p:tgtEl>
                                        <p:attrNameLst>
                                          <p:attrName>ppt_x</p:attrName>
                                        </p:attrNameLst>
                                      </p:cBhvr>
                                      <p:tavLst>
                                        <p:tav tm="0">
                                          <p:val>
                                            <p:strVal val="#ppt_x"/>
                                          </p:val>
                                        </p:tav>
                                        <p:tav tm="100000">
                                          <p:val>
                                            <p:strVal val="#ppt_x"/>
                                          </p:val>
                                        </p:tav>
                                      </p:tavLst>
                                    </p:anim>
                                    <p:anim calcmode="lin" valueType="num">
                                      <p:cBhvr>
                                        <p:cTn id="8" dur="500" fill="hold"/>
                                        <p:tgtEl>
                                          <p:spTgt spid="985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ED3FFC1-CD35-4DA7-A254-7E56747D9D1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关系表达式的等价转换规则</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986115" name="Rectangle 3"/>
          <p:cNvSpPr>
            <a:spLocks noGrp="1" noChangeArrowheads="1"/>
          </p:cNvSpPr>
          <p:nvPr>
            <p:ph idx="1"/>
          </p:nvPr>
        </p:nvSpPr>
        <p:spPr>
          <a:xfrm>
            <a:off x="609600" y="13716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关系代数等价转换规则 （12类）</a:t>
            </a:r>
          </a:p>
        </p:txBody>
      </p:sp>
      <p:sp>
        <p:nvSpPr>
          <p:cNvPr id="986127" name="Rectangle 15"/>
          <p:cNvSpPr>
            <a:spLocks noChangeArrowheads="1"/>
          </p:cNvSpPr>
          <p:nvPr/>
        </p:nvSpPr>
        <p:spPr bwMode="auto">
          <a:xfrm>
            <a:off x="609600" y="1905000"/>
            <a:ext cx="7924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10. 选择与集合操作的分配律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p:txBody>
      </p:sp>
      <p:sp>
        <p:nvSpPr>
          <p:cNvPr id="986128" name="Rectangle 16"/>
          <p:cNvSpPr>
            <a:spLocks noChangeArrowheads="1"/>
          </p:cNvSpPr>
          <p:nvPr/>
        </p:nvSpPr>
        <p:spPr bwMode="auto">
          <a:xfrm>
            <a:off x="609600" y="3429000"/>
            <a:ext cx="7924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11. 投影与集合操作的分配律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R="0" lvl="2" algn="just" defTabSz="914400" rtl="0" eaLnBrk="0" fontAlgn="base" latinLnBrk="0" hangingPunct="0">
              <a:lnSpc>
                <a:spcPct val="100000"/>
              </a:lnSpc>
              <a:spcBef>
                <a:spcPct val="20000"/>
              </a:spcBef>
              <a:spcAft>
                <a:spcPct val="0"/>
              </a:spcAft>
              <a:buClrTx/>
              <a:buSzTx/>
              <a:buFontTx/>
              <a:defRPr/>
            </a:pP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sp>
        <p:nvSpPr>
          <p:cNvPr id="986129" name="Rectangle 17"/>
          <p:cNvSpPr>
            <a:spLocks noChangeArrowheads="1"/>
          </p:cNvSpPr>
          <p:nvPr/>
        </p:nvSpPr>
        <p:spPr bwMode="auto">
          <a:xfrm>
            <a:off x="609600" y="4306888"/>
            <a:ext cx="79248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12. 其他等价变换律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除了上述规律以外，还有很多其他等价变换规律。例如，可以把选择或连接条件等价地转换为其他形式的条件。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86127"/>
                                        </p:tgtEl>
                                        <p:attrNameLst>
                                          <p:attrName>style.visibility</p:attrName>
                                        </p:attrNameLst>
                                      </p:cBhvr>
                                      <p:to>
                                        <p:strVal val="visible"/>
                                      </p:to>
                                    </p:set>
                                    <p:anim calcmode="lin" valueType="num">
                                      <p:cBhvr>
                                        <p:cTn id="7" dur="500" fill="hold"/>
                                        <p:tgtEl>
                                          <p:spTgt spid="986127"/>
                                        </p:tgtEl>
                                        <p:attrNameLst>
                                          <p:attrName>ppt_x</p:attrName>
                                        </p:attrNameLst>
                                      </p:cBhvr>
                                      <p:tavLst>
                                        <p:tav tm="0">
                                          <p:val>
                                            <p:strVal val="#ppt_x"/>
                                          </p:val>
                                        </p:tav>
                                        <p:tav tm="100000">
                                          <p:val>
                                            <p:strVal val="#ppt_x"/>
                                          </p:val>
                                        </p:tav>
                                      </p:tavLst>
                                    </p:anim>
                                    <p:anim calcmode="lin" valueType="num">
                                      <p:cBhvr>
                                        <p:cTn id="8" dur="500" fill="hold"/>
                                        <p:tgtEl>
                                          <p:spTgt spid="9861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86128"/>
                                        </p:tgtEl>
                                        <p:attrNameLst>
                                          <p:attrName>style.visibility</p:attrName>
                                        </p:attrNameLst>
                                      </p:cBhvr>
                                      <p:to>
                                        <p:strVal val="visible"/>
                                      </p:to>
                                    </p:set>
                                    <p:anim calcmode="lin" valueType="num">
                                      <p:cBhvr>
                                        <p:cTn id="13" dur="500" fill="hold"/>
                                        <p:tgtEl>
                                          <p:spTgt spid="986128"/>
                                        </p:tgtEl>
                                        <p:attrNameLst>
                                          <p:attrName>ppt_x</p:attrName>
                                        </p:attrNameLst>
                                      </p:cBhvr>
                                      <p:tavLst>
                                        <p:tav tm="0">
                                          <p:val>
                                            <p:strVal val="#ppt_x"/>
                                          </p:val>
                                        </p:tav>
                                        <p:tav tm="100000">
                                          <p:val>
                                            <p:strVal val="#ppt_x"/>
                                          </p:val>
                                        </p:tav>
                                      </p:tavLst>
                                    </p:anim>
                                    <p:anim calcmode="lin" valueType="num">
                                      <p:cBhvr>
                                        <p:cTn id="14" dur="500" fill="hold"/>
                                        <p:tgtEl>
                                          <p:spTgt spid="9861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86129"/>
                                        </p:tgtEl>
                                        <p:attrNameLst>
                                          <p:attrName>style.visibility</p:attrName>
                                        </p:attrNameLst>
                                      </p:cBhvr>
                                      <p:to>
                                        <p:strVal val="visible"/>
                                      </p:to>
                                    </p:set>
                                    <p:anim calcmode="lin" valueType="num">
                                      <p:cBhvr>
                                        <p:cTn id="19" dur="500" fill="hold"/>
                                        <p:tgtEl>
                                          <p:spTgt spid="986129"/>
                                        </p:tgtEl>
                                        <p:attrNameLst>
                                          <p:attrName>ppt_x</p:attrName>
                                        </p:attrNameLst>
                                      </p:cBhvr>
                                      <p:tavLst>
                                        <p:tav tm="0">
                                          <p:val>
                                            <p:strVal val="#ppt_x"/>
                                          </p:val>
                                        </p:tav>
                                        <p:tav tm="100000">
                                          <p:val>
                                            <p:strVal val="#ppt_x"/>
                                          </p:val>
                                        </p:tav>
                                      </p:tavLst>
                                    </p:anim>
                                    <p:anim calcmode="lin" valueType="num">
                                      <p:cBhvr>
                                        <p:cTn id="20" dur="500" fill="hold"/>
                                        <p:tgtEl>
                                          <p:spTgt spid="986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27" grpId="0"/>
      <p:bldP spid="986128" grpId="0"/>
      <p:bldP spid="986129"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921E52B-A6AB-48A2-ABB8-B74940F543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C961A8E-EC73-4474-8187-A60579D12A3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685800" y="15240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问题的提出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关系表达式的等价转换规则</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表达式结果大小的估计</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启发式关系代数优化算法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基于复杂性估计的查询优化方法 </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96A351C-33DC-4F1B-AEBA-780C5C0C9358}"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表达式结果大小的估计</a:t>
            </a:r>
          </a:p>
        </p:txBody>
      </p:sp>
      <p:sp>
        <p:nvSpPr>
          <p:cNvPr id="986115" name="Rectangle 3"/>
          <p:cNvSpPr>
            <a:spLocks noGrp="1" noChangeArrowheads="1"/>
          </p:cNvSpPr>
          <p:nvPr>
            <p:ph idx="1"/>
          </p:nvPr>
        </p:nvSpPr>
        <p:spPr>
          <a:xfrm>
            <a:off x="609600" y="13716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一个操作的代价依赖于它的输入的大小和其他统计信息</a:t>
            </a:r>
          </a:p>
        </p:txBody>
      </p:sp>
      <p:sp>
        <p:nvSpPr>
          <p:cNvPr id="986127" name="Rectangle 15"/>
          <p:cNvSpPr>
            <a:spLocks noChangeArrowheads="1"/>
          </p:cNvSpPr>
          <p:nvPr/>
        </p:nvSpPr>
        <p:spPr bwMode="auto">
          <a:xfrm>
            <a:off x="609600" y="2335213"/>
            <a:ext cx="7924800" cy="242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数据库系统的统计信息</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：关系</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的元组数</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b</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：包含关系</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中元组的磁盘块数</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：关系</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中每个元组的字节数</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f</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：关系</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的块因子</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一个磁盘块能容纳</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中元组的个数</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V(A,r)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：关系</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中属性</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中出现的非重复值的个数。</a:t>
            </a:r>
          </a:p>
        </p:txBody>
      </p:sp>
      <p:sp>
        <p:nvSpPr>
          <p:cNvPr id="986129" name="Rectangle 17"/>
          <p:cNvSpPr>
            <a:spLocks noChangeArrowheads="1"/>
          </p:cNvSpPr>
          <p:nvPr/>
        </p:nvSpPr>
        <p:spPr bwMode="auto">
          <a:xfrm>
            <a:off x="609600" y="4810125"/>
            <a:ext cx="79248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如果假设关系</a:t>
            </a:r>
            <a:r>
              <a:rPr kumimoji="0" lang="en-US" altLang="zh-CN"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r</a:t>
            </a: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在物理上存储于一个文件中，则</a:t>
            </a: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endParaRPr>
          </a:p>
        </p:txBody>
      </p:sp>
      <p:graphicFrame>
        <p:nvGraphicFramePr>
          <p:cNvPr id="2" name="对象 1"/>
          <p:cNvGraphicFramePr/>
          <p:nvPr/>
        </p:nvGraphicFramePr>
        <p:xfrm>
          <a:off x="3563938" y="5383213"/>
          <a:ext cx="2019300" cy="1001712"/>
        </p:xfrm>
        <a:graphic>
          <a:graphicData uri="http://schemas.openxmlformats.org/presentationml/2006/ole">
            <mc:AlternateContent xmlns:mc="http://schemas.openxmlformats.org/markup-compatibility/2006">
              <mc:Choice xmlns:v="urn:schemas-microsoft-com:vml" Requires="v">
                <p:oleObj spid="_x0000_s9218" r:id="rId3" imgW="1400175" imgH="855980" progId="Equation.DSMT4">
                  <p:embed/>
                </p:oleObj>
              </mc:Choice>
              <mc:Fallback>
                <p:oleObj r:id="rId3" imgW="1400175" imgH="855980" progId="Equation.DSMT4">
                  <p:embed/>
                  <p:pic>
                    <p:nvPicPr>
                      <p:cNvPr id="0" name="图片 3092"/>
                      <p:cNvPicPr/>
                      <p:nvPr/>
                    </p:nvPicPr>
                    <p:blipFill>
                      <a:blip r:embed="rId4"/>
                      <a:stretch>
                        <a:fillRect/>
                      </a:stretch>
                    </p:blipFill>
                    <p:spPr>
                      <a:xfrm>
                        <a:off x="3563938" y="5383213"/>
                        <a:ext cx="2019300" cy="10017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86127"/>
                                        </p:tgtEl>
                                        <p:attrNameLst>
                                          <p:attrName>style.visibility</p:attrName>
                                        </p:attrNameLst>
                                      </p:cBhvr>
                                      <p:to>
                                        <p:strVal val="visible"/>
                                      </p:to>
                                    </p:set>
                                    <p:anim calcmode="lin" valueType="num">
                                      <p:cBhvr>
                                        <p:cTn id="7" dur="500" fill="hold"/>
                                        <p:tgtEl>
                                          <p:spTgt spid="986127"/>
                                        </p:tgtEl>
                                        <p:attrNameLst>
                                          <p:attrName>ppt_x</p:attrName>
                                        </p:attrNameLst>
                                      </p:cBhvr>
                                      <p:tavLst>
                                        <p:tav tm="0">
                                          <p:val>
                                            <p:strVal val="#ppt_x"/>
                                          </p:val>
                                        </p:tav>
                                        <p:tav tm="100000">
                                          <p:val>
                                            <p:strVal val="#ppt_x"/>
                                          </p:val>
                                        </p:tav>
                                      </p:tavLst>
                                    </p:anim>
                                    <p:anim calcmode="lin" valueType="num">
                                      <p:cBhvr>
                                        <p:cTn id="8" dur="500" fill="hold"/>
                                        <p:tgtEl>
                                          <p:spTgt spid="9861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86129"/>
                                        </p:tgtEl>
                                        <p:attrNameLst>
                                          <p:attrName>style.visibility</p:attrName>
                                        </p:attrNameLst>
                                      </p:cBhvr>
                                      <p:to>
                                        <p:strVal val="visible"/>
                                      </p:to>
                                    </p:set>
                                    <p:anim calcmode="lin" valueType="num">
                                      <p:cBhvr>
                                        <p:cTn id="13" dur="500" fill="hold"/>
                                        <p:tgtEl>
                                          <p:spTgt spid="986129"/>
                                        </p:tgtEl>
                                        <p:attrNameLst>
                                          <p:attrName>ppt_x</p:attrName>
                                        </p:attrNameLst>
                                      </p:cBhvr>
                                      <p:tavLst>
                                        <p:tav tm="0">
                                          <p:val>
                                            <p:strVal val="#ppt_x"/>
                                          </p:val>
                                        </p:tav>
                                        <p:tav tm="100000">
                                          <p:val>
                                            <p:strVal val="#ppt_x"/>
                                          </p:val>
                                        </p:tav>
                                      </p:tavLst>
                                    </p:anim>
                                    <p:anim calcmode="lin" valueType="num">
                                      <p:cBhvr>
                                        <p:cTn id="14" dur="500" fill="hold"/>
                                        <p:tgtEl>
                                          <p:spTgt spid="9861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27" grpId="0" bldLvl="0" animBg="1"/>
      <p:bldP spid="986129"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DCE2F74-171C-486F-A56E-5A485FE09AE8}"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表达式结果大小的估计</a:t>
            </a:r>
          </a:p>
        </p:txBody>
      </p:sp>
      <p:sp>
        <p:nvSpPr>
          <p:cNvPr id="986115" name="Rectangle 3"/>
          <p:cNvSpPr>
            <a:spLocks noGrp="1" noChangeArrowheads="1"/>
          </p:cNvSpPr>
          <p:nvPr>
            <p:ph idx="1"/>
          </p:nvPr>
        </p:nvSpPr>
        <p:spPr>
          <a:xfrm>
            <a:off x="609600" y="13716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属性上的取值分布是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均匀的</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，运算结果大小的估计如下：</a:t>
            </a:r>
          </a:p>
        </p:txBody>
      </p:sp>
      <p:sp>
        <p:nvSpPr>
          <p:cNvPr id="986127" name="Rectangle 15"/>
          <p:cNvSpPr>
            <a:spLocks noChangeArrowheads="1"/>
          </p:cNvSpPr>
          <p:nvPr/>
        </p:nvSpPr>
        <p:spPr bwMode="auto">
          <a:xfrm>
            <a:off x="609600" y="2335213"/>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投影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估计值为</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V(A,r)</a:t>
            </a:r>
            <a:endPar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graphicFrame>
        <p:nvGraphicFramePr>
          <p:cNvPr id="4" name="对象 3">
            <a:hlinkClick r:id="" action="ppaction://ole?verb=0"/>
          </p:cNvPr>
          <p:cNvGraphicFramePr>
            <a:graphicFrameLocks noChangeAspect="1"/>
          </p:cNvGraphicFramePr>
          <p:nvPr/>
        </p:nvGraphicFramePr>
        <p:xfrm>
          <a:off x="2124075" y="2349500"/>
          <a:ext cx="663575" cy="419100"/>
        </p:xfrm>
        <a:graphic>
          <a:graphicData uri="http://schemas.openxmlformats.org/presentationml/2006/ole">
            <mc:AlternateContent xmlns:mc="http://schemas.openxmlformats.org/markup-compatibility/2006">
              <mc:Choice xmlns:v="urn:schemas-microsoft-com:vml" Requires="v">
                <p:oleObj spid="_x0000_s10246" r:id="rId3" imgW="419735" imgH="215900" progId="Equation.KSEE3">
                  <p:embed/>
                </p:oleObj>
              </mc:Choice>
              <mc:Fallback>
                <p:oleObj r:id="rId3" imgW="419735" imgH="215900" progId="Equation.KSEE3">
                  <p:embed/>
                  <p:pic>
                    <p:nvPicPr>
                      <p:cNvPr id="0" name="图片 3093"/>
                      <p:cNvPicPr/>
                      <p:nvPr/>
                    </p:nvPicPr>
                    <p:blipFill>
                      <a:blip r:embed="rId4"/>
                      <a:stretch>
                        <a:fillRect/>
                      </a:stretch>
                    </p:blipFill>
                    <p:spPr>
                      <a:xfrm>
                        <a:off x="2124075" y="2349500"/>
                        <a:ext cx="663575" cy="419100"/>
                      </a:xfrm>
                      <a:prstGeom prst="rect">
                        <a:avLst/>
                      </a:prstGeom>
                      <a:noFill/>
                      <a:ln w="38100">
                        <a:noFill/>
                        <a:miter/>
                      </a:ln>
                    </p:spPr>
                  </p:pic>
                </p:oleObj>
              </mc:Fallback>
            </mc:AlternateContent>
          </a:graphicData>
        </a:graphic>
      </p:graphicFrame>
      <p:sp>
        <p:nvSpPr>
          <p:cNvPr id="6" name="Rectangle 15"/>
          <p:cNvSpPr>
            <a:spLocks noChangeArrowheads="1"/>
          </p:cNvSpPr>
          <p:nvPr/>
        </p:nvSpPr>
        <p:spPr bwMode="auto">
          <a:xfrm>
            <a:off x="593725" y="3179763"/>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选择</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估计值为  </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/V(A,r)</a:t>
            </a:r>
            <a:endPar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graphicFrame>
        <p:nvGraphicFramePr>
          <p:cNvPr id="10" name="对象 9">
            <a:hlinkClick r:id="" action="ppaction://ole?verb=0"/>
          </p:cNvPr>
          <p:cNvGraphicFramePr>
            <a:graphicFrameLocks noChangeAspect="1"/>
          </p:cNvGraphicFramePr>
          <p:nvPr/>
        </p:nvGraphicFramePr>
        <p:xfrm>
          <a:off x="2124075" y="3213100"/>
          <a:ext cx="844550" cy="400050"/>
        </p:xfrm>
        <a:graphic>
          <a:graphicData uri="http://schemas.openxmlformats.org/presentationml/2006/ole">
            <mc:AlternateContent xmlns:mc="http://schemas.openxmlformats.org/markup-compatibility/2006">
              <mc:Choice xmlns:v="urn:schemas-microsoft-com:vml" Requires="v">
                <p:oleObj spid="_x0000_s10247" r:id="rId5" imgW="482600" imgH="228600" progId="Equation.KSEE3">
                  <p:embed/>
                </p:oleObj>
              </mc:Choice>
              <mc:Fallback>
                <p:oleObj r:id="rId5" imgW="482600" imgH="228600" progId="Equation.KSEE3">
                  <p:embed/>
                  <p:pic>
                    <p:nvPicPr>
                      <p:cNvPr id="0" name="图片 3094"/>
                      <p:cNvPicPr/>
                      <p:nvPr/>
                    </p:nvPicPr>
                    <p:blipFill>
                      <a:blip r:embed="rId6"/>
                      <a:stretch>
                        <a:fillRect/>
                      </a:stretch>
                    </p:blipFill>
                    <p:spPr>
                      <a:xfrm>
                        <a:off x="2124075" y="3213100"/>
                        <a:ext cx="844550" cy="400050"/>
                      </a:xfrm>
                      <a:prstGeom prst="rect">
                        <a:avLst/>
                      </a:prstGeom>
                      <a:noFill/>
                      <a:ln w="38100">
                        <a:noFill/>
                        <a:miter/>
                      </a:ln>
                    </p:spPr>
                  </p:pic>
                </p:oleObj>
              </mc:Fallback>
            </mc:AlternateContent>
          </a:graphicData>
        </a:graphic>
      </p:graphicFrame>
      <p:sp>
        <p:nvSpPr>
          <p:cNvPr id="11" name="Rectangle 15"/>
          <p:cNvSpPr>
            <a:spLocks noChangeArrowheads="1"/>
          </p:cNvSpPr>
          <p:nvPr/>
        </p:nvSpPr>
        <p:spPr bwMode="auto">
          <a:xfrm>
            <a:off x="576263" y="4024313"/>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选择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如果</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v&lt; min(A,r)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，则估计值为</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0</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如果</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v&gt;=max(A,r)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，则估计值为</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r</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否则，估计值为</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graphicFrame>
        <p:nvGraphicFramePr>
          <p:cNvPr id="48139" name="对象 11">
            <a:hlinkClick r:id="" action="ppaction://ole?verb=0"/>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48" r:id="rId7" imgW="915035" imgH="215900" progId="Equation.KSEE3">
                  <p:embed/>
                </p:oleObj>
              </mc:Choice>
              <mc:Fallback>
                <p:oleObj r:id="rId7" imgW="915035" imgH="215900" progId="Equation.KSEE3">
                  <p:embed/>
                  <p:pic>
                    <p:nvPicPr>
                      <p:cNvPr id="0" name="图片 3095"/>
                      <p:cNvPicPr/>
                      <p:nvPr/>
                    </p:nvPicPr>
                    <p:blipFill>
                      <a:blip r:embed="rId8"/>
                      <a:stretch>
                        <a:fillRect/>
                      </a:stretch>
                    </p:blipFill>
                    <p:spPr>
                      <a:xfrm>
                        <a:off x="4114800" y="3321050"/>
                        <a:ext cx="914400" cy="215900"/>
                      </a:xfrm>
                      <a:prstGeom prst="rect">
                        <a:avLst/>
                      </a:prstGeom>
                      <a:noFill/>
                      <a:ln w="38100">
                        <a:noFill/>
                        <a:miter/>
                      </a:ln>
                    </p:spPr>
                  </p:pic>
                </p:oleObj>
              </mc:Fallback>
            </mc:AlternateContent>
          </a:graphicData>
        </a:graphic>
      </p:graphicFrame>
      <p:graphicFrame>
        <p:nvGraphicFramePr>
          <p:cNvPr id="14" name="对象 13">
            <a:hlinkClick r:id="" action="ppaction://ole?verb=0"/>
          </p:cNvPr>
          <p:cNvGraphicFramePr>
            <a:graphicFrameLocks noChangeAspect="1"/>
          </p:cNvGraphicFramePr>
          <p:nvPr/>
        </p:nvGraphicFramePr>
        <p:xfrm>
          <a:off x="2124075" y="4005263"/>
          <a:ext cx="822325" cy="400050"/>
        </p:xfrm>
        <a:graphic>
          <a:graphicData uri="http://schemas.openxmlformats.org/presentationml/2006/ole">
            <mc:AlternateContent xmlns:mc="http://schemas.openxmlformats.org/markup-compatibility/2006">
              <mc:Choice xmlns:v="urn:schemas-microsoft-com:vml" Requires="v">
                <p:oleObj spid="_x0000_s10249" r:id="rId9" imgW="469900" imgH="228600" progId="Equation.KSEE3">
                  <p:embed/>
                </p:oleObj>
              </mc:Choice>
              <mc:Fallback>
                <p:oleObj r:id="rId9" imgW="469900" imgH="228600" progId="Equation.KSEE3">
                  <p:embed/>
                  <p:pic>
                    <p:nvPicPr>
                      <p:cNvPr id="0" name="图片 3090"/>
                      <p:cNvPicPr/>
                      <p:nvPr/>
                    </p:nvPicPr>
                    <p:blipFill>
                      <a:blip r:embed="rId10"/>
                      <a:stretch>
                        <a:fillRect/>
                      </a:stretch>
                    </p:blipFill>
                    <p:spPr>
                      <a:xfrm>
                        <a:off x="2124075" y="4005263"/>
                        <a:ext cx="822325" cy="400050"/>
                      </a:xfrm>
                      <a:prstGeom prst="rect">
                        <a:avLst/>
                      </a:prstGeom>
                      <a:noFill/>
                      <a:ln w="38100">
                        <a:noFill/>
                        <a:miter/>
                      </a:ln>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3708400" y="5518150"/>
          <a:ext cx="2841625" cy="738188"/>
        </p:xfrm>
        <a:graphic>
          <a:graphicData uri="http://schemas.openxmlformats.org/presentationml/2006/ole">
            <mc:AlternateContent xmlns:mc="http://schemas.openxmlformats.org/markup-compatibility/2006">
              <mc:Choice xmlns:v="urn:schemas-microsoft-com:vml" Requires="v">
                <p:oleObj spid="_x0000_s10250" r:id="rId11" imgW="1613535" imgH="419100" progId="Equation.KSEE3">
                  <p:embed/>
                </p:oleObj>
              </mc:Choice>
              <mc:Fallback>
                <p:oleObj r:id="rId11" imgW="1613535" imgH="419100" progId="Equation.KSEE3">
                  <p:embed/>
                  <p:pic>
                    <p:nvPicPr>
                      <p:cNvPr id="0" name="图片 3091"/>
                      <p:cNvPicPr/>
                      <p:nvPr/>
                    </p:nvPicPr>
                    <p:blipFill>
                      <a:blip r:embed="rId12"/>
                      <a:stretch>
                        <a:fillRect/>
                      </a:stretch>
                    </p:blipFill>
                    <p:spPr>
                      <a:xfrm>
                        <a:off x="3708400" y="5518150"/>
                        <a:ext cx="2841625" cy="7381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61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8612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048EA83-6D50-462A-B800-79C8D0DF559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表达式结果大小的估计</a:t>
            </a:r>
          </a:p>
        </p:txBody>
      </p:sp>
      <p:sp>
        <p:nvSpPr>
          <p:cNvPr id="986115" name="Rectangle 3"/>
          <p:cNvSpPr>
            <a:spLocks noGrp="1" noChangeArrowheads="1"/>
          </p:cNvSpPr>
          <p:nvPr>
            <p:ph idx="1"/>
          </p:nvPr>
        </p:nvSpPr>
        <p:spPr>
          <a:xfrm>
            <a:off x="609600" y="13716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属性上的取值分布是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均匀的</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，运算结果大小的估计如下：</a:t>
            </a:r>
          </a:p>
        </p:txBody>
      </p:sp>
      <p:sp>
        <p:nvSpPr>
          <p:cNvPr id="986127" name="Rectangle 15"/>
          <p:cNvSpPr>
            <a:spLocks noChangeArrowheads="1"/>
          </p:cNvSpPr>
          <p:nvPr/>
        </p:nvSpPr>
        <p:spPr bwMode="auto">
          <a:xfrm>
            <a:off x="609600" y="2335213"/>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合取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对于每个</a:t>
            </a:r>
            <a:r>
              <a:rPr kumimoji="0" lang="zh-CN" altLang="en-US"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θ</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i</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 </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我们按照之前描述的那样估计选择的大小，记为</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i</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，则</a:t>
            </a:r>
          </a:p>
        </p:txBody>
      </p:sp>
      <p:graphicFrame>
        <p:nvGraphicFramePr>
          <p:cNvPr id="4" name="对象 3">
            <a:hlinkClick r:id="" action="ppaction://ole?verb=0"/>
          </p:cNvPr>
          <p:cNvGraphicFramePr>
            <a:graphicFrameLocks noChangeAspect="1"/>
          </p:cNvGraphicFramePr>
          <p:nvPr/>
        </p:nvGraphicFramePr>
        <p:xfrm>
          <a:off x="2266950" y="2349500"/>
          <a:ext cx="1628775" cy="469900"/>
        </p:xfrm>
        <a:graphic>
          <a:graphicData uri="http://schemas.openxmlformats.org/presentationml/2006/ole">
            <mc:AlternateContent xmlns:mc="http://schemas.openxmlformats.org/markup-compatibility/2006">
              <mc:Choice xmlns:v="urn:schemas-microsoft-com:vml" Requires="v">
                <p:oleObj spid="_x0000_s11269" r:id="rId3" imgW="800735" imgH="241300" progId="Equation.KSEE3">
                  <p:embed/>
                </p:oleObj>
              </mc:Choice>
              <mc:Fallback>
                <p:oleObj r:id="rId3" imgW="800735" imgH="241300" progId="Equation.KSEE3">
                  <p:embed/>
                  <p:pic>
                    <p:nvPicPr>
                      <p:cNvPr id="0" name="图片 3100"/>
                      <p:cNvPicPr/>
                      <p:nvPr/>
                    </p:nvPicPr>
                    <p:blipFill>
                      <a:blip r:embed="rId4"/>
                      <a:stretch>
                        <a:fillRect/>
                      </a:stretch>
                    </p:blipFill>
                    <p:spPr>
                      <a:xfrm>
                        <a:off x="2266950" y="2349500"/>
                        <a:ext cx="1628775" cy="469900"/>
                      </a:xfrm>
                      <a:prstGeom prst="rect">
                        <a:avLst/>
                      </a:prstGeom>
                      <a:noFill/>
                      <a:ln w="38100">
                        <a:noFill/>
                        <a:miter/>
                      </a:ln>
                    </p:spPr>
                  </p:pic>
                </p:oleObj>
              </mc:Fallback>
            </mc:AlternateContent>
          </a:graphicData>
        </a:graphic>
      </p:graphicFrame>
      <p:graphicFrame>
        <p:nvGraphicFramePr>
          <p:cNvPr id="3" name="对象 2">
            <a:hlinkClick r:id="" action="ppaction://ole?verb=0"/>
          </p:cNvPr>
          <p:cNvGraphicFramePr>
            <a:graphicFrameLocks noChangeAspect="1"/>
          </p:cNvGraphicFramePr>
          <p:nvPr/>
        </p:nvGraphicFramePr>
        <p:xfrm>
          <a:off x="3492500" y="3357563"/>
          <a:ext cx="2203450" cy="796925"/>
        </p:xfrm>
        <a:graphic>
          <a:graphicData uri="http://schemas.openxmlformats.org/presentationml/2006/ole">
            <mc:AlternateContent xmlns:mc="http://schemas.openxmlformats.org/markup-compatibility/2006">
              <mc:Choice xmlns:v="urn:schemas-microsoft-com:vml" Requires="v">
                <p:oleObj spid="_x0000_s11270" r:id="rId5" imgW="1194435" imgH="431800" progId="Equation.KSEE3">
                  <p:embed/>
                </p:oleObj>
              </mc:Choice>
              <mc:Fallback>
                <p:oleObj r:id="rId5" imgW="1194435" imgH="431800" progId="Equation.KSEE3">
                  <p:embed/>
                  <p:pic>
                    <p:nvPicPr>
                      <p:cNvPr id="0" name="图片 3097"/>
                      <p:cNvPicPr/>
                      <p:nvPr/>
                    </p:nvPicPr>
                    <p:blipFill>
                      <a:blip r:embed="rId6"/>
                      <a:stretch>
                        <a:fillRect/>
                      </a:stretch>
                    </p:blipFill>
                    <p:spPr>
                      <a:xfrm>
                        <a:off x="3492500" y="3357563"/>
                        <a:ext cx="2203450" cy="796925"/>
                      </a:xfrm>
                      <a:prstGeom prst="rect">
                        <a:avLst/>
                      </a:prstGeom>
                      <a:noFill/>
                      <a:ln w="38100">
                        <a:noFill/>
                        <a:miter/>
                      </a:ln>
                    </p:spPr>
                  </p:pic>
                </p:oleObj>
              </mc:Fallback>
            </mc:AlternateContent>
          </a:graphicData>
        </a:graphic>
      </p:graphicFrame>
      <p:sp>
        <p:nvSpPr>
          <p:cNvPr id="5" name="Rectangle 15"/>
          <p:cNvSpPr>
            <a:spLocks noChangeArrowheads="1"/>
          </p:cNvSpPr>
          <p:nvPr/>
        </p:nvSpPr>
        <p:spPr bwMode="auto">
          <a:xfrm>
            <a:off x="736600" y="4327525"/>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析取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对于每个</a:t>
            </a:r>
            <a:r>
              <a:rPr kumimoji="0" lang="zh-CN" altLang="en-US"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θ</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i</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 </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我们按照之前描述的那样估计选择的大小，记为</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i</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，则</a:t>
            </a:r>
          </a:p>
        </p:txBody>
      </p:sp>
      <p:graphicFrame>
        <p:nvGraphicFramePr>
          <p:cNvPr id="13" name="对象 12">
            <a:hlinkClick r:id="" action="ppaction://ole?verb=0"/>
          </p:cNvPr>
          <p:cNvGraphicFramePr>
            <a:graphicFrameLocks noChangeAspect="1"/>
          </p:cNvGraphicFramePr>
          <p:nvPr/>
        </p:nvGraphicFramePr>
        <p:xfrm>
          <a:off x="2393950" y="4341813"/>
          <a:ext cx="1628775" cy="469900"/>
        </p:xfrm>
        <a:graphic>
          <a:graphicData uri="http://schemas.openxmlformats.org/presentationml/2006/ole">
            <mc:AlternateContent xmlns:mc="http://schemas.openxmlformats.org/markup-compatibility/2006">
              <mc:Choice xmlns:v="urn:schemas-microsoft-com:vml" Requires="v">
                <p:oleObj spid="_x0000_s11271" r:id="rId7" imgW="800735" imgH="241300" progId="Equation.KSEE3">
                  <p:embed/>
                </p:oleObj>
              </mc:Choice>
              <mc:Fallback>
                <p:oleObj r:id="rId7" imgW="800735" imgH="241300" progId="Equation.KSEE3">
                  <p:embed/>
                  <p:pic>
                    <p:nvPicPr>
                      <p:cNvPr id="0" name="图片 3098"/>
                      <p:cNvPicPr/>
                      <p:nvPr/>
                    </p:nvPicPr>
                    <p:blipFill>
                      <a:blip r:embed="rId8"/>
                      <a:stretch>
                        <a:fillRect/>
                      </a:stretch>
                    </p:blipFill>
                    <p:spPr>
                      <a:xfrm>
                        <a:off x="2393950" y="4341813"/>
                        <a:ext cx="1628775" cy="469900"/>
                      </a:xfrm>
                      <a:prstGeom prst="rect">
                        <a:avLst/>
                      </a:prstGeom>
                      <a:noFill/>
                      <a:ln w="38100">
                        <a:noFill/>
                        <a:miter/>
                      </a:ln>
                    </p:spPr>
                  </p:pic>
                </p:oleObj>
              </mc:Fallback>
            </mc:AlternateContent>
          </a:graphicData>
        </a:graphic>
      </p:graphicFrame>
      <p:graphicFrame>
        <p:nvGraphicFramePr>
          <p:cNvPr id="17" name="对象 16">
            <a:hlinkClick r:id="" action="ppaction://ole?verb=0"/>
          </p:cNvPr>
          <p:cNvGraphicFramePr>
            <a:graphicFrameLocks noChangeAspect="1"/>
          </p:cNvGraphicFramePr>
          <p:nvPr/>
        </p:nvGraphicFramePr>
        <p:xfrm>
          <a:off x="2905125" y="5345113"/>
          <a:ext cx="3587750" cy="822325"/>
        </p:xfrm>
        <a:graphic>
          <a:graphicData uri="http://schemas.openxmlformats.org/presentationml/2006/ole">
            <mc:AlternateContent xmlns:mc="http://schemas.openxmlformats.org/markup-compatibility/2006">
              <mc:Choice xmlns:v="urn:schemas-microsoft-com:vml" Requires="v">
                <p:oleObj spid="_x0000_s11272" r:id="rId9" imgW="1943100" imgH="444500" progId="Equation.KSEE3">
                  <p:embed/>
                </p:oleObj>
              </mc:Choice>
              <mc:Fallback>
                <p:oleObj r:id="rId9" imgW="1943100" imgH="444500" progId="Equation.KSEE3">
                  <p:embed/>
                  <p:pic>
                    <p:nvPicPr>
                      <p:cNvPr id="0" name="图片 3096"/>
                      <p:cNvPicPr/>
                      <p:nvPr/>
                    </p:nvPicPr>
                    <p:blipFill>
                      <a:blip r:embed="rId10"/>
                      <a:stretch>
                        <a:fillRect/>
                      </a:stretch>
                    </p:blipFill>
                    <p:spPr>
                      <a:xfrm>
                        <a:off x="2905125" y="5345113"/>
                        <a:ext cx="3587750" cy="8223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61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8612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18EE9E9-626A-49FE-A902-E6088EB2E7C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表达式结果大小的估计</a:t>
            </a:r>
          </a:p>
        </p:txBody>
      </p:sp>
      <p:sp>
        <p:nvSpPr>
          <p:cNvPr id="986115" name="Rectangle 3"/>
          <p:cNvSpPr>
            <a:spLocks noGrp="1" noChangeArrowheads="1"/>
          </p:cNvSpPr>
          <p:nvPr>
            <p:ph idx="1"/>
          </p:nvPr>
        </p:nvSpPr>
        <p:spPr>
          <a:xfrm>
            <a:off x="609600" y="13716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属性上的取值分布是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均匀的</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，运算结果大小的估计如下：</a:t>
            </a:r>
          </a:p>
        </p:txBody>
      </p:sp>
      <p:sp>
        <p:nvSpPr>
          <p:cNvPr id="986127" name="Rectangle 15"/>
          <p:cNvSpPr>
            <a:spLocks noChangeArrowheads="1"/>
          </p:cNvSpPr>
          <p:nvPr/>
        </p:nvSpPr>
        <p:spPr bwMode="auto">
          <a:xfrm>
            <a:off x="609600" y="2551113"/>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取反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在无空值的情况下，估计值为</a:t>
            </a:r>
            <a:r>
              <a:rPr kumimoji="0" lang="zh-CN" altLang="en-US"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 </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θ</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在有空值的情况下，估计值为</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null</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θ</a:t>
            </a:r>
            <a:endPar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914400" marR="0" lvl="2" indent="0" algn="just" defTabSz="914400" rtl="0" eaLnBrk="0" fontAlgn="base" latinLnBrk="0" hangingPunct="0">
              <a:lnSpc>
                <a:spcPct val="100000"/>
              </a:lnSpc>
              <a:spcBef>
                <a:spcPct val="20000"/>
              </a:spcBef>
              <a:spcAft>
                <a:spcPct val="0"/>
              </a:spcAft>
              <a:buClrTx/>
              <a:buSzTx/>
              <a:buFontTx/>
              <a:buNone/>
              <a:defRPr/>
            </a:pPr>
            <a:endParaRPr kumimoji="0" lang="zh-CN" altLang="en-US"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p:txBody>
      </p:sp>
      <p:graphicFrame>
        <p:nvGraphicFramePr>
          <p:cNvPr id="4" name="对象 3">
            <a:hlinkClick r:id="" action="ppaction://ole?verb=0"/>
          </p:cNvPr>
          <p:cNvGraphicFramePr>
            <a:graphicFrameLocks noChangeAspect="1"/>
          </p:cNvGraphicFramePr>
          <p:nvPr/>
        </p:nvGraphicFramePr>
        <p:xfrm>
          <a:off x="2055813" y="2505075"/>
          <a:ext cx="904875" cy="444500"/>
        </p:xfrm>
        <a:graphic>
          <a:graphicData uri="http://schemas.openxmlformats.org/presentationml/2006/ole">
            <mc:AlternateContent xmlns:mc="http://schemas.openxmlformats.org/markup-compatibility/2006">
              <mc:Choice xmlns:v="urn:schemas-microsoft-com:vml" Requires="v">
                <p:oleObj spid="_x0000_s12290" r:id="rId3" imgW="444500" imgH="228600" progId="Equation.KSEE3">
                  <p:embed/>
                </p:oleObj>
              </mc:Choice>
              <mc:Fallback>
                <p:oleObj r:id="rId3" imgW="444500" imgH="228600" progId="Equation.KSEE3">
                  <p:embed/>
                  <p:pic>
                    <p:nvPicPr>
                      <p:cNvPr id="0" name="图片 3099"/>
                      <p:cNvPicPr/>
                      <p:nvPr/>
                    </p:nvPicPr>
                    <p:blipFill>
                      <a:blip r:embed="rId4"/>
                      <a:stretch>
                        <a:fillRect/>
                      </a:stretch>
                    </p:blipFill>
                    <p:spPr>
                      <a:xfrm>
                        <a:off x="2055813" y="2505075"/>
                        <a:ext cx="904875" cy="444500"/>
                      </a:xfrm>
                      <a:prstGeom prst="rect">
                        <a:avLst/>
                      </a:prstGeom>
                      <a:noFill/>
                      <a:ln w="38100">
                        <a:noFill/>
                        <a:miter/>
                      </a:ln>
                    </p:spPr>
                  </p:pic>
                </p:oleObj>
              </mc:Fallback>
            </mc:AlternateContent>
          </a:graphicData>
        </a:graphic>
      </p:graphicFrame>
      <p:sp>
        <p:nvSpPr>
          <p:cNvPr id="5" name="Rectangle 15"/>
          <p:cNvSpPr>
            <a:spLocks noChangeArrowheads="1"/>
          </p:cNvSpPr>
          <p:nvPr/>
        </p:nvSpPr>
        <p:spPr bwMode="auto">
          <a:xfrm>
            <a:off x="539750" y="4003675"/>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har char="–"/>
            </a:pPr>
            <a:r>
              <a:rPr kumimoji="0" lang="zh-CN" altLang="en-US" sz="2400" b="1" i="0" u="none" strike="noStrike" kern="1200" cap="none" spc="0" normalizeH="0" baseline="0" noProof="1">
                <a:solidFill>
                  <a:srgbClr val="FF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sym typeface="+mn-ea"/>
              </a:rPr>
              <a:t>笛卡尔积 </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Times" charset="0"/>
                <a:ea typeface="楷体_GB2312"/>
                <a:cs typeface="Times" charset="0"/>
                <a:sym typeface="+mn-ea"/>
              </a:rPr>
              <a:t>r×s</a:t>
            </a:r>
          </a:p>
          <a:p>
            <a:pPr marL="1143000" marR="0" lvl="2" indent="-228600" algn="just" defTabSz="914400" rtl="0" eaLnBrk="0" fontAlgn="base" latinLnBrk="0" hangingPunct="0">
              <a:lnSpc>
                <a:spcPct val="100000"/>
              </a:lnSpc>
              <a:spcBef>
                <a:spcPct val="20000"/>
              </a:spcBef>
              <a:spcAft>
                <a:spcPct val="0"/>
              </a:spcAft>
              <a:buChar char="•"/>
            </a:pP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元组个数</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n</a:t>
            </a:r>
            <a:r>
              <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×n</a:t>
            </a:r>
            <a:r>
              <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，每个元组占</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l</a:t>
            </a:r>
            <a:r>
              <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+l</a:t>
            </a:r>
            <a:r>
              <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个字节</a:t>
            </a:r>
            <a:endPar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Arial" panose="020B0604020202020204" pitchFamily="34" charset="0"/>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61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8612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8612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3F907D2-45BE-4EA7-B37E-8D6A1F014B0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表达式结果大小的估计</a:t>
            </a:r>
          </a:p>
        </p:txBody>
      </p:sp>
      <p:sp>
        <p:nvSpPr>
          <p:cNvPr id="986115" name="Rectangle 3"/>
          <p:cNvSpPr>
            <a:spLocks noGrp="1" noChangeArrowheads="1"/>
          </p:cNvSpPr>
          <p:nvPr>
            <p:ph idx="1"/>
          </p:nvPr>
        </p:nvSpPr>
        <p:spPr>
          <a:xfrm>
            <a:off x="609600" y="1371600"/>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属性上的取值分布是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均匀的</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，运算结果大小的估计如下：</a:t>
            </a:r>
          </a:p>
        </p:txBody>
      </p:sp>
      <p:sp>
        <p:nvSpPr>
          <p:cNvPr id="986127" name="Rectangle 15"/>
          <p:cNvSpPr>
            <a:spLocks noChangeArrowheads="1"/>
          </p:cNvSpPr>
          <p:nvPr/>
        </p:nvSpPr>
        <p:spPr bwMode="auto">
          <a:xfrm>
            <a:off x="611188" y="2349500"/>
            <a:ext cx="7924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har char="–"/>
            </a:pPr>
            <a:r>
              <a:rPr kumimoji="0" lang="zh-CN" altLang="en-US" sz="2400" b="1" i="0" u="none" strike="noStrike" kern="1200" cap="none" spc="0" normalizeH="0" baseline="0" noProof="1">
                <a:solidFill>
                  <a:srgbClr val="FF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sym typeface="+mn-ea"/>
              </a:rPr>
              <a:t>自然连接</a:t>
            </a:r>
            <a:r>
              <a:rPr kumimoji="0" lang="en-US" altLang="zh-CN" sz="2400" b="1" i="1" u="none" strike="noStrike" kern="1200" cap="none" spc="0" normalizeH="0" baseline="0" noProof="1">
                <a:solidFill>
                  <a:srgbClr val="FF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sym typeface="+mn-ea"/>
              </a:rPr>
              <a:t>r(R)</a:t>
            </a:r>
            <a:r>
              <a:rPr kumimoji="0" lang="zh-CN" altLang="en-US" sz="2400" b="1" i="0" u="none" strike="noStrike" kern="1200" cap="none" spc="0" normalizeH="0" baseline="0" noProof="1">
                <a:solidFill>
                  <a:srgbClr val="FF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sym typeface="+mn-ea"/>
              </a:rPr>
              <a:t>和</a:t>
            </a:r>
            <a:r>
              <a:rPr kumimoji="0" lang="en-US" altLang="zh-CN" sz="2400" b="1" i="1" u="none" strike="noStrike" kern="1200" cap="none" spc="0" normalizeH="0" baseline="0" noProof="1">
                <a:solidFill>
                  <a:srgbClr val="FF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sym typeface="+mn-ea"/>
              </a:rPr>
              <a:t>s(S)</a:t>
            </a:r>
            <a:r>
              <a:rPr kumimoji="0" lang="zh-CN" altLang="en-US" sz="2400" b="1" i="0" u="none" strike="noStrike" kern="1200" cap="none" spc="0" normalizeH="0" baseline="0" noProof="1">
                <a:solidFill>
                  <a:srgbClr val="FF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sym typeface="+mn-ea"/>
              </a:rPr>
              <a:t> </a:t>
            </a:r>
          </a:p>
          <a:p>
            <a:pPr marL="1143000" marR="0" lvl="2" indent="-228600" algn="just" defTabSz="914400" rtl="0" eaLnBrk="0" fontAlgn="base" latinLnBrk="0" hangingPunct="0">
              <a:lnSpc>
                <a:spcPct val="100000"/>
              </a:lnSpc>
              <a:spcBef>
                <a:spcPct val="20000"/>
              </a:spcBef>
              <a:spcAft>
                <a:spcPct val="0"/>
              </a:spcAft>
              <a:buChar char="•"/>
            </a:pP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若</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为空，则类似于笛卡尔积的结果</a:t>
            </a:r>
            <a:endPar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har char="•"/>
            </a:pP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若</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为</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的码，则可知</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的一个元组至多与</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的一个元组相连接，因此自然连接结果的元组数小于等于</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n</a:t>
            </a:r>
            <a:r>
              <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，若</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构成</a:t>
            </a:r>
            <a:r>
              <a:rPr kumimoji="0" lang="en-US" altLang="zh-CN"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中参照</a:t>
            </a:r>
            <a:r>
              <a:rPr kumimoji="0" lang="en-US" altLang="zh-CN"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的外码，则自然连接结果等于</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n</a:t>
            </a:r>
            <a:r>
              <a:rPr kumimoji="0" lang="en-US" altLang="zh-CN"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，反之亦然</a:t>
            </a:r>
            <a:endParaRPr kumimoji="0" lang="en-US" altLang="zh-CN"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har char="•"/>
            </a:pP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若</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既不是</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R</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的码也不是</a:t>
            </a:r>
            <a:r>
              <a:rPr kumimoji="0" lang="en-US" altLang="zh-CN" sz="2000" b="1" i="1"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S</a:t>
            </a:r>
            <a:r>
              <a:rPr kumimoji="0" lang="zh-CN" altLang="en-US"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rPr>
              <a:t>的码，则可按如下估计</a:t>
            </a:r>
            <a:endParaRPr kumimoji="0" lang="en-US" altLang="zh-CN" sz="2000" b="1" i="0" u="none" strike="noStrike" kern="1200" cap="none" spc="0" normalizeH="0" baseline="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har char="•"/>
            </a:pPr>
            <a:endParaRPr kumimoji="0" lang="zh-CN" altLang="en-US" sz="2000" b="1" i="0"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楷体_GB231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None/>
            </a:pPr>
            <a:endParaRPr kumimoji="0" lang="zh-CN" altLang="en-US" sz="2000" b="1" i="1" u="none" strike="noStrike" kern="1200" cap="none" spc="0" normalizeH="0" baseline="-25000" noProof="1">
              <a:solidFill>
                <a:srgbClr val="003399"/>
              </a:solidFill>
              <a:effectLst>
                <a:outerShdw blurRad="38100" dist="38100" dir="2700000">
                  <a:srgbClr val="C0C0C0"/>
                </a:outerShdw>
              </a:effectLst>
              <a:latin typeface="Times New Roman" panose="02020603050405020304" pitchFamily="18" charset="0"/>
              <a:ea typeface="Arial" panose="020B0604020202020204" pitchFamily="34" charset="0"/>
              <a:cs typeface="+mn-cs"/>
              <a:sym typeface="+mn-ea"/>
            </a:endParaRPr>
          </a:p>
        </p:txBody>
      </p:sp>
      <p:graphicFrame>
        <p:nvGraphicFramePr>
          <p:cNvPr id="2" name="对象 1"/>
          <p:cNvGraphicFramePr>
            <a:graphicFrameLocks noChangeAspect="1"/>
          </p:cNvGraphicFramePr>
          <p:nvPr/>
        </p:nvGraphicFramePr>
        <p:xfrm>
          <a:off x="2771775" y="4724400"/>
          <a:ext cx="3802063" cy="895350"/>
        </p:xfrm>
        <a:graphic>
          <a:graphicData uri="http://schemas.openxmlformats.org/presentationml/2006/ole">
            <mc:AlternateContent xmlns:mc="http://schemas.openxmlformats.org/markup-compatibility/2006">
              <mc:Choice xmlns:v="urn:schemas-microsoft-com:vml" Requires="v">
                <p:oleObj spid="_x0000_s13314" r:id="rId3" imgW="1943100" imgH="457200" progId="Equation.DSMT4">
                  <p:embed/>
                </p:oleObj>
              </mc:Choice>
              <mc:Fallback>
                <p:oleObj r:id="rId3" imgW="1943100" imgH="457200" progId="Equation.DSMT4">
                  <p:embed/>
                  <p:pic>
                    <p:nvPicPr>
                      <p:cNvPr id="0" name="图片 3079"/>
                      <p:cNvPicPr/>
                      <p:nvPr/>
                    </p:nvPicPr>
                    <p:blipFill>
                      <a:blip r:embed="rId4"/>
                      <a:stretch>
                        <a:fillRect/>
                      </a:stretch>
                    </p:blipFill>
                    <p:spPr>
                      <a:xfrm>
                        <a:off x="2771775" y="4724400"/>
                        <a:ext cx="3802063" cy="895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6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6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6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61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91DD9D8-6DBB-4D83-9879-83F0FD4A2E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3F907D2-45BE-4EA7-B37E-8D6A1F014B0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611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表达式结果大小的估计</a:t>
            </a:r>
          </a:p>
        </p:txBody>
      </p:sp>
      <p:sp>
        <p:nvSpPr>
          <p:cNvPr id="986115" name="Rectangle 3"/>
          <p:cNvSpPr>
            <a:spLocks noGrp="1" noChangeArrowheads="1"/>
          </p:cNvSpPr>
          <p:nvPr>
            <p:ph idx="1"/>
          </p:nvPr>
        </p:nvSpPr>
        <p:spPr>
          <a:xfrm>
            <a:off x="611188" y="1190625"/>
            <a:ext cx="7924800" cy="533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属性上的取值分布是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均匀的</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，运算结果大小的估计如下：</a:t>
            </a:r>
          </a:p>
        </p:txBody>
      </p:sp>
      <p:sp>
        <p:nvSpPr>
          <p:cNvPr id="986127" name="Rectangle 15"/>
          <p:cNvSpPr>
            <a:spLocks noChangeArrowheads="1"/>
          </p:cNvSpPr>
          <p:nvPr/>
        </p:nvSpPr>
        <p:spPr bwMode="auto">
          <a:xfrm>
            <a:off x="611188" y="2133600"/>
            <a:ext cx="7924800" cy="331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聚集：</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V(</a:t>
            </a:r>
            <a:r>
              <a:rPr kumimoji="0" lang="en-US" altLang="zh-CN" sz="2000" b="1" i="1"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A,r</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集合运算：</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类似于合取、析取、取反的估计方法</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外连接</a:t>
            </a:r>
            <a:r>
              <a:rPr kumimoji="0" lang="en-US" altLang="zh-CN"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结果上界</a:t>
            </a:r>
            <a:r>
              <a:rPr kumimoji="0" lang="en-US" altLang="zh-CN"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左外连接</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与</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自然连接的大小估计值</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右外连接</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与</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自然连接的大小估计值</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全外连接</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与</a:t>
            </a:r>
            <a:r>
              <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自然连接的大小估计值</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r</a:t>
            </a:r>
            <a:r>
              <a:rPr kumimoji="0" lang="en-US" altLang="zh-CN" sz="2000" b="1"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a:t>
            </a:r>
            <a:r>
              <a:rPr kumimoji="0" lang="en-US" altLang="zh-CN" sz="2000" b="1" i="1"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n</a:t>
            </a:r>
            <a:r>
              <a:rPr kumimoji="0" lang="en-US" altLang="zh-CN" sz="2000" b="1" i="1" u="none" strike="noStrike" kern="1200" cap="none" spc="0" normalizeH="0" baseline="-25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rPr>
              <a:t>s</a:t>
            </a:r>
            <a:endPar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en-US" altLang="zh-CN" sz="2000" b="1" i="1"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en-US" altLang="zh-CN"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endParaRPr kumimoji="0" lang="zh-CN" altLang="en-US" sz="2000" b="1" i="0"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a:p>
            <a:pPr marL="914400" marR="0" lvl="2" indent="0" algn="just" defTabSz="914400" rtl="0" eaLnBrk="0" fontAlgn="base" latinLnBrk="0" hangingPunct="0">
              <a:lnSpc>
                <a:spcPct val="100000"/>
              </a:lnSpc>
              <a:spcBef>
                <a:spcPct val="20000"/>
              </a:spcBef>
              <a:spcAft>
                <a:spcPct val="0"/>
              </a:spcAft>
              <a:buClrTx/>
              <a:buSzTx/>
              <a:buFontTx/>
              <a:buNone/>
              <a:defRPr/>
            </a:pPr>
            <a:endParaRPr kumimoji="0" lang="zh-CN" altLang="en-US" sz="2000" b="1" i="1" u="none" strike="noStrike" kern="1200" cap="none" spc="0" normalizeH="0" baseline="-25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Arial" panose="020B0604020202020204" pitchFamily="34" charset="0"/>
              <a:sym typeface="+mn-ea"/>
            </a:endParaRPr>
          </a:p>
        </p:txBody>
      </p:sp>
      <p:sp>
        <p:nvSpPr>
          <p:cNvPr id="10" name="Rectangle 3"/>
          <p:cNvSpPr txBox="1">
            <a:spLocks noChangeArrowheads="1"/>
          </p:cNvSpPr>
          <p:nvPr/>
        </p:nvSpPr>
        <p:spPr bwMode="auto">
          <a:xfrm>
            <a:off x="679450" y="5445125"/>
            <a:ext cx="7924800" cy="533400"/>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r</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A</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属性上的取值分布</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不均匀的</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，可以采用</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直方图等</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统计方法进行结果大小估计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6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6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6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61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61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861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8612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8612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921E52B-A6AB-48A2-ABB8-B74940F543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1DBA1E1-4066-4B4B-ADD5-E26C5F538C9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685800" y="15240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问题的提出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关系表达式的等价转换规则</a:t>
            </a:r>
            <a:endPar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表达式结果大小的估计</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启发式关系代数优化算法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基于复杂性估计的查询优化方法 </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D1470F6-A85D-4F3B-851B-B0C7A8DD00D4}"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5AD6D87-B380-4871-A557-927C8C001D8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7139" name="Rectangle 3"/>
          <p:cNvSpPr>
            <a:spLocks noGrp="1" noChangeArrowheads="1"/>
          </p:cNvSpPr>
          <p:nvPr>
            <p:ph idx="1"/>
          </p:nvPr>
        </p:nvSpPr>
        <p:spPr>
          <a:xfrm>
            <a:off x="609600" y="13716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启发式代数优化规则</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给定一个关系代数表达式，可以应用一组启发式规则对其进行等价变换，产生一个具有较高效率的等价表达式。</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需要注意，这些规则</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不能保证一定产生最优化等价表达式</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987140"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7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AE0D86F-9545-46FC-BBCE-6253422C667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3"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F079BA8-DE88-48D5-A648-371C875DD25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8162" name="Rectangle 2"/>
          <p:cNvSpPr>
            <a:spLocks noGrp="1" noChangeArrowheads="1"/>
          </p:cNvSpPr>
          <p:nvPr>
            <p:ph idx="1"/>
          </p:nvPr>
        </p:nvSpPr>
        <p:spPr>
          <a:xfrm>
            <a:off x="609600" y="1371600"/>
            <a:ext cx="7924800" cy="609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启发式代数优化规则</a:t>
            </a:r>
          </a:p>
        </p:txBody>
      </p:sp>
      <p:sp>
        <p:nvSpPr>
          <p:cNvPr id="988163" name="Rectangle 3"/>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88168" name="Rectangle 8"/>
          <p:cNvSpPr>
            <a:spLocks noChangeArrowheads="1"/>
          </p:cNvSpPr>
          <p:nvPr/>
        </p:nvSpPr>
        <p:spPr bwMode="auto">
          <a:xfrm>
            <a:off x="609600" y="1943100"/>
            <a:ext cx="79248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规则1</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选择和投影操作尽早执行。</a:t>
            </a:r>
          </a:p>
        </p:txBody>
      </p:sp>
      <p:grpSp>
        <p:nvGrpSpPr>
          <p:cNvPr id="2" name="组合 1"/>
          <p:cNvGrpSpPr/>
          <p:nvPr/>
        </p:nvGrpSpPr>
        <p:grpSpPr>
          <a:xfrm>
            <a:off x="609600" y="2457450"/>
            <a:ext cx="7924800" cy="3924300"/>
            <a:chOff x="609600" y="2457450"/>
            <a:chExt cx="7924800" cy="3924300"/>
          </a:xfrm>
        </p:grpSpPr>
        <p:graphicFrame>
          <p:nvGraphicFramePr>
            <p:cNvPr id="56328" name="Object 4"/>
            <p:cNvGraphicFramePr>
              <a:graphicFrameLocks noChangeAspect="1"/>
            </p:cNvGraphicFramePr>
            <p:nvPr/>
          </p:nvGraphicFramePr>
          <p:xfrm>
            <a:off x="3096022" y="3924300"/>
            <a:ext cx="257175" cy="190500"/>
          </p:xfrm>
          <a:graphic>
            <a:graphicData uri="http://schemas.openxmlformats.org/presentationml/2006/ole">
              <mc:AlternateContent xmlns:mc="http://schemas.openxmlformats.org/markup-compatibility/2006">
                <mc:Choice xmlns:v="urn:schemas-microsoft-com:vml" Requires="v">
                  <p:oleObj spid="_x0000_s14341" r:id="rId3" imgW="257175" imgH="190500" progId="Paint.Picture">
                    <p:embed/>
                  </p:oleObj>
                </mc:Choice>
                <mc:Fallback>
                  <p:oleObj r:id="rId3" imgW="257175" imgH="190500" progId="Paint.Picture">
                    <p:embed/>
                    <p:pic>
                      <p:nvPicPr>
                        <p:cNvPr id="0" name="图片 3102"/>
                        <p:cNvPicPr/>
                        <p:nvPr/>
                      </p:nvPicPr>
                      <p:blipFill>
                        <a:blip r:embed="rId4"/>
                        <a:stretch>
                          <a:fillRect/>
                        </a:stretch>
                      </p:blipFill>
                      <p:spPr>
                        <a:xfrm>
                          <a:off x="3096022" y="3924300"/>
                          <a:ext cx="257175" cy="190500"/>
                        </a:xfrm>
                        <a:prstGeom prst="rect">
                          <a:avLst/>
                        </a:prstGeom>
                        <a:noFill/>
                        <a:ln w="38100">
                          <a:noFill/>
                          <a:miter/>
                        </a:ln>
                      </p:spPr>
                    </p:pic>
                  </p:oleObj>
                </mc:Fallback>
              </mc:AlternateContent>
            </a:graphicData>
          </a:graphic>
        </p:graphicFrame>
        <p:graphicFrame>
          <p:nvGraphicFramePr>
            <p:cNvPr id="56329" name="Object 5"/>
            <p:cNvGraphicFramePr>
              <a:graphicFrameLocks noChangeAspect="1"/>
            </p:cNvGraphicFramePr>
            <p:nvPr/>
          </p:nvGraphicFramePr>
          <p:xfrm>
            <a:off x="5151487" y="3933825"/>
            <a:ext cx="257175" cy="190500"/>
          </p:xfrm>
          <a:graphic>
            <a:graphicData uri="http://schemas.openxmlformats.org/presentationml/2006/ole">
              <mc:AlternateContent xmlns:mc="http://schemas.openxmlformats.org/markup-compatibility/2006">
                <mc:Choice xmlns:v="urn:schemas-microsoft-com:vml" Requires="v">
                  <p:oleObj spid="_x0000_s14342" r:id="rId5" imgW="257175" imgH="190500" progId="Paint.Picture">
                    <p:embed/>
                  </p:oleObj>
                </mc:Choice>
                <mc:Fallback>
                  <p:oleObj r:id="rId5" imgW="257175" imgH="190500" progId="Paint.Picture">
                    <p:embed/>
                    <p:pic>
                      <p:nvPicPr>
                        <p:cNvPr id="0" name="图片 3103"/>
                        <p:cNvPicPr/>
                        <p:nvPr/>
                      </p:nvPicPr>
                      <p:blipFill>
                        <a:blip r:embed="rId4"/>
                        <a:stretch>
                          <a:fillRect/>
                        </a:stretch>
                      </p:blipFill>
                      <p:spPr>
                        <a:xfrm>
                          <a:off x="5151487" y="3933825"/>
                          <a:ext cx="257175" cy="190500"/>
                        </a:xfrm>
                        <a:prstGeom prst="rect">
                          <a:avLst/>
                        </a:prstGeom>
                        <a:noFill/>
                        <a:ln w="38100">
                          <a:noFill/>
                          <a:miter/>
                        </a:ln>
                      </p:spPr>
                    </p:pic>
                  </p:oleObj>
                </mc:Fallback>
              </mc:AlternateContent>
            </a:graphicData>
          </a:graphic>
        </p:graphicFrame>
        <p:graphicFrame>
          <p:nvGraphicFramePr>
            <p:cNvPr id="56330" name="Object 6"/>
            <p:cNvGraphicFramePr>
              <a:graphicFrameLocks noChangeAspect="1"/>
            </p:cNvGraphicFramePr>
            <p:nvPr/>
          </p:nvGraphicFramePr>
          <p:xfrm>
            <a:off x="3162697" y="4238625"/>
            <a:ext cx="257175" cy="190500"/>
          </p:xfrm>
          <a:graphic>
            <a:graphicData uri="http://schemas.openxmlformats.org/presentationml/2006/ole">
              <mc:AlternateContent xmlns:mc="http://schemas.openxmlformats.org/markup-compatibility/2006">
                <mc:Choice xmlns:v="urn:schemas-microsoft-com:vml" Requires="v">
                  <p:oleObj spid="_x0000_s14343" r:id="rId6" imgW="257175" imgH="190500" progId="Paint.Picture">
                    <p:embed/>
                  </p:oleObj>
                </mc:Choice>
                <mc:Fallback>
                  <p:oleObj r:id="rId6" imgW="257175" imgH="190500" progId="Paint.Picture">
                    <p:embed/>
                    <p:pic>
                      <p:nvPicPr>
                        <p:cNvPr id="0" name="图片 3101"/>
                        <p:cNvPicPr/>
                        <p:nvPr/>
                      </p:nvPicPr>
                      <p:blipFill>
                        <a:blip r:embed="rId4"/>
                        <a:stretch>
                          <a:fillRect/>
                        </a:stretch>
                      </p:blipFill>
                      <p:spPr>
                        <a:xfrm>
                          <a:off x="3162697" y="4238625"/>
                          <a:ext cx="257175" cy="190500"/>
                        </a:xfrm>
                        <a:prstGeom prst="rect">
                          <a:avLst/>
                        </a:prstGeom>
                        <a:noFill/>
                        <a:ln w="38100">
                          <a:noFill/>
                          <a:miter/>
                        </a:ln>
                      </p:spPr>
                    </p:pic>
                  </p:oleObj>
                </mc:Fallback>
              </mc:AlternateContent>
            </a:graphicData>
          </a:graphic>
        </p:graphicFrame>
        <p:graphicFrame>
          <p:nvGraphicFramePr>
            <p:cNvPr id="56331" name="Object 7"/>
            <p:cNvGraphicFramePr>
              <a:graphicFrameLocks noChangeAspect="1"/>
            </p:cNvGraphicFramePr>
            <p:nvPr/>
          </p:nvGraphicFramePr>
          <p:xfrm>
            <a:off x="5322937" y="4257675"/>
            <a:ext cx="257175" cy="190500"/>
          </p:xfrm>
          <a:graphic>
            <a:graphicData uri="http://schemas.openxmlformats.org/presentationml/2006/ole">
              <mc:AlternateContent xmlns:mc="http://schemas.openxmlformats.org/markup-compatibility/2006">
                <mc:Choice xmlns:v="urn:schemas-microsoft-com:vml" Requires="v">
                  <p:oleObj spid="_x0000_s14344" r:id="rId7" imgW="257175" imgH="190500" progId="Paint.Picture">
                    <p:embed/>
                  </p:oleObj>
                </mc:Choice>
                <mc:Fallback>
                  <p:oleObj r:id="rId7" imgW="257175" imgH="190500" progId="Paint.Picture">
                    <p:embed/>
                    <p:pic>
                      <p:nvPicPr>
                        <p:cNvPr id="0" name="图片 3104"/>
                        <p:cNvPicPr/>
                        <p:nvPr/>
                      </p:nvPicPr>
                      <p:blipFill>
                        <a:blip r:embed="rId4"/>
                        <a:stretch>
                          <a:fillRect/>
                        </a:stretch>
                      </p:blipFill>
                      <p:spPr>
                        <a:xfrm>
                          <a:off x="5322937" y="4257675"/>
                          <a:ext cx="257175" cy="190500"/>
                        </a:xfrm>
                        <a:prstGeom prst="rect">
                          <a:avLst/>
                        </a:prstGeom>
                        <a:noFill/>
                        <a:ln w="38100">
                          <a:noFill/>
                          <a:miter/>
                        </a:ln>
                      </p:spPr>
                    </p:pic>
                  </p:oleObj>
                </mc:Fallback>
              </mc:AlternateContent>
            </a:graphicData>
          </a:graphic>
        </p:graphicFrame>
        <p:sp>
          <p:nvSpPr>
            <p:cNvPr id="988169" name="Rectangle 9"/>
            <p:cNvSpPr>
              <a:spLocks noChangeArrowheads="1"/>
            </p:cNvSpPr>
            <p:nvPr/>
          </p:nvSpPr>
          <p:spPr bwMode="auto">
            <a:xfrm>
              <a:off x="609600" y="2457450"/>
              <a:ext cx="7924800"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4. </a:t>
              </a:r>
              <a:r>
                <a:rPr kumimoji="0" lang="zh-CN" altLang="en-US" sz="24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选择投影交换律 </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(Π</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 B1, ..., </a:t>
              </a:r>
              <a:r>
                <a:rPr kumimoji="0" lang="en-US" altLang="zh-CN" sz="2000" b="1" i="0" u="none" strike="noStrike" kern="1200" cap="none" spc="0" normalizeH="0" baseline="-30000" noProof="0" dirty="0" err="1">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Bm</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8. 选择、连接和笛卡儿乘积的分配律</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endPar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C12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FF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10. 选择与集合操作的分配律</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 (E</a:t>
              </a:r>
              <a:r>
                <a:rPr kumimoji="0" lang="en-US" altLang="zh-CN" sz="20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a:t>
              </a:r>
              <a:r>
                <a:rPr kumimoji="0" lang="en-US" altLang="zh-CN" sz="20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88168"/>
                                        </p:tgtEl>
                                        <p:attrNameLst>
                                          <p:attrName>style.visibility</p:attrName>
                                        </p:attrNameLst>
                                      </p:cBhvr>
                                      <p:to>
                                        <p:strVal val="visible"/>
                                      </p:to>
                                    </p:set>
                                    <p:animEffect transition="in" filter="slide(fromLeft)">
                                      <p:cBhvr>
                                        <p:cTn id="7" dur="500"/>
                                        <p:tgtEl>
                                          <p:spTgt spid="98816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0485B7B-5928-40C7-854B-1005C8E72C6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1E72FAF-7B8D-43E3-95E2-0EE8D604B41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89186" name="Rectangle 2"/>
          <p:cNvSpPr>
            <a:spLocks noGrp="1" noChangeArrowheads="1"/>
          </p:cNvSpPr>
          <p:nvPr>
            <p:ph idx="1"/>
          </p:nvPr>
        </p:nvSpPr>
        <p:spPr>
          <a:xfrm>
            <a:off x="609600" y="1371600"/>
            <a:ext cx="7924800" cy="609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启发式代数优化规则</a:t>
            </a:r>
          </a:p>
        </p:txBody>
      </p:sp>
      <p:sp>
        <p:nvSpPr>
          <p:cNvPr id="989187" name="Rectangle 3"/>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89188" name="Rectangle 4"/>
          <p:cNvSpPr>
            <a:spLocks noChangeArrowheads="1"/>
          </p:cNvSpPr>
          <p:nvPr/>
        </p:nvSpPr>
        <p:spPr bwMode="auto">
          <a:xfrm>
            <a:off x="609600" y="1981200"/>
            <a:ext cx="8153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规则2</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把某些选择操作与笛卡尔乘积相结合，形成一个连接操作。</a:t>
            </a:r>
          </a:p>
        </p:txBody>
      </p:sp>
      <p:sp>
        <p:nvSpPr>
          <p:cNvPr id="989189" name="Rectangle 5"/>
          <p:cNvSpPr>
            <a:spLocks noChangeArrowheads="1"/>
          </p:cNvSpPr>
          <p:nvPr/>
        </p:nvSpPr>
        <p:spPr bwMode="auto">
          <a:xfrm>
            <a:off x="609600" y="2971800"/>
            <a:ext cx="80660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规则3</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同时执行相同关系上的多个选择和投影操作。</a:t>
            </a:r>
          </a:p>
        </p:txBody>
      </p:sp>
      <p:sp>
        <p:nvSpPr>
          <p:cNvPr id="989190" name="Rectangle 6"/>
          <p:cNvSpPr>
            <a:spLocks noChangeArrowheads="1"/>
          </p:cNvSpPr>
          <p:nvPr/>
        </p:nvSpPr>
        <p:spPr bwMode="auto">
          <a:xfrm>
            <a:off x="609600" y="3962400"/>
            <a:ext cx="84264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规则4</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把投影操作与连接操作结合起来执行。</a:t>
            </a: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89188"/>
                                        </p:tgtEl>
                                        <p:attrNameLst>
                                          <p:attrName>style.visibility</p:attrName>
                                        </p:attrNameLst>
                                      </p:cBhvr>
                                      <p:to>
                                        <p:strVal val="visible"/>
                                      </p:to>
                                    </p:set>
                                    <p:animEffect transition="in" filter="slide(fromLeft)">
                                      <p:cBhvr>
                                        <p:cTn id="7" dur="500"/>
                                        <p:tgtEl>
                                          <p:spTgt spid="98918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89189"/>
                                        </p:tgtEl>
                                        <p:attrNameLst>
                                          <p:attrName>style.visibility</p:attrName>
                                        </p:attrNameLst>
                                      </p:cBhvr>
                                      <p:to>
                                        <p:strVal val="visible"/>
                                      </p:to>
                                    </p:set>
                                    <p:animEffect transition="in" filter="slide(fromLeft)">
                                      <p:cBhvr>
                                        <p:cTn id="12" dur="500"/>
                                        <p:tgtEl>
                                          <p:spTgt spid="98918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989190"/>
                                        </p:tgtEl>
                                        <p:attrNameLst>
                                          <p:attrName>style.visibility</p:attrName>
                                        </p:attrNameLst>
                                      </p:cBhvr>
                                      <p:to>
                                        <p:strVal val="visible"/>
                                      </p:to>
                                    </p:set>
                                    <p:animEffect transition="in" filter="slide(fromLeft)">
                                      <p:cBhvr>
                                        <p:cTn id="17" dur="500"/>
                                        <p:tgtEl>
                                          <p:spTgt spid="989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8" grpId="0"/>
      <p:bldP spid="989189" grpId="0"/>
      <p:bldP spid="98919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509A353-CE3E-4CBC-8800-59BE3475D46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0288651-AB14-4351-BEC9-B05B78B639F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0210" name="Rectangle 2"/>
          <p:cNvSpPr>
            <a:spLocks noGrp="1" noChangeArrowheads="1"/>
          </p:cNvSpPr>
          <p:nvPr>
            <p:ph idx="1"/>
          </p:nvPr>
        </p:nvSpPr>
        <p:spPr>
          <a:xfrm>
            <a:off x="609600" y="1371600"/>
            <a:ext cx="7924800" cy="609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启发式代数优化规则</a:t>
            </a:r>
          </a:p>
        </p:txBody>
      </p:sp>
      <p:sp>
        <p:nvSpPr>
          <p:cNvPr id="990211" name="Rectangle 3"/>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90212" name="Rectangle 4"/>
          <p:cNvSpPr>
            <a:spLocks noChangeArrowheads="1"/>
          </p:cNvSpPr>
          <p:nvPr/>
        </p:nvSpPr>
        <p:spPr bwMode="auto">
          <a:xfrm>
            <a:off x="609600" y="1981200"/>
            <a:ext cx="7924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规则5</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  提取公共表达式。</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如果一个反复出现的公共表达式的结果不是一个很大的关系，而且从外存读入它的时间小于计算它的时间，可以只计算这个表达式一次并存储其结果，以后遇到该表达式时不必重新计算。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90212"/>
                                        </p:tgtEl>
                                        <p:attrNameLst>
                                          <p:attrName>style.visibility</p:attrName>
                                        </p:attrNameLst>
                                      </p:cBhvr>
                                      <p:to>
                                        <p:strVal val="visible"/>
                                      </p:to>
                                    </p:set>
                                    <p:animEffect transition="in" filter="slide(fromLeft)">
                                      <p:cBhvr>
                                        <p:cTn id="7" dur="500"/>
                                        <p:tgtEl>
                                          <p:spTgt spid="990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126BFEE-6310-4A17-9B5C-4AFA380DD61B}"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4F6D995-161B-48B7-895F-0AD029DB36C4}"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1235" name="Rectangle 3"/>
          <p:cNvSpPr>
            <a:spLocks noGrp="1" noChangeArrowheads="1"/>
          </p:cNvSpPr>
          <p:nvPr>
            <p:ph idx="1"/>
          </p:nvPr>
        </p:nvSpPr>
        <p:spPr>
          <a:xfrm>
            <a:off x="609600" y="1295400"/>
            <a:ext cx="79248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启发式代数优化算法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构造查询的内部表示是查询处理的第一步。给定一个用高级语言定义的查询，需要两步来构造该查询的内部表示。</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第一步把用高级语言定义的查询转换为关系代数表达式。</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第二步把关系代数表达式转换为查询树。</a:t>
            </a:r>
          </a:p>
        </p:txBody>
      </p:sp>
      <p:sp>
        <p:nvSpPr>
          <p:cNvPr id="991236"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5526EEA-697F-4675-85A7-4F096DDF96E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A0CB372-0723-4079-AA3C-713D375C57F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2259" name="Rectangle 3"/>
          <p:cNvSpPr>
            <a:spLocks noGrp="1" noChangeArrowheads="1"/>
          </p:cNvSpPr>
          <p:nvPr>
            <p:ph idx="1"/>
          </p:nvPr>
        </p:nvSpPr>
        <p:spPr>
          <a:xfrm>
            <a:off x="609600" y="1371600"/>
            <a:ext cx="8534400" cy="49530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给定一个用</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SQL</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语言定义的查询:</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SELECT  list</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FROM  R</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endPar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WHERE  C</a:t>
            </a:r>
          </a:p>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可以按照如下方法把这个查询转换为关系代数表达式：</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FROM</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从句中的关系</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4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R</a:t>
            </a:r>
            <a:r>
              <a:rPr kumimoji="0" lang="en-US" altLang="zh-CN" sz="24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构造笛卡儿积：</a:t>
            </a:r>
          </a:p>
          <a:p>
            <a:pPr marL="1143000" marR="0" lvl="2" indent="-228600" algn="just"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在第1步的基础上构造一个选择操作:</a:t>
            </a:r>
          </a:p>
          <a:p>
            <a:pPr marL="1143000" marR="0" lvl="2" indent="-228600" algn="just" defTabSz="914400" rtl="0" eaLnBrk="0" fontAlgn="base" latinLnBrk="0" hangingPunct="0">
              <a:lnSpc>
                <a:spcPct val="90000"/>
              </a:lnSpc>
              <a:spcBef>
                <a:spcPct val="20000"/>
              </a:spcBef>
              <a:spcAft>
                <a:spcPct val="0"/>
              </a:spcAft>
              <a:buClrTx/>
              <a:buSzTx/>
              <a:buFontTx/>
              <a:buNone/>
              <a:defRPr/>
            </a:pPr>
            <a:r>
              <a:rPr kumimoji="0" lang="zh-CN" altLang="en-US"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在第2步的基础上构造一个投影操作: </a:t>
            </a:r>
          </a:p>
          <a:p>
            <a:pPr marL="1143000" marR="0" lvl="2" indent="-228600" algn="just"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000" b="1" i="0" u="none" strike="noStrike" kern="0" cap="none" spc="0" normalizeH="0" baseline="0" noProof="0" dirty="0" err="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Π</a:t>
            </a:r>
            <a:r>
              <a:rPr kumimoji="0" lang="en-US" altLang="zh-CN" sz="2000" b="1" i="0" u="none" strike="noStrike" kern="0" cap="none" spc="0" normalizeH="0" baseline="-30000" noProof="0" dirty="0" err="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list</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992260"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225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225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2259">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9225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92259">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2259">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922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A8127E2-4147-420D-B41E-053AA25E25C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5897D66-C85D-407F-8B90-F2832DE8B24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3283" name="Rectangle 3"/>
          <p:cNvSpPr>
            <a:spLocks noGrp="1" noChangeArrowheads="1"/>
          </p:cNvSpPr>
          <p:nvPr>
            <p:ph idx="1"/>
          </p:nvPr>
        </p:nvSpPr>
        <p:spPr>
          <a:xfrm>
            <a:off x="609600" y="1219200"/>
            <a:ext cx="79248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从关系代数表达式到查询树的转换：</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给定查询</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SELECT  A</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FROM  R</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WHERE  P=15 AND N=“User”</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使用上述方法可以得到关系代数表达式</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Π</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P=15 AND N=“User”</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对应的查询树:</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993284"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graphicFrame>
        <p:nvGraphicFramePr>
          <p:cNvPr id="993285" name="Object 5"/>
          <p:cNvGraphicFramePr>
            <a:graphicFrameLocks noChangeAspect="1"/>
          </p:cNvGraphicFramePr>
          <p:nvPr/>
        </p:nvGraphicFramePr>
        <p:xfrm>
          <a:off x="5838825" y="2492375"/>
          <a:ext cx="3114675" cy="3562350"/>
        </p:xfrm>
        <a:graphic>
          <a:graphicData uri="http://schemas.openxmlformats.org/presentationml/2006/ole">
            <mc:AlternateContent xmlns:mc="http://schemas.openxmlformats.org/markup-compatibility/2006">
              <mc:Choice xmlns:v="urn:schemas-microsoft-com:vml" Requires="v">
                <p:oleObj spid="_x0000_s15362" r:id="rId3" imgW="3114675" imgH="3562350" progId="Paint.Picture">
                  <p:embed/>
                </p:oleObj>
              </mc:Choice>
              <mc:Fallback>
                <p:oleObj r:id="rId3" imgW="3114675" imgH="3562350" progId="Paint.Picture">
                  <p:embed/>
                  <p:pic>
                    <p:nvPicPr>
                      <p:cNvPr id="0" name="图片 3110"/>
                      <p:cNvPicPr/>
                      <p:nvPr/>
                    </p:nvPicPr>
                    <p:blipFill>
                      <a:blip r:embed="rId4"/>
                      <a:stretch>
                        <a:fillRect/>
                      </a:stretch>
                    </p:blipFill>
                    <p:spPr>
                      <a:xfrm>
                        <a:off x="5838825" y="2492375"/>
                        <a:ext cx="3114675" cy="3562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93285"/>
                                        </p:tgtEl>
                                        <p:attrNameLst>
                                          <p:attrName>style.visibility</p:attrName>
                                        </p:attrNameLst>
                                      </p:cBhvr>
                                      <p:to>
                                        <p:strVal val="visible"/>
                                      </p:to>
                                    </p:set>
                                    <p:animEffect transition="in" filter="dissolve">
                                      <p:cBhvr>
                                        <p:cTn id="7" dur="500"/>
                                        <p:tgtEl>
                                          <p:spTgt spid="993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E3A9139-5CAD-45D3-A3D4-94A0A60FCF9B}"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1BB9398-EE98-491E-809B-64962AA7829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4308"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94307" name="Rectangle 3"/>
          <p:cNvSpPr>
            <a:spLocks noGrp="1" noChangeArrowheads="1"/>
          </p:cNvSpPr>
          <p:nvPr>
            <p:ph idx="1"/>
          </p:nvPr>
        </p:nvSpPr>
        <p:spPr>
          <a:xfrm>
            <a:off x="0" y="1125538"/>
            <a:ext cx="9144000" cy="5732463"/>
          </a:xfrm>
          <a:solidFill>
            <a:schemeClr val="bg1"/>
          </a:solidFill>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启发式代数优化算法：</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输入：关系代数表达式。</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输出：计算输入关系代数表达式的程序。</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方法：</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使用规律1把每个</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选择操作</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C1 AND ... AND </a:t>
            </a:r>
            <a:r>
              <a:rPr kumimoji="0" lang="en-US" altLang="zh-CN" sz="2400" b="1" i="0" u="none" strike="noStrike" kern="0" cap="none" spc="0" normalizeH="0" baseline="-30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(E)</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变换为：</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C1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30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 ...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使用规律2,4,8和10，把查询树上的</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每个选择操作移到尽可能靠近叶节点</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 使用规律3、4、9和11，把查询树上的</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每个投影操作移到尽可能靠近叶节点</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(4) 使用规律1、3和4把串接的</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多个选择或多个投影操作组合为单个的选择或投影操作</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(5) 使用规律7重新安排叶节点，使得</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具有最小选择操作的叶节点最先执行</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430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430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430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430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43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E3A9139-5CAD-45D3-A3D4-94A0A60FCF9B}"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BFFDF27-A755-4155-A111-202F9873B74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4308"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94307" name="Rectangle 3"/>
          <p:cNvSpPr>
            <a:spLocks noGrp="1" noChangeArrowheads="1"/>
          </p:cNvSpPr>
          <p:nvPr>
            <p:ph idx="1"/>
          </p:nvPr>
        </p:nvSpPr>
        <p:spPr>
          <a:xfrm>
            <a:off x="0" y="1125538"/>
            <a:ext cx="9144000" cy="5732463"/>
          </a:xfrm>
          <a:solidFill>
            <a:schemeClr val="bg1"/>
          </a:solidFill>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启发式代数优化算法：</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输入：关系代数表达式。</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输出：计算输入关系代数表达式的程序。</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方法</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续</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(6) 组合笛卡尔乘积和相继的选择操作</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形成连接操作</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(7) 把最后的查询树</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划分为多个子树</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，使得每个子树上的操作可以由单个存取程序一次完成。划分方法如下：</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① 每个二目操作在且仅在一个子树中；</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② 如果二目操作</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α</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在子树</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中，而且从叶到根的方向的路径</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β→α</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是仅包含一目操作的最长路径，则</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β→α</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也包含在</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 产生一个计算最后</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查询树的程序</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，每一步计算一个子树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430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430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430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94307">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43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A042883-7CE8-45BE-8528-E4A3130EA2F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230ACCB-9FD6-4253-A994-CEE28E577CD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5331" name="Rectangle 3"/>
          <p:cNvSpPr>
            <a:spLocks noGrp="1" noChangeArrowheads="1"/>
          </p:cNvSpPr>
          <p:nvPr>
            <p:ph idx="1"/>
          </p:nvPr>
        </p:nvSpPr>
        <p:spPr>
          <a:xfrm>
            <a:off x="609600" y="1143000"/>
            <a:ext cx="79248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例：</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图书馆数据库:</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书目关系: </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Boo(</a:t>
            </a:r>
            <a:r>
              <a:rPr kumimoji="0" lang="en-US" altLang="zh-CN" sz="2000" b="1" i="0" u="none" strike="noStrike" kern="0" cap="none" spc="0" normalizeH="0" baseline="0" noProof="0" dirty="0" err="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Ti，Au，Pn，Nc</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出版社关系: </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Pub(</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Pn，Pa，Pc</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借阅者关系: </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Bor</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000" b="1" i="0" u="none" strike="noStrike" kern="0" cap="none" spc="0" normalizeH="0" baseline="0" noProof="0" dirty="0" err="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Na，Ad，Ci，Cn</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借阅登记关系: </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Loa(</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Cn，Nc，</a:t>
            </a:r>
            <a:r>
              <a:rPr kumimoji="0" lang="en-US" altLang="zh-CN" sz="2000" b="1" i="0" u="none" strike="noStrike" kern="0" cap="none" spc="0" normalizeH="0" baseline="0" noProof="0" dirty="0" err="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Da</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设由已借出书的信息构成的视图</a:t>
            </a:r>
            <a:r>
              <a:rPr kumimoji="0" lang="en-US" altLang="zh-CN" sz="24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LBI</a:t>
            </a:r>
            <a:r>
              <a:rPr kumimoji="0" lang="zh-CN" altLang="en-US" sz="24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定义如下:</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CREATE  VIEW  LBI</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AS SELECT </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Ti,Au,Boo.Pn,Boo.Nc,Na,Ad,Ci,Bor.Cn,Da</a:t>
            </a:r>
            <a:endPar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FROM  </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Boo,Bor,Loa</a:t>
            </a:r>
            <a:endPar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WHERE  </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Boo.Nc</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Loa.Nc</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AND </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Bor.Cn</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0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Loa.Cn</a:t>
            </a:r>
            <a:endPar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有如下查询：</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SELECT  Ti</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FROM  LBI</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WHERE  Da&lt;2/1/1994。</a:t>
            </a:r>
          </a:p>
        </p:txBody>
      </p:sp>
      <p:sp>
        <p:nvSpPr>
          <p:cNvPr id="995332"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CAE4B6B7-166B-478A-9177-86F5F59DF07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5DA01B8-C320-4AFC-85F6-500C79A373C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6354" name="Rectangle 2"/>
          <p:cNvSpPr>
            <a:spLocks noGrp="1" noChangeArrowheads="1"/>
          </p:cNvSpPr>
          <p:nvPr>
            <p:ph idx="1"/>
          </p:nvPr>
        </p:nvSpPr>
        <p:spPr>
          <a:xfrm>
            <a:off x="609600" y="3581400"/>
            <a:ext cx="8153400" cy="3276600"/>
          </a:xfrm>
          <a:solidFill>
            <a:schemeClr val="bg1"/>
          </a:solidFill>
        </p:spPr>
        <p:txBody>
          <a:bodyPr vert="horz" wrap="square" lIns="91440" tIns="45720" rIns="91440" bIns="45720" numCol="1" anchor="t" anchorCtr="0" compatLnSpc="1"/>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查询处理程序首先把这个查询与视图</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LBI</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合并形成一个直接定义在基关系上的等价查询并变换为等价的关系代数表达式：</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0" cap="none" spc="0" normalizeH="0" baseline="0" noProof="0" dirty="0" err="1">
                <a:ln>
                  <a:noFill/>
                </a:ln>
                <a:solidFill>
                  <a:srgbClr val="0000FF"/>
                </a:solidFill>
                <a:effectLst>
                  <a:outerShdw blurRad="38100" dist="38100" dir="2700000" algn="tl">
                    <a:srgbClr val="C0C0C0"/>
                  </a:outerShdw>
                </a:effectLst>
                <a:uLnTx/>
                <a:uFillTx/>
                <a:latin typeface="+mn-lt"/>
                <a:ea typeface="+mn-ea"/>
                <a:cs typeface="楷体_GB2312"/>
              </a:rPr>
              <a:t>Π</a:t>
            </a:r>
            <a:r>
              <a:rPr kumimoji="0" lang="en-US" altLang="zh-CN" sz="2000" b="1" i="0" u="none" strike="noStrike" kern="0" cap="none" spc="0" normalizeH="0" baseline="-30000" noProof="0" dirty="0" err="1">
                <a:ln>
                  <a:noFill/>
                </a:ln>
                <a:solidFill>
                  <a:srgbClr val="0000FF"/>
                </a:solidFill>
                <a:effectLst>
                  <a:outerShdw blurRad="38100" dist="38100" dir="2700000" algn="tl">
                    <a:srgbClr val="C0C0C0"/>
                  </a:outerShdw>
                </a:effectLst>
                <a:uLnTx/>
                <a:uFillTx/>
                <a:latin typeface="+mn-lt"/>
                <a:ea typeface="+mn-ea"/>
                <a:cs typeface="楷体_GB2312"/>
              </a:rPr>
              <a:t>T</a:t>
            </a:r>
            <a:r>
              <a:rPr kumimoji="0" lang="en-US" altLang="zh-CN" sz="2000" b="1" i="0" u="none" strike="noStrike" kern="0" cap="none" spc="0" normalizeH="0" baseline="-25000" noProof="0" dirty="0" err="1">
                <a:ln>
                  <a:noFill/>
                </a:ln>
                <a:solidFill>
                  <a:srgbClr val="0000FF"/>
                </a:solidFill>
                <a:effectLst>
                  <a:outerShdw blurRad="38100" dist="38100" dir="2700000" algn="tl">
                    <a:srgbClr val="C0C0C0"/>
                  </a:outerShdw>
                </a:effectLst>
                <a:uLnTx/>
                <a:uFillTx/>
                <a:latin typeface="+mn-lt"/>
                <a:ea typeface="+mn-ea"/>
                <a:cs typeface="楷体_GB2312"/>
              </a:rPr>
              <a:t>i</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sym typeface="Symbol" panose="05050102010706020507" pitchFamily="18" charset="2"/>
              </a:rPr>
              <a:t></a:t>
            </a:r>
            <a:r>
              <a:rPr kumimoji="0" lang="en-US" altLang="zh-CN" sz="2000" b="1" i="0" u="none" strike="noStrike" kern="0" cap="none" spc="0" normalizeH="0" baseline="-30000" noProof="0" dirty="0">
                <a:ln>
                  <a:noFill/>
                </a:ln>
                <a:solidFill>
                  <a:srgbClr val="0000FF"/>
                </a:solidFill>
                <a:effectLst>
                  <a:outerShdw blurRad="38100" dist="38100" dir="2700000" algn="tl">
                    <a:srgbClr val="C0C0C0"/>
                  </a:outerShdw>
                </a:effectLst>
                <a:uLnTx/>
                <a:uFillTx/>
                <a:latin typeface="+mn-lt"/>
                <a:ea typeface="+mn-ea"/>
                <a:cs typeface="楷体_GB2312"/>
              </a:rPr>
              <a:t>C1</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rPr>
              <a:t> (Π</a:t>
            </a:r>
            <a:r>
              <a:rPr kumimoji="0" lang="en-US" altLang="zh-CN" sz="2000" b="1" i="0" u="none" strike="noStrike" kern="0" cap="none" spc="0" normalizeH="0" baseline="-30000" noProof="0" dirty="0">
                <a:ln>
                  <a:noFill/>
                </a:ln>
                <a:solidFill>
                  <a:srgbClr val="0000FF"/>
                </a:solidFill>
                <a:effectLst>
                  <a:outerShdw blurRad="38100" dist="38100" dir="2700000" algn="tl">
                    <a:srgbClr val="C0C0C0"/>
                  </a:outerShdw>
                </a:effectLst>
                <a:uLnTx/>
                <a:uFillTx/>
                <a:latin typeface="+mn-lt"/>
                <a:ea typeface="+mn-ea"/>
                <a:cs typeface="楷体_GB2312"/>
              </a:rPr>
              <a:t>L</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sym typeface="Symbol" panose="05050102010706020507" pitchFamily="18" charset="2"/>
              </a:rPr>
              <a:t></a:t>
            </a:r>
            <a:r>
              <a:rPr kumimoji="0" lang="en-US" altLang="zh-CN" sz="2000" b="1" i="0" u="none" strike="noStrike" kern="0" cap="none" spc="0" normalizeH="0" baseline="-30000" noProof="0" dirty="0">
                <a:ln>
                  <a:noFill/>
                </a:ln>
                <a:solidFill>
                  <a:srgbClr val="0000FF"/>
                </a:solidFill>
                <a:effectLst>
                  <a:outerShdw blurRad="38100" dist="38100" dir="2700000" algn="tl">
                    <a:srgbClr val="C0C0C0"/>
                  </a:outerShdw>
                </a:effectLst>
                <a:uLnTx/>
                <a:uFillTx/>
                <a:latin typeface="+mn-lt"/>
                <a:ea typeface="+mn-ea"/>
                <a:cs typeface="楷体_GB2312"/>
              </a:rPr>
              <a:t>C2</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err="1">
                <a:ln>
                  <a:noFill/>
                </a:ln>
                <a:solidFill>
                  <a:srgbClr val="0000FF"/>
                </a:solidFill>
                <a:effectLst>
                  <a:outerShdw blurRad="38100" dist="38100" dir="2700000" algn="tl">
                    <a:srgbClr val="C0C0C0"/>
                  </a:outerShdw>
                </a:effectLst>
                <a:uLnTx/>
                <a:uFillTx/>
                <a:latin typeface="+mn-lt"/>
                <a:ea typeface="+mn-ea"/>
                <a:cs typeface="楷体_GB2312"/>
              </a:rPr>
              <a:t>Loa×Bor</a:t>
            </a:r>
            <a:r>
              <a:rPr kumimoji="0" lang="en-US" altLang="zh-CN" sz="20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rPr>
              <a:t>)×Boo))))</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其中：</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C</a:t>
            </a:r>
            <a:r>
              <a:rPr kumimoji="0" lang="en-US" altLang="zh-CN" sz="1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楷体_GB2312"/>
              </a:rPr>
              <a:t>1 </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=“Da&lt;2/1/1994”，</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L=“</a:t>
            </a:r>
            <a:r>
              <a:rPr kumimoji="0" lang="en-US" altLang="zh-CN" sz="1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楷体_GB2312"/>
              </a:rPr>
              <a:t>Ti，Au，Boo.Pn，Boo.Nc，Na，Ad，Ci，Bor.Cn，Da</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C</a:t>
            </a:r>
            <a:r>
              <a:rPr kumimoji="0" lang="en-US" altLang="zh-CN" sz="1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楷体_GB2312"/>
              </a:rPr>
              <a:t>2 </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a:t>
            </a:r>
            <a:r>
              <a:rPr kumimoji="0" lang="en-US" altLang="zh-CN" sz="1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楷体_GB2312"/>
              </a:rPr>
              <a:t>Boo.Nc</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a:t>
            </a:r>
            <a:r>
              <a:rPr kumimoji="0" lang="en-US" altLang="zh-CN" sz="1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楷体_GB2312"/>
              </a:rPr>
              <a:t>Loa.Nc</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 AND </a:t>
            </a:r>
            <a:r>
              <a:rPr kumimoji="0" lang="en-US" altLang="zh-CN" sz="1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楷体_GB2312"/>
              </a:rPr>
              <a:t>Bor.Cn</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a:t>
            </a:r>
            <a:r>
              <a:rPr kumimoji="0" lang="en-US" altLang="zh-CN" sz="1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楷体_GB2312"/>
              </a:rPr>
              <a:t>Loa.Cn</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a:t>
            </a:r>
          </a:p>
        </p:txBody>
      </p:sp>
      <p:sp>
        <p:nvSpPr>
          <p:cNvPr id="996355" name="Rectangle 3"/>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96358" name="Text Box 6"/>
          <p:cNvSpPr txBox="1">
            <a:spLocks noChangeArrowheads="1"/>
          </p:cNvSpPr>
          <p:nvPr/>
        </p:nvSpPr>
        <p:spPr bwMode="auto">
          <a:xfrm>
            <a:off x="2057400" y="1066800"/>
            <a:ext cx="4459288" cy="143827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书目关系: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Ti，Au，Pn，Nc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出版社关系: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Pub(</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Pn，Pa，Pc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借阅者关系: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Bor</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Na，Ad，Ci，Cn</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借阅登记关系: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Cn，Nc，Da</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
        <p:nvSpPr>
          <p:cNvPr id="996359" name="Text Box 7"/>
          <p:cNvSpPr txBox="1">
            <a:spLocks noChangeArrowheads="1"/>
          </p:cNvSpPr>
          <p:nvPr/>
        </p:nvSpPr>
        <p:spPr bwMode="auto">
          <a:xfrm>
            <a:off x="457200" y="1844675"/>
            <a:ext cx="5483225" cy="1647825"/>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CREATE  VIEW  LBI</a:t>
            </a:r>
          </a:p>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AS SELECT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Ti,Au,Boo.Pn,Boo.Nc,Na,Ad,Ci,Bor.Cn,Da</a:t>
            </a:r>
            <a:endPar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FROM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Boo,Bor,Loa</a:t>
            </a:r>
            <a:endPar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WHERE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 AND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Bor.Cn</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Loa.Cn</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
        <p:nvSpPr>
          <p:cNvPr id="996360" name="Text Box 8"/>
          <p:cNvSpPr txBox="1">
            <a:spLocks noChangeArrowheads="1"/>
          </p:cNvSpPr>
          <p:nvPr/>
        </p:nvSpPr>
        <p:spPr bwMode="auto">
          <a:xfrm>
            <a:off x="6096000" y="2133600"/>
            <a:ext cx="2795588" cy="1046163"/>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SELECT  Ti</a:t>
            </a:r>
          </a:p>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FROM  LBI</a:t>
            </a:r>
          </a:p>
          <a:p>
            <a:pPr marR="0" defTabSz="914400" eaLnBrk="0" hangingPunct="0">
              <a:lnSpc>
                <a:spcPct val="90000"/>
              </a:lnSpc>
              <a:spcBef>
                <a:spcPct val="20000"/>
              </a:spcBef>
              <a:buClrTx/>
              <a:buSzTx/>
              <a:buChar char="–"/>
              <a:defRPr/>
            </a:pP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WHERE  Da&lt;2/1/1994</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96358"/>
                                        </p:tgtEl>
                                        <p:attrNameLst>
                                          <p:attrName>style.visibility</p:attrName>
                                        </p:attrNameLst>
                                      </p:cBhvr>
                                      <p:to>
                                        <p:strVal val="visible"/>
                                      </p:to>
                                    </p:set>
                                    <p:animEffect transition="in" filter="dissolve">
                                      <p:cBhvr>
                                        <p:cTn id="7" dur="500"/>
                                        <p:tgtEl>
                                          <p:spTgt spid="9963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96359"/>
                                        </p:tgtEl>
                                        <p:attrNameLst>
                                          <p:attrName>style.visibility</p:attrName>
                                        </p:attrNameLst>
                                      </p:cBhvr>
                                      <p:to>
                                        <p:strVal val="visible"/>
                                      </p:to>
                                    </p:set>
                                    <p:animEffect transition="in" filter="dissolve">
                                      <p:cBhvr>
                                        <p:cTn id="12" dur="500"/>
                                        <p:tgtEl>
                                          <p:spTgt spid="99635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96360"/>
                                        </p:tgtEl>
                                        <p:attrNameLst>
                                          <p:attrName>style.visibility</p:attrName>
                                        </p:attrNameLst>
                                      </p:cBhvr>
                                      <p:to>
                                        <p:strVal val="visible"/>
                                      </p:to>
                                    </p:set>
                                    <p:animEffect transition="in" filter="dissolve">
                                      <p:cBhvr>
                                        <p:cTn id="17" dur="500"/>
                                        <p:tgtEl>
                                          <p:spTgt spid="99636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96354">
                                            <p:txEl>
                                              <p:pRg st="0" end="0"/>
                                            </p:txEl>
                                          </p:spTgt>
                                        </p:tgtEl>
                                        <p:attrNameLst>
                                          <p:attrName>style.visibility</p:attrName>
                                        </p:attrNameLst>
                                      </p:cBhvr>
                                      <p:to>
                                        <p:strVal val="visible"/>
                                      </p:to>
                                    </p:set>
                                    <p:anim calcmode="lin" valueType="num">
                                      <p:cBhvr>
                                        <p:cTn id="22" dur="500" fill="hold"/>
                                        <p:tgtEl>
                                          <p:spTgt spid="996354">
                                            <p:txEl>
                                              <p:pRg st="0" end="0"/>
                                            </p:txEl>
                                          </p:spTgt>
                                        </p:tgtEl>
                                        <p:attrNameLst>
                                          <p:attrName>ppt_x</p:attrName>
                                        </p:attrNameLst>
                                      </p:cBhvr>
                                      <p:tavLst>
                                        <p:tav tm="0">
                                          <p:val>
                                            <p:strVal val="#ppt_x"/>
                                          </p:val>
                                        </p:tav>
                                        <p:tav tm="100000">
                                          <p:val>
                                            <p:strVal val="#ppt_x"/>
                                          </p:val>
                                        </p:tav>
                                      </p:tavLst>
                                    </p:anim>
                                    <p:anim calcmode="lin" valueType="num">
                                      <p:cBhvr>
                                        <p:cTn id="23" dur="500" fill="hold"/>
                                        <p:tgtEl>
                                          <p:spTgt spid="9963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996354">
                                            <p:txEl>
                                              <p:pRg st="1" end="1"/>
                                            </p:txEl>
                                          </p:spTgt>
                                        </p:tgtEl>
                                        <p:attrNameLst>
                                          <p:attrName>style.visibility</p:attrName>
                                        </p:attrNameLst>
                                      </p:cBhvr>
                                      <p:to>
                                        <p:strVal val="visible"/>
                                      </p:to>
                                    </p:set>
                                    <p:anim calcmode="lin" valueType="num">
                                      <p:cBhvr>
                                        <p:cTn id="28" dur="500" fill="hold"/>
                                        <p:tgtEl>
                                          <p:spTgt spid="996354">
                                            <p:txEl>
                                              <p:pRg st="1" end="1"/>
                                            </p:txEl>
                                          </p:spTgt>
                                        </p:tgtEl>
                                        <p:attrNameLst>
                                          <p:attrName>ppt_x</p:attrName>
                                        </p:attrNameLst>
                                      </p:cBhvr>
                                      <p:tavLst>
                                        <p:tav tm="0">
                                          <p:val>
                                            <p:strVal val="#ppt_x"/>
                                          </p:val>
                                        </p:tav>
                                        <p:tav tm="100000">
                                          <p:val>
                                            <p:strVal val="#ppt_x"/>
                                          </p:val>
                                        </p:tav>
                                      </p:tavLst>
                                    </p:anim>
                                    <p:anim calcmode="lin" valueType="num">
                                      <p:cBhvr>
                                        <p:cTn id="29" dur="500" fill="hold"/>
                                        <p:tgtEl>
                                          <p:spTgt spid="996354">
                                            <p:txEl>
                                              <p:pRg st="1" end="1"/>
                                            </p:txEl>
                                          </p:spTgt>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96354">
                                            <p:txEl>
                                              <p:pRg st="2" end="2"/>
                                            </p:txEl>
                                          </p:spTgt>
                                        </p:tgtEl>
                                        <p:attrNameLst>
                                          <p:attrName>style.visibility</p:attrName>
                                        </p:attrNameLst>
                                      </p:cBhvr>
                                      <p:to>
                                        <p:strVal val="visible"/>
                                      </p:to>
                                    </p:set>
                                    <p:anim calcmode="lin" valueType="num">
                                      <p:cBhvr>
                                        <p:cTn id="32" dur="500" fill="hold"/>
                                        <p:tgtEl>
                                          <p:spTgt spid="996354">
                                            <p:txEl>
                                              <p:pRg st="2" end="2"/>
                                            </p:txEl>
                                          </p:spTgt>
                                        </p:tgtEl>
                                        <p:attrNameLst>
                                          <p:attrName>ppt_x</p:attrName>
                                        </p:attrNameLst>
                                      </p:cBhvr>
                                      <p:tavLst>
                                        <p:tav tm="0">
                                          <p:val>
                                            <p:strVal val="#ppt_x"/>
                                          </p:val>
                                        </p:tav>
                                        <p:tav tm="100000">
                                          <p:val>
                                            <p:strVal val="#ppt_x"/>
                                          </p:val>
                                        </p:tav>
                                      </p:tavLst>
                                    </p:anim>
                                    <p:anim calcmode="lin" valueType="num">
                                      <p:cBhvr>
                                        <p:cTn id="33" dur="500" fill="hold"/>
                                        <p:tgtEl>
                                          <p:spTgt spid="996354">
                                            <p:txEl>
                                              <p:pRg st="2" end="2"/>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96354">
                                            <p:txEl>
                                              <p:pRg st="3" end="3"/>
                                            </p:txEl>
                                          </p:spTgt>
                                        </p:tgtEl>
                                        <p:attrNameLst>
                                          <p:attrName>style.visibility</p:attrName>
                                        </p:attrNameLst>
                                      </p:cBhvr>
                                      <p:to>
                                        <p:strVal val="visible"/>
                                      </p:to>
                                    </p:set>
                                    <p:anim calcmode="lin" valueType="num">
                                      <p:cBhvr>
                                        <p:cTn id="36" dur="500" fill="hold"/>
                                        <p:tgtEl>
                                          <p:spTgt spid="996354">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996354">
                                            <p:txEl>
                                              <p:pRg st="3" end="3"/>
                                            </p:txEl>
                                          </p:spTgt>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996354">
                                            <p:txEl>
                                              <p:pRg st="4" end="4"/>
                                            </p:txEl>
                                          </p:spTgt>
                                        </p:tgtEl>
                                        <p:attrNameLst>
                                          <p:attrName>style.visibility</p:attrName>
                                        </p:attrNameLst>
                                      </p:cBhvr>
                                      <p:to>
                                        <p:strVal val="visible"/>
                                      </p:to>
                                    </p:set>
                                    <p:anim calcmode="lin" valueType="num">
                                      <p:cBhvr>
                                        <p:cTn id="40" dur="500" fill="hold"/>
                                        <p:tgtEl>
                                          <p:spTgt spid="996354">
                                            <p:txEl>
                                              <p:pRg st="4" end="4"/>
                                            </p:txEl>
                                          </p:spTgt>
                                        </p:tgtEl>
                                        <p:attrNameLst>
                                          <p:attrName>ppt_x</p:attrName>
                                        </p:attrNameLst>
                                      </p:cBhvr>
                                      <p:tavLst>
                                        <p:tav tm="0">
                                          <p:val>
                                            <p:strVal val="#ppt_x"/>
                                          </p:val>
                                        </p:tav>
                                        <p:tav tm="100000">
                                          <p:val>
                                            <p:strVal val="#ppt_x"/>
                                          </p:val>
                                        </p:tav>
                                      </p:tavLst>
                                    </p:anim>
                                    <p:anim calcmode="lin" valueType="num">
                                      <p:cBhvr>
                                        <p:cTn id="41" dur="500" fill="hold"/>
                                        <p:tgtEl>
                                          <p:spTgt spid="996354">
                                            <p:txEl>
                                              <p:pRg st="4" end="4"/>
                                            </p:tx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996354">
                                            <p:txEl>
                                              <p:pRg st="5" end="5"/>
                                            </p:txEl>
                                          </p:spTgt>
                                        </p:tgtEl>
                                        <p:attrNameLst>
                                          <p:attrName>style.visibility</p:attrName>
                                        </p:attrNameLst>
                                      </p:cBhvr>
                                      <p:to>
                                        <p:strVal val="visible"/>
                                      </p:to>
                                    </p:set>
                                    <p:anim calcmode="lin" valueType="num">
                                      <p:cBhvr>
                                        <p:cTn id="44" dur="500" fill="hold"/>
                                        <p:tgtEl>
                                          <p:spTgt spid="996354">
                                            <p:txEl>
                                              <p:pRg st="5" end="5"/>
                                            </p:txEl>
                                          </p:spTgt>
                                        </p:tgtEl>
                                        <p:attrNameLst>
                                          <p:attrName>ppt_x</p:attrName>
                                        </p:attrNameLst>
                                      </p:cBhvr>
                                      <p:tavLst>
                                        <p:tav tm="0">
                                          <p:val>
                                            <p:strVal val="#ppt_x"/>
                                          </p:val>
                                        </p:tav>
                                        <p:tav tm="100000">
                                          <p:val>
                                            <p:strVal val="#ppt_x"/>
                                          </p:val>
                                        </p:tav>
                                      </p:tavLst>
                                    </p:anim>
                                    <p:anim calcmode="lin" valueType="num">
                                      <p:cBhvr>
                                        <p:cTn id="45" dur="500" fill="hold"/>
                                        <p:tgtEl>
                                          <p:spTgt spid="99635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54" grpId="0" build="p"/>
      <p:bldP spid="996358" grpId="0" animBg="1"/>
      <p:bldP spid="996359" grpId="0" animBg="1"/>
      <p:bldP spid="99636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1D60F9B-16FF-4093-93E4-B46DF195590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9122137-5C92-4A64-B041-CB42A3F567B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8403" name="Rectangle 3"/>
          <p:cNvSpPr>
            <a:spLocks noGrp="1" noChangeArrowheads="1"/>
          </p:cNvSpPr>
          <p:nvPr>
            <p:ph idx="1"/>
          </p:nvPr>
        </p:nvSpPr>
        <p:spPr>
          <a:xfrm>
            <a:off x="533400" y="1112838"/>
            <a:ext cx="7924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对应的查询树</a:t>
            </a:r>
          </a:p>
        </p:txBody>
      </p:sp>
      <p:graphicFrame>
        <p:nvGraphicFramePr>
          <p:cNvPr id="998404" name="Object 4"/>
          <p:cNvGraphicFramePr>
            <a:graphicFrameLocks noChangeAspect="1"/>
          </p:cNvGraphicFramePr>
          <p:nvPr/>
        </p:nvGraphicFramePr>
        <p:xfrm>
          <a:off x="1447800" y="1676400"/>
          <a:ext cx="7162800" cy="4827588"/>
        </p:xfrm>
        <a:graphic>
          <a:graphicData uri="http://schemas.openxmlformats.org/presentationml/2006/ole">
            <mc:AlternateContent xmlns:mc="http://schemas.openxmlformats.org/markup-compatibility/2006">
              <mc:Choice xmlns:v="urn:schemas-microsoft-com:vml" Requires="v">
                <p:oleObj spid="_x0000_s16386" r:id="rId3" imgW="7419975" imgH="5000625" progId="Paint.Picture">
                  <p:embed/>
                </p:oleObj>
              </mc:Choice>
              <mc:Fallback>
                <p:oleObj r:id="rId3" imgW="7419975" imgH="5000625" progId="Paint.Picture">
                  <p:embed/>
                  <p:pic>
                    <p:nvPicPr>
                      <p:cNvPr id="0" name="图片 3106"/>
                      <p:cNvPicPr/>
                      <p:nvPr/>
                    </p:nvPicPr>
                    <p:blipFill>
                      <a:blip r:embed="rId4"/>
                      <a:stretch>
                        <a:fillRect/>
                      </a:stretch>
                    </p:blipFill>
                    <p:spPr>
                      <a:xfrm>
                        <a:off x="1447800" y="1676400"/>
                        <a:ext cx="7162800" cy="4827588"/>
                      </a:xfrm>
                      <a:prstGeom prst="rect">
                        <a:avLst/>
                      </a:prstGeom>
                      <a:noFill/>
                      <a:ln w="38100">
                        <a:noFill/>
                        <a:miter/>
                      </a:ln>
                    </p:spPr>
                  </p:pic>
                </p:oleObj>
              </mc:Fallback>
            </mc:AlternateContent>
          </a:graphicData>
        </a:graphic>
      </p:graphicFrame>
      <p:sp>
        <p:nvSpPr>
          <p:cNvPr id="998405" name="Rectangle 5"/>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98406" name="Text Box 6"/>
          <p:cNvSpPr txBox="1">
            <a:spLocks noChangeArrowheads="1"/>
          </p:cNvSpPr>
          <p:nvPr/>
        </p:nvSpPr>
        <p:spPr bwMode="auto">
          <a:xfrm>
            <a:off x="4716463" y="1371600"/>
            <a:ext cx="4427538" cy="143827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书目关系: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Ti，Au，Pn，Nc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出版社关系: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Pub(</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Pn，Pa，Pc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借阅者关系: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Bor</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Na，Ad，Ci，Cn</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借阅登记关系: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Cn，Nc，Da</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98404"/>
                                        </p:tgtEl>
                                        <p:attrNameLst>
                                          <p:attrName>style.visibility</p:attrName>
                                        </p:attrNameLst>
                                      </p:cBhvr>
                                      <p:to>
                                        <p:strVal val="visible"/>
                                      </p:to>
                                    </p:set>
                                    <p:animEffect transition="in" filter="dissolve">
                                      <p:cBhvr>
                                        <p:cTn id="7" dur="500"/>
                                        <p:tgtEl>
                                          <p:spTgt spid="998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FF9DC24-158F-4254-A528-E735D73EE5D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A686B59-71B1-4D34-B248-92F83122C77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99428" name="Rectangle 4"/>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999429" name="Rectangle 5"/>
          <p:cNvSpPr>
            <a:spLocks noGrp="1" noChangeArrowheads="1"/>
          </p:cNvSpPr>
          <p:nvPr>
            <p:ph idx="1"/>
          </p:nvPr>
        </p:nvSpPr>
        <p:spPr>
          <a:xfrm>
            <a:off x="609600" y="1295400"/>
            <a:ext cx="7924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的优化过程 </a:t>
            </a:r>
          </a:p>
        </p:txBody>
      </p:sp>
      <p:graphicFrame>
        <p:nvGraphicFramePr>
          <p:cNvPr id="999430" name="Object 6"/>
          <p:cNvGraphicFramePr>
            <a:graphicFrameLocks noChangeAspect="1"/>
          </p:cNvGraphicFramePr>
          <p:nvPr/>
        </p:nvGraphicFramePr>
        <p:xfrm>
          <a:off x="1066800" y="1905000"/>
          <a:ext cx="4981575" cy="4591050"/>
        </p:xfrm>
        <a:graphic>
          <a:graphicData uri="http://schemas.openxmlformats.org/presentationml/2006/ole">
            <mc:AlternateContent xmlns:mc="http://schemas.openxmlformats.org/markup-compatibility/2006">
              <mc:Choice xmlns:v="urn:schemas-microsoft-com:vml" Requires="v">
                <p:oleObj spid="_x0000_s17410" r:id="rId3" imgW="4981575" imgH="4591050" progId="Paint.Picture">
                  <p:embed/>
                </p:oleObj>
              </mc:Choice>
              <mc:Fallback>
                <p:oleObj r:id="rId3" imgW="4981575" imgH="4591050" progId="Paint.Picture">
                  <p:embed/>
                  <p:pic>
                    <p:nvPicPr>
                      <p:cNvPr id="0" name="图片 3108"/>
                      <p:cNvPicPr/>
                      <p:nvPr/>
                    </p:nvPicPr>
                    <p:blipFill>
                      <a:blip r:embed="rId4"/>
                      <a:stretch>
                        <a:fillRect/>
                      </a:stretch>
                    </p:blipFill>
                    <p:spPr>
                      <a:xfrm>
                        <a:off x="1066800" y="1905000"/>
                        <a:ext cx="4981575" cy="4591050"/>
                      </a:xfrm>
                      <a:prstGeom prst="rect">
                        <a:avLst/>
                      </a:prstGeom>
                      <a:noFill/>
                      <a:ln w="38100">
                        <a:noFill/>
                        <a:miter/>
                      </a:ln>
                    </p:spPr>
                  </p:pic>
                </p:oleObj>
              </mc:Fallback>
            </mc:AlternateContent>
          </a:graphicData>
        </a:graphic>
      </p:graphicFrame>
      <p:sp>
        <p:nvSpPr>
          <p:cNvPr id="999431" name="Text Box 7"/>
          <p:cNvSpPr txBox="1"/>
          <p:nvPr/>
        </p:nvSpPr>
        <p:spPr>
          <a:xfrm>
            <a:off x="647700" y="2060575"/>
            <a:ext cx="3132138" cy="708025"/>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移动选择操作和合并投影操作后的查询树</a:t>
            </a:r>
          </a:p>
        </p:txBody>
      </p:sp>
      <p:sp>
        <p:nvSpPr>
          <p:cNvPr id="999432" name="Text Box 8"/>
          <p:cNvSpPr txBox="1">
            <a:spLocks noChangeArrowheads="1"/>
          </p:cNvSpPr>
          <p:nvPr/>
        </p:nvSpPr>
        <p:spPr bwMode="auto">
          <a:xfrm>
            <a:off x="4584700" y="4992688"/>
            <a:ext cx="4406900" cy="143827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书目关系: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Ti，Au，Pn，Nc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出版社关系: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Pub(</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Pn，Pa，Pc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借阅者关系: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Bor</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Na，Ad，Ci，Cn</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借阅登记关系: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Cn，Nc，Da</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94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999430"/>
                                        </p:tgtEl>
                                        <p:attrNameLst>
                                          <p:attrName>style.visibility</p:attrName>
                                        </p:attrNameLst>
                                      </p:cBhvr>
                                      <p:to>
                                        <p:strVal val="visible"/>
                                      </p:to>
                                    </p:set>
                                    <p:animEffect transition="in" filter="dissolve">
                                      <p:cBhvr>
                                        <p:cTn id="11" dur="500"/>
                                        <p:tgtEl>
                                          <p:spTgt spid="999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943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AED7C7F-047C-47E7-AD75-A44D2BF10B9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0ABF365-DB08-4101-B2B7-5395FA8513F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00450"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启发式关系代数优化算法  </a:t>
            </a:r>
          </a:p>
        </p:txBody>
      </p:sp>
      <p:sp>
        <p:nvSpPr>
          <p:cNvPr id="1000451" name="Rectangle 3"/>
          <p:cNvSpPr>
            <a:spLocks noGrp="1" noChangeArrowheads="1"/>
          </p:cNvSpPr>
          <p:nvPr>
            <p:ph idx="1"/>
          </p:nvPr>
        </p:nvSpPr>
        <p:spPr>
          <a:xfrm>
            <a:off x="609600" y="1295400"/>
            <a:ext cx="7924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的优化过程 </a:t>
            </a:r>
          </a:p>
        </p:txBody>
      </p:sp>
      <p:graphicFrame>
        <p:nvGraphicFramePr>
          <p:cNvPr id="1000454" name="Object 6"/>
          <p:cNvGraphicFramePr>
            <a:graphicFrameLocks noChangeAspect="1"/>
          </p:cNvGraphicFramePr>
          <p:nvPr/>
        </p:nvGraphicFramePr>
        <p:xfrm>
          <a:off x="838200" y="1811338"/>
          <a:ext cx="5410200" cy="4699000"/>
        </p:xfrm>
        <a:graphic>
          <a:graphicData uri="http://schemas.openxmlformats.org/presentationml/2006/ole">
            <mc:AlternateContent xmlns:mc="http://schemas.openxmlformats.org/markup-compatibility/2006">
              <mc:Choice xmlns:v="urn:schemas-microsoft-com:vml" Requires="v">
                <p:oleObj spid="_x0000_s18434" r:id="rId3" imgW="5505450" imgH="6010275" progId="Paint.Picture">
                  <p:embed/>
                </p:oleObj>
              </mc:Choice>
              <mc:Fallback>
                <p:oleObj r:id="rId3" imgW="5505450" imgH="6010275" progId="Paint.Picture">
                  <p:embed/>
                  <p:pic>
                    <p:nvPicPr>
                      <p:cNvPr id="0" name="图片 3107"/>
                      <p:cNvPicPr/>
                      <p:nvPr/>
                    </p:nvPicPr>
                    <p:blipFill>
                      <a:blip r:embed="rId4"/>
                      <a:stretch>
                        <a:fillRect/>
                      </a:stretch>
                    </p:blipFill>
                    <p:spPr>
                      <a:xfrm>
                        <a:off x="838200" y="1811338"/>
                        <a:ext cx="5410200" cy="4699000"/>
                      </a:xfrm>
                      <a:prstGeom prst="rect">
                        <a:avLst/>
                      </a:prstGeom>
                      <a:noFill/>
                      <a:ln w="38100">
                        <a:noFill/>
                        <a:miter/>
                      </a:ln>
                    </p:spPr>
                  </p:pic>
                </p:oleObj>
              </mc:Fallback>
            </mc:AlternateContent>
          </a:graphicData>
        </a:graphic>
      </p:graphicFrame>
      <p:sp>
        <p:nvSpPr>
          <p:cNvPr id="1000453" name="Text Box 5"/>
          <p:cNvSpPr txBox="1"/>
          <p:nvPr/>
        </p:nvSpPr>
        <p:spPr>
          <a:xfrm>
            <a:off x="754063" y="2165350"/>
            <a:ext cx="2593975" cy="708025"/>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经过投影移动合并等处理后的查询树</a:t>
            </a:r>
          </a:p>
        </p:txBody>
      </p:sp>
      <p:sp>
        <p:nvSpPr>
          <p:cNvPr id="1000455" name="Text Box 7"/>
          <p:cNvSpPr txBox="1">
            <a:spLocks noChangeArrowheads="1"/>
          </p:cNvSpPr>
          <p:nvPr/>
        </p:nvSpPr>
        <p:spPr bwMode="auto">
          <a:xfrm>
            <a:off x="4787900" y="4425950"/>
            <a:ext cx="4295775" cy="143827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书目关系: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Ti，Au，Pn，Nc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出版社关系: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Pub(</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Pn，Pa，Pc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借阅者关系: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Bor</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Na，Ad，Ci，Cn</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借阅登记关系: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Cn，Nc，Da</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04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000454"/>
                                        </p:tgtEl>
                                        <p:attrNameLst>
                                          <p:attrName>style.visibility</p:attrName>
                                        </p:attrNameLst>
                                      </p:cBhvr>
                                      <p:to>
                                        <p:strVal val="visible"/>
                                      </p:to>
                                    </p:set>
                                    <p:animEffect transition="in" filter="dissolve">
                                      <p:cBhvr>
                                        <p:cTn id="11" dur="500"/>
                                        <p:tgtEl>
                                          <p:spTgt spid="1000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045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3A40138-3EE4-44D2-AD98-BAD43EFC1C8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0"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A052B27-B82A-4C51-9214-3CBB355C433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01474" name="Rectangle 2"/>
          <p:cNvSpPr>
            <a:spLocks noGrp="1" noChangeArrowheads="1"/>
          </p:cNvSpPr>
          <p:nvPr>
            <p:ph type="title"/>
          </p:nvPr>
        </p:nvSpPr>
        <p:spPr>
          <a:xfrm>
            <a:off x="1524000" y="0"/>
            <a:ext cx="76200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1001475" name="Rectangle 3"/>
          <p:cNvSpPr>
            <a:spLocks noGrp="1" noChangeArrowheads="1"/>
          </p:cNvSpPr>
          <p:nvPr>
            <p:ph idx="1"/>
          </p:nvPr>
        </p:nvSpPr>
        <p:spPr>
          <a:xfrm>
            <a:off x="609600" y="1295400"/>
            <a:ext cx="7924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的优化过程 </a:t>
            </a:r>
          </a:p>
        </p:txBody>
      </p:sp>
      <p:graphicFrame>
        <p:nvGraphicFramePr>
          <p:cNvPr id="1001478" name="Object 6"/>
          <p:cNvGraphicFramePr>
            <a:graphicFrameLocks noChangeAspect="1"/>
          </p:cNvGraphicFramePr>
          <p:nvPr/>
        </p:nvGraphicFramePr>
        <p:xfrm>
          <a:off x="838200" y="1801813"/>
          <a:ext cx="6629400" cy="4789487"/>
        </p:xfrm>
        <a:graphic>
          <a:graphicData uri="http://schemas.openxmlformats.org/presentationml/2006/ole">
            <mc:AlternateContent xmlns:mc="http://schemas.openxmlformats.org/markup-compatibility/2006">
              <mc:Choice xmlns:v="urn:schemas-microsoft-com:vml" Requires="v">
                <p:oleObj spid="_x0000_s19458" r:id="rId3" imgW="7010400" imgH="5372100" progId="Paint.Picture">
                  <p:embed/>
                </p:oleObj>
              </mc:Choice>
              <mc:Fallback>
                <p:oleObj r:id="rId3" imgW="7010400" imgH="5372100" progId="Paint.Picture">
                  <p:embed/>
                  <p:pic>
                    <p:nvPicPr>
                      <p:cNvPr id="0" name="图片 3109"/>
                      <p:cNvPicPr/>
                      <p:nvPr/>
                    </p:nvPicPr>
                    <p:blipFill>
                      <a:blip r:embed="rId4"/>
                      <a:stretch>
                        <a:fillRect/>
                      </a:stretch>
                    </p:blipFill>
                    <p:spPr>
                      <a:xfrm>
                        <a:off x="838200" y="1801813"/>
                        <a:ext cx="6629400" cy="4789487"/>
                      </a:xfrm>
                      <a:prstGeom prst="rect">
                        <a:avLst/>
                      </a:prstGeom>
                      <a:noFill/>
                      <a:ln w="38100">
                        <a:noFill/>
                        <a:miter/>
                      </a:ln>
                    </p:spPr>
                  </p:pic>
                </p:oleObj>
              </mc:Fallback>
            </mc:AlternateContent>
          </a:graphicData>
        </a:graphic>
      </p:graphicFrame>
      <p:sp>
        <p:nvSpPr>
          <p:cNvPr id="1001477" name="Text Box 5"/>
          <p:cNvSpPr txBox="1"/>
          <p:nvPr/>
        </p:nvSpPr>
        <p:spPr>
          <a:xfrm>
            <a:off x="762000" y="2133600"/>
            <a:ext cx="3663950" cy="706438"/>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0000FF"/>
                </a:solidFill>
                <a:effectLst>
                  <a:outerShdw blurRad="38100" dist="38100" dir="2700000" algn="tl">
                    <a:srgbClr val="C0C0C0"/>
                  </a:outerShdw>
                </a:effectLst>
                <a:uLnTx/>
                <a:uFillTx/>
                <a:latin typeface="楷体_GB2312"/>
                <a:ea typeface="+mn-ea"/>
                <a:cs typeface="楷体_GB2312"/>
                <a:sym typeface="+mn-ea"/>
              </a:rPr>
              <a:t>合并选择和笛卡儿积形成连接操作</a:t>
            </a:r>
          </a:p>
        </p:txBody>
      </p:sp>
      <p:sp>
        <p:nvSpPr>
          <p:cNvPr id="71689" name="AutoShape 8"/>
          <p:cNvSpPr/>
          <p:nvPr/>
        </p:nvSpPr>
        <p:spPr>
          <a:xfrm flipV="1">
            <a:off x="4953000" y="4572000"/>
            <a:ext cx="3352800" cy="914400"/>
          </a:xfrm>
          <a:prstGeom prst="cloudCallout">
            <a:avLst>
              <a:gd name="adj1" fmla="val -46546"/>
              <a:gd name="adj2" fmla="val 66667"/>
            </a:avLst>
          </a:prstGeom>
          <a:solidFill>
            <a:srgbClr val="FFCCFF"/>
          </a:solidFill>
          <a:ln w="9525" cap="flat" cmpd="sng">
            <a:solidFill>
              <a:schemeClr val="tx1"/>
            </a:solidFill>
            <a:prstDash val="solid"/>
            <a:headEnd type="none" w="med" len="med"/>
            <a:tailEnd type="none" w="med" len="med"/>
          </a:ln>
        </p:spPr>
        <p:txBody>
          <a:bodyPr rot="10800000"/>
          <a:lstStyle>
            <a:lvl1pPr marL="342900" indent="-342900" algn="l" rtl="0" eaLnBrk="0" fontAlgn="base" hangingPunct="0">
              <a:spcBef>
                <a:spcPct val="20000"/>
              </a:spcBef>
              <a:spcAft>
                <a:spcPct val="0"/>
              </a:spcAft>
              <a:buChar char="•"/>
              <a:defRPr sz="3200">
                <a:solidFill>
                  <a:schemeClr val="tx1"/>
                </a:solidFill>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har char="–"/>
            </a:pPr>
            <a:r>
              <a:rPr kumimoji="0" lang="en-US" altLang="en-US" sz="2000" b="0" i="0" u="none" strike="noStrike" kern="1200" cap="none" spc="0" normalizeH="0" baseline="0" noProof="1">
                <a:solidFill>
                  <a:srgbClr val="000066"/>
                </a:solidFill>
                <a:effectLst>
                  <a:outerShdw blurRad="38100" dist="38100" dir="2700000">
                    <a:srgbClr val="000000"/>
                  </a:outerShdw>
                </a:effectLst>
                <a:latin typeface="楷体_GB2312"/>
                <a:ea typeface="+mn-ea"/>
                <a:cs typeface="楷体_GB2312"/>
                <a:sym typeface="+mn-ea"/>
              </a:rPr>
              <a:t>最后的结果查询树</a:t>
            </a:r>
          </a:p>
        </p:txBody>
      </p:sp>
      <p:sp>
        <p:nvSpPr>
          <p:cNvPr id="1001481" name="Text Box 9"/>
          <p:cNvSpPr txBox="1">
            <a:spLocks noChangeArrowheads="1"/>
          </p:cNvSpPr>
          <p:nvPr/>
        </p:nvSpPr>
        <p:spPr bwMode="auto">
          <a:xfrm>
            <a:off x="4716463" y="96838"/>
            <a:ext cx="4318000" cy="143827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书目关系: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Boo(</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Ti，Au，Pn，Nc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出版社关系: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Pub(</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Pn，Pa，Pc</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借阅者关系: </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Bor</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Na，Ad，Ci，Cn</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p>
          <a:p>
            <a:pPr marR="0" defTabSz="914400" eaLnBrk="0" hangingPunct="0">
              <a:spcBef>
                <a:spcPct val="20000"/>
              </a:spcBef>
              <a:buClrTx/>
              <a:buSzTx/>
              <a:buChar char="–"/>
              <a:defRPr/>
            </a:pPr>
            <a:r>
              <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借阅登记关系: </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Loa(</a:t>
            </a:r>
            <a:r>
              <a:rPr kumimoji="0" lang="en-US" altLang="zh-CN" kern="1200" cap="none" spc="0" normalizeH="0" baseline="0" noProof="0" dirty="0" err="1">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Cn，Nc，Da</a:t>
            </a:r>
            <a:r>
              <a:rPr kumimoji="0" lang="en-US" altLang="zh-CN"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rPr>
              <a:t>)</a:t>
            </a:r>
            <a:endParaRPr kumimoji="0" lang="zh-CN" altLang="en-US" kern="1200" cap="none" spc="0" normalizeH="0" baseline="0" noProof="0" dirty="0">
              <a:solidFill>
                <a:srgbClr val="003399"/>
              </a:solidFill>
              <a:effectLst>
                <a:outerShdw blurRad="38100" dist="38100" dir="2700000" algn="tl">
                  <a:srgbClr val="000000"/>
                </a:outerShdw>
              </a:effectLst>
              <a:latin typeface="Times New Roman" panose="02020603050405020304" pitchFamily="18" charset="0"/>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14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001478"/>
                                        </p:tgtEl>
                                        <p:attrNameLst>
                                          <p:attrName>style.visibility</p:attrName>
                                        </p:attrNameLst>
                                      </p:cBhvr>
                                      <p:to>
                                        <p:strVal val="visible"/>
                                      </p:to>
                                    </p:set>
                                    <p:animEffect transition="in" filter="dissolve">
                                      <p:cBhvr>
                                        <p:cTn id="11" dur="500"/>
                                        <p:tgtEl>
                                          <p:spTgt spid="10014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1689"/>
                                        </p:tgtEl>
                                        <p:attrNameLst>
                                          <p:attrName>style.visibility</p:attrName>
                                        </p:attrNameLst>
                                      </p:cBhvr>
                                      <p:to>
                                        <p:strVal val="visible"/>
                                      </p:to>
                                    </p:set>
                                    <p:animEffect transition="in" filter="wipe(left)">
                                      <p:cBhvr>
                                        <p:cTn id="16" dur="500"/>
                                        <p:tgtEl>
                                          <p:spTgt spid="71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477" grpId="0"/>
      <p:bldP spid="7168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F66F90A-89E4-4DB3-9D6F-3C7334885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C14201F-5C45-4211-A625-0BD57B1378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21954" name="Rectangle 2"/>
          <p:cNvSpPr>
            <a:spLocks noGrp="1" noChangeArrowheads="1"/>
          </p:cNvSpPr>
          <p:nvPr>
            <p:ph idx="1"/>
          </p:nvPr>
        </p:nvSpPr>
        <p:spPr>
          <a:xfrm>
            <a:off x="685800" y="1524000"/>
            <a:ext cx="79248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问题的提出 </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关系表达式的等价转换规则</a:t>
            </a:r>
            <a:endPar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mn-ea"/>
              </a:rPr>
              <a:t>表达式结果大小的估计</a:t>
            </a:r>
            <a:endPar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启发式关系代数优化算法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基于复杂性估计的查询优化算法 </a:t>
            </a:r>
          </a:p>
        </p:txBody>
      </p:sp>
      <p:sp>
        <p:nvSpPr>
          <p:cNvPr id="1021956" name="Rectangle 4"/>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B980AEB-B828-4D7B-914F-6702B411C87B}"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46A9ED1-B66E-4347-81CF-7EEA2A8CEAE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24002" name="Rectangle 2"/>
          <p:cNvSpPr>
            <a:spLocks noGrp="1" noChangeArrowheads="1"/>
          </p:cNvSpPr>
          <p:nvPr>
            <p:ph idx="1"/>
          </p:nvPr>
        </p:nvSpPr>
        <p:spPr>
          <a:xfrm>
            <a:off x="609600" y="1371600"/>
            <a:ext cx="7924800" cy="50292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考虑各种查询执行策略的复杂性估计。</a:t>
            </a:r>
          </a:p>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基于复杂性估计的查询优化方法分为两个阶段。</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第一阶段使用启发式优化方法产生逻辑上优化的关系代数表达式或查询计划Ｐ。</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第二阶段为Ｐ中每个关系代数操作选择具有最小复杂性的实现算法，确定Ｐ的优化执行策略Ｐ(Ａ)。 </a:t>
            </a:r>
          </a:p>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影响查询执行效率的主要因素是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磁盘存取块数</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sp>
        <p:nvSpPr>
          <p:cNvPr id="1024003" name="Rectangle 3"/>
          <p:cNvSpPr>
            <a:spLocks noGrp="1" noChangeArrowheads="1"/>
          </p:cNvSpPr>
          <p:nvPr>
            <p:ph type="title"/>
          </p:nvPr>
        </p:nvSpPr>
        <p:spPr>
          <a:xfrm>
            <a:off x="0" y="0"/>
            <a:ext cx="9144000" cy="1066800"/>
          </a:xfrm>
        </p:spPr>
        <p:txBody>
          <a:bodyPr vert="horz" wrap="square" lIns="54000" tIns="45720" rIns="1800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基于复杂性估计的查询优化方法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00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00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00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9352EF0-E794-4928-8D7A-D413F3CB257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CAFC5BD-5CB2-4014-B652-7342DC89B61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19906" name="Rectangle 2"/>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本章重点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熟练掌握关系代数表达式等价变换规则；</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掌握启发式查询优化方法。 </a:t>
            </a: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mn-ea"/>
              <a:cs typeface="楷体_GB2312"/>
            </a:endParaRPr>
          </a:p>
        </p:txBody>
      </p:sp>
      <p:sp>
        <p:nvSpPr>
          <p:cNvPr id="1019907" name="Rectangle 3"/>
          <p:cNvSpPr>
            <a:spLocks noGrp="1" noChangeArrowheads="1"/>
          </p:cNvSpPr>
          <p:nvPr>
            <p:ph type="title"/>
          </p:nvPr>
        </p:nvSpPr>
        <p:spPr>
          <a:xfrm>
            <a:off x="0" y="0"/>
            <a:ext cx="9144000" cy="1066800"/>
          </a:xfrm>
        </p:spPr>
        <p:txBody>
          <a:bodyPr vert="horz" wrap="square" lIns="54000" tIns="45720" rIns="1800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总结</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0A6E0BD-5646-4D56-98DF-A344BCAE45C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a:ln/>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E797C22-6C0B-4FC8-8934-74D7C637D93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198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76806" name="Object 4"/>
          <p:cNvGraphicFramePr/>
          <p:nvPr/>
        </p:nvGraphicFramePr>
        <p:xfrm>
          <a:off x="792163" y="2312988"/>
          <a:ext cx="2808287" cy="2736850"/>
        </p:xfrm>
        <a:graphic>
          <a:graphicData uri="http://schemas.openxmlformats.org/presentationml/2006/ole">
            <mc:AlternateContent xmlns:mc="http://schemas.openxmlformats.org/markup-compatibility/2006">
              <mc:Choice xmlns:v="urn:schemas-microsoft-com:vml" Requires="v">
                <p:oleObj spid="_x0000_s20482" r:id="rId4" imgW="7833360" imgH="7839075" progId="">
                  <p:embed/>
                </p:oleObj>
              </mc:Choice>
              <mc:Fallback>
                <p:oleObj r:id="rId4" imgW="7833360" imgH="7839075" progId="">
                  <p:embed/>
                  <p:pic>
                    <p:nvPicPr>
                      <p:cNvPr id="0" name="图片 3105"/>
                      <p:cNvPicPr/>
                      <p:nvPr/>
                    </p:nvPicPr>
                    <p:blipFill>
                      <a:blip r:embed="rId5"/>
                      <a:stretch>
                        <a:fillRect/>
                      </a:stretch>
                    </p:blipFill>
                    <p:spPr>
                      <a:xfrm>
                        <a:off x="792163" y="2312988"/>
                        <a:ext cx="2808287" cy="2736850"/>
                      </a:xfrm>
                      <a:prstGeom prst="rect">
                        <a:avLst/>
                      </a:prstGeom>
                      <a:noFill/>
                      <a:ln w="38100">
                        <a:noFill/>
                        <a:miter/>
                      </a:ln>
                    </p:spPr>
                  </p:pic>
                </p:oleObj>
              </mc:Fallback>
            </mc:AlternateContent>
          </a:graphicData>
        </a:graphic>
      </p:graphicFrame>
      <p:pic>
        <p:nvPicPr>
          <p:cNvPr id="76807" name="Picture 5"/>
          <p:cNvPicPr>
            <a:picLocks noChangeAspect="1"/>
          </p:cNvPicPr>
          <p:nvPr/>
        </p:nvPicPr>
        <p:blipFill>
          <a:blip r:embed="rId6"/>
          <a:stretch>
            <a:fillRect/>
          </a:stretch>
        </p:blipFill>
        <p:spPr>
          <a:xfrm>
            <a:off x="3779838" y="1916113"/>
            <a:ext cx="5003800" cy="3182937"/>
          </a:xfrm>
          <a:prstGeom prst="rect">
            <a:avLst/>
          </a:prstGeom>
          <a:noFill/>
          <a:ln w="9525">
            <a:noFill/>
          </a:ln>
        </p:spPr>
      </p:pic>
      <p:sp>
        <p:nvSpPr>
          <p:cNvPr id="41990" name="Text Box 6"/>
          <p:cNvSpPr txBox="1">
            <a:spLocks noChangeArrowheads="1"/>
          </p:cNvSpPr>
          <p:nvPr/>
        </p:nvSpPr>
        <p:spPr bwMode="auto">
          <a:xfrm>
            <a:off x="3851275" y="2924175"/>
            <a:ext cx="3425825" cy="762000"/>
          </a:xfrm>
          <a:prstGeom prst="rect">
            <a:avLst/>
          </a:prstGeom>
          <a:solidFill>
            <a:schemeClr val="bg1"/>
          </a:solidFill>
          <a:ln w="9525">
            <a:noFill/>
            <a:miter lim="800000"/>
          </a:ln>
          <a:effectLst/>
        </p:spPr>
        <p:txBody>
          <a:bodyPr wrap="none">
            <a:spAutoFit/>
          </a:bodyPr>
          <a:lstStyle/>
          <a:p>
            <a:pPr marR="0" defTabSz="914400">
              <a:buClrTx/>
              <a:buSzTx/>
              <a:defRPr/>
            </a:pPr>
            <a:r>
              <a:rPr kumimoji="0" lang="en-US" altLang="zh-CN" sz="4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mn-ea"/>
              </a:rPr>
              <a:t>Next Chapter</a:t>
            </a:r>
          </a:p>
        </p:txBody>
      </p:sp>
    </p:spTree>
  </p:cSld>
  <p:clrMapOvr>
    <a:masterClrMapping/>
  </p:clrMapOvr>
</p:sld>
</file>

<file path=ppt/theme/theme1.xml><?xml version="1.0" encoding="utf-8"?>
<a:theme xmlns:a="http://schemas.openxmlformats.org/drawingml/2006/main" name="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4295</Words>
  <Application>Microsoft Office PowerPoint</Application>
  <PresentationFormat>全屏显示(4:3)</PresentationFormat>
  <Paragraphs>522</Paragraphs>
  <Slides>46</Slides>
  <Notes>10</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3</vt:i4>
      </vt:variant>
      <vt:variant>
        <vt:lpstr>幻灯片标题</vt:lpstr>
      </vt:variant>
      <vt:variant>
        <vt:i4>46</vt:i4>
      </vt:variant>
    </vt:vector>
  </HeadingPairs>
  <TitlesOfParts>
    <vt:vector size="58" baseType="lpstr">
      <vt:lpstr>华文新魏</vt:lpstr>
      <vt:lpstr>华文行楷</vt:lpstr>
      <vt:lpstr>楷体_GB2312</vt:lpstr>
      <vt:lpstr>Arial</vt:lpstr>
      <vt:lpstr>Comic Sans MS</vt:lpstr>
      <vt:lpstr>Times</vt:lpstr>
      <vt:lpstr>Times New Roman</vt:lpstr>
      <vt:lpstr>Autumn2003-4</vt:lpstr>
      <vt:lpstr>2_Autumn2003-4</vt:lpstr>
      <vt:lpstr>Bitmap Image</vt:lpstr>
      <vt:lpstr>Equation.DSMT4</vt:lpstr>
      <vt:lpstr>WPS 公式 3.0</vt:lpstr>
      <vt:lpstr>实现篇 第九章 查询优化</vt:lpstr>
      <vt:lpstr>查询优化技术</vt:lpstr>
      <vt:lpstr>查询优化技术</vt:lpstr>
      <vt:lpstr>问题的提出</vt:lpstr>
      <vt:lpstr> 问题的提出</vt:lpstr>
      <vt:lpstr>问题的提出</vt:lpstr>
      <vt:lpstr>问题的提出</vt:lpstr>
      <vt:lpstr>问题的提出</vt:lpstr>
      <vt:lpstr>问题的提出</vt:lpstr>
      <vt:lpstr>问题的提出</vt:lpstr>
      <vt:lpstr>问题的提出</vt:lpstr>
      <vt:lpstr>目录</vt:lpstr>
      <vt:lpstr>关系表达式的等价转换规则  </vt:lpstr>
      <vt:lpstr>关系表达式的等价转换规则  </vt:lpstr>
      <vt:lpstr>关系表达式的等价转换规则</vt:lpstr>
      <vt:lpstr>关系表达式的等价转换规则  </vt:lpstr>
      <vt:lpstr>关系表达式的等价转换规则 </vt:lpstr>
      <vt:lpstr>关系表达式的等价转换规则  </vt:lpstr>
      <vt:lpstr>关系表达式的等价转换规则</vt:lpstr>
      <vt:lpstr>目录</vt:lpstr>
      <vt:lpstr>表达式结果大小的估计</vt:lpstr>
      <vt:lpstr>表达式结果大小的估计</vt:lpstr>
      <vt:lpstr>表达式结果大小的估计</vt:lpstr>
      <vt:lpstr>表达式结果大小的估计</vt:lpstr>
      <vt:lpstr>表达式结果大小的估计</vt:lpstr>
      <vt:lpstr>表达式结果大小的估计</vt:lpstr>
      <vt:lpstr>目录</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启发式关系代数优化算法  </vt:lpstr>
      <vt:lpstr>PowerPoint 演示文稿</vt:lpstr>
      <vt:lpstr>目录</vt:lpstr>
      <vt:lpstr>基于复杂性估计的查询优化方法</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实现篇 第九章 查询优化</dc:title>
  <dc:creator>贺长江</dc:creator>
  <cp:lastModifiedBy>贺 长江</cp:lastModifiedBy>
  <cp:revision>18</cp:revision>
  <dcterms:created xsi:type="dcterms:W3CDTF">2016-05-11T10:49:00Z</dcterms:created>
  <dcterms:modified xsi:type="dcterms:W3CDTF">2022-04-21T08:21:11Z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2052-11.1.0.11294</vt:lpwstr>
  </property>
  <property fmtid="{D5CDD505-2E9C-101B-9397-08002B2CF9AE}" pid="3" name="ICV">
    <vt:lpwstr>460CA593675B4760B4E620EEB9F9F38C</vt:lpwstr>
  </property>
</Properties>
</file>